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4575" autoAdjust="0"/>
  </p:normalViewPr>
  <p:slideViewPr>
    <p:cSldViewPr snapToGrid="0" snapToObjects="1">
      <p:cViewPr varScale="1">
        <p:scale>
          <a:sx n="70" d="100"/>
          <a:sy n="70" d="100"/>
        </p:scale>
        <p:origin x="18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559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My name is Álvaro Puebla, and today's presentation for the Software System Development seminar is 'Database Languages.’</a:t>
            </a:r>
          </a:p>
          <a:p>
            <a:r>
              <a:rPr lang="en-US" dirty="0"/>
              <a:t>We'll explore:</a:t>
            </a:r>
          </a:p>
          <a:p>
            <a:pPr marL="171450" indent="-171450">
              <a:buFontTx/>
              <a:buChar char="-"/>
            </a:pPr>
            <a:r>
              <a:rPr lang="en-US" dirty="0"/>
              <a:t>What database languages are</a:t>
            </a:r>
          </a:p>
          <a:p>
            <a:pPr marL="171450" indent="-171450">
              <a:buFontTx/>
              <a:buChar char="-"/>
            </a:pPr>
            <a:r>
              <a:rPr lang="en-US" dirty="0"/>
              <a:t>How they are categorized</a:t>
            </a:r>
          </a:p>
          <a:p>
            <a:pPr marL="171450" indent="-171450">
              <a:buFontTx/>
              <a:buChar char="-"/>
            </a:pPr>
            <a:r>
              <a:rPr lang="en-US" dirty="0"/>
              <a:t>How SQL works in practice</a:t>
            </a:r>
          </a:p>
          <a:p>
            <a:pPr marL="171450" indent="-171450">
              <a:buFontTx/>
              <a:buChar char="-"/>
            </a:pPr>
            <a:r>
              <a:rPr lang="en-US" dirty="0"/>
              <a:t>How modern NoSQL systems compare.</a:t>
            </a:r>
          </a:p>
          <a:p>
            <a:r>
              <a:rPr lang="en-US" dirty="0"/>
              <a:t>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walk through the agenda:
"Here's what we'll cover today.</a:t>
            </a:r>
          </a:p>
          <a:p>
            <a:r>
              <a:rPr lang="en-US" dirty="0"/>
              <a:t>We start with an introduction to database languages, then look at how they relate to DBMS architecture.</a:t>
            </a:r>
          </a:p>
          <a:p>
            <a:r>
              <a:rPr lang="en-US" dirty="0"/>
              <a:t>The core section covers the four main language categories (DDL, DML, DCL, and TCL) each with SQL examples.</a:t>
            </a:r>
          </a:p>
          <a:p>
            <a:r>
              <a:rPr lang="en-US" dirty="0"/>
              <a:t>We'll then look at SQL in broader practice, contrast it with NoSQL query languages, explore real-world use cases, and close with a summary."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languages are the backbone of all modern data-driven systems.</a:t>
            </a:r>
          </a:p>
          <a:p>
            <a:r>
              <a:rPr lang="en-US" dirty="0"/>
              <a:t>Whenever a web application saves user data, a bank processes a transaction, or a data analyst runs a report, they are using a database language.</a:t>
            </a:r>
          </a:p>
          <a:p>
            <a:r>
              <a:rPr lang="en-US" dirty="0"/>
              <a:t>The most prominent of these is SQL, which has been standardised by ISO and is supported by virtually every major database system.</a:t>
            </a:r>
          </a:p>
          <a:p>
            <a:r>
              <a:rPr lang="en-US" dirty="0"/>
              <a:t>Understanding database languages is therefore fundamental for software engineering."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a simplified DBMS architecture.</a:t>
            </a:r>
          </a:p>
          <a:p>
            <a:r>
              <a:rPr lang="en-US" dirty="0"/>
              <a:t>The application code sits at the top.</a:t>
            </a:r>
          </a:p>
          <a:p>
            <a:r>
              <a:rPr lang="en-US" dirty="0"/>
              <a:t>It sends SQL or query statements down to the DBMS.</a:t>
            </a:r>
          </a:p>
          <a:p>
            <a:r>
              <a:rPr lang="en-US" dirty="0"/>
              <a:t>The DBMS engine parses and optimises those statements, then reads or writes to the underlying storage layer.</a:t>
            </a:r>
          </a:p>
          <a:p>
            <a:r>
              <a:rPr lang="en-US" dirty="0"/>
              <a:t>The database language is essentially the contract - the formal interface - between your code and the data.</a:t>
            </a:r>
          </a:p>
          <a:p>
            <a:r>
              <a:rPr lang="en-US" dirty="0"/>
              <a:t>Without it, there is no way for an application to communicate with stored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is divided into four main sub-languages, each serving a distinct purpose.</a:t>
            </a:r>
          </a:p>
          <a:p>
            <a:pPr marL="171450" indent="-171450">
              <a:buFontTx/>
              <a:buChar char="-"/>
            </a:pPr>
            <a:r>
              <a:rPr lang="en-US" dirty="0"/>
              <a:t>DDL is about structure: 		Creating and modifying tables.</a:t>
            </a:r>
          </a:p>
          <a:p>
            <a:pPr marL="171450" indent="-171450">
              <a:buFontTx/>
              <a:buChar char="-"/>
            </a:pPr>
            <a:r>
              <a:rPr lang="en-US" dirty="0"/>
              <a:t>DML is about data: 		Reading and writing records.</a:t>
            </a:r>
          </a:p>
          <a:p>
            <a:pPr marL="171450" indent="-171450">
              <a:buFontTx/>
              <a:buChar char="-"/>
            </a:pPr>
            <a:r>
              <a:rPr lang="en-US" dirty="0"/>
              <a:t>DCL is about access control: 	Granting and revoking privileges.</a:t>
            </a:r>
          </a:p>
          <a:p>
            <a:pPr marL="171450" indent="-171450">
              <a:buFontTx/>
              <a:buChar char="-"/>
            </a:pPr>
            <a:r>
              <a:rPr lang="en-US" dirty="0"/>
              <a:t>TCL is about reliability:	 	Ensuring transactions are atomic and consistent.</a:t>
            </a:r>
          </a:p>
          <a:p>
            <a:r>
              <a:rPr lang="en-US" dirty="0"/>
              <a:t>Together, they provide a complete toolkit for working with a relational database. We'll look at each one in detail on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"DDL is what developers use when designing the database.</a:t>
            </a:r>
          </a:p>
          <a:p>
            <a:r>
              <a:rPr lang="en-US" dirty="0"/>
              <a:t>You would use CREATE TABLE at the start of a project to define what data will be stored and in what format.</a:t>
            </a:r>
          </a:p>
          <a:p>
            <a:r>
              <a:rPr lang="en-US" dirty="0"/>
              <a:t>For example, here we create a 'students' table with an integer primary key, name, email, and enrolment date.</a:t>
            </a:r>
          </a:p>
          <a:p>
            <a:r>
              <a:rPr lang="en-US" dirty="0"/>
              <a:t>The ALTER TABLE statement is used during a migration</a:t>
            </a:r>
          </a:p>
          <a:p>
            <a:r>
              <a:rPr lang="en-US" dirty="0"/>
              <a:t>For example, when a new feature requires adding a GPA column without losing existing data.</a:t>
            </a:r>
          </a:p>
          <a:p>
            <a:r>
              <a:rPr lang="en-US" dirty="0"/>
              <a:t>DROP TABLE permanently deletes the table and should be used with care in production systems."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"DML covers the four core data operations - often called CRUD.</a:t>
            </a:r>
          </a:p>
          <a:p>
            <a:r>
              <a:rPr lang="en-US" dirty="0"/>
              <a:t>SELECT is by far the most common: it retrieves rows from one or more tables, with optional filtering via WHERE, ordering via ORDER BY, and aggregation.</a:t>
            </a:r>
          </a:p>
          <a:p>
            <a:r>
              <a:rPr lang="en-US" dirty="0"/>
              <a:t>INSERT adds new records,</a:t>
            </a:r>
          </a:p>
          <a:p>
            <a:r>
              <a:rPr lang="en-US" dirty="0"/>
              <a:t>UPDATE modifies existing ones,</a:t>
            </a:r>
          </a:p>
          <a:p>
            <a:r>
              <a:rPr lang="en-US" dirty="0"/>
              <a:t>DELETE removes records.</a:t>
            </a:r>
          </a:p>
          <a:p>
            <a:r>
              <a:rPr lang="en-US" dirty="0"/>
              <a:t>It is critical to always include a WHERE clause with UPDATE and DELETE, otherwise you will affect every row in the table - a common and costly mistake in production databases."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"DCL handles security.</a:t>
            </a:r>
          </a:p>
          <a:p>
            <a:r>
              <a:rPr lang="en-US" dirty="0"/>
              <a:t>With GRANT, a database administrator can give specific users only the permissions they need,</a:t>
            </a:r>
          </a:p>
          <a:p>
            <a:r>
              <a:rPr lang="en-US" dirty="0"/>
              <a:t>For example, a reporting user may only need SELECT access, while a backend service needs INSERT and UPDATE. REVOKE removes those permissions.</a:t>
            </a:r>
          </a:p>
          <a:p>
            <a:r>
              <a:rPr lang="en-US" dirty="0"/>
              <a:t>This principle of least privilege is a key security best practice.
TCL ensures data integrity.</a:t>
            </a:r>
          </a:p>
          <a:p>
            <a:r>
              <a:rPr lang="en-US" dirty="0"/>
              <a:t>A transaction groups multiple SQL statements so they either all succeed or all fail - this is the 'A' in ACID (Atomicity).</a:t>
            </a:r>
          </a:p>
          <a:p>
            <a:r>
              <a:rPr lang="en-US" dirty="0"/>
              <a:t>The classic example is a bank transfer: you subtract money from one account and add it to another.</a:t>
            </a:r>
          </a:p>
          <a:p>
            <a:r>
              <a:rPr lang="en-US" dirty="0"/>
              <a:t>If the system crashes in between, ROLLBACK ensures neither change is persisted, preventing data loss or corruption."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has been the standard database language for over 50 years.</a:t>
            </a:r>
          </a:p>
          <a:p>
            <a:r>
              <a:rPr lang="en-US" dirty="0"/>
              <a:t>It is declarative - you describe the result you want, and the DBMS figures out how to retrieve it efficiently.</a:t>
            </a:r>
          </a:p>
          <a:p>
            <a:r>
              <a:rPr lang="en-US" dirty="0"/>
              <a:t>The JOIN operation is one of SQL's most powerful features, combining data from multiple related tables in a single query.</a:t>
            </a:r>
          </a:p>
          <a:p>
            <a:r>
              <a:rPr lang="en-US" dirty="0"/>
              <a:t>The example here retrieves student names, course names, and grades by joining three tables - a very common operation in any real-world application. SQL's portability means this same query would run on PostgreSQL, MySQL, Oracle, or SQL Server with minimal changes."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"NoSQL databases were developed to address limitations of SQL for web-scale applications and unstructured data.</a:t>
            </a:r>
          </a:p>
          <a:p>
            <a:r>
              <a:rPr lang="en-US" dirty="0"/>
              <a:t>MongoDB, for example, stores data as JSON-like documents, and queries are expressed using a JavaScript-style API rather than SQL.</a:t>
            </a:r>
          </a:p>
          <a:p>
            <a:r>
              <a:rPr lang="en-US" dirty="0"/>
              <a:t>Here you can see the equivalents of INSERT, SELECT, UPDATE, and aggregation.</a:t>
            </a:r>
          </a:p>
          <a:p>
            <a:r>
              <a:rPr lang="en-US" dirty="0"/>
              <a:t>The key difference is the data model: MongoDB doesn't require a fixed schema, which makes it very flexible for rapidly changing data.</a:t>
            </a:r>
          </a:p>
          <a:p>
            <a:r>
              <a:rPr lang="en-US" dirty="0"/>
              <a:t>However, this also means you lose the strict relational guarantees and referential integrity that SQL databases provide."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the key differences.</a:t>
            </a:r>
          </a:p>
          <a:p>
            <a:r>
              <a:rPr lang="en-US" dirty="0"/>
              <a:t>The main takeaway is that SQL and NoSQL are not competitors - they are tools for different problems.</a:t>
            </a:r>
          </a:p>
          <a:p>
            <a:r>
              <a:rPr lang="en-US" dirty="0"/>
              <a:t>SQL is ideal when data relationships are important, when you need transactional guarantees, and when the schema is stable.</a:t>
            </a:r>
          </a:p>
          <a:p>
            <a:r>
              <a:rPr lang="en-US" dirty="0"/>
              <a:t>NoSQL is ideal when you need to scale horizontally to millions of users, when the data structure is unpredictable or nested, or when you need extreme write throughput.</a:t>
            </a:r>
          </a:p>
          <a:p>
            <a:r>
              <a:rPr lang="en-US" dirty="0"/>
              <a:t>In practice, modern applications often use both - an SQL database for business logic and a NoSQL database for caching or event streams."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languages appear in virtually every software system built today.</a:t>
            </a:r>
          </a:p>
          <a:p>
            <a:r>
              <a:rPr lang="en-US" dirty="0"/>
              <a:t>In backend development, every time a user creates an account or places an order, an INSERT statement runs.</a:t>
            </a:r>
          </a:p>
          <a:p>
            <a:r>
              <a:rPr lang="en-US" dirty="0"/>
              <a:t>In analytics, teams write multi-hundred-line SQL queries to aggregate data across billions of rows in cloud data warehouses.</a:t>
            </a:r>
          </a:p>
          <a:p>
            <a:r>
              <a:rPr lang="en-US" dirty="0"/>
              <a:t>Web applications combine both SQL for structured data and NoSQL for sessions or caching.</a:t>
            </a:r>
          </a:p>
          <a:p>
            <a:r>
              <a:rPr lang="en-US" dirty="0"/>
              <a:t>Enterprise systems rely on SQL's ACID properties for financial accuracy - a bank cannot afford lost transactions.</a:t>
            </a:r>
          </a:p>
          <a:p>
            <a:r>
              <a:rPr lang="en-US" dirty="0"/>
              <a:t>Understanding database languages is therefore not just academic; it's a practical daily requirement for software developers."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database languages are the formal mechanism through which software systems communicate with stored data.</a:t>
            </a:r>
          </a:p>
          <a:p>
            <a:r>
              <a:rPr lang="en-US" dirty="0"/>
              <a:t>SQL's four sub-languages each serve a specific function.</a:t>
            </a:r>
          </a:p>
          <a:p>
            <a:r>
              <a:rPr lang="en-US" dirty="0"/>
              <a:t>SQL remains the dominant standard, but NoSQL query interfaces have a growing role in modern distributed systems.</a:t>
            </a:r>
          </a:p>
          <a:p>
            <a:r>
              <a:rPr lang="en-US" dirty="0"/>
              <a:t>The most important skill is understanding when to use each approach - and that comes from knowing what each language category is designed to do.</a:t>
            </a:r>
          </a:p>
          <a:p>
            <a:r>
              <a:rPr lang="en-US" dirty="0"/>
              <a:t>Thank you for your attention.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sources used in preparing this presentation. Elmasri &amp; Navathe and Ramakrishnan &amp; Gehrke are the two most widely used database textbooks at university level and cover SQL and database language theory in depth. The ISO SQL standard is the authoritative technical reference. The PostgreSQL and MongoDB documentation are the best references for practical SQL and NoSQL usage respectively. Codd's 1970 paper is the foundational work that introduced the relational model which underpins all SQL databases."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s-ES"/>
          </a:p>
        </p:txBody>
      </p:sp>
      <p:sp>
        <p:nvSpPr>
          <p:cNvPr id="3" name="Shape 1"/>
          <p:cNvSpPr/>
          <p:nvPr/>
        </p:nvSpPr>
        <p:spPr>
          <a:xfrm>
            <a:off x="0" y="54864"/>
            <a:ext cx="457200" cy="5088636"/>
          </a:xfrm>
          <a:prstGeom prst="rect">
            <a:avLst/>
          </a:prstGeom>
          <a:solidFill>
            <a:srgbClr val="0891B2"/>
          </a:solidFill>
          <a:ln w="12700">
            <a:solidFill>
              <a:srgbClr val="0891B2"/>
            </a:solidFill>
            <a:prstDash val="solid"/>
          </a:ln>
        </p:spPr>
        <p:txBody>
          <a:bodyPr/>
          <a:lstStyle/>
          <a:p>
            <a:endParaRPr lang="es-ES"/>
          </a:p>
        </p:txBody>
      </p:sp>
      <p:pic>
        <p:nvPicPr>
          <p:cNvPr id="4" name="Image 0" descr="preencoded.png"/>
          <p:cNvPicPr>
            <a:picLocks noChangeAspect="1"/>
          </p:cNvPicPr>
          <p:nvPr/>
        </p:nvPicPr>
        <p:blipFill>
          <a:blip r:embed="rId3"/>
          <a:stretch>
            <a:fillRect/>
          </a:stretch>
        </p:blipFill>
        <p:spPr>
          <a:xfrm>
            <a:off x="822960" y="1005840"/>
            <a:ext cx="1188720" cy="1188720"/>
          </a:xfrm>
          <a:prstGeom prst="rect">
            <a:avLst/>
          </a:prstGeom>
        </p:spPr>
      </p:pic>
      <p:sp>
        <p:nvSpPr>
          <p:cNvPr id="5" name="Text 2"/>
          <p:cNvSpPr/>
          <p:nvPr/>
        </p:nvSpPr>
        <p:spPr>
          <a:xfrm>
            <a:off x="594360" y="2331720"/>
            <a:ext cx="8321040" cy="914400"/>
          </a:xfrm>
          <a:prstGeom prst="rect">
            <a:avLst/>
          </a:prstGeom>
          <a:noFill/>
          <a:ln/>
        </p:spPr>
        <p:txBody>
          <a:bodyPr wrap="square" lIns="0" tIns="0" rIns="0" bIns="0" rtlCol="0" anchor="ctr"/>
          <a:lstStyle/>
          <a:p>
            <a:pPr marL="0" indent="0">
              <a:buNone/>
            </a:pPr>
            <a:r>
              <a:rPr lang="en-US" sz="4000" b="1" kern="0" spc="100" dirty="0">
                <a:solidFill>
                  <a:srgbClr val="FFFFFF"/>
                </a:solidFill>
                <a:latin typeface="Calibri" pitchFamily="34" charset="0"/>
                <a:ea typeface="Calibri" pitchFamily="34" charset="-122"/>
                <a:cs typeface="Calibri" pitchFamily="34" charset="-120"/>
              </a:rPr>
              <a:t>Database Languages</a:t>
            </a:r>
            <a:endParaRPr lang="en-US" sz="4000" dirty="0"/>
          </a:p>
        </p:txBody>
      </p:sp>
      <p:sp>
        <p:nvSpPr>
          <p:cNvPr id="6" name="Shape 3"/>
          <p:cNvSpPr/>
          <p:nvPr/>
        </p:nvSpPr>
        <p:spPr>
          <a:xfrm>
            <a:off x="594360" y="3310128"/>
            <a:ext cx="8321040" cy="36576"/>
          </a:xfrm>
          <a:prstGeom prst="rect">
            <a:avLst/>
          </a:prstGeom>
          <a:solidFill>
            <a:srgbClr val="0891B2"/>
          </a:solidFill>
          <a:ln w="12700">
            <a:solidFill>
              <a:srgbClr val="0891B2"/>
            </a:solidFill>
            <a:prstDash val="solid"/>
          </a:ln>
        </p:spPr>
        <p:txBody>
          <a:bodyPr/>
          <a:lstStyle/>
          <a:p>
            <a:endParaRPr lang="es-ES"/>
          </a:p>
        </p:txBody>
      </p:sp>
      <p:sp>
        <p:nvSpPr>
          <p:cNvPr id="7" name="Text 4"/>
          <p:cNvSpPr/>
          <p:nvPr/>
        </p:nvSpPr>
        <p:spPr>
          <a:xfrm>
            <a:off x="594360" y="3401568"/>
            <a:ext cx="8321040" cy="347472"/>
          </a:xfrm>
          <a:prstGeom prst="rect">
            <a:avLst/>
          </a:prstGeom>
          <a:noFill/>
          <a:ln/>
        </p:spPr>
        <p:txBody>
          <a:bodyPr wrap="square" lIns="0" tIns="0" rIns="0" bIns="0" rtlCol="0" anchor="ctr"/>
          <a:lstStyle/>
          <a:p>
            <a:pPr marL="0" indent="0">
              <a:buNone/>
            </a:pPr>
            <a:r>
              <a:rPr lang="en-US" sz="1600" dirty="0">
                <a:solidFill>
                  <a:srgbClr val="BAE6FD"/>
                </a:solidFill>
              </a:rPr>
              <a:t>Software System Development Seminar</a:t>
            </a:r>
            <a:endParaRPr lang="en-US" sz="1600" dirty="0"/>
          </a:p>
        </p:txBody>
      </p:sp>
      <p:sp>
        <p:nvSpPr>
          <p:cNvPr id="8" name="Text 5"/>
          <p:cNvSpPr/>
          <p:nvPr/>
        </p:nvSpPr>
        <p:spPr>
          <a:xfrm>
            <a:off x="594360" y="3794760"/>
            <a:ext cx="8321040" cy="256032"/>
          </a:xfrm>
          <a:prstGeom prst="rect">
            <a:avLst/>
          </a:prstGeom>
          <a:noFill/>
          <a:ln/>
        </p:spPr>
        <p:txBody>
          <a:bodyPr wrap="square" lIns="0" tIns="0" rIns="0" bIns="0" rtlCol="0" anchor="ctr"/>
          <a:lstStyle/>
          <a:p>
            <a:pPr marL="0" indent="0">
              <a:buNone/>
            </a:pPr>
            <a:r>
              <a:rPr lang="en-US" sz="1300" dirty="0">
                <a:solidFill>
                  <a:srgbClr val="94A3B8"/>
                </a:solidFill>
              </a:rPr>
              <a:t>Wrocław University of Science and Technology</a:t>
            </a:r>
            <a:endParaRPr lang="en-US" sz="1300" dirty="0"/>
          </a:p>
        </p:txBody>
      </p:sp>
      <p:sp>
        <p:nvSpPr>
          <p:cNvPr id="9" name="Text 6"/>
          <p:cNvSpPr/>
          <p:nvPr/>
        </p:nvSpPr>
        <p:spPr>
          <a:xfrm>
            <a:off x="594360" y="4096512"/>
            <a:ext cx="8321040" cy="201168"/>
          </a:xfrm>
          <a:prstGeom prst="rect">
            <a:avLst/>
          </a:prstGeom>
          <a:noFill/>
          <a:ln/>
        </p:spPr>
        <p:txBody>
          <a:bodyPr wrap="square" lIns="0" tIns="0" rIns="0" bIns="0" rtlCol="0" anchor="ctr"/>
          <a:lstStyle/>
          <a:p>
            <a:pPr marL="0" indent="0">
              <a:buNone/>
            </a:pPr>
            <a:r>
              <a:rPr lang="en-US" sz="1100" dirty="0">
                <a:solidFill>
                  <a:srgbClr val="64748B"/>
                </a:solidFill>
              </a:rPr>
              <a:t>Department of Computer Science - Álvaro Puebla Ruisánchez - 2025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B3A6B"/>
          </a:solidFill>
          <a:ln w="12700">
            <a:solidFill>
              <a:srgbClr val="1B3A6B"/>
            </a:solidFill>
            <a:prstDash val="solid"/>
          </a:ln>
        </p:spPr>
        <p:txBody>
          <a:bodyPr/>
          <a:lstStyle/>
          <a:p>
            <a:endParaRPr lang="es-ES"/>
          </a:p>
        </p:txBody>
      </p:sp>
      <p:sp>
        <p:nvSpPr>
          <p:cNvPr id="3" name="Shape 1"/>
          <p:cNvSpPr/>
          <p:nvPr/>
        </p:nvSpPr>
        <p:spPr>
          <a:xfrm>
            <a:off x="0" y="54864"/>
            <a:ext cx="9144000" cy="658368"/>
          </a:xfrm>
          <a:prstGeom prst="rect">
            <a:avLst/>
          </a:prstGeom>
          <a:solidFill>
            <a:srgbClr val="1B3A6B"/>
          </a:solidFill>
          <a:ln w="12700">
            <a:solidFill>
              <a:srgbClr val="1B3A6B"/>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Agenda</a:t>
            </a:r>
            <a:endParaRPr lang="en-US" sz="200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2 / 14</a:t>
            </a:r>
            <a:endParaRPr lang="en-US" sz="900" dirty="0"/>
          </a:p>
        </p:txBody>
      </p:sp>
      <p:sp>
        <p:nvSpPr>
          <p:cNvPr id="6" name="Shape 4"/>
          <p:cNvSpPr/>
          <p:nvPr/>
        </p:nvSpPr>
        <p:spPr>
          <a:xfrm>
            <a:off x="320040" y="841248"/>
            <a:ext cx="8503920" cy="512064"/>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7" name="Shape 5"/>
          <p:cNvSpPr/>
          <p:nvPr/>
        </p:nvSpPr>
        <p:spPr>
          <a:xfrm>
            <a:off x="320040" y="841248"/>
            <a:ext cx="54864" cy="512064"/>
          </a:xfrm>
          <a:prstGeom prst="rect">
            <a:avLst/>
          </a:prstGeom>
          <a:solidFill>
            <a:srgbClr val="0891B2"/>
          </a:solidFill>
          <a:ln w="12700">
            <a:solidFill>
              <a:srgbClr val="0891B2"/>
            </a:solidFill>
            <a:prstDash val="solid"/>
          </a:ln>
        </p:spPr>
        <p:txBody>
          <a:bodyPr/>
          <a:lstStyle/>
          <a:p>
            <a:endParaRPr lang="es-ES"/>
          </a:p>
        </p:txBody>
      </p:sp>
      <p:sp>
        <p:nvSpPr>
          <p:cNvPr id="8" name="Text 6"/>
          <p:cNvSpPr/>
          <p:nvPr/>
        </p:nvSpPr>
        <p:spPr>
          <a:xfrm>
            <a:off x="457200" y="886968"/>
            <a:ext cx="502920" cy="402336"/>
          </a:xfrm>
          <a:prstGeom prst="rect">
            <a:avLst/>
          </a:prstGeom>
          <a:noFill/>
          <a:ln/>
        </p:spPr>
        <p:txBody>
          <a:bodyPr wrap="square" lIns="0" tIns="0" rIns="0" bIns="0" rtlCol="0" anchor="ctr"/>
          <a:lstStyle/>
          <a:p>
            <a:pPr marL="0" indent="0" algn="ctr">
              <a:buNone/>
            </a:pPr>
            <a:r>
              <a:rPr lang="en-US" sz="1600" b="1" dirty="0">
                <a:solidFill>
                  <a:srgbClr val="0891B2"/>
                </a:solidFill>
              </a:rPr>
              <a:t>01</a:t>
            </a:r>
            <a:endParaRPr lang="en-US" sz="1600" dirty="0"/>
          </a:p>
        </p:txBody>
      </p:sp>
      <p:sp>
        <p:nvSpPr>
          <p:cNvPr id="9" name="Text 7"/>
          <p:cNvSpPr/>
          <p:nvPr/>
        </p:nvSpPr>
        <p:spPr>
          <a:xfrm>
            <a:off x="1051560" y="877824"/>
            <a:ext cx="3200400" cy="256032"/>
          </a:xfrm>
          <a:prstGeom prst="rect">
            <a:avLst/>
          </a:prstGeom>
          <a:noFill/>
          <a:ln/>
        </p:spPr>
        <p:txBody>
          <a:bodyPr wrap="square" lIns="0" tIns="0" rIns="0" bIns="0" rtlCol="0" anchor="ctr"/>
          <a:lstStyle/>
          <a:p>
            <a:pPr marL="0" indent="0">
              <a:buNone/>
            </a:pPr>
            <a:r>
              <a:rPr lang="en-US" sz="1300" b="1" dirty="0">
                <a:solidFill>
                  <a:srgbClr val="1E293B"/>
                </a:solidFill>
              </a:rPr>
              <a:t>Introduction</a:t>
            </a:r>
            <a:endParaRPr lang="en-US" sz="1300" dirty="0"/>
          </a:p>
        </p:txBody>
      </p:sp>
      <p:sp>
        <p:nvSpPr>
          <p:cNvPr id="10" name="Text 8"/>
          <p:cNvSpPr/>
          <p:nvPr/>
        </p:nvSpPr>
        <p:spPr>
          <a:xfrm>
            <a:off x="1051560" y="1115568"/>
            <a:ext cx="7406640" cy="201168"/>
          </a:xfrm>
          <a:prstGeom prst="rect">
            <a:avLst/>
          </a:prstGeom>
          <a:noFill/>
          <a:ln/>
        </p:spPr>
        <p:txBody>
          <a:bodyPr wrap="square" lIns="0" tIns="0" rIns="0" bIns="0" rtlCol="0" anchor="ctr"/>
          <a:lstStyle/>
          <a:p>
            <a:pPr marL="0" indent="0">
              <a:buNone/>
            </a:pPr>
            <a:r>
              <a:rPr lang="en-US" sz="1000" dirty="0">
                <a:solidFill>
                  <a:srgbClr val="64748B"/>
                </a:solidFill>
              </a:rPr>
              <a:t>What are database languages and why do they matter?</a:t>
            </a:r>
            <a:endParaRPr lang="en-US" sz="1000" dirty="0"/>
          </a:p>
        </p:txBody>
      </p:sp>
      <p:sp>
        <p:nvSpPr>
          <p:cNvPr id="11" name="Shape 9"/>
          <p:cNvSpPr/>
          <p:nvPr/>
        </p:nvSpPr>
        <p:spPr>
          <a:xfrm>
            <a:off x="320040" y="1426464"/>
            <a:ext cx="8503920" cy="512064"/>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2" name="Shape 10"/>
          <p:cNvSpPr/>
          <p:nvPr/>
        </p:nvSpPr>
        <p:spPr>
          <a:xfrm>
            <a:off x="320040" y="1426464"/>
            <a:ext cx="54864" cy="512064"/>
          </a:xfrm>
          <a:prstGeom prst="rect">
            <a:avLst/>
          </a:prstGeom>
          <a:solidFill>
            <a:srgbClr val="0891B2"/>
          </a:solidFill>
          <a:ln w="12700">
            <a:solidFill>
              <a:srgbClr val="0891B2"/>
            </a:solidFill>
            <a:prstDash val="solid"/>
          </a:ln>
        </p:spPr>
        <p:txBody>
          <a:bodyPr/>
          <a:lstStyle/>
          <a:p>
            <a:endParaRPr lang="es-ES"/>
          </a:p>
        </p:txBody>
      </p:sp>
      <p:sp>
        <p:nvSpPr>
          <p:cNvPr id="13" name="Text 11"/>
          <p:cNvSpPr/>
          <p:nvPr/>
        </p:nvSpPr>
        <p:spPr>
          <a:xfrm>
            <a:off x="457200" y="1472184"/>
            <a:ext cx="502920" cy="402336"/>
          </a:xfrm>
          <a:prstGeom prst="rect">
            <a:avLst/>
          </a:prstGeom>
          <a:noFill/>
          <a:ln/>
        </p:spPr>
        <p:txBody>
          <a:bodyPr wrap="square" lIns="0" tIns="0" rIns="0" bIns="0" rtlCol="0" anchor="ctr"/>
          <a:lstStyle/>
          <a:p>
            <a:pPr marL="0" indent="0" algn="ctr">
              <a:buNone/>
            </a:pPr>
            <a:r>
              <a:rPr lang="en-US" sz="1600" b="1" dirty="0">
                <a:solidFill>
                  <a:srgbClr val="0891B2"/>
                </a:solidFill>
              </a:rPr>
              <a:t>02</a:t>
            </a:r>
            <a:endParaRPr lang="en-US" sz="1600" dirty="0"/>
          </a:p>
        </p:txBody>
      </p:sp>
      <p:sp>
        <p:nvSpPr>
          <p:cNvPr id="14" name="Text 12"/>
          <p:cNvSpPr/>
          <p:nvPr/>
        </p:nvSpPr>
        <p:spPr>
          <a:xfrm>
            <a:off x="1051560" y="1463040"/>
            <a:ext cx="3200400" cy="256032"/>
          </a:xfrm>
          <a:prstGeom prst="rect">
            <a:avLst/>
          </a:prstGeom>
          <a:noFill/>
          <a:ln/>
        </p:spPr>
        <p:txBody>
          <a:bodyPr wrap="square" lIns="0" tIns="0" rIns="0" bIns="0" rtlCol="0" anchor="ctr"/>
          <a:lstStyle/>
          <a:p>
            <a:pPr marL="0" indent="0">
              <a:buNone/>
            </a:pPr>
            <a:r>
              <a:rPr lang="en-US" sz="1300" b="1" dirty="0">
                <a:solidFill>
                  <a:srgbClr val="1E293B"/>
                </a:solidFill>
              </a:rPr>
              <a:t>DBMS &amp; DB Languages</a:t>
            </a:r>
            <a:endParaRPr lang="en-US" sz="1300" dirty="0"/>
          </a:p>
        </p:txBody>
      </p:sp>
      <p:sp>
        <p:nvSpPr>
          <p:cNvPr id="15" name="Text 13"/>
          <p:cNvSpPr/>
          <p:nvPr/>
        </p:nvSpPr>
        <p:spPr>
          <a:xfrm>
            <a:off x="1051560" y="1700784"/>
            <a:ext cx="7406640" cy="201168"/>
          </a:xfrm>
          <a:prstGeom prst="rect">
            <a:avLst/>
          </a:prstGeom>
          <a:noFill/>
          <a:ln/>
        </p:spPr>
        <p:txBody>
          <a:bodyPr wrap="square" lIns="0" tIns="0" rIns="0" bIns="0" rtlCol="0" anchor="ctr"/>
          <a:lstStyle/>
          <a:p>
            <a:pPr marL="0" indent="0">
              <a:buNone/>
            </a:pPr>
            <a:r>
              <a:rPr lang="en-US" sz="1000" dirty="0">
                <a:solidFill>
                  <a:srgbClr val="64748B"/>
                </a:solidFill>
              </a:rPr>
              <a:t>Relationship between databases, DBMS, and languages</a:t>
            </a:r>
            <a:endParaRPr lang="en-US" sz="1000" dirty="0"/>
          </a:p>
        </p:txBody>
      </p:sp>
      <p:sp>
        <p:nvSpPr>
          <p:cNvPr id="16" name="Shape 14"/>
          <p:cNvSpPr/>
          <p:nvPr/>
        </p:nvSpPr>
        <p:spPr>
          <a:xfrm>
            <a:off x="320040" y="2011680"/>
            <a:ext cx="8503920" cy="512064"/>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7" name="Shape 15"/>
          <p:cNvSpPr/>
          <p:nvPr/>
        </p:nvSpPr>
        <p:spPr>
          <a:xfrm>
            <a:off x="320040" y="2011680"/>
            <a:ext cx="54864" cy="512064"/>
          </a:xfrm>
          <a:prstGeom prst="rect">
            <a:avLst/>
          </a:prstGeom>
          <a:solidFill>
            <a:srgbClr val="0891B2"/>
          </a:solidFill>
          <a:ln w="12700">
            <a:solidFill>
              <a:srgbClr val="0891B2"/>
            </a:solidFill>
            <a:prstDash val="solid"/>
          </a:ln>
        </p:spPr>
        <p:txBody>
          <a:bodyPr/>
          <a:lstStyle/>
          <a:p>
            <a:endParaRPr lang="es-ES"/>
          </a:p>
        </p:txBody>
      </p:sp>
      <p:sp>
        <p:nvSpPr>
          <p:cNvPr id="18" name="Text 16"/>
          <p:cNvSpPr/>
          <p:nvPr/>
        </p:nvSpPr>
        <p:spPr>
          <a:xfrm>
            <a:off x="457200" y="2057400"/>
            <a:ext cx="502920" cy="402336"/>
          </a:xfrm>
          <a:prstGeom prst="rect">
            <a:avLst/>
          </a:prstGeom>
          <a:noFill/>
          <a:ln/>
        </p:spPr>
        <p:txBody>
          <a:bodyPr wrap="square" lIns="0" tIns="0" rIns="0" bIns="0" rtlCol="0" anchor="ctr"/>
          <a:lstStyle/>
          <a:p>
            <a:pPr marL="0" indent="0" algn="ctr">
              <a:buNone/>
            </a:pPr>
            <a:r>
              <a:rPr lang="en-US" sz="1600" b="1" dirty="0">
                <a:solidFill>
                  <a:srgbClr val="0891B2"/>
                </a:solidFill>
              </a:rPr>
              <a:t>03</a:t>
            </a:r>
            <a:endParaRPr lang="en-US" sz="1600" dirty="0"/>
          </a:p>
        </p:txBody>
      </p:sp>
      <p:sp>
        <p:nvSpPr>
          <p:cNvPr id="19" name="Text 17"/>
          <p:cNvSpPr/>
          <p:nvPr/>
        </p:nvSpPr>
        <p:spPr>
          <a:xfrm>
            <a:off x="1051560" y="2048256"/>
            <a:ext cx="3200400" cy="256032"/>
          </a:xfrm>
          <a:prstGeom prst="rect">
            <a:avLst/>
          </a:prstGeom>
          <a:noFill/>
          <a:ln/>
        </p:spPr>
        <p:txBody>
          <a:bodyPr wrap="square" lIns="0" tIns="0" rIns="0" bIns="0" rtlCol="0" anchor="ctr"/>
          <a:lstStyle/>
          <a:p>
            <a:pPr marL="0" indent="0">
              <a:buNone/>
            </a:pPr>
            <a:r>
              <a:rPr lang="en-US" sz="1300" b="1" dirty="0">
                <a:solidFill>
                  <a:srgbClr val="1E293B"/>
                </a:solidFill>
              </a:rPr>
              <a:t>Language Categories</a:t>
            </a:r>
            <a:endParaRPr lang="en-US" sz="1300" dirty="0"/>
          </a:p>
        </p:txBody>
      </p:sp>
      <p:sp>
        <p:nvSpPr>
          <p:cNvPr id="20" name="Text 18"/>
          <p:cNvSpPr/>
          <p:nvPr/>
        </p:nvSpPr>
        <p:spPr>
          <a:xfrm>
            <a:off x="1051560" y="2286000"/>
            <a:ext cx="7406640" cy="201168"/>
          </a:xfrm>
          <a:prstGeom prst="rect">
            <a:avLst/>
          </a:prstGeom>
          <a:noFill/>
          <a:ln/>
        </p:spPr>
        <p:txBody>
          <a:bodyPr wrap="square" lIns="0" tIns="0" rIns="0" bIns="0" rtlCol="0" anchor="ctr"/>
          <a:lstStyle/>
          <a:p>
            <a:pPr marL="0" indent="0">
              <a:buNone/>
            </a:pPr>
            <a:r>
              <a:rPr lang="en-US" sz="1000" dirty="0">
                <a:solidFill>
                  <a:srgbClr val="64748B"/>
                </a:solidFill>
              </a:rPr>
              <a:t>DDL · DML · DCL · TCL with SQL examples</a:t>
            </a:r>
            <a:endParaRPr lang="en-US" sz="1000" dirty="0"/>
          </a:p>
        </p:txBody>
      </p:sp>
      <p:sp>
        <p:nvSpPr>
          <p:cNvPr id="21" name="Shape 19"/>
          <p:cNvSpPr/>
          <p:nvPr/>
        </p:nvSpPr>
        <p:spPr>
          <a:xfrm>
            <a:off x="320040" y="2596896"/>
            <a:ext cx="8503920" cy="512064"/>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2" name="Shape 20"/>
          <p:cNvSpPr/>
          <p:nvPr/>
        </p:nvSpPr>
        <p:spPr>
          <a:xfrm>
            <a:off x="320040" y="2596896"/>
            <a:ext cx="54864" cy="512064"/>
          </a:xfrm>
          <a:prstGeom prst="rect">
            <a:avLst/>
          </a:prstGeom>
          <a:solidFill>
            <a:srgbClr val="0891B2"/>
          </a:solidFill>
          <a:ln w="12700">
            <a:solidFill>
              <a:srgbClr val="0891B2"/>
            </a:solidFill>
            <a:prstDash val="solid"/>
          </a:ln>
        </p:spPr>
        <p:txBody>
          <a:bodyPr/>
          <a:lstStyle/>
          <a:p>
            <a:endParaRPr lang="es-ES"/>
          </a:p>
        </p:txBody>
      </p:sp>
      <p:sp>
        <p:nvSpPr>
          <p:cNvPr id="23" name="Text 21"/>
          <p:cNvSpPr/>
          <p:nvPr/>
        </p:nvSpPr>
        <p:spPr>
          <a:xfrm>
            <a:off x="457200" y="2642616"/>
            <a:ext cx="502920" cy="402336"/>
          </a:xfrm>
          <a:prstGeom prst="rect">
            <a:avLst/>
          </a:prstGeom>
          <a:noFill/>
          <a:ln/>
        </p:spPr>
        <p:txBody>
          <a:bodyPr wrap="square" lIns="0" tIns="0" rIns="0" bIns="0" rtlCol="0" anchor="ctr"/>
          <a:lstStyle/>
          <a:p>
            <a:pPr marL="0" indent="0" algn="ctr">
              <a:buNone/>
            </a:pPr>
            <a:r>
              <a:rPr lang="en-US" sz="1600" b="1" dirty="0">
                <a:solidFill>
                  <a:srgbClr val="0891B2"/>
                </a:solidFill>
              </a:rPr>
              <a:t>04</a:t>
            </a:r>
            <a:endParaRPr lang="en-US" sz="1600" dirty="0"/>
          </a:p>
        </p:txBody>
      </p:sp>
      <p:sp>
        <p:nvSpPr>
          <p:cNvPr id="24" name="Text 22"/>
          <p:cNvSpPr/>
          <p:nvPr/>
        </p:nvSpPr>
        <p:spPr>
          <a:xfrm>
            <a:off x="1051560" y="2633472"/>
            <a:ext cx="3200400" cy="256032"/>
          </a:xfrm>
          <a:prstGeom prst="rect">
            <a:avLst/>
          </a:prstGeom>
          <a:noFill/>
          <a:ln/>
        </p:spPr>
        <p:txBody>
          <a:bodyPr wrap="square" lIns="0" tIns="0" rIns="0" bIns="0" rtlCol="0" anchor="ctr"/>
          <a:lstStyle/>
          <a:p>
            <a:pPr marL="0" indent="0">
              <a:buNone/>
            </a:pPr>
            <a:r>
              <a:rPr lang="en-US" sz="1300" b="1" dirty="0">
                <a:solidFill>
                  <a:srgbClr val="1E293B"/>
                </a:solidFill>
              </a:rPr>
              <a:t>SQL in Practice</a:t>
            </a:r>
            <a:endParaRPr lang="en-US" sz="1300" dirty="0"/>
          </a:p>
        </p:txBody>
      </p:sp>
      <p:sp>
        <p:nvSpPr>
          <p:cNvPr id="25" name="Text 23"/>
          <p:cNvSpPr/>
          <p:nvPr/>
        </p:nvSpPr>
        <p:spPr>
          <a:xfrm>
            <a:off x="1051560" y="2871216"/>
            <a:ext cx="7406640" cy="201168"/>
          </a:xfrm>
          <a:prstGeom prst="rect">
            <a:avLst/>
          </a:prstGeom>
          <a:noFill/>
          <a:ln/>
        </p:spPr>
        <p:txBody>
          <a:bodyPr wrap="square" lIns="0" tIns="0" rIns="0" bIns="0" rtlCol="0" anchor="ctr"/>
          <a:lstStyle/>
          <a:p>
            <a:pPr marL="0" indent="0">
              <a:buNone/>
            </a:pPr>
            <a:r>
              <a:rPr lang="en-US" sz="1000" dirty="0">
                <a:solidFill>
                  <a:srgbClr val="64748B"/>
                </a:solidFill>
              </a:rPr>
              <a:t>The most widely used relational database language</a:t>
            </a:r>
            <a:endParaRPr lang="en-US" sz="1000" dirty="0"/>
          </a:p>
        </p:txBody>
      </p:sp>
      <p:sp>
        <p:nvSpPr>
          <p:cNvPr id="26" name="Shape 24"/>
          <p:cNvSpPr/>
          <p:nvPr/>
        </p:nvSpPr>
        <p:spPr>
          <a:xfrm>
            <a:off x="320040" y="3182112"/>
            <a:ext cx="8503920" cy="512064"/>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7" name="Shape 25"/>
          <p:cNvSpPr/>
          <p:nvPr/>
        </p:nvSpPr>
        <p:spPr>
          <a:xfrm>
            <a:off x="320040" y="3182112"/>
            <a:ext cx="54864" cy="512064"/>
          </a:xfrm>
          <a:prstGeom prst="rect">
            <a:avLst/>
          </a:prstGeom>
          <a:solidFill>
            <a:srgbClr val="0891B2"/>
          </a:solidFill>
          <a:ln w="12700">
            <a:solidFill>
              <a:srgbClr val="0891B2"/>
            </a:solidFill>
            <a:prstDash val="solid"/>
          </a:ln>
        </p:spPr>
        <p:txBody>
          <a:bodyPr/>
          <a:lstStyle/>
          <a:p>
            <a:endParaRPr lang="es-ES"/>
          </a:p>
        </p:txBody>
      </p:sp>
      <p:sp>
        <p:nvSpPr>
          <p:cNvPr id="28" name="Text 26"/>
          <p:cNvSpPr/>
          <p:nvPr/>
        </p:nvSpPr>
        <p:spPr>
          <a:xfrm>
            <a:off x="457200" y="3227832"/>
            <a:ext cx="502920" cy="402336"/>
          </a:xfrm>
          <a:prstGeom prst="rect">
            <a:avLst/>
          </a:prstGeom>
          <a:noFill/>
          <a:ln/>
        </p:spPr>
        <p:txBody>
          <a:bodyPr wrap="square" lIns="0" tIns="0" rIns="0" bIns="0" rtlCol="0" anchor="ctr"/>
          <a:lstStyle/>
          <a:p>
            <a:pPr marL="0" indent="0" algn="ctr">
              <a:buNone/>
            </a:pPr>
            <a:r>
              <a:rPr lang="en-US" sz="1600" b="1" dirty="0">
                <a:solidFill>
                  <a:srgbClr val="0891B2"/>
                </a:solidFill>
              </a:rPr>
              <a:t>05</a:t>
            </a:r>
            <a:endParaRPr lang="en-US" sz="1600" dirty="0"/>
          </a:p>
        </p:txBody>
      </p:sp>
      <p:sp>
        <p:nvSpPr>
          <p:cNvPr id="29" name="Text 27"/>
          <p:cNvSpPr/>
          <p:nvPr/>
        </p:nvSpPr>
        <p:spPr>
          <a:xfrm>
            <a:off x="1051560" y="3218688"/>
            <a:ext cx="3200400" cy="256032"/>
          </a:xfrm>
          <a:prstGeom prst="rect">
            <a:avLst/>
          </a:prstGeom>
          <a:noFill/>
          <a:ln/>
        </p:spPr>
        <p:txBody>
          <a:bodyPr wrap="square" lIns="0" tIns="0" rIns="0" bIns="0" rtlCol="0" anchor="ctr"/>
          <a:lstStyle/>
          <a:p>
            <a:pPr marL="0" indent="0">
              <a:buNone/>
            </a:pPr>
            <a:r>
              <a:rPr lang="en-US" sz="1300" b="1" dirty="0">
                <a:solidFill>
                  <a:srgbClr val="1E293B"/>
                </a:solidFill>
              </a:rPr>
              <a:t>NoSQL Query Languages</a:t>
            </a:r>
            <a:endParaRPr lang="en-US" sz="1300" dirty="0"/>
          </a:p>
        </p:txBody>
      </p:sp>
      <p:sp>
        <p:nvSpPr>
          <p:cNvPr id="30" name="Text 28"/>
          <p:cNvSpPr/>
          <p:nvPr/>
        </p:nvSpPr>
        <p:spPr>
          <a:xfrm>
            <a:off x="1051560" y="3456432"/>
            <a:ext cx="7406640" cy="201168"/>
          </a:xfrm>
          <a:prstGeom prst="rect">
            <a:avLst/>
          </a:prstGeom>
          <a:noFill/>
          <a:ln/>
        </p:spPr>
        <p:txBody>
          <a:bodyPr wrap="square" lIns="0" tIns="0" rIns="0" bIns="0" rtlCol="0" anchor="ctr"/>
          <a:lstStyle/>
          <a:p>
            <a:pPr marL="0" indent="0">
              <a:buNone/>
            </a:pPr>
            <a:r>
              <a:rPr lang="en-US" sz="1000" dirty="0">
                <a:solidFill>
                  <a:srgbClr val="64748B"/>
                </a:solidFill>
              </a:rPr>
              <a:t>Modern non-relational approaches &amp; MongoDB</a:t>
            </a:r>
            <a:endParaRPr lang="en-US" sz="1000" dirty="0"/>
          </a:p>
        </p:txBody>
      </p:sp>
      <p:sp>
        <p:nvSpPr>
          <p:cNvPr id="31" name="Shape 29"/>
          <p:cNvSpPr/>
          <p:nvPr/>
        </p:nvSpPr>
        <p:spPr>
          <a:xfrm>
            <a:off x="320040" y="3767328"/>
            <a:ext cx="8503920" cy="512064"/>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32" name="Shape 30"/>
          <p:cNvSpPr/>
          <p:nvPr/>
        </p:nvSpPr>
        <p:spPr>
          <a:xfrm>
            <a:off x="320040" y="3767328"/>
            <a:ext cx="54864" cy="512064"/>
          </a:xfrm>
          <a:prstGeom prst="rect">
            <a:avLst/>
          </a:prstGeom>
          <a:solidFill>
            <a:srgbClr val="0891B2"/>
          </a:solidFill>
          <a:ln w="12700">
            <a:solidFill>
              <a:srgbClr val="0891B2"/>
            </a:solidFill>
            <a:prstDash val="solid"/>
          </a:ln>
        </p:spPr>
        <p:txBody>
          <a:bodyPr/>
          <a:lstStyle/>
          <a:p>
            <a:endParaRPr lang="es-ES"/>
          </a:p>
        </p:txBody>
      </p:sp>
      <p:sp>
        <p:nvSpPr>
          <p:cNvPr id="33" name="Text 31"/>
          <p:cNvSpPr/>
          <p:nvPr/>
        </p:nvSpPr>
        <p:spPr>
          <a:xfrm>
            <a:off x="457200" y="3813048"/>
            <a:ext cx="502920" cy="402336"/>
          </a:xfrm>
          <a:prstGeom prst="rect">
            <a:avLst/>
          </a:prstGeom>
          <a:noFill/>
          <a:ln/>
        </p:spPr>
        <p:txBody>
          <a:bodyPr wrap="square" lIns="0" tIns="0" rIns="0" bIns="0" rtlCol="0" anchor="ctr"/>
          <a:lstStyle/>
          <a:p>
            <a:pPr marL="0" indent="0" algn="ctr">
              <a:buNone/>
            </a:pPr>
            <a:r>
              <a:rPr lang="en-US" sz="1600" b="1" dirty="0">
                <a:solidFill>
                  <a:srgbClr val="0891B2"/>
                </a:solidFill>
              </a:rPr>
              <a:t>06</a:t>
            </a:r>
            <a:endParaRPr lang="en-US" sz="1600" dirty="0"/>
          </a:p>
        </p:txBody>
      </p:sp>
      <p:sp>
        <p:nvSpPr>
          <p:cNvPr id="34" name="Text 32"/>
          <p:cNvSpPr/>
          <p:nvPr/>
        </p:nvSpPr>
        <p:spPr>
          <a:xfrm>
            <a:off x="1051560" y="3803904"/>
            <a:ext cx="3200400" cy="256032"/>
          </a:xfrm>
          <a:prstGeom prst="rect">
            <a:avLst/>
          </a:prstGeom>
          <a:noFill/>
          <a:ln/>
        </p:spPr>
        <p:txBody>
          <a:bodyPr wrap="square" lIns="0" tIns="0" rIns="0" bIns="0" rtlCol="0" anchor="ctr"/>
          <a:lstStyle/>
          <a:p>
            <a:pPr marL="0" indent="0">
              <a:buNone/>
            </a:pPr>
            <a:r>
              <a:rPr lang="en-US" sz="1300" b="1" dirty="0">
                <a:solidFill>
                  <a:srgbClr val="1E293B"/>
                </a:solidFill>
              </a:rPr>
              <a:t>Real-World Use Cases</a:t>
            </a:r>
            <a:endParaRPr lang="en-US" sz="1300" dirty="0"/>
          </a:p>
        </p:txBody>
      </p:sp>
      <p:sp>
        <p:nvSpPr>
          <p:cNvPr id="35" name="Text 33"/>
          <p:cNvSpPr/>
          <p:nvPr/>
        </p:nvSpPr>
        <p:spPr>
          <a:xfrm>
            <a:off x="1051560" y="4041648"/>
            <a:ext cx="7406640" cy="201168"/>
          </a:xfrm>
          <a:prstGeom prst="rect">
            <a:avLst/>
          </a:prstGeom>
          <a:noFill/>
          <a:ln/>
        </p:spPr>
        <p:txBody>
          <a:bodyPr wrap="square" lIns="0" tIns="0" rIns="0" bIns="0" rtlCol="0" anchor="ctr"/>
          <a:lstStyle/>
          <a:p>
            <a:pPr marL="0" indent="0">
              <a:buNone/>
            </a:pPr>
            <a:r>
              <a:rPr lang="en-US" sz="1000" dirty="0">
                <a:solidFill>
                  <a:srgbClr val="64748B"/>
                </a:solidFill>
              </a:rPr>
              <a:t>Backend, analytics, web &amp; enterprise applications</a:t>
            </a:r>
            <a:endParaRPr lang="en-US" sz="1000" dirty="0"/>
          </a:p>
        </p:txBody>
      </p:sp>
      <p:sp>
        <p:nvSpPr>
          <p:cNvPr id="36" name="Shape 34"/>
          <p:cNvSpPr/>
          <p:nvPr/>
        </p:nvSpPr>
        <p:spPr>
          <a:xfrm>
            <a:off x="320040" y="4352544"/>
            <a:ext cx="8503920" cy="512064"/>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37" name="Shape 35"/>
          <p:cNvSpPr/>
          <p:nvPr/>
        </p:nvSpPr>
        <p:spPr>
          <a:xfrm>
            <a:off x="320040" y="4352544"/>
            <a:ext cx="54864" cy="512064"/>
          </a:xfrm>
          <a:prstGeom prst="rect">
            <a:avLst/>
          </a:prstGeom>
          <a:solidFill>
            <a:srgbClr val="0891B2"/>
          </a:solidFill>
          <a:ln w="12700">
            <a:solidFill>
              <a:srgbClr val="0891B2"/>
            </a:solidFill>
            <a:prstDash val="solid"/>
          </a:ln>
        </p:spPr>
        <p:txBody>
          <a:bodyPr/>
          <a:lstStyle/>
          <a:p>
            <a:endParaRPr lang="es-ES"/>
          </a:p>
        </p:txBody>
      </p:sp>
      <p:sp>
        <p:nvSpPr>
          <p:cNvPr id="38" name="Text 36"/>
          <p:cNvSpPr/>
          <p:nvPr/>
        </p:nvSpPr>
        <p:spPr>
          <a:xfrm>
            <a:off x="457200" y="4398264"/>
            <a:ext cx="502920" cy="402336"/>
          </a:xfrm>
          <a:prstGeom prst="rect">
            <a:avLst/>
          </a:prstGeom>
          <a:noFill/>
          <a:ln/>
        </p:spPr>
        <p:txBody>
          <a:bodyPr wrap="square" lIns="0" tIns="0" rIns="0" bIns="0" rtlCol="0" anchor="ctr"/>
          <a:lstStyle/>
          <a:p>
            <a:pPr marL="0" indent="0" algn="ctr">
              <a:buNone/>
            </a:pPr>
            <a:r>
              <a:rPr lang="en-US" sz="1600" b="1" dirty="0">
                <a:solidFill>
                  <a:srgbClr val="0891B2"/>
                </a:solidFill>
              </a:rPr>
              <a:t>07</a:t>
            </a:r>
            <a:endParaRPr lang="en-US" sz="1600" dirty="0"/>
          </a:p>
        </p:txBody>
      </p:sp>
      <p:sp>
        <p:nvSpPr>
          <p:cNvPr id="39" name="Text 37"/>
          <p:cNvSpPr/>
          <p:nvPr/>
        </p:nvSpPr>
        <p:spPr>
          <a:xfrm>
            <a:off x="1051560" y="4389120"/>
            <a:ext cx="3200400" cy="256032"/>
          </a:xfrm>
          <a:prstGeom prst="rect">
            <a:avLst/>
          </a:prstGeom>
          <a:noFill/>
          <a:ln/>
        </p:spPr>
        <p:txBody>
          <a:bodyPr wrap="square" lIns="0" tIns="0" rIns="0" bIns="0" rtlCol="0" anchor="ctr"/>
          <a:lstStyle/>
          <a:p>
            <a:pPr marL="0" indent="0">
              <a:buNone/>
            </a:pPr>
            <a:r>
              <a:rPr lang="en-US" sz="1300" b="1" dirty="0">
                <a:solidFill>
                  <a:srgbClr val="1E293B"/>
                </a:solidFill>
              </a:rPr>
              <a:t>Summary &amp; References</a:t>
            </a:r>
            <a:endParaRPr lang="en-US" sz="1300" dirty="0"/>
          </a:p>
        </p:txBody>
      </p:sp>
      <p:sp>
        <p:nvSpPr>
          <p:cNvPr id="40" name="Text 38"/>
          <p:cNvSpPr/>
          <p:nvPr/>
        </p:nvSpPr>
        <p:spPr>
          <a:xfrm>
            <a:off x="1051560" y="4626864"/>
            <a:ext cx="7406640" cy="201168"/>
          </a:xfrm>
          <a:prstGeom prst="rect">
            <a:avLst/>
          </a:prstGeom>
          <a:noFill/>
          <a:ln/>
        </p:spPr>
        <p:txBody>
          <a:bodyPr wrap="square" lIns="0" tIns="0" rIns="0" bIns="0" rtlCol="0" anchor="ctr"/>
          <a:lstStyle/>
          <a:p>
            <a:pPr marL="0" indent="0">
              <a:buNone/>
            </a:pPr>
            <a:r>
              <a:rPr lang="en-US" sz="1000" dirty="0">
                <a:solidFill>
                  <a:srgbClr val="64748B"/>
                </a:solidFill>
              </a:rPr>
              <a:t>Key takeaways and further reading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0" y="0"/>
            <a:ext cx="9144000" cy="713232"/>
          </a:xfrm>
          <a:prstGeom prst="rect">
            <a:avLst/>
          </a:prstGeom>
          <a:solidFill>
            <a:srgbClr val="1B3A6B"/>
          </a:solidFill>
          <a:ln w="12700">
            <a:solidFill>
              <a:srgbClr val="1B3A6B"/>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Introduction: What are Database Languages?</a:t>
            </a:r>
            <a:endParaRPr lang="en-US" sz="2000" dirty="0"/>
          </a:p>
        </p:txBody>
      </p:sp>
      <p:sp>
        <p:nvSpPr>
          <p:cNvPr id="6" name="Shape 4"/>
          <p:cNvSpPr/>
          <p:nvPr/>
        </p:nvSpPr>
        <p:spPr>
          <a:xfrm>
            <a:off x="274320" y="804672"/>
            <a:ext cx="4754880" cy="123444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7" name="Shape 5"/>
          <p:cNvSpPr/>
          <p:nvPr/>
        </p:nvSpPr>
        <p:spPr>
          <a:xfrm>
            <a:off x="274320" y="804672"/>
            <a:ext cx="54864" cy="1234440"/>
          </a:xfrm>
          <a:prstGeom prst="rect">
            <a:avLst/>
          </a:prstGeom>
          <a:solidFill>
            <a:srgbClr val="1B3A6B"/>
          </a:solidFill>
          <a:ln w="12700">
            <a:solidFill>
              <a:srgbClr val="1B3A6B"/>
            </a:solidFill>
            <a:prstDash val="solid"/>
          </a:ln>
        </p:spPr>
        <p:txBody>
          <a:bodyPr/>
          <a:lstStyle/>
          <a:p>
            <a:endParaRPr lang="es-ES"/>
          </a:p>
        </p:txBody>
      </p:sp>
      <p:sp>
        <p:nvSpPr>
          <p:cNvPr id="8" name="Shape 6"/>
          <p:cNvSpPr/>
          <p:nvPr/>
        </p:nvSpPr>
        <p:spPr>
          <a:xfrm>
            <a:off x="402336" y="1097280"/>
            <a:ext cx="566928" cy="566928"/>
          </a:xfrm>
          <a:prstGeom prst="ellipse">
            <a:avLst/>
          </a:prstGeom>
          <a:solidFill>
            <a:srgbClr val="1B3A6B"/>
          </a:solidFill>
          <a:ln w="12700">
            <a:solidFill>
              <a:srgbClr val="1B3A6B"/>
            </a:solidFill>
            <a:prstDash val="solid"/>
          </a:ln>
        </p:spPr>
        <p:txBody>
          <a:bodyPr/>
          <a:lstStyle/>
          <a:p>
            <a:endParaRPr lang="es-ES"/>
          </a:p>
        </p:txBody>
      </p:sp>
      <p:pic>
        <p:nvPicPr>
          <p:cNvPr id="9" name="Image 0" descr="preencoded.png"/>
          <p:cNvPicPr>
            <a:picLocks noChangeAspect="1"/>
          </p:cNvPicPr>
          <p:nvPr/>
        </p:nvPicPr>
        <p:blipFill>
          <a:blip r:embed="rId3"/>
          <a:stretch>
            <a:fillRect/>
          </a:stretch>
        </p:blipFill>
        <p:spPr>
          <a:xfrm>
            <a:off x="527060" y="1222004"/>
            <a:ext cx="317480" cy="317480"/>
          </a:xfrm>
          <a:prstGeom prst="rect">
            <a:avLst/>
          </a:prstGeom>
        </p:spPr>
      </p:pic>
      <p:sp>
        <p:nvSpPr>
          <p:cNvPr id="10" name="Text 7"/>
          <p:cNvSpPr/>
          <p:nvPr/>
        </p:nvSpPr>
        <p:spPr>
          <a:xfrm>
            <a:off x="1078992" y="877824"/>
            <a:ext cx="3840480" cy="274320"/>
          </a:xfrm>
          <a:prstGeom prst="rect">
            <a:avLst/>
          </a:prstGeom>
          <a:noFill/>
          <a:ln/>
        </p:spPr>
        <p:txBody>
          <a:bodyPr wrap="square" lIns="0" tIns="0" rIns="0" bIns="0" rtlCol="0" anchor="ctr"/>
          <a:lstStyle/>
          <a:p>
            <a:pPr marL="0" indent="0">
              <a:buNone/>
            </a:pPr>
            <a:r>
              <a:rPr lang="en-US" sz="1200" b="1" dirty="0">
                <a:solidFill>
                  <a:srgbClr val="1B3A6B"/>
                </a:solidFill>
              </a:rPr>
              <a:t>Definition</a:t>
            </a:r>
            <a:endParaRPr lang="en-US" sz="1200" dirty="0"/>
          </a:p>
        </p:txBody>
      </p:sp>
      <p:sp>
        <p:nvSpPr>
          <p:cNvPr id="11" name="Text 8"/>
          <p:cNvSpPr/>
          <p:nvPr/>
        </p:nvSpPr>
        <p:spPr>
          <a:xfrm>
            <a:off x="1078992" y="1152144"/>
            <a:ext cx="3803904" cy="777240"/>
          </a:xfrm>
          <a:prstGeom prst="rect">
            <a:avLst/>
          </a:prstGeom>
          <a:noFill/>
          <a:ln/>
        </p:spPr>
        <p:txBody>
          <a:bodyPr wrap="square" lIns="0" tIns="0" rIns="0" bIns="0" rtlCol="0" anchor="ctr"/>
          <a:lstStyle/>
          <a:p>
            <a:pPr marL="0" indent="0">
              <a:buNone/>
            </a:pPr>
            <a:r>
              <a:rPr lang="en-US" sz="1100" dirty="0">
                <a:solidFill>
                  <a:srgbClr val="1E293B"/>
                </a:solidFill>
              </a:rPr>
              <a:t>A database language is a formal language used to define, manipulate, control, and query data stored in a database management system (DBMS).</a:t>
            </a:r>
            <a:endParaRPr lang="en-US" sz="1100" dirty="0"/>
          </a:p>
        </p:txBody>
      </p:sp>
      <p:sp>
        <p:nvSpPr>
          <p:cNvPr id="12" name="Shape 9"/>
          <p:cNvSpPr/>
          <p:nvPr/>
        </p:nvSpPr>
        <p:spPr>
          <a:xfrm>
            <a:off x="274320" y="2176272"/>
            <a:ext cx="4754880" cy="123444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3" name="Shape 10"/>
          <p:cNvSpPr/>
          <p:nvPr/>
        </p:nvSpPr>
        <p:spPr>
          <a:xfrm>
            <a:off x="274320" y="2176272"/>
            <a:ext cx="54864" cy="1234440"/>
          </a:xfrm>
          <a:prstGeom prst="rect">
            <a:avLst/>
          </a:prstGeom>
          <a:solidFill>
            <a:srgbClr val="0891B2"/>
          </a:solidFill>
          <a:ln w="12700">
            <a:solidFill>
              <a:srgbClr val="0891B2"/>
            </a:solidFill>
            <a:prstDash val="solid"/>
          </a:ln>
        </p:spPr>
        <p:txBody>
          <a:bodyPr/>
          <a:lstStyle/>
          <a:p>
            <a:endParaRPr lang="es-ES"/>
          </a:p>
        </p:txBody>
      </p:sp>
      <p:sp>
        <p:nvSpPr>
          <p:cNvPr id="14" name="Shape 11"/>
          <p:cNvSpPr/>
          <p:nvPr/>
        </p:nvSpPr>
        <p:spPr>
          <a:xfrm>
            <a:off x="402336" y="2468880"/>
            <a:ext cx="566928" cy="566928"/>
          </a:xfrm>
          <a:prstGeom prst="ellipse">
            <a:avLst/>
          </a:prstGeom>
          <a:solidFill>
            <a:srgbClr val="0891B2"/>
          </a:solidFill>
          <a:ln w="12700">
            <a:solidFill>
              <a:srgbClr val="0891B2"/>
            </a:solidFill>
            <a:prstDash val="solid"/>
          </a:ln>
        </p:spPr>
        <p:txBody>
          <a:bodyPr/>
          <a:lstStyle/>
          <a:p>
            <a:endParaRPr lang="es-ES"/>
          </a:p>
        </p:txBody>
      </p:sp>
      <p:pic>
        <p:nvPicPr>
          <p:cNvPr id="15" name="Image 1" descr="preencoded.png"/>
          <p:cNvPicPr>
            <a:picLocks noChangeAspect="1"/>
          </p:cNvPicPr>
          <p:nvPr/>
        </p:nvPicPr>
        <p:blipFill>
          <a:blip r:embed="rId4"/>
          <a:stretch>
            <a:fillRect/>
          </a:stretch>
        </p:blipFill>
        <p:spPr>
          <a:xfrm>
            <a:off x="527060" y="2593604"/>
            <a:ext cx="317480" cy="317480"/>
          </a:xfrm>
          <a:prstGeom prst="rect">
            <a:avLst/>
          </a:prstGeom>
        </p:spPr>
      </p:pic>
      <p:sp>
        <p:nvSpPr>
          <p:cNvPr id="16" name="Text 12"/>
          <p:cNvSpPr/>
          <p:nvPr/>
        </p:nvSpPr>
        <p:spPr>
          <a:xfrm>
            <a:off x="1078992" y="2249424"/>
            <a:ext cx="3840480" cy="274320"/>
          </a:xfrm>
          <a:prstGeom prst="rect">
            <a:avLst/>
          </a:prstGeom>
          <a:noFill/>
          <a:ln/>
        </p:spPr>
        <p:txBody>
          <a:bodyPr wrap="square" lIns="0" tIns="0" rIns="0" bIns="0" rtlCol="0" anchor="ctr"/>
          <a:lstStyle/>
          <a:p>
            <a:pPr marL="0" indent="0">
              <a:buNone/>
            </a:pPr>
            <a:r>
              <a:rPr lang="en-US" sz="1200" b="1" dirty="0">
                <a:solidFill>
                  <a:srgbClr val="0891B2"/>
                </a:solidFill>
              </a:rPr>
              <a:t>Role in Software Systems</a:t>
            </a:r>
            <a:endParaRPr lang="en-US" sz="1200" dirty="0"/>
          </a:p>
        </p:txBody>
      </p:sp>
      <p:sp>
        <p:nvSpPr>
          <p:cNvPr id="17" name="Text 13"/>
          <p:cNvSpPr/>
          <p:nvPr/>
        </p:nvSpPr>
        <p:spPr>
          <a:xfrm>
            <a:off x="1078992" y="2523744"/>
            <a:ext cx="3803904" cy="777240"/>
          </a:xfrm>
          <a:prstGeom prst="rect">
            <a:avLst/>
          </a:prstGeom>
          <a:noFill/>
          <a:ln/>
        </p:spPr>
        <p:txBody>
          <a:bodyPr wrap="square" lIns="0" tIns="0" rIns="0" bIns="0" rtlCol="0" anchor="ctr"/>
          <a:lstStyle/>
          <a:p>
            <a:pPr marL="0" indent="0">
              <a:buNone/>
            </a:pPr>
            <a:r>
              <a:rPr lang="en-US" sz="1100" dirty="0">
                <a:solidFill>
                  <a:srgbClr val="1E293B"/>
                </a:solidFill>
              </a:rPr>
              <a:t>They serve as the primary interface between application code and persistent data - enabling create, read, update, and delete (CRUD) operations.</a:t>
            </a:r>
            <a:endParaRPr lang="en-US" sz="1100" dirty="0"/>
          </a:p>
        </p:txBody>
      </p:sp>
      <p:sp>
        <p:nvSpPr>
          <p:cNvPr id="18" name="Shape 14"/>
          <p:cNvSpPr/>
          <p:nvPr/>
        </p:nvSpPr>
        <p:spPr>
          <a:xfrm>
            <a:off x="274320" y="3547872"/>
            <a:ext cx="4754880" cy="123444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9" name="Shape 15"/>
          <p:cNvSpPr/>
          <p:nvPr/>
        </p:nvSpPr>
        <p:spPr>
          <a:xfrm>
            <a:off x="274320" y="3547872"/>
            <a:ext cx="54864" cy="1234440"/>
          </a:xfrm>
          <a:prstGeom prst="rect">
            <a:avLst/>
          </a:prstGeom>
          <a:solidFill>
            <a:srgbClr val="7C3AED"/>
          </a:solidFill>
          <a:ln w="12700">
            <a:solidFill>
              <a:srgbClr val="7C3AED"/>
            </a:solidFill>
            <a:prstDash val="solid"/>
          </a:ln>
        </p:spPr>
        <p:txBody>
          <a:bodyPr/>
          <a:lstStyle/>
          <a:p>
            <a:endParaRPr lang="es-ES"/>
          </a:p>
        </p:txBody>
      </p:sp>
      <p:sp>
        <p:nvSpPr>
          <p:cNvPr id="20" name="Shape 16"/>
          <p:cNvSpPr/>
          <p:nvPr/>
        </p:nvSpPr>
        <p:spPr>
          <a:xfrm>
            <a:off x="402336" y="3840480"/>
            <a:ext cx="566928" cy="566928"/>
          </a:xfrm>
          <a:prstGeom prst="ellipse">
            <a:avLst/>
          </a:prstGeom>
          <a:solidFill>
            <a:srgbClr val="7C3AED"/>
          </a:solidFill>
          <a:ln w="12700">
            <a:solidFill>
              <a:srgbClr val="7C3AED"/>
            </a:solidFill>
            <a:prstDash val="solid"/>
          </a:ln>
        </p:spPr>
        <p:txBody>
          <a:bodyPr/>
          <a:lstStyle/>
          <a:p>
            <a:endParaRPr lang="es-ES"/>
          </a:p>
        </p:txBody>
      </p:sp>
      <p:pic>
        <p:nvPicPr>
          <p:cNvPr id="21" name="Image 2" descr="preencoded.png"/>
          <p:cNvPicPr>
            <a:picLocks noChangeAspect="1"/>
          </p:cNvPicPr>
          <p:nvPr/>
        </p:nvPicPr>
        <p:blipFill>
          <a:blip r:embed="rId5"/>
          <a:stretch>
            <a:fillRect/>
          </a:stretch>
        </p:blipFill>
        <p:spPr>
          <a:xfrm>
            <a:off x="527060" y="3965204"/>
            <a:ext cx="317480" cy="317480"/>
          </a:xfrm>
          <a:prstGeom prst="rect">
            <a:avLst/>
          </a:prstGeom>
        </p:spPr>
      </p:pic>
      <p:sp>
        <p:nvSpPr>
          <p:cNvPr id="22" name="Text 17"/>
          <p:cNvSpPr/>
          <p:nvPr/>
        </p:nvSpPr>
        <p:spPr>
          <a:xfrm>
            <a:off x="1078992" y="3621024"/>
            <a:ext cx="3840480" cy="274320"/>
          </a:xfrm>
          <a:prstGeom prst="rect">
            <a:avLst/>
          </a:prstGeom>
          <a:noFill/>
          <a:ln/>
        </p:spPr>
        <p:txBody>
          <a:bodyPr wrap="square" lIns="0" tIns="0" rIns="0" bIns="0" rtlCol="0" anchor="ctr"/>
          <a:lstStyle/>
          <a:p>
            <a:pPr marL="0" indent="0">
              <a:buNone/>
            </a:pPr>
            <a:r>
              <a:rPr lang="en-US" sz="1200" b="1" dirty="0">
                <a:solidFill>
                  <a:srgbClr val="7C3AED"/>
                </a:solidFill>
              </a:rPr>
              <a:t>Standardisation</a:t>
            </a:r>
            <a:endParaRPr lang="en-US" sz="1200" dirty="0"/>
          </a:p>
        </p:txBody>
      </p:sp>
      <p:sp>
        <p:nvSpPr>
          <p:cNvPr id="23" name="Text 18"/>
          <p:cNvSpPr/>
          <p:nvPr/>
        </p:nvSpPr>
        <p:spPr>
          <a:xfrm>
            <a:off x="1078992" y="3895344"/>
            <a:ext cx="3803904" cy="777240"/>
          </a:xfrm>
          <a:prstGeom prst="rect">
            <a:avLst/>
          </a:prstGeom>
          <a:noFill/>
          <a:ln/>
        </p:spPr>
        <p:txBody>
          <a:bodyPr wrap="square" lIns="0" tIns="0" rIns="0" bIns="0" rtlCol="0" anchor="ctr"/>
          <a:lstStyle/>
          <a:p>
            <a:pPr marL="0" indent="0">
              <a:buNone/>
            </a:pPr>
            <a:r>
              <a:rPr lang="en-US" sz="1100" dirty="0">
                <a:solidFill>
                  <a:srgbClr val="1E293B"/>
                </a:solidFill>
              </a:rPr>
              <a:t>SQL (ISO/IEC 9075) is the dominant standard; NoSQL systems use proprietary or document-based query APIs.</a:t>
            </a:r>
            <a:endParaRPr lang="en-US" sz="1100" dirty="0"/>
          </a:p>
        </p:txBody>
      </p:sp>
      <p:sp>
        <p:nvSpPr>
          <p:cNvPr id="24" name="Text 19"/>
          <p:cNvSpPr/>
          <p:nvPr/>
        </p:nvSpPr>
        <p:spPr>
          <a:xfrm>
            <a:off x="5349240" y="841248"/>
            <a:ext cx="3474720" cy="292608"/>
          </a:xfrm>
          <a:prstGeom prst="rect">
            <a:avLst/>
          </a:prstGeom>
          <a:noFill/>
          <a:ln/>
        </p:spPr>
        <p:txBody>
          <a:bodyPr wrap="square" lIns="0" tIns="0" rIns="0" bIns="0" rtlCol="0" anchor="ctr"/>
          <a:lstStyle/>
          <a:p>
            <a:pPr marL="0" indent="0">
              <a:buNone/>
            </a:pPr>
            <a:r>
              <a:rPr lang="en-US" sz="1400" b="1" dirty="0">
                <a:solidFill>
                  <a:srgbClr val="1B3A6B"/>
                </a:solidFill>
              </a:rPr>
              <a:t>Why Does It Matter?</a:t>
            </a:r>
            <a:endParaRPr lang="en-US" sz="1400" dirty="0"/>
          </a:p>
        </p:txBody>
      </p:sp>
      <p:sp>
        <p:nvSpPr>
          <p:cNvPr id="25" name="Shape 20"/>
          <p:cNvSpPr/>
          <p:nvPr/>
        </p:nvSpPr>
        <p:spPr>
          <a:xfrm>
            <a:off x="5349240" y="1188720"/>
            <a:ext cx="3474720" cy="841248"/>
          </a:xfrm>
          <a:prstGeom prst="rect">
            <a:avLst/>
          </a:prstGeom>
          <a:solidFill>
            <a:srgbClr val="EFF6FF"/>
          </a:solidFill>
          <a:ln w="12700">
            <a:solidFill>
              <a:srgbClr val="BFDBFE"/>
            </a:solidFill>
            <a:prstDash val="solid"/>
          </a:ln>
          <a:effectLst>
            <a:outerShdw blurRad="76200" dist="12700" dir="8100000" algn="bl" rotWithShape="0">
              <a:srgbClr val="000000">
                <a:alpha val="10000"/>
              </a:srgbClr>
            </a:outerShdw>
          </a:effectLst>
        </p:spPr>
        <p:txBody>
          <a:bodyPr/>
          <a:lstStyle/>
          <a:p>
            <a:endParaRPr lang="es-ES"/>
          </a:p>
        </p:txBody>
      </p:sp>
      <p:sp>
        <p:nvSpPr>
          <p:cNvPr id="26" name="Text 21"/>
          <p:cNvSpPr/>
          <p:nvPr/>
        </p:nvSpPr>
        <p:spPr>
          <a:xfrm>
            <a:off x="5413248" y="1430382"/>
            <a:ext cx="1005840" cy="384048"/>
          </a:xfrm>
          <a:prstGeom prst="rect">
            <a:avLst/>
          </a:prstGeom>
          <a:noFill/>
          <a:ln/>
        </p:spPr>
        <p:txBody>
          <a:bodyPr wrap="square" lIns="0" tIns="0" rIns="0" bIns="0" rtlCol="0" anchor="ctr"/>
          <a:lstStyle/>
          <a:p>
            <a:pPr marL="0" indent="0" algn="ctr">
              <a:buNone/>
            </a:pPr>
            <a:r>
              <a:rPr lang="en-US" sz="2000" b="1" dirty="0">
                <a:solidFill>
                  <a:srgbClr val="0891B2"/>
                </a:solidFill>
              </a:rPr>
              <a:t>~80%</a:t>
            </a:r>
            <a:endParaRPr lang="en-US" sz="2000" dirty="0"/>
          </a:p>
        </p:txBody>
      </p:sp>
      <p:sp>
        <p:nvSpPr>
          <p:cNvPr id="27" name="Text 22"/>
          <p:cNvSpPr/>
          <p:nvPr/>
        </p:nvSpPr>
        <p:spPr>
          <a:xfrm>
            <a:off x="6446520" y="1280160"/>
            <a:ext cx="2286000" cy="658368"/>
          </a:xfrm>
          <a:prstGeom prst="rect">
            <a:avLst/>
          </a:prstGeom>
          <a:noFill/>
          <a:ln/>
        </p:spPr>
        <p:txBody>
          <a:bodyPr wrap="square" lIns="0" tIns="0" rIns="0" bIns="0" rtlCol="0" anchor="ctr"/>
          <a:lstStyle/>
          <a:p>
            <a:pPr marL="0" indent="0">
              <a:buNone/>
            </a:pPr>
            <a:r>
              <a:rPr lang="en-US" sz="1050" dirty="0">
                <a:solidFill>
                  <a:srgbClr val="1E293B"/>
                </a:solidFill>
              </a:rPr>
              <a:t>of enterprise apps rely on a relational DB</a:t>
            </a:r>
            <a:endParaRPr lang="en-US" sz="1050" dirty="0"/>
          </a:p>
        </p:txBody>
      </p:sp>
      <p:sp>
        <p:nvSpPr>
          <p:cNvPr id="28" name="Shape 23"/>
          <p:cNvSpPr/>
          <p:nvPr/>
        </p:nvSpPr>
        <p:spPr>
          <a:xfrm>
            <a:off x="5349240" y="2157984"/>
            <a:ext cx="3474720" cy="841248"/>
          </a:xfrm>
          <a:prstGeom prst="rect">
            <a:avLst/>
          </a:prstGeom>
          <a:solidFill>
            <a:srgbClr val="EFF6FF"/>
          </a:solidFill>
          <a:ln w="12700">
            <a:solidFill>
              <a:srgbClr val="BFDBFE"/>
            </a:solidFill>
            <a:prstDash val="solid"/>
          </a:ln>
          <a:effectLst>
            <a:outerShdw blurRad="76200" dist="12700" dir="8100000" algn="bl" rotWithShape="0">
              <a:srgbClr val="000000">
                <a:alpha val="10000"/>
              </a:srgbClr>
            </a:outerShdw>
          </a:effectLst>
        </p:spPr>
        <p:txBody>
          <a:bodyPr/>
          <a:lstStyle/>
          <a:p>
            <a:endParaRPr lang="es-ES"/>
          </a:p>
        </p:txBody>
      </p:sp>
      <p:sp>
        <p:nvSpPr>
          <p:cNvPr id="29" name="Text 24"/>
          <p:cNvSpPr/>
          <p:nvPr/>
        </p:nvSpPr>
        <p:spPr>
          <a:xfrm>
            <a:off x="5413248" y="2399646"/>
            <a:ext cx="1005840" cy="384048"/>
          </a:xfrm>
          <a:prstGeom prst="rect">
            <a:avLst/>
          </a:prstGeom>
          <a:noFill/>
          <a:ln/>
        </p:spPr>
        <p:txBody>
          <a:bodyPr wrap="square" lIns="0" tIns="0" rIns="0" bIns="0" rtlCol="0" anchor="ctr"/>
          <a:lstStyle/>
          <a:p>
            <a:pPr marL="0" indent="0" algn="ctr">
              <a:buNone/>
            </a:pPr>
            <a:r>
              <a:rPr lang="en-US" sz="2000" b="1" dirty="0">
                <a:solidFill>
                  <a:srgbClr val="0891B2"/>
                </a:solidFill>
              </a:rPr>
              <a:t>SQL</a:t>
            </a:r>
            <a:endParaRPr lang="en-US" sz="2000" dirty="0"/>
          </a:p>
        </p:txBody>
      </p:sp>
      <p:sp>
        <p:nvSpPr>
          <p:cNvPr id="30" name="Text 25"/>
          <p:cNvSpPr/>
          <p:nvPr/>
        </p:nvSpPr>
        <p:spPr>
          <a:xfrm>
            <a:off x="6446520" y="2249424"/>
            <a:ext cx="2286000" cy="658368"/>
          </a:xfrm>
          <a:prstGeom prst="rect">
            <a:avLst/>
          </a:prstGeom>
          <a:noFill/>
          <a:ln/>
        </p:spPr>
        <p:txBody>
          <a:bodyPr wrap="square" lIns="0" tIns="0" rIns="0" bIns="0" rtlCol="0" anchor="ctr"/>
          <a:lstStyle/>
          <a:p>
            <a:pPr marL="0" indent="0">
              <a:buNone/>
            </a:pPr>
            <a:r>
              <a:rPr lang="en-US" sz="1050" dirty="0">
                <a:solidFill>
                  <a:srgbClr val="1E293B"/>
                </a:solidFill>
              </a:rPr>
              <a:t>has been the standard since the 1970s (SEQUEL → SQL)</a:t>
            </a:r>
            <a:endParaRPr lang="en-US" sz="1050" dirty="0"/>
          </a:p>
        </p:txBody>
      </p:sp>
      <p:sp>
        <p:nvSpPr>
          <p:cNvPr id="31" name="Shape 26"/>
          <p:cNvSpPr/>
          <p:nvPr/>
        </p:nvSpPr>
        <p:spPr>
          <a:xfrm>
            <a:off x="5349240" y="3127248"/>
            <a:ext cx="3474720" cy="841248"/>
          </a:xfrm>
          <a:prstGeom prst="rect">
            <a:avLst/>
          </a:prstGeom>
          <a:solidFill>
            <a:srgbClr val="EFF6FF"/>
          </a:solidFill>
          <a:ln w="12700">
            <a:solidFill>
              <a:srgbClr val="BFDBFE"/>
            </a:solidFill>
            <a:prstDash val="solid"/>
          </a:ln>
          <a:effectLst>
            <a:outerShdw blurRad="76200" dist="12700" dir="8100000" algn="bl" rotWithShape="0">
              <a:srgbClr val="000000">
                <a:alpha val="10000"/>
              </a:srgbClr>
            </a:outerShdw>
          </a:effectLst>
        </p:spPr>
        <p:txBody>
          <a:bodyPr/>
          <a:lstStyle/>
          <a:p>
            <a:endParaRPr lang="es-ES"/>
          </a:p>
        </p:txBody>
      </p:sp>
      <p:sp>
        <p:nvSpPr>
          <p:cNvPr id="32" name="Text 27"/>
          <p:cNvSpPr/>
          <p:nvPr/>
        </p:nvSpPr>
        <p:spPr>
          <a:xfrm>
            <a:off x="5413248" y="3368910"/>
            <a:ext cx="1005840" cy="384048"/>
          </a:xfrm>
          <a:prstGeom prst="rect">
            <a:avLst/>
          </a:prstGeom>
          <a:noFill/>
          <a:ln/>
        </p:spPr>
        <p:txBody>
          <a:bodyPr wrap="square" lIns="0" tIns="0" rIns="0" bIns="0" rtlCol="0" anchor="ctr"/>
          <a:lstStyle/>
          <a:p>
            <a:pPr marL="0" indent="0" algn="ctr">
              <a:buNone/>
            </a:pPr>
            <a:r>
              <a:rPr lang="en-US" sz="2000" b="1" dirty="0">
                <a:solidFill>
                  <a:srgbClr val="0891B2"/>
                </a:solidFill>
              </a:rPr>
              <a:t>CRUD</a:t>
            </a:r>
            <a:endParaRPr lang="en-US" sz="2000" dirty="0"/>
          </a:p>
        </p:txBody>
      </p:sp>
      <p:sp>
        <p:nvSpPr>
          <p:cNvPr id="33" name="Text 28"/>
          <p:cNvSpPr/>
          <p:nvPr/>
        </p:nvSpPr>
        <p:spPr>
          <a:xfrm>
            <a:off x="6446520" y="3218688"/>
            <a:ext cx="2286000" cy="658368"/>
          </a:xfrm>
          <a:prstGeom prst="rect">
            <a:avLst/>
          </a:prstGeom>
          <a:noFill/>
          <a:ln/>
        </p:spPr>
        <p:txBody>
          <a:bodyPr wrap="square" lIns="0" tIns="0" rIns="0" bIns="0" rtlCol="0" anchor="ctr"/>
          <a:lstStyle/>
          <a:p>
            <a:pPr marL="0" indent="0">
              <a:buNone/>
            </a:pPr>
            <a:r>
              <a:rPr lang="en-US" sz="1050" dirty="0">
                <a:solidFill>
                  <a:srgbClr val="1E293B"/>
                </a:solidFill>
              </a:rPr>
              <a:t>operations are enabled entirely via DB languages</a:t>
            </a:r>
            <a:endParaRPr lang="en-US" sz="1050" dirty="0"/>
          </a:p>
        </p:txBody>
      </p:sp>
      <p:sp>
        <p:nvSpPr>
          <p:cNvPr id="34" name="Shape 29"/>
          <p:cNvSpPr/>
          <p:nvPr/>
        </p:nvSpPr>
        <p:spPr>
          <a:xfrm>
            <a:off x="5349240" y="4096512"/>
            <a:ext cx="3474720" cy="841248"/>
          </a:xfrm>
          <a:prstGeom prst="rect">
            <a:avLst/>
          </a:prstGeom>
          <a:solidFill>
            <a:srgbClr val="EFF6FF"/>
          </a:solidFill>
          <a:ln w="12700">
            <a:solidFill>
              <a:srgbClr val="BFDBFE"/>
            </a:solidFill>
            <a:prstDash val="solid"/>
          </a:ln>
          <a:effectLst>
            <a:outerShdw blurRad="76200" dist="12700" dir="8100000" algn="bl" rotWithShape="0">
              <a:srgbClr val="000000">
                <a:alpha val="10000"/>
              </a:srgbClr>
            </a:outerShdw>
          </a:effectLst>
        </p:spPr>
        <p:txBody>
          <a:bodyPr/>
          <a:lstStyle/>
          <a:p>
            <a:endParaRPr lang="es-ES"/>
          </a:p>
        </p:txBody>
      </p:sp>
      <p:sp>
        <p:nvSpPr>
          <p:cNvPr id="35" name="Text 30"/>
          <p:cNvSpPr/>
          <p:nvPr/>
        </p:nvSpPr>
        <p:spPr>
          <a:xfrm>
            <a:off x="5413248" y="4338174"/>
            <a:ext cx="1005840" cy="384048"/>
          </a:xfrm>
          <a:prstGeom prst="rect">
            <a:avLst/>
          </a:prstGeom>
          <a:noFill/>
          <a:ln/>
        </p:spPr>
        <p:txBody>
          <a:bodyPr wrap="square" lIns="0" tIns="0" rIns="0" bIns="0" rtlCol="0" anchor="ctr"/>
          <a:lstStyle/>
          <a:p>
            <a:pPr marL="0" indent="0" algn="ctr">
              <a:buNone/>
            </a:pPr>
            <a:r>
              <a:rPr lang="en-US" sz="2000" b="1" dirty="0">
                <a:solidFill>
                  <a:srgbClr val="0891B2"/>
                </a:solidFill>
              </a:rPr>
              <a:t>Cloud</a:t>
            </a:r>
            <a:endParaRPr lang="en-US" sz="2000" dirty="0"/>
          </a:p>
        </p:txBody>
      </p:sp>
      <p:sp>
        <p:nvSpPr>
          <p:cNvPr id="36" name="Text 31"/>
          <p:cNvSpPr/>
          <p:nvPr/>
        </p:nvSpPr>
        <p:spPr>
          <a:xfrm>
            <a:off x="6446520" y="4187952"/>
            <a:ext cx="2286000" cy="658368"/>
          </a:xfrm>
          <a:prstGeom prst="rect">
            <a:avLst/>
          </a:prstGeom>
          <a:noFill/>
          <a:ln/>
        </p:spPr>
        <p:txBody>
          <a:bodyPr wrap="square" lIns="0" tIns="0" rIns="0" bIns="0" rtlCol="0" anchor="ctr"/>
          <a:lstStyle/>
          <a:p>
            <a:pPr marL="0" indent="0">
              <a:buNone/>
            </a:pPr>
            <a:r>
              <a:rPr lang="en-US" sz="1050" dirty="0">
                <a:solidFill>
                  <a:srgbClr val="1E293B"/>
                </a:solidFill>
              </a:rPr>
              <a:t>data services (AWS RDS, Azure SQL) all expose SQL interfaces</a:t>
            </a:r>
            <a:endParaRPr lang="en-US" sz="105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35" name="Shape 1">
            <a:extLst>
              <a:ext uri="{FF2B5EF4-FFF2-40B4-BE49-F238E27FC236}">
                <a16:creationId xmlns:a16="http://schemas.microsoft.com/office/drawing/2014/main" id="{A5221BD4-E8C6-3C1E-81F7-746225793E13}"/>
              </a:ext>
            </a:extLst>
          </p:cNvPr>
          <p:cNvSpPr/>
          <p:nvPr/>
        </p:nvSpPr>
        <p:spPr>
          <a:xfrm>
            <a:off x="0" y="0"/>
            <a:ext cx="9144000" cy="713232"/>
          </a:xfrm>
          <a:prstGeom prst="rect">
            <a:avLst/>
          </a:prstGeom>
          <a:solidFill>
            <a:srgbClr val="1B3A6B"/>
          </a:solidFill>
          <a:ln w="12700">
            <a:solidFill>
              <a:srgbClr val="1B3A6B"/>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DBMS Architecture: Where Database Languages Fit</a:t>
            </a:r>
            <a:endParaRPr lang="en-US" sz="2000" dirty="0"/>
          </a:p>
        </p:txBody>
      </p:sp>
      <p:sp>
        <p:nvSpPr>
          <p:cNvPr id="6" name="Shape 4"/>
          <p:cNvSpPr/>
          <p:nvPr/>
        </p:nvSpPr>
        <p:spPr>
          <a:xfrm>
            <a:off x="1645920" y="914400"/>
            <a:ext cx="5852160" cy="749808"/>
          </a:xfrm>
          <a:prstGeom prst="rect">
            <a:avLst/>
          </a:prstGeom>
          <a:solidFill>
            <a:srgbClr val="F1F5F9"/>
          </a:solidFill>
          <a:ln w="19050">
            <a:solidFill>
              <a:srgbClr val="CBD5E1"/>
            </a:solidFill>
            <a:prstDash val="solid"/>
          </a:ln>
        </p:spPr>
        <p:txBody>
          <a:bodyPr/>
          <a:lstStyle/>
          <a:p>
            <a:endParaRPr lang="es-ES"/>
          </a:p>
        </p:txBody>
      </p:sp>
      <p:sp>
        <p:nvSpPr>
          <p:cNvPr id="7" name="Text 5"/>
          <p:cNvSpPr/>
          <p:nvPr/>
        </p:nvSpPr>
        <p:spPr>
          <a:xfrm>
            <a:off x="1828800" y="969264"/>
            <a:ext cx="5486400" cy="274320"/>
          </a:xfrm>
          <a:prstGeom prst="rect">
            <a:avLst/>
          </a:prstGeom>
          <a:noFill/>
          <a:ln/>
        </p:spPr>
        <p:txBody>
          <a:bodyPr wrap="square" lIns="0" tIns="0" rIns="0" bIns="0" rtlCol="0" anchor="ctr"/>
          <a:lstStyle/>
          <a:p>
            <a:pPr marL="0" indent="0">
              <a:buNone/>
            </a:pPr>
            <a:r>
              <a:rPr lang="en-US" sz="1300" b="1" dirty="0">
                <a:solidFill>
                  <a:srgbClr val="64748B"/>
                </a:solidFill>
              </a:rPr>
              <a:t>Application Layer</a:t>
            </a:r>
            <a:endParaRPr lang="en-US" sz="1300" dirty="0"/>
          </a:p>
        </p:txBody>
      </p:sp>
      <p:sp>
        <p:nvSpPr>
          <p:cNvPr id="8" name="Text 6"/>
          <p:cNvSpPr/>
          <p:nvPr/>
        </p:nvSpPr>
        <p:spPr>
          <a:xfrm>
            <a:off x="1828800" y="1261872"/>
            <a:ext cx="5486400" cy="274320"/>
          </a:xfrm>
          <a:prstGeom prst="rect">
            <a:avLst/>
          </a:prstGeom>
          <a:noFill/>
          <a:ln/>
        </p:spPr>
        <p:txBody>
          <a:bodyPr wrap="square" lIns="0" tIns="0" rIns="0" bIns="0" rtlCol="0" anchor="ctr"/>
          <a:lstStyle/>
          <a:p>
            <a:pPr marL="0" indent="0">
              <a:buNone/>
            </a:pPr>
            <a:r>
              <a:rPr lang="en-US" sz="1050" dirty="0">
                <a:solidFill>
                  <a:srgbClr val="64748B"/>
                </a:solidFill>
              </a:rPr>
              <a:t>Java / Python / Node.js / PHP</a:t>
            </a:r>
            <a:endParaRPr lang="en-US" sz="1050" dirty="0"/>
          </a:p>
        </p:txBody>
      </p:sp>
      <p:sp>
        <p:nvSpPr>
          <p:cNvPr id="9" name="Shape 7"/>
          <p:cNvSpPr/>
          <p:nvPr/>
        </p:nvSpPr>
        <p:spPr>
          <a:xfrm>
            <a:off x="4572000" y="1664208"/>
            <a:ext cx="0" cy="164592"/>
          </a:xfrm>
          <a:prstGeom prst="line">
            <a:avLst/>
          </a:prstGeom>
          <a:noFill/>
          <a:ln w="25400">
            <a:solidFill>
              <a:srgbClr val="0891B2"/>
            </a:solidFill>
            <a:prstDash val="solid"/>
          </a:ln>
        </p:spPr>
        <p:txBody>
          <a:bodyPr/>
          <a:lstStyle/>
          <a:p>
            <a:endParaRPr lang="es-ES"/>
          </a:p>
        </p:txBody>
      </p:sp>
      <p:sp>
        <p:nvSpPr>
          <p:cNvPr id="10" name="Shape 8"/>
          <p:cNvSpPr/>
          <p:nvPr/>
        </p:nvSpPr>
        <p:spPr>
          <a:xfrm>
            <a:off x="1645920" y="1828800"/>
            <a:ext cx="5852160" cy="749808"/>
          </a:xfrm>
          <a:prstGeom prst="rect">
            <a:avLst/>
          </a:prstGeom>
          <a:solidFill>
            <a:srgbClr val="0891B2"/>
          </a:solidFill>
          <a:ln w="19050">
            <a:solidFill>
              <a:srgbClr val="0891B2"/>
            </a:solidFill>
            <a:prstDash val="solid"/>
          </a:ln>
        </p:spPr>
        <p:txBody>
          <a:bodyPr/>
          <a:lstStyle/>
          <a:p>
            <a:endParaRPr lang="es-ES"/>
          </a:p>
        </p:txBody>
      </p:sp>
      <p:sp>
        <p:nvSpPr>
          <p:cNvPr id="11" name="Text 9"/>
          <p:cNvSpPr/>
          <p:nvPr/>
        </p:nvSpPr>
        <p:spPr>
          <a:xfrm>
            <a:off x="1828800" y="1883664"/>
            <a:ext cx="5486400" cy="274320"/>
          </a:xfrm>
          <a:prstGeom prst="rect">
            <a:avLst/>
          </a:prstGeom>
          <a:noFill/>
          <a:ln/>
        </p:spPr>
        <p:txBody>
          <a:bodyPr wrap="square" lIns="0" tIns="0" rIns="0" bIns="0" rtlCol="0" anchor="ctr"/>
          <a:lstStyle/>
          <a:p>
            <a:pPr marL="0" indent="0">
              <a:buNone/>
            </a:pPr>
            <a:r>
              <a:rPr lang="en-US" sz="1300" b="1" dirty="0">
                <a:solidFill>
                  <a:srgbClr val="FFFFFF"/>
                </a:solidFill>
              </a:rPr>
              <a:t>Database Language Layer</a:t>
            </a:r>
            <a:endParaRPr lang="en-US" sz="1300" dirty="0"/>
          </a:p>
        </p:txBody>
      </p:sp>
      <p:sp>
        <p:nvSpPr>
          <p:cNvPr id="12" name="Text 10"/>
          <p:cNvSpPr/>
          <p:nvPr/>
        </p:nvSpPr>
        <p:spPr>
          <a:xfrm>
            <a:off x="1828800" y="2176272"/>
            <a:ext cx="5486400" cy="274320"/>
          </a:xfrm>
          <a:prstGeom prst="rect">
            <a:avLst/>
          </a:prstGeom>
          <a:noFill/>
          <a:ln/>
        </p:spPr>
        <p:txBody>
          <a:bodyPr wrap="square" lIns="0" tIns="0" rIns="0" bIns="0" rtlCol="0" anchor="ctr"/>
          <a:lstStyle/>
          <a:p>
            <a:pPr marL="0" indent="0">
              <a:buNone/>
            </a:pPr>
            <a:r>
              <a:rPr lang="en-US" sz="1050" dirty="0">
                <a:solidFill>
                  <a:srgbClr val="BAE6FD"/>
                </a:solidFill>
              </a:rPr>
              <a:t>SQL / NoSQL Queries / Stored Procedures</a:t>
            </a:r>
            <a:endParaRPr lang="en-US" sz="1050" dirty="0"/>
          </a:p>
        </p:txBody>
      </p:sp>
      <p:sp>
        <p:nvSpPr>
          <p:cNvPr id="13" name="Shape 11"/>
          <p:cNvSpPr/>
          <p:nvPr/>
        </p:nvSpPr>
        <p:spPr>
          <a:xfrm>
            <a:off x="4572000" y="2578608"/>
            <a:ext cx="0" cy="164592"/>
          </a:xfrm>
          <a:prstGeom prst="line">
            <a:avLst/>
          </a:prstGeom>
          <a:noFill/>
          <a:ln w="25400">
            <a:solidFill>
              <a:srgbClr val="0891B2"/>
            </a:solidFill>
            <a:prstDash val="solid"/>
          </a:ln>
        </p:spPr>
        <p:txBody>
          <a:bodyPr/>
          <a:lstStyle/>
          <a:p>
            <a:endParaRPr lang="es-ES"/>
          </a:p>
        </p:txBody>
      </p:sp>
      <p:sp>
        <p:nvSpPr>
          <p:cNvPr id="14" name="Shape 12"/>
          <p:cNvSpPr/>
          <p:nvPr/>
        </p:nvSpPr>
        <p:spPr>
          <a:xfrm>
            <a:off x="1645920" y="2743200"/>
            <a:ext cx="5852160" cy="749808"/>
          </a:xfrm>
          <a:prstGeom prst="rect">
            <a:avLst/>
          </a:prstGeom>
          <a:solidFill>
            <a:srgbClr val="1B3A6B"/>
          </a:solidFill>
          <a:ln w="19050">
            <a:solidFill>
              <a:srgbClr val="1B3A6B"/>
            </a:solidFill>
            <a:prstDash val="solid"/>
          </a:ln>
        </p:spPr>
        <p:txBody>
          <a:bodyPr/>
          <a:lstStyle/>
          <a:p>
            <a:endParaRPr lang="es-ES"/>
          </a:p>
        </p:txBody>
      </p:sp>
      <p:sp>
        <p:nvSpPr>
          <p:cNvPr id="15" name="Text 13"/>
          <p:cNvSpPr/>
          <p:nvPr/>
        </p:nvSpPr>
        <p:spPr>
          <a:xfrm>
            <a:off x="1828800" y="2798064"/>
            <a:ext cx="5486400" cy="274320"/>
          </a:xfrm>
          <a:prstGeom prst="rect">
            <a:avLst/>
          </a:prstGeom>
          <a:noFill/>
          <a:ln/>
        </p:spPr>
        <p:txBody>
          <a:bodyPr wrap="square" lIns="0" tIns="0" rIns="0" bIns="0" rtlCol="0" anchor="ctr"/>
          <a:lstStyle/>
          <a:p>
            <a:pPr marL="0" indent="0">
              <a:buNone/>
            </a:pPr>
            <a:r>
              <a:rPr lang="en-US" sz="1300" b="1" dirty="0">
                <a:solidFill>
                  <a:srgbClr val="FFFFFF"/>
                </a:solidFill>
              </a:rPr>
              <a:t>DBMS Engine</a:t>
            </a:r>
            <a:endParaRPr lang="en-US" sz="1300" dirty="0"/>
          </a:p>
        </p:txBody>
      </p:sp>
      <p:sp>
        <p:nvSpPr>
          <p:cNvPr id="16" name="Text 14"/>
          <p:cNvSpPr/>
          <p:nvPr/>
        </p:nvSpPr>
        <p:spPr>
          <a:xfrm>
            <a:off x="1828800" y="3090672"/>
            <a:ext cx="5486400" cy="274320"/>
          </a:xfrm>
          <a:prstGeom prst="rect">
            <a:avLst/>
          </a:prstGeom>
          <a:noFill/>
          <a:ln/>
        </p:spPr>
        <p:txBody>
          <a:bodyPr wrap="square" lIns="0" tIns="0" rIns="0" bIns="0" rtlCol="0" anchor="ctr"/>
          <a:lstStyle/>
          <a:p>
            <a:pPr marL="0" indent="0">
              <a:buNone/>
            </a:pPr>
            <a:r>
              <a:rPr lang="en-US" sz="1050" dirty="0">
                <a:solidFill>
                  <a:srgbClr val="BAE6FD"/>
                </a:solidFill>
              </a:rPr>
              <a:t>Query Parser · Optimiser · Execution Engine</a:t>
            </a:r>
            <a:endParaRPr lang="en-US" sz="1050" dirty="0"/>
          </a:p>
        </p:txBody>
      </p:sp>
      <p:sp>
        <p:nvSpPr>
          <p:cNvPr id="17" name="Shape 15"/>
          <p:cNvSpPr/>
          <p:nvPr/>
        </p:nvSpPr>
        <p:spPr>
          <a:xfrm>
            <a:off x="4572000" y="3493008"/>
            <a:ext cx="0" cy="164592"/>
          </a:xfrm>
          <a:prstGeom prst="line">
            <a:avLst/>
          </a:prstGeom>
          <a:noFill/>
          <a:ln w="25400">
            <a:solidFill>
              <a:srgbClr val="0891B2"/>
            </a:solidFill>
            <a:prstDash val="solid"/>
          </a:ln>
        </p:spPr>
        <p:txBody>
          <a:bodyPr/>
          <a:lstStyle/>
          <a:p>
            <a:endParaRPr lang="es-ES"/>
          </a:p>
        </p:txBody>
      </p:sp>
      <p:sp>
        <p:nvSpPr>
          <p:cNvPr id="18" name="Shape 16"/>
          <p:cNvSpPr/>
          <p:nvPr/>
        </p:nvSpPr>
        <p:spPr>
          <a:xfrm>
            <a:off x="1645920" y="3657600"/>
            <a:ext cx="5852160" cy="749808"/>
          </a:xfrm>
          <a:prstGeom prst="rect">
            <a:avLst/>
          </a:prstGeom>
          <a:solidFill>
            <a:srgbClr val="F1F5F9"/>
          </a:solidFill>
          <a:ln w="19050">
            <a:solidFill>
              <a:srgbClr val="CBD5E1"/>
            </a:solidFill>
            <a:prstDash val="solid"/>
          </a:ln>
        </p:spPr>
        <p:txBody>
          <a:bodyPr/>
          <a:lstStyle/>
          <a:p>
            <a:endParaRPr lang="es-ES"/>
          </a:p>
        </p:txBody>
      </p:sp>
      <p:sp>
        <p:nvSpPr>
          <p:cNvPr id="19" name="Text 17"/>
          <p:cNvSpPr/>
          <p:nvPr/>
        </p:nvSpPr>
        <p:spPr>
          <a:xfrm>
            <a:off x="1828800" y="3712464"/>
            <a:ext cx="5486400" cy="274320"/>
          </a:xfrm>
          <a:prstGeom prst="rect">
            <a:avLst/>
          </a:prstGeom>
          <a:noFill/>
          <a:ln/>
        </p:spPr>
        <p:txBody>
          <a:bodyPr wrap="square" lIns="0" tIns="0" rIns="0" bIns="0" rtlCol="0" anchor="ctr"/>
          <a:lstStyle/>
          <a:p>
            <a:pPr marL="0" indent="0">
              <a:buNone/>
            </a:pPr>
            <a:r>
              <a:rPr lang="en-US" sz="1300" b="1" dirty="0">
                <a:solidFill>
                  <a:srgbClr val="64748B"/>
                </a:solidFill>
              </a:rPr>
              <a:t>Storage Layer</a:t>
            </a:r>
            <a:endParaRPr lang="en-US" sz="1300" dirty="0"/>
          </a:p>
        </p:txBody>
      </p:sp>
      <p:sp>
        <p:nvSpPr>
          <p:cNvPr id="20" name="Text 18"/>
          <p:cNvSpPr/>
          <p:nvPr/>
        </p:nvSpPr>
        <p:spPr>
          <a:xfrm>
            <a:off x="1828800" y="4005072"/>
            <a:ext cx="5486400" cy="274320"/>
          </a:xfrm>
          <a:prstGeom prst="rect">
            <a:avLst/>
          </a:prstGeom>
          <a:noFill/>
          <a:ln/>
        </p:spPr>
        <p:txBody>
          <a:bodyPr wrap="square" lIns="0" tIns="0" rIns="0" bIns="0" rtlCol="0" anchor="ctr"/>
          <a:lstStyle/>
          <a:p>
            <a:pPr marL="0" indent="0">
              <a:buNone/>
            </a:pPr>
            <a:r>
              <a:rPr lang="en-US" sz="1050" dirty="0">
                <a:solidFill>
                  <a:srgbClr val="64748B"/>
                </a:solidFill>
              </a:rPr>
              <a:t>Files · Indexes · Buffer Pool · Disk</a:t>
            </a:r>
            <a:endParaRPr lang="en-US" sz="1050" dirty="0"/>
          </a:p>
        </p:txBody>
      </p:sp>
      <p:sp>
        <p:nvSpPr>
          <p:cNvPr id="21" name="Shape 19"/>
          <p:cNvSpPr/>
          <p:nvPr/>
        </p:nvSpPr>
        <p:spPr>
          <a:xfrm>
            <a:off x="7680960" y="1828800"/>
            <a:ext cx="54864" cy="749808"/>
          </a:xfrm>
          <a:prstGeom prst="rect">
            <a:avLst/>
          </a:prstGeom>
          <a:solidFill>
            <a:srgbClr val="0891B2"/>
          </a:solidFill>
          <a:ln w="12700">
            <a:solidFill>
              <a:srgbClr val="0891B2"/>
            </a:solidFill>
            <a:prstDash val="solid"/>
          </a:ln>
        </p:spPr>
        <p:txBody>
          <a:bodyPr/>
          <a:lstStyle/>
          <a:p>
            <a:endParaRPr lang="es-ES"/>
          </a:p>
        </p:txBody>
      </p:sp>
      <p:sp>
        <p:nvSpPr>
          <p:cNvPr id="22" name="Text 20"/>
          <p:cNvSpPr/>
          <p:nvPr/>
        </p:nvSpPr>
        <p:spPr>
          <a:xfrm>
            <a:off x="7772400" y="1828800"/>
            <a:ext cx="1188720" cy="777240"/>
          </a:xfrm>
          <a:prstGeom prst="rect">
            <a:avLst/>
          </a:prstGeom>
          <a:noFill/>
          <a:ln/>
        </p:spPr>
        <p:txBody>
          <a:bodyPr wrap="square" lIns="0" tIns="0" rIns="0" bIns="0" rtlCol="0" anchor="ctr"/>
          <a:lstStyle/>
          <a:p>
            <a:pPr marL="0" indent="0">
              <a:buNone/>
            </a:pPr>
            <a:r>
              <a:rPr lang="en-US" sz="950" i="1" dirty="0">
                <a:solidFill>
                  <a:srgbClr val="0891B2"/>
                </a:solidFill>
              </a:rPr>
              <a:t>← DB Language</a:t>
            </a:r>
            <a:endParaRPr lang="en-US" sz="950" dirty="0"/>
          </a:p>
          <a:p>
            <a:pPr marL="0" indent="0">
              <a:buNone/>
            </a:pPr>
            <a:r>
              <a:rPr lang="en-US" sz="950" i="1" dirty="0">
                <a:solidFill>
                  <a:srgbClr val="0891B2"/>
                </a:solidFill>
              </a:rPr>
              <a:t>is the interface</a:t>
            </a:r>
            <a:endParaRPr lang="en-US" sz="950" dirty="0"/>
          </a:p>
          <a:p>
            <a:pPr marL="0" indent="0">
              <a:buNone/>
            </a:pPr>
            <a:r>
              <a:rPr lang="en-US" sz="950" i="1" dirty="0">
                <a:solidFill>
                  <a:srgbClr val="0891B2"/>
                </a:solidFill>
              </a:rPr>
              <a:t>between app &amp;</a:t>
            </a:r>
            <a:endParaRPr lang="en-US" sz="950" dirty="0"/>
          </a:p>
          <a:p>
            <a:pPr marL="0" indent="0">
              <a:buNone/>
            </a:pPr>
            <a:r>
              <a:rPr lang="en-US" sz="950" i="1" dirty="0">
                <a:solidFill>
                  <a:srgbClr val="0891B2"/>
                </a:solidFill>
              </a:rPr>
              <a:t>storage</a:t>
            </a:r>
            <a:endParaRPr lang="en-US" sz="950" dirty="0"/>
          </a:p>
        </p:txBody>
      </p:sp>
      <p:sp>
        <p:nvSpPr>
          <p:cNvPr id="23" name="Shape 21"/>
          <p:cNvSpPr/>
          <p:nvPr/>
        </p:nvSpPr>
        <p:spPr>
          <a:xfrm>
            <a:off x="274320" y="4572000"/>
            <a:ext cx="2743200" cy="45720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4" name="Shape 22"/>
          <p:cNvSpPr/>
          <p:nvPr/>
        </p:nvSpPr>
        <p:spPr>
          <a:xfrm>
            <a:off x="274320" y="4572000"/>
            <a:ext cx="54864" cy="457200"/>
          </a:xfrm>
          <a:prstGeom prst="rect">
            <a:avLst/>
          </a:prstGeom>
          <a:solidFill>
            <a:srgbClr val="D97706"/>
          </a:solidFill>
          <a:ln w="12700">
            <a:solidFill>
              <a:srgbClr val="D97706"/>
            </a:solidFill>
            <a:prstDash val="solid"/>
          </a:ln>
        </p:spPr>
        <p:txBody>
          <a:bodyPr/>
          <a:lstStyle/>
          <a:p>
            <a:endParaRPr lang="es-ES"/>
          </a:p>
        </p:txBody>
      </p:sp>
      <p:sp>
        <p:nvSpPr>
          <p:cNvPr id="25" name="Text 23"/>
          <p:cNvSpPr/>
          <p:nvPr/>
        </p:nvSpPr>
        <p:spPr>
          <a:xfrm>
            <a:off x="438912" y="4590288"/>
            <a:ext cx="1188720" cy="201168"/>
          </a:xfrm>
          <a:prstGeom prst="rect">
            <a:avLst/>
          </a:prstGeom>
          <a:noFill/>
          <a:ln/>
        </p:spPr>
        <p:txBody>
          <a:bodyPr wrap="square" lIns="0" tIns="0" rIns="0" bIns="0" rtlCol="0" anchor="ctr"/>
          <a:lstStyle/>
          <a:p>
            <a:pPr marL="0" indent="0">
              <a:buNone/>
            </a:pPr>
            <a:r>
              <a:rPr lang="en-US" sz="1100" b="1" dirty="0">
                <a:solidFill>
                  <a:srgbClr val="1B3A6B"/>
                </a:solidFill>
              </a:rPr>
              <a:t>Database</a:t>
            </a:r>
            <a:endParaRPr lang="en-US" sz="1100" dirty="0"/>
          </a:p>
        </p:txBody>
      </p:sp>
      <p:sp>
        <p:nvSpPr>
          <p:cNvPr id="26" name="Text 24"/>
          <p:cNvSpPr/>
          <p:nvPr/>
        </p:nvSpPr>
        <p:spPr>
          <a:xfrm>
            <a:off x="438912" y="4791456"/>
            <a:ext cx="2468880" cy="201168"/>
          </a:xfrm>
          <a:prstGeom prst="rect">
            <a:avLst/>
          </a:prstGeom>
          <a:noFill/>
          <a:ln/>
        </p:spPr>
        <p:txBody>
          <a:bodyPr wrap="square" lIns="0" tIns="0" rIns="0" bIns="0" rtlCol="0" anchor="ctr"/>
          <a:lstStyle/>
          <a:p>
            <a:pPr marL="0" indent="0">
              <a:buNone/>
            </a:pPr>
            <a:r>
              <a:rPr lang="en-US" sz="950" dirty="0">
                <a:solidFill>
                  <a:srgbClr val="64748B"/>
                </a:solidFill>
              </a:rPr>
              <a:t>Organised collection of structured data</a:t>
            </a:r>
            <a:endParaRPr lang="en-US" sz="950" dirty="0"/>
          </a:p>
        </p:txBody>
      </p:sp>
      <p:sp>
        <p:nvSpPr>
          <p:cNvPr id="27" name="Shape 25"/>
          <p:cNvSpPr/>
          <p:nvPr/>
        </p:nvSpPr>
        <p:spPr>
          <a:xfrm>
            <a:off x="3200400" y="4572000"/>
            <a:ext cx="2743200" cy="45720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8" name="Shape 26"/>
          <p:cNvSpPr/>
          <p:nvPr/>
        </p:nvSpPr>
        <p:spPr>
          <a:xfrm>
            <a:off x="3200400" y="4572000"/>
            <a:ext cx="54864" cy="457200"/>
          </a:xfrm>
          <a:prstGeom prst="rect">
            <a:avLst/>
          </a:prstGeom>
          <a:solidFill>
            <a:srgbClr val="D97706"/>
          </a:solidFill>
          <a:ln w="12700">
            <a:solidFill>
              <a:srgbClr val="D97706"/>
            </a:solidFill>
            <a:prstDash val="solid"/>
          </a:ln>
        </p:spPr>
        <p:txBody>
          <a:bodyPr/>
          <a:lstStyle/>
          <a:p>
            <a:endParaRPr lang="es-ES"/>
          </a:p>
        </p:txBody>
      </p:sp>
      <p:sp>
        <p:nvSpPr>
          <p:cNvPr id="29" name="Text 27"/>
          <p:cNvSpPr/>
          <p:nvPr/>
        </p:nvSpPr>
        <p:spPr>
          <a:xfrm>
            <a:off x="3364992" y="4590288"/>
            <a:ext cx="1188720" cy="201168"/>
          </a:xfrm>
          <a:prstGeom prst="rect">
            <a:avLst/>
          </a:prstGeom>
          <a:noFill/>
          <a:ln/>
        </p:spPr>
        <p:txBody>
          <a:bodyPr wrap="square" lIns="0" tIns="0" rIns="0" bIns="0" rtlCol="0" anchor="ctr"/>
          <a:lstStyle/>
          <a:p>
            <a:pPr marL="0" indent="0">
              <a:buNone/>
            </a:pPr>
            <a:r>
              <a:rPr lang="en-US" sz="1100" b="1" dirty="0">
                <a:solidFill>
                  <a:srgbClr val="1B3A6B"/>
                </a:solidFill>
              </a:rPr>
              <a:t>DBMS</a:t>
            </a:r>
            <a:endParaRPr lang="en-US" sz="1100" dirty="0"/>
          </a:p>
        </p:txBody>
      </p:sp>
      <p:sp>
        <p:nvSpPr>
          <p:cNvPr id="30" name="Text 28"/>
          <p:cNvSpPr/>
          <p:nvPr/>
        </p:nvSpPr>
        <p:spPr>
          <a:xfrm>
            <a:off x="3364992" y="4791456"/>
            <a:ext cx="2468880" cy="201168"/>
          </a:xfrm>
          <a:prstGeom prst="rect">
            <a:avLst/>
          </a:prstGeom>
          <a:noFill/>
          <a:ln/>
        </p:spPr>
        <p:txBody>
          <a:bodyPr wrap="square" lIns="0" tIns="0" rIns="0" bIns="0" rtlCol="0" anchor="ctr"/>
          <a:lstStyle/>
          <a:p>
            <a:pPr marL="0" indent="0">
              <a:buNone/>
            </a:pPr>
            <a:r>
              <a:rPr lang="en-US" sz="950" dirty="0">
                <a:solidFill>
                  <a:srgbClr val="64748B"/>
                </a:solidFill>
              </a:rPr>
              <a:t>Software that manages access to the database</a:t>
            </a:r>
            <a:endParaRPr lang="en-US" sz="950" dirty="0"/>
          </a:p>
        </p:txBody>
      </p:sp>
      <p:sp>
        <p:nvSpPr>
          <p:cNvPr id="31" name="Shape 29"/>
          <p:cNvSpPr/>
          <p:nvPr/>
        </p:nvSpPr>
        <p:spPr>
          <a:xfrm>
            <a:off x="6126480" y="4572000"/>
            <a:ext cx="2743200" cy="45720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32" name="Shape 30"/>
          <p:cNvSpPr/>
          <p:nvPr/>
        </p:nvSpPr>
        <p:spPr>
          <a:xfrm>
            <a:off x="6126480" y="4572000"/>
            <a:ext cx="54864" cy="457200"/>
          </a:xfrm>
          <a:prstGeom prst="rect">
            <a:avLst/>
          </a:prstGeom>
          <a:solidFill>
            <a:srgbClr val="D97706"/>
          </a:solidFill>
          <a:ln w="12700">
            <a:solidFill>
              <a:srgbClr val="D97706"/>
            </a:solidFill>
            <a:prstDash val="solid"/>
          </a:ln>
        </p:spPr>
        <p:txBody>
          <a:bodyPr/>
          <a:lstStyle/>
          <a:p>
            <a:endParaRPr lang="es-ES"/>
          </a:p>
        </p:txBody>
      </p:sp>
      <p:sp>
        <p:nvSpPr>
          <p:cNvPr id="33" name="Text 31"/>
          <p:cNvSpPr/>
          <p:nvPr/>
        </p:nvSpPr>
        <p:spPr>
          <a:xfrm>
            <a:off x="6291072" y="4590288"/>
            <a:ext cx="1188720" cy="201168"/>
          </a:xfrm>
          <a:prstGeom prst="rect">
            <a:avLst/>
          </a:prstGeom>
          <a:noFill/>
          <a:ln/>
        </p:spPr>
        <p:txBody>
          <a:bodyPr wrap="square" lIns="0" tIns="0" rIns="0" bIns="0" rtlCol="0" anchor="ctr"/>
          <a:lstStyle/>
          <a:p>
            <a:pPr marL="0" indent="0">
              <a:buNone/>
            </a:pPr>
            <a:r>
              <a:rPr lang="en-US" sz="1100" b="1" dirty="0">
                <a:solidFill>
                  <a:srgbClr val="1B3A6B"/>
                </a:solidFill>
              </a:rPr>
              <a:t>DB Language</a:t>
            </a:r>
            <a:endParaRPr lang="en-US" sz="1100" dirty="0"/>
          </a:p>
        </p:txBody>
      </p:sp>
      <p:sp>
        <p:nvSpPr>
          <p:cNvPr id="34" name="Text 32"/>
          <p:cNvSpPr/>
          <p:nvPr/>
        </p:nvSpPr>
        <p:spPr>
          <a:xfrm>
            <a:off x="6291072" y="4791456"/>
            <a:ext cx="2468880" cy="201168"/>
          </a:xfrm>
          <a:prstGeom prst="rect">
            <a:avLst/>
          </a:prstGeom>
          <a:noFill/>
          <a:ln/>
        </p:spPr>
        <p:txBody>
          <a:bodyPr wrap="square" lIns="0" tIns="0" rIns="0" bIns="0" rtlCol="0" anchor="ctr"/>
          <a:lstStyle/>
          <a:p>
            <a:pPr marL="0" indent="0">
              <a:buNone/>
            </a:pPr>
            <a:r>
              <a:rPr lang="en-US" sz="950" dirty="0">
                <a:solidFill>
                  <a:srgbClr val="64748B"/>
                </a:solidFill>
              </a:rPr>
              <a:t>Formal syntax to interact with the DBMS</a:t>
            </a:r>
            <a:endParaRPr lang="en-US" sz="95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0" y="0"/>
            <a:ext cx="9144000" cy="713232"/>
          </a:xfrm>
          <a:prstGeom prst="rect">
            <a:avLst/>
          </a:prstGeom>
          <a:solidFill>
            <a:srgbClr val="1B3A6B"/>
          </a:solidFill>
          <a:ln w="12700">
            <a:solidFill>
              <a:srgbClr val="1B3A6B"/>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Categories of Database Languages: Overview</a:t>
            </a:r>
            <a:endParaRPr lang="en-US" sz="200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5 / 14</a:t>
            </a:r>
            <a:endParaRPr lang="en-US" sz="900" dirty="0"/>
          </a:p>
        </p:txBody>
      </p:sp>
      <p:sp>
        <p:nvSpPr>
          <p:cNvPr id="6" name="Shape 4"/>
          <p:cNvSpPr/>
          <p:nvPr/>
        </p:nvSpPr>
        <p:spPr>
          <a:xfrm>
            <a:off x="228600" y="804672"/>
            <a:ext cx="2011680" cy="411480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7" name="Shape 5"/>
          <p:cNvSpPr/>
          <p:nvPr/>
        </p:nvSpPr>
        <p:spPr>
          <a:xfrm>
            <a:off x="228600" y="804672"/>
            <a:ext cx="2011680" cy="777240"/>
          </a:xfrm>
          <a:prstGeom prst="rect">
            <a:avLst/>
          </a:prstGeom>
          <a:solidFill>
            <a:srgbClr val="1B3A6B"/>
          </a:solidFill>
          <a:ln w="12700">
            <a:solidFill>
              <a:srgbClr val="1B3A6B"/>
            </a:solidFill>
            <a:prstDash val="solid"/>
          </a:ln>
        </p:spPr>
        <p:txBody>
          <a:bodyPr/>
          <a:lstStyle/>
          <a:p>
            <a:endParaRPr lang="es-ES"/>
          </a:p>
        </p:txBody>
      </p:sp>
      <p:sp>
        <p:nvSpPr>
          <p:cNvPr id="8" name="Text 6"/>
          <p:cNvSpPr/>
          <p:nvPr/>
        </p:nvSpPr>
        <p:spPr>
          <a:xfrm>
            <a:off x="274320" y="822960"/>
            <a:ext cx="1920240" cy="384048"/>
          </a:xfrm>
          <a:prstGeom prst="rect">
            <a:avLst/>
          </a:prstGeom>
          <a:noFill/>
          <a:ln/>
        </p:spPr>
        <p:txBody>
          <a:bodyPr wrap="square" lIns="0" tIns="0" rIns="0" bIns="0" rtlCol="0" anchor="ctr"/>
          <a:lstStyle/>
          <a:p>
            <a:pPr marL="0" indent="0" algn="ctr">
              <a:buNone/>
            </a:pPr>
            <a:r>
              <a:rPr lang="en-US" sz="2200" b="1" dirty="0">
                <a:solidFill>
                  <a:srgbClr val="FFFFFF"/>
                </a:solidFill>
              </a:rPr>
              <a:t>DDL</a:t>
            </a:r>
            <a:endParaRPr lang="en-US" sz="2200" dirty="0"/>
          </a:p>
        </p:txBody>
      </p:sp>
      <p:sp>
        <p:nvSpPr>
          <p:cNvPr id="9" name="Text 7"/>
          <p:cNvSpPr/>
          <p:nvPr/>
        </p:nvSpPr>
        <p:spPr>
          <a:xfrm>
            <a:off x="274320" y="1216152"/>
            <a:ext cx="1920240" cy="274320"/>
          </a:xfrm>
          <a:prstGeom prst="rect">
            <a:avLst/>
          </a:prstGeom>
          <a:noFill/>
          <a:ln/>
        </p:spPr>
        <p:txBody>
          <a:bodyPr wrap="square" lIns="0" tIns="0" rIns="0" bIns="0" rtlCol="0" anchor="ctr"/>
          <a:lstStyle/>
          <a:p>
            <a:pPr marL="0" indent="0" algn="ctr">
              <a:buNone/>
            </a:pPr>
            <a:r>
              <a:rPr lang="en-US" sz="1100" dirty="0">
                <a:solidFill>
                  <a:srgbClr val="BAE6FD"/>
                </a:solidFill>
              </a:rPr>
              <a:t>Data Definition Language</a:t>
            </a:r>
            <a:endParaRPr lang="en-US" sz="1100" dirty="0"/>
          </a:p>
        </p:txBody>
      </p:sp>
      <p:sp>
        <p:nvSpPr>
          <p:cNvPr id="10" name="Text 8"/>
          <p:cNvSpPr/>
          <p:nvPr/>
        </p:nvSpPr>
        <p:spPr>
          <a:xfrm>
            <a:off x="338328" y="1664208"/>
            <a:ext cx="1792224" cy="1371600"/>
          </a:xfrm>
          <a:prstGeom prst="rect">
            <a:avLst/>
          </a:prstGeom>
          <a:noFill/>
          <a:ln/>
        </p:spPr>
        <p:txBody>
          <a:bodyPr wrap="square" lIns="0" tIns="0" rIns="0" bIns="0" rtlCol="0" anchor="ctr"/>
          <a:lstStyle/>
          <a:p>
            <a:pPr marL="0" indent="0">
              <a:buNone/>
            </a:pPr>
            <a:r>
              <a:rPr lang="en-US" sz="1050" dirty="0">
                <a:solidFill>
                  <a:srgbClr val="1E293B"/>
                </a:solidFill>
              </a:rPr>
              <a:t>Defines and modifies the structure of the database schema (tables, indexes, views, constraints).</a:t>
            </a:r>
            <a:endParaRPr lang="en-US" sz="1050" dirty="0"/>
          </a:p>
        </p:txBody>
      </p:sp>
      <p:sp>
        <p:nvSpPr>
          <p:cNvPr id="11" name="Shape 9"/>
          <p:cNvSpPr/>
          <p:nvPr/>
        </p:nvSpPr>
        <p:spPr>
          <a:xfrm>
            <a:off x="320040" y="3127248"/>
            <a:ext cx="1828800" cy="1554480"/>
          </a:xfrm>
          <a:prstGeom prst="rect">
            <a:avLst/>
          </a:prstGeom>
          <a:solidFill>
            <a:srgbClr val="F8FAFC"/>
          </a:solidFill>
          <a:ln w="12700">
            <a:solidFill>
              <a:srgbClr val="1B3A6B"/>
            </a:solidFill>
            <a:prstDash val="solid"/>
          </a:ln>
          <a:effectLst>
            <a:outerShdw blurRad="76200" dist="12700" dir="8100000" algn="bl" rotWithShape="0">
              <a:srgbClr val="000000">
                <a:alpha val="10000"/>
              </a:srgbClr>
            </a:outerShdw>
          </a:effectLst>
        </p:spPr>
        <p:txBody>
          <a:bodyPr/>
          <a:lstStyle/>
          <a:p>
            <a:endParaRPr lang="es-ES"/>
          </a:p>
        </p:txBody>
      </p:sp>
      <p:sp>
        <p:nvSpPr>
          <p:cNvPr id="12" name="Text 10"/>
          <p:cNvSpPr/>
          <p:nvPr/>
        </p:nvSpPr>
        <p:spPr>
          <a:xfrm>
            <a:off x="365760" y="3163824"/>
            <a:ext cx="1737360" cy="201168"/>
          </a:xfrm>
          <a:prstGeom prst="rect">
            <a:avLst/>
          </a:prstGeom>
          <a:noFill/>
          <a:ln/>
        </p:spPr>
        <p:txBody>
          <a:bodyPr wrap="square" lIns="0" tIns="0" rIns="0" bIns="0" rtlCol="0" anchor="ctr"/>
          <a:lstStyle/>
          <a:p>
            <a:pPr marL="0" indent="0">
              <a:buNone/>
            </a:pPr>
            <a:r>
              <a:rPr lang="en-US" sz="900" b="1" dirty="0">
                <a:solidFill>
                  <a:srgbClr val="1B3A6B"/>
                </a:solidFill>
              </a:rPr>
              <a:t>Key Commands</a:t>
            </a:r>
            <a:endParaRPr lang="en-US" sz="900" dirty="0"/>
          </a:p>
        </p:txBody>
      </p:sp>
      <p:sp>
        <p:nvSpPr>
          <p:cNvPr id="13" name="Text 11"/>
          <p:cNvSpPr/>
          <p:nvPr/>
        </p:nvSpPr>
        <p:spPr>
          <a:xfrm>
            <a:off x="365760" y="3419856"/>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CREATE</a:t>
            </a:r>
            <a:endParaRPr lang="en-US" sz="1100" dirty="0"/>
          </a:p>
        </p:txBody>
      </p:sp>
      <p:sp>
        <p:nvSpPr>
          <p:cNvPr id="14" name="Text 12"/>
          <p:cNvSpPr/>
          <p:nvPr/>
        </p:nvSpPr>
        <p:spPr>
          <a:xfrm>
            <a:off x="365760" y="3712464"/>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ALTER</a:t>
            </a:r>
            <a:endParaRPr lang="en-US" sz="1100" dirty="0"/>
          </a:p>
        </p:txBody>
      </p:sp>
      <p:sp>
        <p:nvSpPr>
          <p:cNvPr id="15" name="Text 13"/>
          <p:cNvSpPr/>
          <p:nvPr/>
        </p:nvSpPr>
        <p:spPr>
          <a:xfrm>
            <a:off x="365760" y="4005072"/>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DROP</a:t>
            </a:r>
            <a:endParaRPr lang="en-US" sz="1100" dirty="0"/>
          </a:p>
        </p:txBody>
      </p:sp>
      <p:sp>
        <p:nvSpPr>
          <p:cNvPr id="16" name="Text 14"/>
          <p:cNvSpPr/>
          <p:nvPr/>
        </p:nvSpPr>
        <p:spPr>
          <a:xfrm>
            <a:off x="365760" y="4297680"/>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TRUNCATE</a:t>
            </a:r>
            <a:endParaRPr lang="en-US" sz="1100" dirty="0"/>
          </a:p>
        </p:txBody>
      </p:sp>
      <p:sp>
        <p:nvSpPr>
          <p:cNvPr id="17" name="Shape 15"/>
          <p:cNvSpPr/>
          <p:nvPr/>
        </p:nvSpPr>
        <p:spPr>
          <a:xfrm>
            <a:off x="2404872" y="804672"/>
            <a:ext cx="2011680" cy="411480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8" name="Shape 16"/>
          <p:cNvSpPr/>
          <p:nvPr/>
        </p:nvSpPr>
        <p:spPr>
          <a:xfrm>
            <a:off x="2404872" y="804672"/>
            <a:ext cx="2011680" cy="777240"/>
          </a:xfrm>
          <a:prstGeom prst="rect">
            <a:avLst/>
          </a:prstGeom>
          <a:solidFill>
            <a:srgbClr val="0891B2"/>
          </a:solidFill>
          <a:ln w="12700">
            <a:solidFill>
              <a:srgbClr val="0891B2"/>
            </a:solidFill>
            <a:prstDash val="solid"/>
          </a:ln>
        </p:spPr>
        <p:txBody>
          <a:bodyPr/>
          <a:lstStyle/>
          <a:p>
            <a:endParaRPr lang="es-ES"/>
          </a:p>
        </p:txBody>
      </p:sp>
      <p:sp>
        <p:nvSpPr>
          <p:cNvPr id="19" name="Text 17"/>
          <p:cNvSpPr/>
          <p:nvPr/>
        </p:nvSpPr>
        <p:spPr>
          <a:xfrm>
            <a:off x="2450592" y="822960"/>
            <a:ext cx="1920240" cy="384048"/>
          </a:xfrm>
          <a:prstGeom prst="rect">
            <a:avLst/>
          </a:prstGeom>
          <a:noFill/>
          <a:ln/>
        </p:spPr>
        <p:txBody>
          <a:bodyPr wrap="square" lIns="0" tIns="0" rIns="0" bIns="0" rtlCol="0" anchor="ctr"/>
          <a:lstStyle/>
          <a:p>
            <a:pPr marL="0" indent="0" algn="ctr">
              <a:buNone/>
            </a:pPr>
            <a:r>
              <a:rPr lang="en-US" sz="2200" b="1" dirty="0">
                <a:solidFill>
                  <a:srgbClr val="FFFFFF"/>
                </a:solidFill>
              </a:rPr>
              <a:t>DML</a:t>
            </a:r>
            <a:endParaRPr lang="en-US" sz="2200" dirty="0"/>
          </a:p>
        </p:txBody>
      </p:sp>
      <p:sp>
        <p:nvSpPr>
          <p:cNvPr id="20" name="Text 18"/>
          <p:cNvSpPr/>
          <p:nvPr/>
        </p:nvSpPr>
        <p:spPr>
          <a:xfrm>
            <a:off x="2450592" y="1216152"/>
            <a:ext cx="1920240" cy="274320"/>
          </a:xfrm>
          <a:prstGeom prst="rect">
            <a:avLst/>
          </a:prstGeom>
          <a:noFill/>
          <a:ln/>
        </p:spPr>
        <p:txBody>
          <a:bodyPr wrap="square" lIns="0" tIns="0" rIns="0" bIns="0" rtlCol="0" anchor="ctr"/>
          <a:lstStyle/>
          <a:p>
            <a:pPr marL="0" indent="0" algn="ctr">
              <a:buNone/>
            </a:pPr>
            <a:r>
              <a:rPr lang="en-US" sz="1100" dirty="0">
                <a:solidFill>
                  <a:srgbClr val="BAE6FD"/>
                </a:solidFill>
              </a:rPr>
              <a:t>Data Manipulation Language</a:t>
            </a:r>
            <a:endParaRPr lang="en-US" sz="1100" dirty="0"/>
          </a:p>
        </p:txBody>
      </p:sp>
      <p:sp>
        <p:nvSpPr>
          <p:cNvPr id="21" name="Text 19"/>
          <p:cNvSpPr/>
          <p:nvPr/>
        </p:nvSpPr>
        <p:spPr>
          <a:xfrm>
            <a:off x="2514600" y="1664208"/>
            <a:ext cx="1792224" cy="1371600"/>
          </a:xfrm>
          <a:prstGeom prst="rect">
            <a:avLst/>
          </a:prstGeom>
          <a:noFill/>
          <a:ln/>
        </p:spPr>
        <p:txBody>
          <a:bodyPr wrap="square" lIns="0" tIns="0" rIns="0" bIns="0" rtlCol="0" anchor="ctr"/>
          <a:lstStyle/>
          <a:p>
            <a:pPr marL="0" indent="0">
              <a:buNone/>
            </a:pPr>
            <a:r>
              <a:rPr lang="en-US" sz="1050" dirty="0">
                <a:solidFill>
                  <a:srgbClr val="1E293B"/>
                </a:solidFill>
              </a:rPr>
              <a:t>Used to insert, retrieve, update, and delete records within existing database tables.</a:t>
            </a:r>
            <a:endParaRPr lang="en-US" sz="1050" dirty="0"/>
          </a:p>
        </p:txBody>
      </p:sp>
      <p:sp>
        <p:nvSpPr>
          <p:cNvPr id="22" name="Shape 20"/>
          <p:cNvSpPr/>
          <p:nvPr/>
        </p:nvSpPr>
        <p:spPr>
          <a:xfrm>
            <a:off x="2496312" y="3127248"/>
            <a:ext cx="1828800" cy="1554480"/>
          </a:xfrm>
          <a:prstGeom prst="rect">
            <a:avLst/>
          </a:prstGeom>
          <a:solidFill>
            <a:srgbClr val="F8FAFC"/>
          </a:solidFill>
          <a:ln w="12700">
            <a:solidFill>
              <a:srgbClr val="0891B2"/>
            </a:solidFill>
            <a:prstDash val="solid"/>
          </a:ln>
          <a:effectLst>
            <a:outerShdw blurRad="76200" dist="12700" dir="8100000" algn="bl" rotWithShape="0">
              <a:srgbClr val="000000">
                <a:alpha val="10000"/>
              </a:srgbClr>
            </a:outerShdw>
          </a:effectLst>
        </p:spPr>
        <p:txBody>
          <a:bodyPr/>
          <a:lstStyle/>
          <a:p>
            <a:endParaRPr lang="es-ES"/>
          </a:p>
        </p:txBody>
      </p:sp>
      <p:sp>
        <p:nvSpPr>
          <p:cNvPr id="23" name="Text 21"/>
          <p:cNvSpPr/>
          <p:nvPr/>
        </p:nvSpPr>
        <p:spPr>
          <a:xfrm>
            <a:off x="2542032" y="3163824"/>
            <a:ext cx="1737360" cy="201168"/>
          </a:xfrm>
          <a:prstGeom prst="rect">
            <a:avLst/>
          </a:prstGeom>
          <a:noFill/>
          <a:ln/>
        </p:spPr>
        <p:txBody>
          <a:bodyPr wrap="square" lIns="0" tIns="0" rIns="0" bIns="0" rtlCol="0" anchor="ctr"/>
          <a:lstStyle/>
          <a:p>
            <a:pPr marL="0" indent="0">
              <a:buNone/>
            </a:pPr>
            <a:r>
              <a:rPr lang="en-US" sz="900" b="1" dirty="0">
                <a:solidFill>
                  <a:srgbClr val="0891B2"/>
                </a:solidFill>
              </a:rPr>
              <a:t>Key Commands</a:t>
            </a:r>
            <a:endParaRPr lang="en-US" sz="900" dirty="0"/>
          </a:p>
        </p:txBody>
      </p:sp>
      <p:sp>
        <p:nvSpPr>
          <p:cNvPr id="24" name="Text 22"/>
          <p:cNvSpPr/>
          <p:nvPr/>
        </p:nvSpPr>
        <p:spPr>
          <a:xfrm>
            <a:off x="2542032" y="3419856"/>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SELECT</a:t>
            </a:r>
            <a:endParaRPr lang="en-US" sz="1100" dirty="0"/>
          </a:p>
        </p:txBody>
      </p:sp>
      <p:sp>
        <p:nvSpPr>
          <p:cNvPr id="25" name="Text 23"/>
          <p:cNvSpPr/>
          <p:nvPr/>
        </p:nvSpPr>
        <p:spPr>
          <a:xfrm>
            <a:off x="2542032" y="3712464"/>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INSERT</a:t>
            </a:r>
            <a:endParaRPr lang="en-US" sz="1100" dirty="0"/>
          </a:p>
        </p:txBody>
      </p:sp>
      <p:sp>
        <p:nvSpPr>
          <p:cNvPr id="26" name="Text 24"/>
          <p:cNvSpPr/>
          <p:nvPr/>
        </p:nvSpPr>
        <p:spPr>
          <a:xfrm>
            <a:off x="2542032" y="4005072"/>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UPDATE</a:t>
            </a:r>
            <a:endParaRPr lang="en-US" sz="1100" dirty="0"/>
          </a:p>
        </p:txBody>
      </p:sp>
      <p:sp>
        <p:nvSpPr>
          <p:cNvPr id="27" name="Text 25"/>
          <p:cNvSpPr/>
          <p:nvPr/>
        </p:nvSpPr>
        <p:spPr>
          <a:xfrm>
            <a:off x="2542032" y="4297680"/>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DELETE</a:t>
            </a:r>
            <a:endParaRPr lang="en-US" sz="1100" dirty="0"/>
          </a:p>
        </p:txBody>
      </p:sp>
      <p:sp>
        <p:nvSpPr>
          <p:cNvPr id="28" name="Shape 26"/>
          <p:cNvSpPr/>
          <p:nvPr/>
        </p:nvSpPr>
        <p:spPr>
          <a:xfrm>
            <a:off x="4581144" y="804672"/>
            <a:ext cx="2011680" cy="411480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9" name="Shape 27"/>
          <p:cNvSpPr/>
          <p:nvPr/>
        </p:nvSpPr>
        <p:spPr>
          <a:xfrm>
            <a:off x="4581144" y="804672"/>
            <a:ext cx="2011680" cy="777240"/>
          </a:xfrm>
          <a:prstGeom prst="rect">
            <a:avLst/>
          </a:prstGeom>
          <a:solidFill>
            <a:srgbClr val="7C3AED"/>
          </a:solidFill>
          <a:ln w="12700">
            <a:solidFill>
              <a:srgbClr val="7C3AED"/>
            </a:solidFill>
            <a:prstDash val="solid"/>
          </a:ln>
        </p:spPr>
        <p:txBody>
          <a:bodyPr/>
          <a:lstStyle/>
          <a:p>
            <a:endParaRPr lang="es-ES"/>
          </a:p>
        </p:txBody>
      </p:sp>
      <p:sp>
        <p:nvSpPr>
          <p:cNvPr id="30" name="Text 28"/>
          <p:cNvSpPr/>
          <p:nvPr/>
        </p:nvSpPr>
        <p:spPr>
          <a:xfrm>
            <a:off x="4626864" y="822960"/>
            <a:ext cx="1920240" cy="384048"/>
          </a:xfrm>
          <a:prstGeom prst="rect">
            <a:avLst/>
          </a:prstGeom>
          <a:noFill/>
          <a:ln/>
        </p:spPr>
        <p:txBody>
          <a:bodyPr wrap="square" lIns="0" tIns="0" rIns="0" bIns="0" rtlCol="0" anchor="ctr"/>
          <a:lstStyle/>
          <a:p>
            <a:pPr marL="0" indent="0" algn="ctr">
              <a:buNone/>
            </a:pPr>
            <a:r>
              <a:rPr lang="en-US" sz="2200" b="1" dirty="0">
                <a:solidFill>
                  <a:srgbClr val="FFFFFF"/>
                </a:solidFill>
              </a:rPr>
              <a:t>DCL</a:t>
            </a:r>
            <a:endParaRPr lang="en-US" sz="2200" dirty="0"/>
          </a:p>
        </p:txBody>
      </p:sp>
      <p:sp>
        <p:nvSpPr>
          <p:cNvPr id="31" name="Text 29"/>
          <p:cNvSpPr/>
          <p:nvPr/>
        </p:nvSpPr>
        <p:spPr>
          <a:xfrm>
            <a:off x="4626864" y="1216152"/>
            <a:ext cx="1920240" cy="274320"/>
          </a:xfrm>
          <a:prstGeom prst="rect">
            <a:avLst/>
          </a:prstGeom>
          <a:noFill/>
          <a:ln/>
        </p:spPr>
        <p:txBody>
          <a:bodyPr wrap="square" lIns="0" tIns="0" rIns="0" bIns="0" rtlCol="0" anchor="ctr"/>
          <a:lstStyle/>
          <a:p>
            <a:pPr marL="0" indent="0" algn="ctr">
              <a:buNone/>
            </a:pPr>
            <a:r>
              <a:rPr lang="en-US" sz="1100" dirty="0">
                <a:solidFill>
                  <a:srgbClr val="DDD6FE"/>
                </a:solidFill>
              </a:rPr>
              <a:t>Data Control Language</a:t>
            </a:r>
            <a:endParaRPr lang="en-US" sz="1100" dirty="0"/>
          </a:p>
        </p:txBody>
      </p:sp>
      <p:sp>
        <p:nvSpPr>
          <p:cNvPr id="32" name="Text 30"/>
          <p:cNvSpPr/>
          <p:nvPr/>
        </p:nvSpPr>
        <p:spPr>
          <a:xfrm>
            <a:off x="4690872" y="1664208"/>
            <a:ext cx="1792224" cy="1371600"/>
          </a:xfrm>
          <a:prstGeom prst="rect">
            <a:avLst/>
          </a:prstGeom>
          <a:noFill/>
          <a:ln/>
        </p:spPr>
        <p:txBody>
          <a:bodyPr wrap="square" lIns="0" tIns="0" rIns="0" bIns="0" rtlCol="0" anchor="ctr"/>
          <a:lstStyle/>
          <a:p>
            <a:pPr marL="0" indent="0">
              <a:buNone/>
            </a:pPr>
            <a:r>
              <a:rPr lang="en-US" sz="1050" dirty="0">
                <a:solidFill>
                  <a:srgbClr val="1E293B"/>
                </a:solidFill>
              </a:rPr>
              <a:t>Controls access rights and permissions; defines who can perform which operations.</a:t>
            </a:r>
            <a:endParaRPr lang="en-US" sz="1050" dirty="0"/>
          </a:p>
        </p:txBody>
      </p:sp>
      <p:sp>
        <p:nvSpPr>
          <p:cNvPr id="33" name="Shape 31"/>
          <p:cNvSpPr/>
          <p:nvPr/>
        </p:nvSpPr>
        <p:spPr>
          <a:xfrm>
            <a:off x="4672584" y="3127248"/>
            <a:ext cx="1828800" cy="1554480"/>
          </a:xfrm>
          <a:prstGeom prst="rect">
            <a:avLst/>
          </a:prstGeom>
          <a:solidFill>
            <a:srgbClr val="F8FAFC"/>
          </a:solidFill>
          <a:ln w="12700">
            <a:solidFill>
              <a:srgbClr val="7C3AED"/>
            </a:solidFill>
            <a:prstDash val="solid"/>
          </a:ln>
          <a:effectLst>
            <a:outerShdw blurRad="76200" dist="12700" dir="8100000" algn="bl" rotWithShape="0">
              <a:srgbClr val="000000">
                <a:alpha val="10000"/>
              </a:srgbClr>
            </a:outerShdw>
          </a:effectLst>
        </p:spPr>
        <p:txBody>
          <a:bodyPr/>
          <a:lstStyle/>
          <a:p>
            <a:endParaRPr lang="es-ES"/>
          </a:p>
        </p:txBody>
      </p:sp>
      <p:sp>
        <p:nvSpPr>
          <p:cNvPr id="34" name="Text 32"/>
          <p:cNvSpPr/>
          <p:nvPr/>
        </p:nvSpPr>
        <p:spPr>
          <a:xfrm>
            <a:off x="4718304" y="3163824"/>
            <a:ext cx="1737360" cy="201168"/>
          </a:xfrm>
          <a:prstGeom prst="rect">
            <a:avLst/>
          </a:prstGeom>
          <a:noFill/>
          <a:ln/>
        </p:spPr>
        <p:txBody>
          <a:bodyPr wrap="square" lIns="0" tIns="0" rIns="0" bIns="0" rtlCol="0" anchor="ctr"/>
          <a:lstStyle/>
          <a:p>
            <a:pPr marL="0" indent="0">
              <a:buNone/>
            </a:pPr>
            <a:r>
              <a:rPr lang="en-US" sz="900" b="1" dirty="0">
                <a:solidFill>
                  <a:srgbClr val="7C3AED"/>
                </a:solidFill>
              </a:rPr>
              <a:t>Key Commands</a:t>
            </a:r>
            <a:endParaRPr lang="en-US" sz="900" dirty="0"/>
          </a:p>
        </p:txBody>
      </p:sp>
      <p:sp>
        <p:nvSpPr>
          <p:cNvPr id="35" name="Text 33"/>
          <p:cNvSpPr/>
          <p:nvPr/>
        </p:nvSpPr>
        <p:spPr>
          <a:xfrm>
            <a:off x="4718304" y="3419856"/>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GRANT</a:t>
            </a:r>
            <a:endParaRPr lang="en-US" sz="1100" dirty="0"/>
          </a:p>
        </p:txBody>
      </p:sp>
      <p:sp>
        <p:nvSpPr>
          <p:cNvPr id="36" name="Text 34"/>
          <p:cNvSpPr/>
          <p:nvPr/>
        </p:nvSpPr>
        <p:spPr>
          <a:xfrm>
            <a:off x="4718304" y="3712464"/>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REVOKE</a:t>
            </a:r>
            <a:endParaRPr lang="en-US" sz="1100" dirty="0"/>
          </a:p>
        </p:txBody>
      </p:sp>
      <p:sp>
        <p:nvSpPr>
          <p:cNvPr id="37" name="Shape 35"/>
          <p:cNvSpPr/>
          <p:nvPr/>
        </p:nvSpPr>
        <p:spPr>
          <a:xfrm>
            <a:off x="6757416" y="804672"/>
            <a:ext cx="2011680" cy="411480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38" name="Shape 36"/>
          <p:cNvSpPr/>
          <p:nvPr/>
        </p:nvSpPr>
        <p:spPr>
          <a:xfrm>
            <a:off x="6757416" y="804672"/>
            <a:ext cx="2011680" cy="777240"/>
          </a:xfrm>
          <a:prstGeom prst="rect">
            <a:avLst/>
          </a:prstGeom>
          <a:solidFill>
            <a:srgbClr val="059669"/>
          </a:solidFill>
          <a:ln w="12700">
            <a:solidFill>
              <a:srgbClr val="059669"/>
            </a:solidFill>
            <a:prstDash val="solid"/>
          </a:ln>
        </p:spPr>
        <p:txBody>
          <a:bodyPr/>
          <a:lstStyle/>
          <a:p>
            <a:endParaRPr lang="es-ES"/>
          </a:p>
        </p:txBody>
      </p:sp>
      <p:sp>
        <p:nvSpPr>
          <p:cNvPr id="39" name="Text 37"/>
          <p:cNvSpPr/>
          <p:nvPr/>
        </p:nvSpPr>
        <p:spPr>
          <a:xfrm>
            <a:off x="6803136" y="822960"/>
            <a:ext cx="1920240" cy="384048"/>
          </a:xfrm>
          <a:prstGeom prst="rect">
            <a:avLst/>
          </a:prstGeom>
          <a:noFill/>
          <a:ln/>
        </p:spPr>
        <p:txBody>
          <a:bodyPr wrap="square" lIns="0" tIns="0" rIns="0" bIns="0" rtlCol="0" anchor="ctr"/>
          <a:lstStyle/>
          <a:p>
            <a:pPr marL="0" indent="0" algn="ctr">
              <a:buNone/>
            </a:pPr>
            <a:r>
              <a:rPr lang="en-US" sz="2200" b="1" dirty="0">
                <a:solidFill>
                  <a:srgbClr val="FFFFFF"/>
                </a:solidFill>
              </a:rPr>
              <a:t>TCL</a:t>
            </a:r>
            <a:endParaRPr lang="en-US" sz="2200" dirty="0"/>
          </a:p>
        </p:txBody>
      </p:sp>
      <p:sp>
        <p:nvSpPr>
          <p:cNvPr id="40" name="Text 38"/>
          <p:cNvSpPr/>
          <p:nvPr/>
        </p:nvSpPr>
        <p:spPr>
          <a:xfrm>
            <a:off x="6803136" y="1216152"/>
            <a:ext cx="1920240" cy="274320"/>
          </a:xfrm>
          <a:prstGeom prst="rect">
            <a:avLst/>
          </a:prstGeom>
          <a:noFill/>
          <a:ln/>
        </p:spPr>
        <p:txBody>
          <a:bodyPr wrap="square" lIns="0" tIns="0" rIns="0" bIns="0" rtlCol="0" anchor="ctr"/>
          <a:lstStyle/>
          <a:p>
            <a:pPr marL="0" indent="0" algn="ctr">
              <a:buNone/>
            </a:pPr>
            <a:r>
              <a:rPr lang="en-US" sz="1100" dirty="0">
                <a:solidFill>
                  <a:srgbClr val="DDD6FE"/>
                </a:solidFill>
              </a:rPr>
              <a:t>Transaction Control Language</a:t>
            </a:r>
            <a:endParaRPr lang="en-US" sz="1100" dirty="0"/>
          </a:p>
        </p:txBody>
      </p:sp>
      <p:sp>
        <p:nvSpPr>
          <p:cNvPr id="41" name="Text 39"/>
          <p:cNvSpPr/>
          <p:nvPr/>
        </p:nvSpPr>
        <p:spPr>
          <a:xfrm>
            <a:off x="6867144" y="1664208"/>
            <a:ext cx="1792224" cy="1371600"/>
          </a:xfrm>
          <a:prstGeom prst="rect">
            <a:avLst/>
          </a:prstGeom>
          <a:noFill/>
          <a:ln/>
        </p:spPr>
        <p:txBody>
          <a:bodyPr wrap="square" lIns="0" tIns="0" rIns="0" bIns="0" rtlCol="0" anchor="ctr"/>
          <a:lstStyle/>
          <a:p>
            <a:pPr marL="0" indent="0">
              <a:buNone/>
            </a:pPr>
            <a:r>
              <a:rPr lang="en-US" sz="1050" dirty="0">
                <a:solidFill>
                  <a:srgbClr val="1E293B"/>
                </a:solidFill>
              </a:rPr>
              <a:t>Manages database transactions to ensure data integrity and atomicity.</a:t>
            </a:r>
            <a:endParaRPr lang="en-US" sz="1050" dirty="0"/>
          </a:p>
        </p:txBody>
      </p:sp>
      <p:sp>
        <p:nvSpPr>
          <p:cNvPr id="42" name="Shape 40"/>
          <p:cNvSpPr/>
          <p:nvPr/>
        </p:nvSpPr>
        <p:spPr>
          <a:xfrm>
            <a:off x="6848856" y="3127248"/>
            <a:ext cx="1828800" cy="1554480"/>
          </a:xfrm>
          <a:prstGeom prst="rect">
            <a:avLst/>
          </a:prstGeom>
          <a:solidFill>
            <a:srgbClr val="F8FAFC"/>
          </a:solidFill>
          <a:ln w="12700">
            <a:solidFill>
              <a:srgbClr val="059669"/>
            </a:solidFill>
            <a:prstDash val="solid"/>
          </a:ln>
          <a:effectLst>
            <a:outerShdw blurRad="76200" dist="12700" dir="8100000" algn="bl" rotWithShape="0">
              <a:srgbClr val="000000">
                <a:alpha val="10000"/>
              </a:srgbClr>
            </a:outerShdw>
          </a:effectLst>
        </p:spPr>
        <p:txBody>
          <a:bodyPr/>
          <a:lstStyle/>
          <a:p>
            <a:endParaRPr lang="es-ES"/>
          </a:p>
        </p:txBody>
      </p:sp>
      <p:sp>
        <p:nvSpPr>
          <p:cNvPr id="43" name="Text 41"/>
          <p:cNvSpPr/>
          <p:nvPr/>
        </p:nvSpPr>
        <p:spPr>
          <a:xfrm>
            <a:off x="6894576" y="3163824"/>
            <a:ext cx="1737360" cy="201168"/>
          </a:xfrm>
          <a:prstGeom prst="rect">
            <a:avLst/>
          </a:prstGeom>
          <a:noFill/>
          <a:ln/>
        </p:spPr>
        <p:txBody>
          <a:bodyPr wrap="square" lIns="0" tIns="0" rIns="0" bIns="0" rtlCol="0" anchor="ctr"/>
          <a:lstStyle/>
          <a:p>
            <a:pPr marL="0" indent="0">
              <a:buNone/>
            </a:pPr>
            <a:r>
              <a:rPr lang="en-US" sz="900" b="1" dirty="0">
                <a:solidFill>
                  <a:srgbClr val="059669"/>
                </a:solidFill>
              </a:rPr>
              <a:t>Key Commands</a:t>
            </a:r>
            <a:endParaRPr lang="en-US" sz="900" dirty="0"/>
          </a:p>
        </p:txBody>
      </p:sp>
      <p:sp>
        <p:nvSpPr>
          <p:cNvPr id="44" name="Text 42"/>
          <p:cNvSpPr/>
          <p:nvPr/>
        </p:nvSpPr>
        <p:spPr>
          <a:xfrm>
            <a:off x="6894576" y="3419856"/>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COMMIT</a:t>
            </a:r>
            <a:endParaRPr lang="en-US" sz="1100" dirty="0"/>
          </a:p>
        </p:txBody>
      </p:sp>
      <p:sp>
        <p:nvSpPr>
          <p:cNvPr id="45" name="Text 43"/>
          <p:cNvSpPr/>
          <p:nvPr/>
        </p:nvSpPr>
        <p:spPr>
          <a:xfrm>
            <a:off x="6894576" y="3712464"/>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ROLLBACK</a:t>
            </a:r>
            <a:endParaRPr lang="en-US" sz="1100" dirty="0"/>
          </a:p>
        </p:txBody>
      </p:sp>
      <p:sp>
        <p:nvSpPr>
          <p:cNvPr id="46" name="Text 44"/>
          <p:cNvSpPr/>
          <p:nvPr/>
        </p:nvSpPr>
        <p:spPr>
          <a:xfrm>
            <a:off x="6894576" y="4005072"/>
            <a:ext cx="1737360" cy="256032"/>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SAVEPOINT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0" y="0"/>
            <a:ext cx="9144000" cy="713232"/>
          </a:xfrm>
          <a:prstGeom prst="rect">
            <a:avLst/>
          </a:prstGeom>
          <a:solidFill>
            <a:srgbClr val="1B3A6B"/>
          </a:solidFill>
          <a:ln w="12700">
            <a:solidFill>
              <a:srgbClr val="1B3A6B"/>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DDL: Data Definition Language</a:t>
            </a:r>
            <a:endParaRPr lang="en-US" sz="200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6 / 14</a:t>
            </a:r>
            <a:endParaRPr lang="en-US" sz="900" dirty="0"/>
          </a:p>
        </p:txBody>
      </p:sp>
      <p:sp>
        <p:nvSpPr>
          <p:cNvPr id="6" name="Shape 4"/>
          <p:cNvSpPr/>
          <p:nvPr/>
        </p:nvSpPr>
        <p:spPr>
          <a:xfrm>
            <a:off x="274320" y="804672"/>
            <a:ext cx="4114800" cy="1115568"/>
          </a:xfrm>
          <a:prstGeom prst="rect">
            <a:avLst/>
          </a:prstGeom>
          <a:solidFill>
            <a:srgbClr val="EEF2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7" name="Shape 5"/>
          <p:cNvSpPr/>
          <p:nvPr/>
        </p:nvSpPr>
        <p:spPr>
          <a:xfrm>
            <a:off x="274320" y="804672"/>
            <a:ext cx="54864" cy="1115568"/>
          </a:xfrm>
          <a:prstGeom prst="rect">
            <a:avLst/>
          </a:prstGeom>
          <a:solidFill>
            <a:srgbClr val="1B3A6B"/>
          </a:solidFill>
          <a:ln w="12700">
            <a:solidFill>
              <a:srgbClr val="1B3A6B"/>
            </a:solidFill>
            <a:prstDash val="solid"/>
          </a:ln>
        </p:spPr>
        <p:txBody>
          <a:bodyPr/>
          <a:lstStyle/>
          <a:p>
            <a:endParaRPr lang="es-ES"/>
          </a:p>
        </p:txBody>
      </p:sp>
      <p:sp>
        <p:nvSpPr>
          <p:cNvPr id="8" name="Text 6"/>
          <p:cNvSpPr/>
          <p:nvPr/>
        </p:nvSpPr>
        <p:spPr>
          <a:xfrm>
            <a:off x="457200" y="841248"/>
            <a:ext cx="3840480" cy="237744"/>
          </a:xfrm>
          <a:prstGeom prst="rect">
            <a:avLst/>
          </a:prstGeom>
          <a:noFill/>
          <a:ln/>
        </p:spPr>
        <p:txBody>
          <a:bodyPr wrap="square" lIns="0" tIns="0" rIns="0" bIns="0" rtlCol="0" anchor="ctr"/>
          <a:lstStyle/>
          <a:p>
            <a:pPr marL="0" indent="0">
              <a:buNone/>
            </a:pPr>
            <a:r>
              <a:rPr lang="en-US" sz="1200" b="1" dirty="0">
                <a:solidFill>
                  <a:srgbClr val="1B3A6B"/>
                </a:solidFill>
              </a:rPr>
              <a:t>Purpose</a:t>
            </a:r>
            <a:endParaRPr lang="en-US" sz="1200" dirty="0"/>
          </a:p>
        </p:txBody>
      </p:sp>
      <p:sp>
        <p:nvSpPr>
          <p:cNvPr id="9" name="Text 7"/>
          <p:cNvSpPr/>
          <p:nvPr/>
        </p:nvSpPr>
        <p:spPr>
          <a:xfrm>
            <a:off x="457200" y="1097280"/>
            <a:ext cx="3840480" cy="749808"/>
          </a:xfrm>
          <a:prstGeom prst="rect">
            <a:avLst/>
          </a:prstGeom>
          <a:noFill/>
          <a:ln/>
        </p:spPr>
        <p:txBody>
          <a:bodyPr wrap="square" lIns="0" tIns="0" rIns="0" bIns="0" rtlCol="0" anchor="ctr"/>
          <a:lstStyle/>
          <a:p>
            <a:pPr marL="0" indent="0">
              <a:buNone/>
            </a:pPr>
            <a:r>
              <a:rPr lang="en-US" sz="1050" dirty="0">
                <a:solidFill>
                  <a:srgbClr val="1E293B"/>
                </a:solidFill>
              </a:rPr>
              <a:t>DDL statements define and modify the database schema - the logical structure of all tables, indexes, views, and constraints. They are used at design time and during schema migrations, and do not operate on data rows.</a:t>
            </a:r>
            <a:endParaRPr lang="en-US" sz="1050" dirty="0"/>
          </a:p>
        </p:txBody>
      </p:sp>
      <p:sp>
        <p:nvSpPr>
          <p:cNvPr id="10" name="Shape 8"/>
          <p:cNvSpPr/>
          <p:nvPr/>
        </p:nvSpPr>
        <p:spPr>
          <a:xfrm>
            <a:off x="274320" y="1993392"/>
            <a:ext cx="4114800" cy="475488"/>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1" name="Text 9"/>
          <p:cNvSpPr/>
          <p:nvPr/>
        </p:nvSpPr>
        <p:spPr>
          <a:xfrm>
            <a:off x="402336" y="2029968"/>
            <a:ext cx="1371600" cy="201168"/>
          </a:xfrm>
          <a:prstGeom prst="rect">
            <a:avLst/>
          </a:prstGeom>
          <a:noFill/>
          <a:ln/>
        </p:spPr>
        <p:txBody>
          <a:bodyPr wrap="square" lIns="0" tIns="0" rIns="0" bIns="0" rtlCol="0" anchor="ctr"/>
          <a:lstStyle/>
          <a:p>
            <a:pPr marL="0" indent="0">
              <a:buNone/>
            </a:pPr>
            <a:r>
              <a:rPr lang="en-US" sz="1050" b="1" dirty="0">
                <a:solidFill>
                  <a:srgbClr val="0891B2"/>
                </a:solidFill>
                <a:latin typeface="Consolas" pitchFamily="34" charset="0"/>
                <a:ea typeface="Consolas" pitchFamily="34" charset="-122"/>
                <a:cs typeface="Consolas" pitchFamily="34" charset="-120"/>
              </a:rPr>
              <a:t>CREATE TABLE</a:t>
            </a:r>
            <a:endParaRPr lang="en-US" sz="1050" dirty="0"/>
          </a:p>
        </p:txBody>
      </p:sp>
      <p:sp>
        <p:nvSpPr>
          <p:cNvPr id="12" name="Text 10"/>
          <p:cNvSpPr/>
          <p:nvPr/>
        </p:nvSpPr>
        <p:spPr>
          <a:xfrm>
            <a:off x="1828800" y="2029968"/>
            <a:ext cx="2423160" cy="347472"/>
          </a:xfrm>
          <a:prstGeom prst="rect">
            <a:avLst/>
          </a:prstGeom>
          <a:noFill/>
          <a:ln/>
        </p:spPr>
        <p:txBody>
          <a:bodyPr wrap="square" lIns="0" tIns="0" rIns="0" bIns="0" rtlCol="0" anchor="ctr"/>
          <a:lstStyle/>
          <a:p>
            <a:pPr marL="0" indent="0">
              <a:buNone/>
            </a:pPr>
            <a:r>
              <a:rPr lang="en-US" sz="950" dirty="0">
                <a:solidFill>
                  <a:srgbClr val="64748B"/>
                </a:solidFill>
              </a:rPr>
              <a:t>Creates a new table with defined columns and data types</a:t>
            </a:r>
            <a:endParaRPr lang="en-US" sz="950" dirty="0"/>
          </a:p>
        </p:txBody>
      </p:sp>
      <p:sp>
        <p:nvSpPr>
          <p:cNvPr id="13" name="Shape 11"/>
          <p:cNvSpPr/>
          <p:nvPr/>
        </p:nvSpPr>
        <p:spPr>
          <a:xfrm>
            <a:off x="274320" y="2505456"/>
            <a:ext cx="4114800" cy="475488"/>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4" name="Text 12"/>
          <p:cNvSpPr/>
          <p:nvPr/>
        </p:nvSpPr>
        <p:spPr>
          <a:xfrm>
            <a:off x="402336" y="2542032"/>
            <a:ext cx="1371600" cy="201168"/>
          </a:xfrm>
          <a:prstGeom prst="rect">
            <a:avLst/>
          </a:prstGeom>
          <a:noFill/>
          <a:ln/>
        </p:spPr>
        <p:txBody>
          <a:bodyPr wrap="square" lIns="0" tIns="0" rIns="0" bIns="0" rtlCol="0" anchor="ctr"/>
          <a:lstStyle/>
          <a:p>
            <a:pPr marL="0" indent="0">
              <a:buNone/>
            </a:pPr>
            <a:r>
              <a:rPr lang="en-US" sz="1050" b="1" dirty="0">
                <a:solidFill>
                  <a:srgbClr val="0891B2"/>
                </a:solidFill>
                <a:latin typeface="Consolas" pitchFamily="34" charset="0"/>
                <a:ea typeface="Consolas" pitchFamily="34" charset="-122"/>
                <a:cs typeface="Consolas" pitchFamily="34" charset="-120"/>
              </a:rPr>
              <a:t>ALTER TABLE</a:t>
            </a:r>
            <a:endParaRPr lang="en-US" sz="1050" dirty="0"/>
          </a:p>
        </p:txBody>
      </p:sp>
      <p:sp>
        <p:nvSpPr>
          <p:cNvPr id="15" name="Text 13"/>
          <p:cNvSpPr/>
          <p:nvPr/>
        </p:nvSpPr>
        <p:spPr>
          <a:xfrm>
            <a:off x="1828800" y="2542032"/>
            <a:ext cx="2423160" cy="347472"/>
          </a:xfrm>
          <a:prstGeom prst="rect">
            <a:avLst/>
          </a:prstGeom>
          <a:noFill/>
          <a:ln/>
        </p:spPr>
        <p:txBody>
          <a:bodyPr wrap="square" lIns="0" tIns="0" rIns="0" bIns="0" rtlCol="0" anchor="ctr"/>
          <a:lstStyle/>
          <a:p>
            <a:pPr marL="0" indent="0">
              <a:buNone/>
            </a:pPr>
            <a:r>
              <a:rPr lang="en-US" sz="950" dirty="0">
                <a:solidFill>
                  <a:srgbClr val="64748B"/>
                </a:solidFill>
              </a:rPr>
              <a:t>Adds, modifies, or drops columns/constraints on existing tables</a:t>
            </a:r>
            <a:endParaRPr lang="en-US" sz="950" dirty="0"/>
          </a:p>
        </p:txBody>
      </p:sp>
      <p:sp>
        <p:nvSpPr>
          <p:cNvPr id="16" name="Shape 14"/>
          <p:cNvSpPr/>
          <p:nvPr/>
        </p:nvSpPr>
        <p:spPr>
          <a:xfrm>
            <a:off x="274320" y="3017520"/>
            <a:ext cx="4114800" cy="475488"/>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7" name="Text 15"/>
          <p:cNvSpPr/>
          <p:nvPr/>
        </p:nvSpPr>
        <p:spPr>
          <a:xfrm>
            <a:off x="402336" y="3054096"/>
            <a:ext cx="1371600" cy="201168"/>
          </a:xfrm>
          <a:prstGeom prst="rect">
            <a:avLst/>
          </a:prstGeom>
          <a:noFill/>
          <a:ln/>
        </p:spPr>
        <p:txBody>
          <a:bodyPr wrap="square" lIns="0" tIns="0" rIns="0" bIns="0" rtlCol="0" anchor="ctr"/>
          <a:lstStyle/>
          <a:p>
            <a:pPr marL="0" indent="0">
              <a:buNone/>
            </a:pPr>
            <a:r>
              <a:rPr lang="en-US" sz="1050" b="1" dirty="0">
                <a:solidFill>
                  <a:srgbClr val="0891B2"/>
                </a:solidFill>
                <a:latin typeface="Consolas" pitchFamily="34" charset="0"/>
                <a:ea typeface="Consolas" pitchFamily="34" charset="-122"/>
                <a:cs typeface="Consolas" pitchFamily="34" charset="-120"/>
              </a:rPr>
              <a:t>DROP TABLE</a:t>
            </a:r>
            <a:endParaRPr lang="en-US" sz="1050" dirty="0"/>
          </a:p>
        </p:txBody>
      </p:sp>
      <p:sp>
        <p:nvSpPr>
          <p:cNvPr id="18" name="Text 16"/>
          <p:cNvSpPr/>
          <p:nvPr/>
        </p:nvSpPr>
        <p:spPr>
          <a:xfrm>
            <a:off x="1828800" y="3054096"/>
            <a:ext cx="2423160" cy="347472"/>
          </a:xfrm>
          <a:prstGeom prst="rect">
            <a:avLst/>
          </a:prstGeom>
          <a:noFill/>
          <a:ln/>
        </p:spPr>
        <p:txBody>
          <a:bodyPr wrap="square" lIns="0" tIns="0" rIns="0" bIns="0" rtlCol="0" anchor="ctr"/>
          <a:lstStyle/>
          <a:p>
            <a:pPr marL="0" indent="0">
              <a:buNone/>
            </a:pPr>
            <a:r>
              <a:rPr lang="en-US" sz="950" dirty="0">
                <a:solidFill>
                  <a:srgbClr val="64748B"/>
                </a:solidFill>
              </a:rPr>
              <a:t>Permanently removes a table and all its data from the schema</a:t>
            </a:r>
            <a:endParaRPr lang="en-US" sz="950" dirty="0"/>
          </a:p>
        </p:txBody>
      </p:sp>
      <p:sp>
        <p:nvSpPr>
          <p:cNvPr id="19" name="Shape 17"/>
          <p:cNvSpPr/>
          <p:nvPr/>
        </p:nvSpPr>
        <p:spPr>
          <a:xfrm>
            <a:off x="274320" y="3529584"/>
            <a:ext cx="4114800" cy="475488"/>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0" name="Text 18"/>
          <p:cNvSpPr/>
          <p:nvPr/>
        </p:nvSpPr>
        <p:spPr>
          <a:xfrm>
            <a:off x="402336" y="3566160"/>
            <a:ext cx="1371600" cy="201168"/>
          </a:xfrm>
          <a:prstGeom prst="rect">
            <a:avLst/>
          </a:prstGeom>
          <a:noFill/>
          <a:ln/>
        </p:spPr>
        <p:txBody>
          <a:bodyPr wrap="square" lIns="0" tIns="0" rIns="0" bIns="0" rtlCol="0" anchor="ctr"/>
          <a:lstStyle/>
          <a:p>
            <a:pPr marL="0" indent="0">
              <a:buNone/>
            </a:pPr>
            <a:r>
              <a:rPr lang="en-US" sz="1050" b="1" dirty="0">
                <a:solidFill>
                  <a:srgbClr val="0891B2"/>
                </a:solidFill>
                <a:latin typeface="Consolas" pitchFamily="34" charset="0"/>
                <a:ea typeface="Consolas" pitchFamily="34" charset="-122"/>
                <a:cs typeface="Consolas" pitchFamily="34" charset="-120"/>
              </a:rPr>
              <a:t>TRUNCATE</a:t>
            </a:r>
            <a:endParaRPr lang="en-US" sz="1050" dirty="0"/>
          </a:p>
        </p:txBody>
      </p:sp>
      <p:sp>
        <p:nvSpPr>
          <p:cNvPr id="21" name="Text 19"/>
          <p:cNvSpPr/>
          <p:nvPr/>
        </p:nvSpPr>
        <p:spPr>
          <a:xfrm>
            <a:off x="1828800" y="3566160"/>
            <a:ext cx="2423160" cy="347472"/>
          </a:xfrm>
          <a:prstGeom prst="rect">
            <a:avLst/>
          </a:prstGeom>
          <a:noFill/>
          <a:ln/>
        </p:spPr>
        <p:txBody>
          <a:bodyPr wrap="square" lIns="0" tIns="0" rIns="0" bIns="0" rtlCol="0" anchor="ctr"/>
          <a:lstStyle/>
          <a:p>
            <a:pPr marL="0" indent="0">
              <a:buNone/>
            </a:pPr>
            <a:r>
              <a:rPr lang="en-US" sz="950" dirty="0">
                <a:solidFill>
                  <a:srgbClr val="64748B"/>
                </a:solidFill>
              </a:rPr>
              <a:t>Removes all rows from a table without logging individual row deletes</a:t>
            </a:r>
            <a:endParaRPr lang="en-US" sz="950" dirty="0"/>
          </a:p>
        </p:txBody>
      </p:sp>
      <p:sp>
        <p:nvSpPr>
          <p:cNvPr id="22" name="Shape 20"/>
          <p:cNvSpPr/>
          <p:nvPr/>
        </p:nvSpPr>
        <p:spPr>
          <a:xfrm>
            <a:off x="4617720" y="804672"/>
            <a:ext cx="4251960" cy="3200400"/>
          </a:xfrm>
          <a:prstGeom prst="rect">
            <a:avLst/>
          </a:prstGeom>
          <a:solidFill>
            <a:srgbClr val="1E2D40"/>
          </a:solidFill>
          <a:ln w="12700">
            <a:solidFill>
              <a:srgbClr val="2D4A6B"/>
            </a:solidFill>
            <a:prstDash val="solid"/>
          </a:ln>
          <a:effectLst>
            <a:outerShdw blurRad="101600" dist="25400" dir="8100000" algn="bl" rotWithShape="0">
              <a:srgbClr val="000000">
                <a:alpha val="25000"/>
              </a:srgbClr>
            </a:outerShdw>
          </a:effectLst>
        </p:spPr>
        <p:txBody>
          <a:bodyPr/>
          <a:lstStyle/>
          <a:p>
            <a:endParaRPr lang="es-ES"/>
          </a:p>
        </p:txBody>
      </p:sp>
      <p:sp>
        <p:nvSpPr>
          <p:cNvPr id="23" name="Shape 21"/>
          <p:cNvSpPr/>
          <p:nvPr/>
        </p:nvSpPr>
        <p:spPr>
          <a:xfrm>
            <a:off x="4745736" y="896112"/>
            <a:ext cx="82296" cy="82296"/>
          </a:xfrm>
          <a:prstGeom prst="ellipse">
            <a:avLst/>
          </a:prstGeom>
          <a:solidFill>
            <a:srgbClr val="FF5F57"/>
          </a:solidFill>
          <a:ln w="12700">
            <a:solidFill>
              <a:srgbClr val="FF5F57"/>
            </a:solidFill>
            <a:prstDash val="solid"/>
          </a:ln>
        </p:spPr>
        <p:txBody>
          <a:bodyPr/>
          <a:lstStyle/>
          <a:p>
            <a:endParaRPr lang="es-ES"/>
          </a:p>
        </p:txBody>
      </p:sp>
      <p:sp>
        <p:nvSpPr>
          <p:cNvPr id="24" name="Shape 22"/>
          <p:cNvSpPr/>
          <p:nvPr/>
        </p:nvSpPr>
        <p:spPr>
          <a:xfrm>
            <a:off x="4873752" y="896112"/>
            <a:ext cx="82296" cy="82296"/>
          </a:xfrm>
          <a:prstGeom prst="ellipse">
            <a:avLst/>
          </a:prstGeom>
          <a:solidFill>
            <a:srgbClr val="FEBC2E"/>
          </a:solidFill>
          <a:ln w="12700">
            <a:solidFill>
              <a:srgbClr val="FEBC2E"/>
            </a:solidFill>
            <a:prstDash val="solid"/>
          </a:ln>
        </p:spPr>
        <p:txBody>
          <a:bodyPr/>
          <a:lstStyle/>
          <a:p>
            <a:endParaRPr lang="es-ES"/>
          </a:p>
        </p:txBody>
      </p:sp>
      <p:sp>
        <p:nvSpPr>
          <p:cNvPr id="25" name="Shape 23"/>
          <p:cNvSpPr/>
          <p:nvPr/>
        </p:nvSpPr>
        <p:spPr>
          <a:xfrm>
            <a:off x="5001768" y="896112"/>
            <a:ext cx="82296" cy="82296"/>
          </a:xfrm>
          <a:prstGeom prst="ellipse">
            <a:avLst/>
          </a:prstGeom>
          <a:solidFill>
            <a:srgbClr val="28C840"/>
          </a:solidFill>
          <a:ln w="12700">
            <a:solidFill>
              <a:srgbClr val="28C840"/>
            </a:solidFill>
            <a:prstDash val="solid"/>
          </a:ln>
        </p:spPr>
        <p:txBody>
          <a:bodyPr/>
          <a:lstStyle/>
          <a:p>
            <a:endParaRPr lang="es-ES"/>
          </a:p>
        </p:txBody>
      </p:sp>
      <p:sp>
        <p:nvSpPr>
          <p:cNvPr id="26" name="Text 24"/>
          <p:cNvSpPr/>
          <p:nvPr/>
        </p:nvSpPr>
        <p:spPr>
          <a:xfrm>
            <a:off x="4745736" y="1051560"/>
            <a:ext cx="3995928" cy="3794760"/>
          </a:xfrm>
          <a:prstGeom prst="rect">
            <a:avLst/>
          </a:prstGeom>
          <a:noFill/>
          <a:ln/>
        </p:spPr>
        <p:txBody>
          <a:bodyPr wrap="square" lIns="0" tIns="0" rIns="0" bIns="0" rtlCol="0" anchor="t"/>
          <a:lstStyle/>
          <a:p>
            <a:pPr marL="0" indent="0">
              <a:buNone/>
            </a:pPr>
            <a:r>
              <a:rPr lang="en-US" sz="1150" dirty="0">
                <a:solidFill>
                  <a:srgbClr val="BAE6FD"/>
                </a:solidFill>
                <a:latin typeface="Consolas" pitchFamily="34" charset="0"/>
                <a:ea typeface="Consolas" pitchFamily="34" charset="-122"/>
                <a:cs typeface="Consolas" pitchFamily="34" charset="-120"/>
              </a:rPr>
              <a:t>-- Create a students table</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CREATE TABLE students (</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student_id  INT          PRIMARY KEY,</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name        VARCHAR(100) NOT NULL,</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email       VARCHAR(150) UNIQUE,</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enrolled_on DATE         DEFAULT CURRENT_DATE</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a:t>
            </a:r>
            <a:endParaRPr lang="en-US" sz="1150" dirty="0"/>
          </a:p>
          <a:p>
            <a:pPr marL="0" indent="0">
              <a:buNone/>
            </a:pP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Add a new column later</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ALTER TABLE students</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ADD COLUMN gpa DECIMAL(3,2);</a:t>
            </a:r>
            <a:endParaRPr lang="en-US" sz="1150" dirty="0"/>
          </a:p>
          <a:p>
            <a:pPr marL="0" indent="0">
              <a:buNone/>
            </a:pP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Remove the table entirely</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DROP TABLE students;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0" y="0"/>
            <a:ext cx="9144000" cy="713232"/>
          </a:xfrm>
          <a:prstGeom prst="rect">
            <a:avLst/>
          </a:prstGeom>
          <a:solidFill>
            <a:srgbClr val="1B3A6B"/>
          </a:solidFill>
          <a:ln w="12700">
            <a:solidFill>
              <a:srgbClr val="1B3A6B"/>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DML: Data Manipulation Language (CRUD)</a:t>
            </a:r>
            <a:endParaRPr lang="en-US" sz="200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7 / 14</a:t>
            </a:r>
            <a:endParaRPr lang="en-US" sz="900" dirty="0"/>
          </a:p>
        </p:txBody>
      </p:sp>
      <p:sp>
        <p:nvSpPr>
          <p:cNvPr id="6" name="Shape 4"/>
          <p:cNvSpPr/>
          <p:nvPr/>
        </p:nvSpPr>
        <p:spPr>
          <a:xfrm>
            <a:off x="274320" y="822960"/>
            <a:ext cx="4114800" cy="896112"/>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7" name="Shape 5"/>
          <p:cNvSpPr/>
          <p:nvPr/>
        </p:nvSpPr>
        <p:spPr>
          <a:xfrm>
            <a:off x="274320" y="822960"/>
            <a:ext cx="54864" cy="896112"/>
          </a:xfrm>
          <a:prstGeom prst="rect">
            <a:avLst/>
          </a:prstGeom>
          <a:solidFill>
            <a:srgbClr val="0891B2"/>
          </a:solidFill>
          <a:ln w="12700">
            <a:solidFill>
              <a:srgbClr val="0891B2"/>
            </a:solidFill>
            <a:prstDash val="solid"/>
          </a:ln>
        </p:spPr>
        <p:txBody>
          <a:bodyPr/>
          <a:lstStyle/>
          <a:p>
            <a:endParaRPr lang="es-ES"/>
          </a:p>
        </p:txBody>
      </p:sp>
      <p:sp>
        <p:nvSpPr>
          <p:cNvPr id="8" name="Text 6"/>
          <p:cNvSpPr/>
          <p:nvPr/>
        </p:nvSpPr>
        <p:spPr>
          <a:xfrm>
            <a:off x="438912" y="896112"/>
            <a:ext cx="1371600" cy="329184"/>
          </a:xfrm>
          <a:prstGeom prst="rect">
            <a:avLst/>
          </a:prstGeom>
          <a:noFill/>
          <a:ln/>
        </p:spPr>
        <p:txBody>
          <a:bodyPr wrap="square" lIns="0" tIns="0" rIns="0" bIns="0" rtlCol="0" anchor="ctr"/>
          <a:lstStyle/>
          <a:p>
            <a:pPr marL="0" indent="0">
              <a:buNone/>
            </a:pPr>
            <a:r>
              <a:rPr lang="en-US" sz="1600" b="1" dirty="0">
                <a:solidFill>
                  <a:srgbClr val="0891B2"/>
                </a:solidFill>
                <a:latin typeface="Consolas" pitchFamily="34" charset="0"/>
                <a:ea typeface="Consolas" pitchFamily="34" charset="-122"/>
                <a:cs typeface="Consolas" pitchFamily="34" charset="-120"/>
              </a:rPr>
              <a:t>SELECT</a:t>
            </a:r>
            <a:endParaRPr lang="en-US" sz="1600" dirty="0"/>
          </a:p>
        </p:txBody>
      </p:sp>
      <p:sp>
        <p:nvSpPr>
          <p:cNvPr id="9" name="Text 7"/>
          <p:cNvSpPr/>
          <p:nvPr/>
        </p:nvSpPr>
        <p:spPr>
          <a:xfrm>
            <a:off x="438912" y="1261872"/>
            <a:ext cx="3749040" cy="384048"/>
          </a:xfrm>
          <a:prstGeom prst="rect">
            <a:avLst/>
          </a:prstGeom>
          <a:noFill/>
          <a:ln/>
        </p:spPr>
        <p:txBody>
          <a:bodyPr wrap="square" lIns="0" tIns="0" rIns="0" bIns="0" rtlCol="0" anchor="ctr"/>
          <a:lstStyle/>
          <a:p>
            <a:pPr marL="0" indent="0">
              <a:buNone/>
            </a:pPr>
            <a:r>
              <a:rPr lang="en-US" sz="1000" dirty="0">
                <a:solidFill>
                  <a:srgbClr val="64748B"/>
                </a:solidFill>
              </a:rPr>
              <a:t>Query and retrieve data - the most frequently used SQL statement</a:t>
            </a:r>
            <a:endParaRPr lang="en-US" sz="1000" dirty="0"/>
          </a:p>
        </p:txBody>
      </p:sp>
      <p:sp>
        <p:nvSpPr>
          <p:cNvPr id="10" name="Shape 8"/>
          <p:cNvSpPr/>
          <p:nvPr/>
        </p:nvSpPr>
        <p:spPr>
          <a:xfrm>
            <a:off x="274320" y="1847088"/>
            <a:ext cx="4114800" cy="896112"/>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1" name="Shape 9"/>
          <p:cNvSpPr/>
          <p:nvPr/>
        </p:nvSpPr>
        <p:spPr>
          <a:xfrm>
            <a:off x="274320" y="1847088"/>
            <a:ext cx="54864" cy="896112"/>
          </a:xfrm>
          <a:prstGeom prst="rect">
            <a:avLst/>
          </a:prstGeom>
          <a:solidFill>
            <a:srgbClr val="059669"/>
          </a:solidFill>
          <a:ln w="12700">
            <a:solidFill>
              <a:srgbClr val="059669"/>
            </a:solidFill>
            <a:prstDash val="solid"/>
          </a:ln>
        </p:spPr>
        <p:txBody>
          <a:bodyPr/>
          <a:lstStyle/>
          <a:p>
            <a:endParaRPr lang="es-ES"/>
          </a:p>
        </p:txBody>
      </p:sp>
      <p:sp>
        <p:nvSpPr>
          <p:cNvPr id="12" name="Text 10"/>
          <p:cNvSpPr/>
          <p:nvPr/>
        </p:nvSpPr>
        <p:spPr>
          <a:xfrm>
            <a:off x="438912" y="1920240"/>
            <a:ext cx="1371600" cy="329184"/>
          </a:xfrm>
          <a:prstGeom prst="rect">
            <a:avLst/>
          </a:prstGeom>
          <a:noFill/>
          <a:ln/>
        </p:spPr>
        <p:txBody>
          <a:bodyPr wrap="square" lIns="0" tIns="0" rIns="0" bIns="0" rtlCol="0" anchor="ctr"/>
          <a:lstStyle/>
          <a:p>
            <a:pPr marL="0" indent="0">
              <a:buNone/>
            </a:pPr>
            <a:r>
              <a:rPr lang="en-US" sz="1600" b="1" dirty="0">
                <a:solidFill>
                  <a:srgbClr val="059669"/>
                </a:solidFill>
                <a:latin typeface="Consolas" pitchFamily="34" charset="0"/>
                <a:ea typeface="Consolas" pitchFamily="34" charset="-122"/>
                <a:cs typeface="Consolas" pitchFamily="34" charset="-120"/>
              </a:rPr>
              <a:t>INSERT</a:t>
            </a:r>
            <a:endParaRPr lang="en-US" sz="1600" dirty="0"/>
          </a:p>
        </p:txBody>
      </p:sp>
      <p:sp>
        <p:nvSpPr>
          <p:cNvPr id="13" name="Text 11"/>
          <p:cNvSpPr/>
          <p:nvPr/>
        </p:nvSpPr>
        <p:spPr>
          <a:xfrm>
            <a:off x="438912" y="2286000"/>
            <a:ext cx="3749040" cy="384048"/>
          </a:xfrm>
          <a:prstGeom prst="rect">
            <a:avLst/>
          </a:prstGeom>
          <a:noFill/>
          <a:ln/>
        </p:spPr>
        <p:txBody>
          <a:bodyPr wrap="square" lIns="0" tIns="0" rIns="0" bIns="0" rtlCol="0" anchor="ctr"/>
          <a:lstStyle/>
          <a:p>
            <a:pPr marL="0" indent="0">
              <a:buNone/>
            </a:pPr>
            <a:r>
              <a:rPr lang="en-US" sz="1000" dirty="0">
                <a:solidFill>
                  <a:srgbClr val="64748B"/>
                </a:solidFill>
              </a:rPr>
              <a:t>Add new rows to a table</a:t>
            </a:r>
            <a:endParaRPr lang="en-US" sz="1000" dirty="0"/>
          </a:p>
        </p:txBody>
      </p:sp>
      <p:sp>
        <p:nvSpPr>
          <p:cNvPr id="14" name="Shape 12"/>
          <p:cNvSpPr/>
          <p:nvPr/>
        </p:nvSpPr>
        <p:spPr>
          <a:xfrm>
            <a:off x="274320" y="2871216"/>
            <a:ext cx="4114800" cy="896112"/>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5" name="Shape 13"/>
          <p:cNvSpPr/>
          <p:nvPr/>
        </p:nvSpPr>
        <p:spPr>
          <a:xfrm>
            <a:off x="274320" y="2871216"/>
            <a:ext cx="54864" cy="896112"/>
          </a:xfrm>
          <a:prstGeom prst="rect">
            <a:avLst/>
          </a:prstGeom>
          <a:solidFill>
            <a:srgbClr val="D97706"/>
          </a:solidFill>
          <a:ln w="12700">
            <a:solidFill>
              <a:srgbClr val="D97706"/>
            </a:solidFill>
            <a:prstDash val="solid"/>
          </a:ln>
        </p:spPr>
        <p:txBody>
          <a:bodyPr/>
          <a:lstStyle/>
          <a:p>
            <a:endParaRPr lang="es-ES"/>
          </a:p>
        </p:txBody>
      </p:sp>
      <p:sp>
        <p:nvSpPr>
          <p:cNvPr id="16" name="Text 14"/>
          <p:cNvSpPr/>
          <p:nvPr/>
        </p:nvSpPr>
        <p:spPr>
          <a:xfrm>
            <a:off x="438912" y="2944368"/>
            <a:ext cx="1371600" cy="329184"/>
          </a:xfrm>
          <a:prstGeom prst="rect">
            <a:avLst/>
          </a:prstGeom>
          <a:noFill/>
          <a:ln/>
        </p:spPr>
        <p:txBody>
          <a:bodyPr wrap="square" lIns="0" tIns="0" rIns="0" bIns="0" rtlCol="0" anchor="ctr"/>
          <a:lstStyle/>
          <a:p>
            <a:pPr marL="0" indent="0">
              <a:buNone/>
            </a:pPr>
            <a:r>
              <a:rPr lang="en-US" sz="1600" b="1" dirty="0">
                <a:solidFill>
                  <a:srgbClr val="D97706"/>
                </a:solidFill>
                <a:latin typeface="Consolas" pitchFamily="34" charset="0"/>
                <a:ea typeface="Consolas" pitchFamily="34" charset="-122"/>
                <a:cs typeface="Consolas" pitchFamily="34" charset="-120"/>
              </a:rPr>
              <a:t>UPDATE</a:t>
            </a:r>
            <a:endParaRPr lang="en-US" sz="1600" dirty="0"/>
          </a:p>
        </p:txBody>
      </p:sp>
      <p:sp>
        <p:nvSpPr>
          <p:cNvPr id="17" name="Text 15"/>
          <p:cNvSpPr/>
          <p:nvPr/>
        </p:nvSpPr>
        <p:spPr>
          <a:xfrm>
            <a:off x="438912" y="3310128"/>
            <a:ext cx="3749040" cy="384048"/>
          </a:xfrm>
          <a:prstGeom prst="rect">
            <a:avLst/>
          </a:prstGeom>
          <a:noFill/>
          <a:ln/>
        </p:spPr>
        <p:txBody>
          <a:bodyPr wrap="square" lIns="0" tIns="0" rIns="0" bIns="0" rtlCol="0" anchor="ctr"/>
          <a:lstStyle/>
          <a:p>
            <a:pPr marL="0" indent="0">
              <a:buNone/>
            </a:pPr>
            <a:r>
              <a:rPr lang="en-US" sz="1000" dirty="0">
                <a:solidFill>
                  <a:srgbClr val="64748B"/>
                </a:solidFill>
              </a:rPr>
              <a:t>Modify existing rows matching a condition</a:t>
            </a:r>
            <a:endParaRPr lang="en-US" sz="1000" dirty="0"/>
          </a:p>
        </p:txBody>
      </p:sp>
      <p:sp>
        <p:nvSpPr>
          <p:cNvPr id="18" name="Shape 16"/>
          <p:cNvSpPr/>
          <p:nvPr/>
        </p:nvSpPr>
        <p:spPr>
          <a:xfrm>
            <a:off x="274320" y="3895344"/>
            <a:ext cx="4114800" cy="896112"/>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9" name="Shape 17"/>
          <p:cNvSpPr/>
          <p:nvPr/>
        </p:nvSpPr>
        <p:spPr>
          <a:xfrm>
            <a:off x="274320" y="3895344"/>
            <a:ext cx="54864" cy="896112"/>
          </a:xfrm>
          <a:prstGeom prst="rect">
            <a:avLst/>
          </a:prstGeom>
          <a:solidFill>
            <a:srgbClr val="DC2626"/>
          </a:solidFill>
          <a:ln w="12700">
            <a:solidFill>
              <a:srgbClr val="DC2626"/>
            </a:solidFill>
            <a:prstDash val="solid"/>
          </a:ln>
        </p:spPr>
        <p:txBody>
          <a:bodyPr/>
          <a:lstStyle/>
          <a:p>
            <a:endParaRPr lang="es-ES"/>
          </a:p>
        </p:txBody>
      </p:sp>
      <p:sp>
        <p:nvSpPr>
          <p:cNvPr id="20" name="Text 18"/>
          <p:cNvSpPr/>
          <p:nvPr/>
        </p:nvSpPr>
        <p:spPr>
          <a:xfrm>
            <a:off x="438912" y="3968496"/>
            <a:ext cx="1371600" cy="329184"/>
          </a:xfrm>
          <a:prstGeom prst="rect">
            <a:avLst/>
          </a:prstGeom>
          <a:noFill/>
          <a:ln/>
        </p:spPr>
        <p:txBody>
          <a:bodyPr wrap="square" lIns="0" tIns="0" rIns="0" bIns="0" rtlCol="0" anchor="ctr"/>
          <a:lstStyle/>
          <a:p>
            <a:pPr marL="0" indent="0">
              <a:buNone/>
            </a:pPr>
            <a:r>
              <a:rPr lang="en-US" sz="1600" b="1" dirty="0">
                <a:solidFill>
                  <a:srgbClr val="DC2626"/>
                </a:solidFill>
                <a:latin typeface="Consolas" pitchFamily="34" charset="0"/>
                <a:ea typeface="Consolas" pitchFamily="34" charset="-122"/>
                <a:cs typeface="Consolas" pitchFamily="34" charset="-120"/>
              </a:rPr>
              <a:t>DELETE</a:t>
            </a:r>
            <a:endParaRPr lang="en-US" sz="1600" dirty="0"/>
          </a:p>
        </p:txBody>
      </p:sp>
      <p:sp>
        <p:nvSpPr>
          <p:cNvPr id="21" name="Text 19"/>
          <p:cNvSpPr/>
          <p:nvPr/>
        </p:nvSpPr>
        <p:spPr>
          <a:xfrm>
            <a:off x="438912" y="4334256"/>
            <a:ext cx="3749040" cy="384048"/>
          </a:xfrm>
          <a:prstGeom prst="rect">
            <a:avLst/>
          </a:prstGeom>
          <a:noFill/>
          <a:ln/>
        </p:spPr>
        <p:txBody>
          <a:bodyPr wrap="square" lIns="0" tIns="0" rIns="0" bIns="0" rtlCol="0" anchor="ctr"/>
          <a:lstStyle/>
          <a:p>
            <a:pPr marL="0" indent="0">
              <a:buNone/>
            </a:pPr>
            <a:r>
              <a:rPr lang="en-US" sz="1000" dirty="0">
                <a:solidFill>
                  <a:srgbClr val="64748B"/>
                </a:solidFill>
              </a:rPr>
              <a:t>Remove rows matching a condition</a:t>
            </a:r>
            <a:endParaRPr lang="en-US" sz="1000" dirty="0"/>
          </a:p>
        </p:txBody>
      </p:sp>
      <p:sp>
        <p:nvSpPr>
          <p:cNvPr id="22" name="Shape 20"/>
          <p:cNvSpPr/>
          <p:nvPr/>
        </p:nvSpPr>
        <p:spPr>
          <a:xfrm>
            <a:off x="4617720" y="804672"/>
            <a:ext cx="4251960" cy="3986784"/>
          </a:xfrm>
          <a:prstGeom prst="rect">
            <a:avLst/>
          </a:prstGeom>
          <a:solidFill>
            <a:srgbClr val="1E2D40"/>
          </a:solidFill>
          <a:ln w="12700">
            <a:solidFill>
              <a:srgbClr val="2D4A6B"/>
            </a:solidFill>
            <a:prstDash val="solid"/>
          </a:ln>
          <a:effectLst>
            <a:outerShdw blurRad="101600" dist="25400" dir="8100000" algn="bl" rotWithShape="0">
              <a:srgbClr val="000000">
                <a:alpha val="25000"/>
              </a:srgbClr>
            </a:outerShdw>
          </a:effectLst>
        </p:spPr>
        <p:txBody>
          <a:bodyPr/>
          <a:lstStyle/>
          <a:p>
            <a:endParaRPr lang="es-ES"/>
          </a:p>
        </p:txBody>
      </p:sp>
      <p:sp>
        <p:nvSpPr>
          <p:cNvPr id="23" name="Shape 21"/>
          <p:cNvSpPr/>
          <p:nvPr/>
        </p:nvSpPr>
        <p:spPr>
          <a:xfrm>
            <a:off x="4745736" y="896112"/>
            <a:ext cx="82296" cy="82296"/>
          </a:xfrm>
          <a:prstGeom prst="ellipse">
            <a:avLst/>
          </a:prstGeom>
          <a:solidFill>
            <a:srgbClr val="FF5F57"/>
          </a:solidFill>
          <a:ln w="12700">
            <a:solidFill>
              <a:srgbClr val="FF5F57"/>
            </a:solidFill>
            <a:prstDash val="solid"/>
          </a:ln>
        </p:spPr>
        <p:txBody>
          <a:bodyPr/>
          <a:lstStyle/>
          <a:p>
            <a:endParaRPr lang="es-ES"/>
          </a:p>
        </p:txBody>
      </p:sp>
      <p:sp>
        <p:nvSpPr>
          <p:cNvPr id="24" name="Shape 22"/>
          <p:cNvSpPr/>
          <p:nvPr/>
        </p:nvSpPr>
        <p:spPr>
          <a:xfrm>
            <a:off x="4873752" y="896112"/>
            <a:ext cx="82296" cy="82296"/>
          </a:xfrm>
          <a:prstGeom prst="ellipse">
            <a:avLst/>
          </a:prstGeom>
          <a:solidFill>
            <a:srgbClr val="FEBC2E"/>
          </a:solidFill>
          <a:ln w="12700">
            <a:solidFill>
              <a:srgbClr val="FEBC2E"/>
            </a:solidFill>
            <a:prstDash val="solid"/>
          </a:ln>
        </p:spPr>
        <p:txBody>
          <a:bodyPr/>
          <a:lstStyle/>
          <a:p>
            <a:endParaRPr lang="es-ES"/>
          </a:p>
        </p:txBody>
      </p:sp>
      <p:sp>
        <p:nvSpPr>
          <p:cNvPr id="25" name="Shape 23"/>
          <p:cNvSpPr/>
          <p:nvPr/>
        </p:nvSpPr>
        <p:spPr>
          <a:xfrm>
            <a:off x="5001768" y="896112"/>
            <a:ext cx="82296" cy="82296"/>
          </a:xfrm>
          <a:prstGeom prst="ellipse">
            <a:avLst/>
          </a:prstGeom>
          <a:solidFill>
            <a:srgbClr val="28C840"/>
          </a:solidFill>
          <a:ln w="12700">
            <a:solidFill>
              <a:srgbClr val="28C840"/>
            </a:solidFill>
            <a:prstDash val="solid"/>
          </a:ln>
        </p:spPr>
        <p:txBody>
          <a:bodyPr/>
          <a:lstStyle/>
          <a:p>
            <a:endParaRPr lang="es-ES"/>
          </a:p>
        </p:txBody>
      </p:sp>
      <p:sp>
        <p:nvSpPr>
          <p:cNvPr id="26" name="Text 24"/>
          <p:cNvSpPr/>
          <p:nvPr/>
        </p:nvSpPr>
        <p:spPr>
          <a:xfrm>
            <a:off x="4745736" y="1051560"/>
            <a:ext cx="3995928" cy="3794760"/>
          </a:xfrm>
          <a:prstGeom prst="rect">
            <a:avLst/>
          </a:prstGeom>
          <a:noFill/>
          <a:ln/>
        </p:spPr>
        <p:txBody>
          <a:bodyPr wrap="square" lIns="0" tIns="0" rIns="0" bIns="0" rtlCol="0" anchor="t"/>
          <a:lstStyle/>
          <a:p>
            <a:pPr marL="0" indent="0">
              <a:buNone/>
            </a:pPr>
            <a:r>
              <a:rPr lang="en-US" sz="1150" dirty="0">
                <a:solidFill>
                  <a:srgbClr val="BAE6FD"/>
                </a:solidFill>
                <a:latin typeface="Consolas" pitchFamily="34" charset="0"/>
                <a:ea typeface="Consolas" pitchFamily="34" charset="-122"/>
                <a:cs typeface="Consolas" pitchFamily="34" charset="-120"/>
              </a:rPr>
              <a:t>-- SELECT: retrieve students with GPA &gt; 3.5</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SELECT name, email, gpa</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FROM   students</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WHERE  gpa &gt; 3.5</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ORDER  BY gpa DESC;</a:t>
            </a:r>
            <a:endParaRPr lang="en-US" sz="1150" dirty="0"/>
          </a:p>
          <a:p>
            <a:pPr marL="0" indent="0">
              <a:buNone/>
            </a:pP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INSERT: add a new student</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INSERT INTO students (student_id, name, email)</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VALUES (101, 'Anna Kowalska', 'anna@pwr.edu.pl');</a:t>
            </a:r>
            <a:endParaRPr lang="en-US" sz="1150" dirty="0"/>
          </a:p>
          <a:p>
            <a:pPr marL="0" indent="0">
              <a:buNone/>
            </a:pP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UPDATE: correct an email address</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UPDATE students</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SET    email = 'anna.kowalska@pwr.edu.pl'</a:t>
            </a:r>
            <a:endParaRPr lang="en-US" sz="1150" dirty="0"/>
          </a:p>
          <a:p>
            <a:pPr marL="0" indent="0">
              <a:buNone/>
            </a:pPr>
            <a:r>
              <a:rPr lang="en-US" sz="1150" b="1" dirty="0">
                <a:solidFill>
                  <a:srgbClr val="BAE6FD"/>
                </a:solidFill>
                <a:latin typeface="Consolas" pitchFamily="34" charset="0"/>
                <a:ea typeface="Consolas" pitchFamily="34" charset="-122"/>
                <a:cs typeface="Consolas" pitchFamily="34" charset="-120"/>
              </a:rPr>
              <a:t>WHERE</a:t>
            </a:r>
            <a:r>
              <a:rPr lang="en-US" sz="1150" dirty="0">
                <a:solidFill>
                  <a:srgbClr val="BAE6FD"/>
                </a:solidFill>
                <a:latin typeface="Consolas" pitchFamily="34" charset="0"/>
                <a:ea typeface="Consolas" pitchFamily="34" charset="-122"/>
                <a:cs typeface="Consolas" pitchFamily="34" charset="-120"/>
              </a:rPr>
              <a:t>  student_id = 101;</a:t>
            </a:r>
            <a:endParaRPr lang="en-US" sz="1150" dirty="0"/>
          </a:p>
          <a:p>
            <a:pPr marL="0" indent="0">
              <a:buNone/>
            </a:pP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DELETE: remove graduated students</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DELETE FROM students</a:t>
            </a:r>
            <a:endParaRPr lang="en-US" sz="1150" dirty="0"/>
          </a:p>
          <a:p>
            <a:pPr marL="0" indent="0">
              <a:buNone/>
            </a:pPr>
            <a:r>
              <a:rPr lang="en-US" sz="1150" b="1" dirty="0">
                <a:solidFill>
                  <a:srgbClr val="BAE6FD"/>
                </a:solidFill>
                <a:latin typeface="Consolas" pitchFamily="34" charset="0"/>
                <a:ea typeface="Consolas" pitchFamily="34" charset="-122"/>
                <a:cs typeface="Consolas" pitchFamily="34" charset="-120"/>
              </a:rPr>
              <a:t>WHERE</a:t>
            </a:r>
            <a:r>
              <a:rPr lang="en-US" sz="1150" dirty="0">
                <a:solidFill>
                  <a:srgbClr val="BAE6FD"/>
                </a:solidFill>
                <a:latin typeface="Consolas" pitchFamily="34" charset="0"/>
                <a:ea typeface="Consolas" pitchFamily="34" charset="-122"/>
                <a:cs typeface="Consolas" pitchFamily="34" charset="-120"/>
              </a:rPr>
              <a:t>  enrolled_on &lt; '2020-01-01';</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0" y="0"/>
            <a:ext cx="9144000" cy="713232"/>
          </a:xfrm>
          <a:prstGeom prst="rect">
            <a:avLst/>
          </a:prstGeom>
          <a:solidFill>
            <a:srgbClr val="1B3A6B"/>
          </a:solidFill>
          <a:ln w="12700">
            <a:solidFill>
              <a:srgbClr val="1B3A6B"/>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DCL &amp; TCL: Access Control and Transaction Management</a:t>
            </a:r>
            <a:endParaRPr lang="en-US" sz="200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8 / 14</a:t>
            </a:r>
            <a:endParaRPr lang="en-US" sz="900" dirty="0"/>
          </a:p>
        </p:txBody>
      </p:sp>
      <p:sp>
        <p:nvSpPr>
          <p:cNvPr id="6" name="Shape 4"/>
          <p:cNvSpPr/>
          <p:nvPr/>
        </p:nvSpPr>
        <p:spPr>
          <a:xfrm>
            <a:off x="274320" y="804672"/>
            <a:ext cx="4114800" cy="292608"/>
          </a:xfrm>
          <a:prstGeom prst="rect">
            <a:avLst/>
          </a:prstGeom>
          <a:solidFill>
            <a:srgbClr val="7C3AED"/>
          </a:solidFill>
          <a:ln w="12700">
            <a:solidFill>
              <a:srgbClr val="7C3AED"/>
            </a:solidFill>
            <a:prstDash val="solid"/>
          </a:ln>
        </p:spPr>
        <p:txBody>
          <a:bodyPr/>
          <a:lstStyle/>
          <a:p>
            <a:endParaRPr lang="es-ES"/>
          </a:p>
        </p:txBody>
      </p:sp>
      <p:sp>
        <p:nvSpPr>
          <p:cNvPr id="7" name="Text 5"/>
          <p:cNvSpPr/>
          <p:nvPr/>
        </p:nvSpPr>
        <p:spPr>
          <a:xfrm>
            <a:off x="365760" y="822960"/>
            <a:ext cx="3840480" cy="256032"/>
          </a:xfrm>
          <a:prstGeom prst="rect">
            <a:avLst/>
          </a:prstGeom>
          <a:noFill/>
          <a:ln/>
        </p:spPr>
        <p:txBody>
          <a:bodyPr wrap="square" lIns="0" tIns="0" rIns="0" bIns="0" rtlCol="0" anchor="ctr"/>
          <a:lstStyle/>
          <a:p>
            <a:pPr marL="0" indent="0">
              <a:buNone/>
            </a:pPr>
            <a:r>
              <a:rPr lang="en-US" sz="1200" b="1" dirty="0">
                <a:solidFill>
                  <a:srgbClr val="FFFFFF"/>
                </a:solidFill>
              </a:rPr>
              <a:t>DCL - Data Control Language</a:t>
            </a:r>
            <a:endParaRPr lang="en-US" sz="1200" dirty="0"/>
          </a:p>
        </p:txBody>
      </p:sp>
      <p:sp>
        <p:nvSpPr>
          <p:cNvPr id="8" name="Shape 6"/>
          <p:cNvSpPr/>
          <p:nvPr/>
        </p:nvSpPr>
        <p:spPr>
          <a:xfrm>
            <a:off x="274320" y="1143000"/>
            <a:ext cx="4114800" cy="566928"/>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9" name="Shape 7"/>
          <p:cNvSpPr/>
          <p:nvPr/>
        </p:nvSpPr>
        <p:spPr>
          <a:xfrm>
            <a:off x="274320" y="1143000"/>
            <a:ext cx="54864" cy="566928"/>
          </a:xfrm>
          <a:prstGeom prst="rect">
            <a:avLst/>
          </a:prstGeom>
          <a:solidFill>
            <a:srgbClr val="7C3AED"/>
          </a:solidFill>
          <a:ln w="12700">
            <a:solidFill>
              <a:srgbClr val="7C3AED"/>
            </a:solidFill>
            <a:prstDash val="solid"/>
          </a:ln>
        </p:spPr>
        <p:txBody>
          <a:bodyPr/>
          <a:lstStyle/>
          <a:p>
            <a:endParaRPr lang="es-ES"/>
          </a:p>
        </p:txBody>
      </p:sp>
      <p:sp>
        <p:nvSpPr>
          <p:cNvPr id="10" name="Text 8"/>
          <p:cNvSpPr/>
          <p:nvPr/>
        </p:nvSpPr>
        <p:spPr>
          <a:xfrm>
            <a:off x="438912" y="1170432"/>
            <a:ext cx="1097280" cy="256032"/>
          </a:xfrm>
          <a:prstGeom prst="rect">
            <a:avLst/>
          </a:prstGeom>
          <a:noFill/>
          <a:ln/>
        </p:spPr>
        <p:txBody>
          <a:bodyPr wrap="square" lIns="0" tIns="0" rIns="0" bIns="0" rtlCol="0" anchor="ctr"/>
          <a:lstStyle/>
          <a:p>
            <a:pPr marL="0" indent="0">
              <a:buNone/>
            </a:pPr>
            <a:r>
              <a:rPr lang="en-US" sz="1300" b="1" dirty="0">
                <a:solidFill>
                  <a:srgbClr val="7C3AED"/>
                </a:solidFill>
                <a:latin typeface="Consolas" pitchFamily="34" charset="0"/>
                <a:ea typeface="Consolas" pitchFamily="34" charset="-122"/>
                <a:cs typeface="Consolas" pitchFamily="34" charset="-120"/>
              </a:rPr>
              <a:t>GRANT</a:t>
            </a:r>
            <a:endParaRPr lang="en-US" sz="1300" dirty="0"/>
          </a:p>
        </p:txBody>
      </p:sp>
      <p:sp>
        <p:nvSpPr>
          <p:cNvPr id="11" name="Text 9"/>
          <p:cNvSpPr/>
          <p:nvPr/>
        </p:nvSpPr>
        <p:spPr>
          <a:xfrm>
            <a:off x="438912" y="1435608"/>
            <a:ext cx="3657600" cy="228600"/>
          </a:xfrm>
          <a:prstGeom prst="rect">
            <a:avLst/>
          </a:prstGeom>
          <a:noFill/>
          <a:ln/>
        </p:spPr>
        <p:txBody>
          <a:bodyPr wrap="square" lIns="0" tIns="0" rIns="0" bIns="0" rtlCol="0" anchor="ctr"/>
          <a:lstStyle/>
          <a:p>
            <a:pPr marL="0" indent="0">
              <a:buNone/>
            </a:pPr>
            <a:r>
              <a:rPr lang="en-US" sz="1000" dirty="0">
                <a:solidFill>
                  <a:srgbClr val="64748B"/>
                </a:solidFill>
              </a:rPr>
              <a:t>Give a user or role specific privileges on a database object</a:t>
            </a:r>
            <a:endParaRPr lang="en-US" sz="1000" dirty="0"/>
          </a:p>
        </p:txBody>
      </p:sp>
      <p:sp>
        <p:nvSpPr>
          <p:cNvPr id="12" name="Shape 10"/>
          <p:cNvSpPr/>
          <p:nvPr/>
        </p:nvSpPr>
        <p:spPr>
          <a:xfrm>
            <a:off x="274320" y="1801368"/>
            <a:ext cx="4114800" cy="566928"/>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3" name="Shape 11"/>
          <p:cNvSpPr/>
          <p:nvPr/>
        </p:nvSpPr>
        <p:spPr>
          <a:xfrm>
            <a:off x="274320" y="1801368"/>
            <a:ext cx="54864" cy="566928"/>
          </a:xfrm>
          <a:prstGeom prst="rect">
            <a:avLst/>
          </a:prstGeom>
          <a:solidFill>
            <a:srgbClr val="7C3AED"/>
          </a:solidFill>
          <a:ln w="12700">
            <a:solidFill>
              <a:srgbClr val="7C3AED"/>
            </a:solidFill>
            <a:prstDash val="solid"/>
          </a:ln>
        </p:spPr>
        <p:txBody>
          <a:bodyPr/>
          <a:lstStyle/>
          <a:p>
            <a:endParaRPr lang="es-ES"/>
          </a:p>
        </p:txBody>
      </p:sp>
      <p:sp>
        <p:nvSpPr>
          <p:cNvPr id="14" name="Text 12"/>
          <p:cNvSpPr/>
          <p:nvPr/>
        </p:nvSpPr>
        <p:spPr>
          <a:xfrm>
            <a:off x="438912" y="1828800"/>
            <a:ext cx="1097280" cy="256032"/>
          </a:xfrm>
          <a:prstGeom prst="rect">
            <a:avLst/>
          </a:prstGeom>
          <a:noFill/>
          <a:ln/>
        </p:spPr>
        <p:txBody>
          <a:bodyPr wrap="square" lIns="0" tIns="0" rIns="0" bIns="0" rtlCol="0" anchor="ctr"/>
          <a:lstStyle/>
          <a:p>
            <a:pPr marL="0" indent="0">
              <a:buNone/>
            </a:pPr>
            <a:r>
              <a:rPr lang="en-US" sz="1300" b="1" dirty="0">
                <a:solidFill>
                  <a:srgbClr val="7C3AED"/>
                </a:solidFill>
                <a:latin typeface="Consolas" pitchFamily="34" charset="0"/>
                <a:ea typeface="Consolas" pitchFamily="34" charset="-122"/>
                <a:cs typeface="Consolas" pitchFamily="34" charset="-120"/>
              </a:rPr>
              <a:t>REVOKE</a:t>
            </a:r>
            <a:endParaRPr lang="en-US" sz="1300" dirty="0"/>
          </a:p>
        </p:txBody>
      </p:sp>
      <p:sp>
        <p:nvSpPr>
          <p:cNvPr id="15" name="Text 13"/>
          <p:cNvSpPr/>
          <p:nvPr/>
        </p:nvSpPr>
        <p:spPr>
          <a:xfrm>
            <a:off x="438912" y="2093976"/>
            <a:ext cx="3657600" cy="228600"/>
          </a:xfrm>
          <a:prstGeom prst="rect">
            <a:avLst/>
          </a:prstGeom>
          <a:noFill/>
          <a:ln/>
        </p:spPr>
        <p:txBody>
          <a:bodyPr wrap="square" lIns="0" tIns="0" rIns="0" bIns="0" rtlCol="0" anchor="ctr"/>
          <a:lstStyle/>
          <a:p>
            <a:pPr marL="0" indent="0">
              <a:buNone/>
            </a:pPr>
            <a:r>
              <a:rPr lang="en-US" sz="1000" dirty="0">
                <a:solidFill>
                  <a:srgbClr val="64748B"/>
                </a:solidFill>
              </a:rPr>
              <a:t>Remove previously granted privileges from a user or role</a:t>
            </a:r>
            <a:endParaRPr lang="en-US" sz="1000" dirty="0"/>
          </a:p>
        </p:txBody>
      </p:sp>
      <p:sp>
        <p:nvSpPr>
          <p:cNvPr id="16" name="Shape 14"/>
          <p:cNvSpPr/>
          <p:nvPr/>
        </p:nvSpPr>
        <p:spPr>
          <a:xfrm>
            <a:off x="274320" y="2487168"/>
            <a:ext cx="4114800" cy="2395728"/>
          </a:xfrm>
          <a:prstGeom prst="rect">
            <a:avLst/>
          </a:prstGeom>
          <a:solidFill>
            <a:srgbClr val="1E2D40"/>
          </a:solidFill>
          <a:ln w="12700">
            <a:solidFill>
              <a:srgbClr val="2D4A6B"/>
            </a:solidFill>
            <a:prstDash val="solid"/>
          </a:ln>
          <a:effectLst>
            <a:outerShdw blurRad="101600" dist="25400" dir="8100000" algn="bl" rotWithShape="0">
              <a:srgbClr val="000000">
                <a:alpha val="25000"/>
              </a:srgbClr>
            </a:outerShdw>
          </a:effectLst>
        </p:spPr>
        <p:txBody>
          <a:bodyPr/>
          <a:lstStyle/>
          <a:p>
            <a:endParaRPr lang="es-ES"/>
          </a:p>
        </p:txBody>
      </p:sp>
      <p:sp>
        <p:nvSpPr>
          <p:cNvPr id="17" name="Shape 15"/>
          <p:cNvSpPr/>
          <p:nvPr/>
        </p:nvSpPr>
        <p:spPr>
          <a:xfrm>
            <a:off x="402336" y="2578608"/>
            <a:ext cx="82296" cy="82296"/>
          </a:xfrm>
          <a:prstGeom prst="ellipse">
            <a:avLst/>
          </a:prstGeom>
          <a:solidFill>
            <a:srgbClr val="FF5F57"/>
          </a:solidFill>
          <a:ln w="12700">
            <a:solidFill>
              <a:srgbClr val="FF5F57"/>
            </a:solidFill>
            <a:prstDash val="solid"/>
          </a:ln>
        </p:spPr>
        <p:txBody>
          <a:bodyPr/>
          <a:lstStyle/>
          <a:p>
            <a:endParaRPr lang="es-ES"/>
          </a:p>
        </p:txBody>
      </p:sp>
      <p:sp>
        <p:nvSpPr>
          <p:cNvPr id="18" name="Shape 16"/>
          <p:cNvSpPr/>
          <p:nvPr/>
        </p:nvSpPr>
        <p:spPr>
          <a:xfrm>
            <a:off x="530352" y="2578608"/>
            <a:ext cx="82296" cy="82296"/>
          </a:xfrm>
          <a:prstGeom prst="ellipse">
            <a:avLst/>
          </a:prstGeom>
          <a:solidFill>
            <a:srgbClr val="FEBC2E"/>
          </a:solidFill>
          <a:ln w="12700">
            <a:solidFill>
              <a:srgbClr val="FEBC2E"/>
            </a:solidFill>
            <a:prstDash val="solid"/>
          </a:ln>
        </p:spPr>
        <p:txBody>
          <a:bodyPr/>
          <a:lstStyle/>
          <a:p>
            <a:endParaRPr lang="es-ES"/>
          </a:p>
        </p:txBody>
      </p:sp>
      <p:sp>
        <p:nvSpPr>
          <p:cNvPr id="19" name="Shape 17"/>
          <p:cNvSpPr/>
          <p:nvPr/>
        </p:nvSpPr>
        <p:spPr>
          <a:xfrm>
            <a:off x="658368" y="2578608"/>
            <a:ext cx="82296" cy="82296"/>
          </a:xfrm>
          <a:prstGeom prst="ellipse">
            <a:avLst/>
          </a:prstGeom>
          <a:solidFill>
            <a:srgbClr val="28C840"/>
          </a:solidFill>
          <a:ln w="12700">
            <a:solidFill>
              <a:srgbClr val="28C840"/>
            </a:solidFill>
            <a:prstDash val="solid"/>
          </a:ln>
        </p:spPr>
        <p:txBody>
          <a:bodyPr/>
          <a:lstStyle/>
          <a:p>
            <a:endParaRPr lang="es-ES"/>
          </a:p>
        </p:txBody>
      </p:sp>
      <p:sp>
        <p:nvSpPr>
          <p:cNvPr id="20" name="Text 18"/>
          <p:cNvSpPr/>
          <p:nvPr/>
        </p:nvSpPr>
        <p:spPr>
          <a:xfrm>
            <a:off x="402336" y="2734056"/>
            <a:ext cx="3858768" cy="2075688"/>
          </a:xfrm>
          <a:prstGeom prst="rect">
            <a:avLst/>
          </a:prstGeom>
          <a:noFill/>
          <a:ln/>
        </p:spPr>
        <p:txBody>
          <a:bodyPr wrap="square" lIns="0" tIns="0" rIns="0" bIns="0" rtlCol="0" anchor="t"/>
          <a:lstStyle/>
          <a:p>
            <a:pPr marL="0" indent="0">
              <a:buNone/>
            </a:pPr>
            <a:r>
              <a:rPr lang="en-US" sz="1150" dirty="0">
                <a:solidFill>
                  <a:srgbClr val="BAE6FD"/>
                </a:solidFill>
                <a:latin typeface="Consolas" pitchFamily="34" charset="0"/>
                <a:ea typeface="Consolas" pitchFamily="34" charset="-122"/>
                <a:cs typeface="Consolas" pitchFamily="34" charset="-120"/>
              </a:rPr>
              <a:t>-- Grant SELECT and INSERT to a user</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GRANT SELECT, INSERT</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ON  students</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TO  'lecturer'@'localhost';</a:t>
            </a:r>
            <a:endParaRPr lang="en-US" sz="1150" dirty="0"/>
          </a:p>
          <a:p>
            <a:pPr marL="0" indent="0">
              <a:buNone/>
            </a:pP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Remove INSERT privilege</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REVOKE INSERT</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ON  students</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FROM 'lecturer'@'localhost';</a:t>
            </a:r>
            <a:endParaRPr lang="en-US" sz="1150" dirty="0"/>
          </a:p>
        </p:txBody>
      </p:sp>
      <p:sp>
        <p:nvSpPr>
          <p:cNvPr id="21" name="Shape 19"/>
          <p:cNvSpPr/>
          <p:nvPr/>
        </p:nvSpPr>
        <p:spPr>
          <a:xfrm>
            <a:off x="4754880" y="804672"/>
            <a:ext cx="4114800" cy="292608"/>
          </a:xfrm>
          <a:prstGeom prst="rect">
            <a:avLst/>
          </a:prstGeom>
          <a:solidFill>
            <a:srgbClr val="059669"/>
          </a:solidFill>
          <a:ln w="12700">
            <a:solidFill>
              <a:srgbClr val="059669"/>
            </a:solidFill>
            <a:prstDash val="solid"/>
          </a:ln>
        </p:spPr>
        <p:txBody>
          <a:bodyPr/>
          <a:lstStyle/>
          <a:p>
            <a:endParaRPr lang="es-ES"/>
          </a:p>
        </p:txBody>
      </p:sp>
      <p:sp>
        <p:nvSpPr>
          <p:cNvPr id="22" name="Text 20"/>
          <p:cNvSpPr/>
          <p:nvPr/>
        </p:nvSpPr>
        <p:spPr>
          <a:xfrm>
            <a:off x="4846320" y="822960"/>
            <a:ext cx="3840480" cy="256032"/>
          </a:xfrm>
          <a:prstGeom prst="rect">
            <a:avLst/>
          </a:prstGeom>
          <a:noFill/>
          <a:ln/>
        </p:spPr>
        <p:txBody>
          <a:bodyPr wrap="square" lIns="0" tIns="0" rIns="0" bIns="0" rtlCol="0" anchor="ctr"/>
          <a:lstStyle/>
          <a:p>
            <a:pPr marL="0" indent="0">
              <a:buNone/>
            </a:pPr>
            <a:r>
              <a:rPr lang="en-US" sz="1200" b="1" dirty="0">
                <a:solidFill>
                  <a:srgbClr val="FFFFFF"/>
                </a:solidFill>
              </a:rPr>
              <a:t>TCL - Transaction Control Language</a:t>
            </a:r>
            <a:endParaRPr lang="en-US" sz="1200" dirty="0"/>
          </a:p>
        </p:txBody>
      </p:sp>
      <p:sp>
        <p:nvSpPr>
          <p:cNvPr id="23" name="Shape 21"/>
          <p:cNvSpPr/>
          <p:nvPr/>
        </p:nvSpPr>
        <p:spPr>
          <a:xfrm>
            <a:off x="4754880" y="1143000"/>
            <a:ext cx="4114800" cy="493776"/>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4" name="Shape 22"/>
          <p:cNvSpPr/>
          <p:nvPr/>
        </p:nvSpPr>
        <p:spPr>
          <a:xfrm>
            <a:off x="4754880" y="1143000"/>
            <a:ext cx="54864" cy="493776"/>
          </a:xfrm>
          <a:prstGeom prst="rect">
            <a:avLst/>
          </a:prstGeom>
          <a:solidFill>
            <a:srgbClr val="059669"/>
          </a:solidFill>
          <a:ln w="12700">
            <a:solidFill>
              <a:srgbClr val="059669"/>
            </a:solidFill>
            <a:prstDash val="solid"/>
          </a:ln>
        </p:spPr>
        <p:txBody>
          <a:bodyPr/>
          <a:lstStyle/>
          <a:p>
            <a:endParaRPr lang="es-ES"/>
          </a:p>
        </p:txBody>
      </p:sp>
      <p:sp>
        <p:nvSpPr>
          <p:cNvPr id="25" name="Text 23"/>
          <p:cNvSpPr/>
          <p:nvPr/>
        </p:nvSpPr>
        <p:spPr>
          <a:xfrm>
            <a:off x="4919472" y="1170432"/>
            <a:ext cx="1463040" cy="219456"/>
          </a:xfrm>
          <a:prstGeom prst="rect">
            <a:avLst/>
          </a:prstGeom>
          <a:noFill/>
          <a:ln/>
        </p:spPr>
        <p:txBody>
          <a:bodyPr wrap="square" lIns="0" tIns="0" rIns="0" bIns="0" rtlCol="0" anchor="ctr"/>
          <a:lstStyle/>
          <a:p>
            <a:pPr marL="0" indent="0">
              <a:buNone/>
            </a:pPr>
            <a:r>
              <a:rPr lang="en-US" sz="1150" b="1" dirty="0">
                <a:solidFill>
                  <a:srgbClr val="059669"/>
                </a:solidFill>
                <a:latin typeface="Consolas" pitchFamily="34" charset="0"/>
                <a:ea typeface="Consolas" pitchFamily="34" charset="-122"/>
                <a:cs typeface="Consolas" pitchFamily="34" charset="-120"/>
              </a:rPr>
              <a:t>COMMIT</a:t>
            </a:r>
            <a:endParaRPr lang="en-US" sz="1150" dirty="0"/>
          </a:p>
        </p:txBody>
      </p:sp>
      <p:sp>
        <p:nvSpPr>
          <p:cNvPr id="26" name="Text 24"/>
          <p:cNvSpPr/>
          <p:nvPr/>
        </p:nvSpPr>
        <p:spPr>
          <a:xfrm>
            <a:off x="4919472" y="1389888"/>
            <a:ext cx="3749040" cy="201168"/>
          </a:xfrm>
          <a:prstGeom prst="rect">
            <a:avLst/>
          </a:prstGeom>
          <a:noFill/>
          <a:ln/>
        </p:spPr>
        <p:txBody>
          <a:bodyPr wrap="square" lIns="0" tIns="0" rIns="0" bIns="0" rtlCol="0" anchor="ctr"/>
          <a:lstStyle/>
          <a:p>
            <a:pPr marL="0" indent="0">
              <a:buNone/>
            </a:pPr>
            <a:r>
              <a:rPr lang="en-US" sz="950" dirty="0">
                <a:solidFill>
                  <a:srgbClr val="64748B"/>
                </a:solidFill>
              </a:rPr>
              <a:t>Permanently save all changes made in the current transaction</a:t>
            </a:r>
            <a:endParaRPr lang="en-US" sz="950" dirty="0"/>
          </a:p>
        </p:txBody>
      </p:sp>
      <p:sp>
        <p:nvSpPr>
          <p:cNvPr id="27" name="Shape 25"/>
          <p:cNvSpPr/>
          <p:nvPr/>
        </p:nvSpPr>
        <p:spPr>
          <a:xfrm>
            <a:off x="4754880" y="1709928"/>
            <a:ext cx="4114800" cy="493776"/>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8" name="Shape 26"/>
          <p:cNvSpPr/>
          <p:nvPr/>
        </p:nvSpPr>
        <p:spPr>
          <a:xfrm>
            <a:off x="4754880" y="1709928"/>
            <a:ext cx="54864" cy="493776"/>
          </a:xfrm>
          <a:prstGeom prst="rect">
            <a:avLst/>
          </a:prstGeom>
          <a:solidFill>
            <a:srgbClr val="059669"/>
          </a:solidFill>
          <a:ln w="12700">
            <a:solidFill>
              <a:srgbClr val="059669"/>
            </a:solidFill>
            <a:prstDash val="solid"/>
          </a:ln>
        </p:spPr>
        <p:txBody>
          <a:bodyPr/>
          <a:lstStyle/>
          <a:p>
            <a:endParaRPr lang="es-ES"/>
          </a:p>
        </p:txBody>
      </p:sp>
      <p:sp>
        <p:nvSpPr>
          <p:cNvPr id="29" name="Text 27"/>
          <p:cNvSpPr/>
          <p:nvPr/>
        </p:nvSpPr>
        <p:spPr>
          <a:xfrm>
            <a:off x="4919472" y="1737360"/>
            <a:ext cx="1463040" cy="219456"/>
          </a:xfrm>
          <a:prstGeom prst="rect">
            <a:avLst/>
          </a:prstGeom>
          <a:noFill/>
          <a:ln/>
        </p:spPr>
        <p:txBody>
          <a:bodyPr wrap="square" lIns="0" tIns="0" rIns="0" bIns="0" rtlCol="0" anchor="ctr"/>
          <a:lstStyle/>
          <a:p>
            <a:pPr marL="0" indent="0">
              <a:buNone/>
            </a:pPr>
            <a:r>
              <a:rPr lang="en-US" sz="1150" b="1" dirty="0">
                <a:solidFill>
                  <a:srgbClr val="059669"/>
                </a:solidFill>
                <a:latin typeface="Consolas" pitchFamily="34" charset="0"/>
                <a:ea typeface="Consolas" pitchFamily="34" charset="-122"/>
                <a:cs typeface="Consolas" pitchFamily="34" charset="-120"/>
              </a:rPr>
              <a:t>ROLLBACK</a:t>
            </a:r>
            <a:endParaRPr lang="en-US" sz="1150" dirty="0"/>
          </a:p>
        </p:txBody>
      </p:sp>
      <p:sp>
        <p:nvSpPr>
          <p:cNvPr id="30" name="Text 28"/>
          <p:cNvSpPr/>
          <p:nvPr/>
        </p:nvSpPr>
        <p:spPr>
          <a:xfrm>
            <a:off x="4919472" y="1956816"/>
            <a:ext cx="3749040" cy="201168"/>
          </a:xfrm>
          <a:prstGeom prst="rect">
            <a:avLst/>
          </a:prstGeom>
          <a:noFill/>
          <a:ln/>
        </p:spPr>
        <p:txBody>
          <a:bodyPr wrap="square" lIns="0" tIns="0" rIns="0" bIns="0" rtlCol="0" anchor="ctr"/>
          <a:lstStyle/>
          <a:p>
            <a:pPr marL="0" indent="0">
              <a:buNone/>
            </a:pPr>
            <a:r>
              <a:rPr lang="en-US" sz="950" dirty="0">
                <a:solidFill>
                  <a:srgbClr val="64748B"/>
                </a:solidFill>
              </a:rPr>
              <a:t>Undo all uncommitted changes and restore previous state</a:t>
            </a:r>
            <a:endParaRPr lang="en-US" sz="950" dirty="0"/>
          </a:p>
        </p:txBody>
      </p:sp>
      <p:sp>
        <p:nvSpPr>
          <p:cNvPr id="31" name="Shape 29"/>
          <p:cNvSpPr/>
          <p:nvPr/>
        </p:nvSpPr>
        <p:spPr>
          <a:xfrm>
            <a:off x="4754880" y="2276856"/>
            <a:ext cx="4114800" cy="493776"/>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32" name="Shape 30"/>
          <p:cNvSpPr/>
          <p:nvPr/>
        </p:nvSpPr>
        <p:spPr>
          <a:xfrm>
            <a:off x="4754880" y="2276856"/>
            <a:ext cx="54864" cy="493776"/>
          </a:xfrm>
          <a:prstGeom prst="rect">
            <a:avLst/>
          </a:prstGeom>
          <a:solidFill>
            <a:srgbClr val="059669"/>
          </a:solidFill>
          <a:ln w="12700">
            <a:solidFill>
              <a:srgbClr val="059669"/>
            </a:solidFill>
            <a:prstDash val="solid"/>
          </a:ln>
        </p:spPr>
        <p:txBody>
          <a:bodyPr/>
          <a:lstStyle/>
          <a:p>
            <a:endParaRPr lang="es-ES"/>
          </a:p>
        </p:txBody>
      </p:sp>
      <p:sp>
        <p:nvSpPr>
          <p:cNvPr id="33" name="Text 31"/>
          <p:cNvSpPr/>
          <p:nvPr/>
        </p:nvSpPr>
        <p:spPr>
          <a:xfrm>
            <a:off x="4919472" y="2304288"/>
            <a:ext cx="1463040" cy="219456"/>
          </a:xfrm>
          <a:prstGeom prst="rect">
            <a:avLst/>
          </a:prstGeom>
          <a:noFill/>
          <a:ln/>
        </p:spPr>
        <p:txBody>
          <a:bodyPr wrap="square" lIns="0" tIns="0" rIns="0" bIns="0" rtlCol="0" anchor="ctr"/>
          <a:lstStyle/>
          <a:p>
            <a:pPr marL="0" indent="0">
              <a:buNone/>
            </a:pPr>
            <a:r>
              <a:rPr lang="en-US" sz="1150" b="1" dirty="0">
                <a:solidFill>
                  <a:srgbClr val="059669"/>
                </a:solidFill>
                <a:latin typeface="Consolas" pitchFamily="34" charset="0"/>
                <a:ea typeface="Consolas" pitchFamily="34" charset="-122"/>
                <a:cs typeface="Consolas" pitchFamily="34" charset="-120"/>
              </a:rPr>
              <a:t>SAVEPOINT</a:t>
            </a:r>
            <a:endParaRPr lang="en-US" sz="1150" dirty="0"/>
          </a:p>
        </p:txBody>
      </p:sp>
      <p:sp>
        <p:nvSpPr>
          <p:cNvPr id="34" name="Text 32"/>
          <p:cNvSpPr/>
          <p:nvPr/>
        </p:nvSpPr>
        <p:spPr>
          <a:xfrm>
            <a:off x="4919472" y="2523744"/>
            <a:ext cx="3749040" cy="201168"/>
          </a:xfrm>
          <a:prstGeom prst="rect">
            <a:avLst/>
          </a:prstGeom>
          <a:noFill/>
          <a:ln/>
        </p:spPr>
        <p:txBody>
          <a:bodyPr wrap="square" lIns="0" tIns="0" rIns="0" bIns="0" rtlCol="0" anchor="ctr"/>
          <a:lstStyle/>
          <a:p>
            <a:pPr marL="0" indent="0">
              <a:buNone/>
            </a:pPr>
            <a:r>
              <a:rPr lang="en-US" sz="950" dirty="0">
                <a:solidFill>
                  <a:srgbClr val="64748B"/>
                </a:solidFill>
              </a:rPr>
              <a:t>Create a named checkpoint within a transaction to roll back to</a:t>
            </a:r>
            <a:endParaRPr lang="en-US" sz="950" dirty="0"/>
          </a:p>
        </p:txBody>
      </p:sp>
      <p:sp>
        <p:nvSpPr>
          <p:cNvPr id="35" name="Shape 33"/>
          <p:cNvSpPr/>
          <p:nvPr/>
        </p:nvSpPr>
        <p:spPr>
          <a:xfrm>
            <a:off x="4754880" y="2880360"/>
            <a:ext cx="4114800" cy="1920240"/>
          </a:xfrm>
          <a:prstGeom prst="rect">
            <a:avLst/>
          </a:prstGeom>
          <a:solidFill>
            <a:srgbClr val="1E2D40"/>
          </a:solidFill>
          <a:ln w="12700">
            <a:solidFill>
              <a:srgbClr val="2D4A6B"/>
            </a:solidFill>
            <a:prstDash val="solid"/>
          </a:ln>
          <a:effectLst>
            <a:outerShdw blurRad="101600" dist="25400" dir="8100000" algn="bl" rotWithShape="0">
              <a:srgbClr val="000000">
                <a:alpha val="25000"/>
              </a:srgbClr>
            </a:outerShdw>
          </a:effectLst>
        </p:spPr>
        <p:txBody>
          <a:bodyPr/>
          <a:lstStyle/>
          <a:p>
            <a:endParaRPr lang="es-ES"/>
          </a:p>
        </p:txBody>
      </p:sp>
      <p:sp>
        <p:nvSpPr>
          <p:cNvPr id="36" name="Shape 34"/>
          <p:cNvSpPr/>
          <p:nvPr/>
        </p:nvSpPr>
        <p:spPr>
          <a:xfrm>
            <a:off x="4882896" y="2971800"/>
            <a:ext cx="82296" cy="82296"/>
          </a:xfrm>
          <a:prstGeom prst="ellipse">
            <a:avLst/>
          </a:prstGeom>
          <a:solidFill>
            <a:srgbClr val="FF5F57"/>
          </a:solidFill>
          <a:ln w="12700">
            <a:solidFill>
              <a:srgbClr val="FF5F57"/>
            </a:solidFill>
            <a:prstDash val="solid"/>
          </a:ln>
        </p:spPr>
        <p:txBody>
          <a:bodyPr/>
          <a:lstStyle/>
          <a:p>
            <a:endParaRPr lang="es-ES"/>
          </a:p>
        </p:txBody>
      </p:sp>
      <p:sp>
        <p:nvSpPr>
          <p:cNvPr id="37" name="Shape 35"/>
          <p:cNvSpPr/>
          <p:nvPr/>
        </p:nvSpPr>
        <p:spPr>
          <a:xfrm>
            <a:off x="5010912" y="2971800"/>
            <a:ext cx="82296" cy="82296"/>
          </a:xfrm>
          <a:prstGeom prst="ellipse">
            <a:avLst/>
          </a:prstGeom>
          <a:solidFill>
            <a:srgbClr val="FEBC2E"/>
          </a:solidFill>
          <a:ln w="12700">
            <a:solidFill>
              <a:srgbClr val="FEBC2E"/>
            </a:solidFill>
            <a:prstDash val="solid"/>
          </a:ln>
        </p:spPr>
        <p:txBody>
          <a:bodyPr/>
          <a:lstStyle/>
          <a:p>
            <a:endParaRPr lang="es-ES"/>
          </a:p>
        </p:txBody>
      </p:sp>
      <p:sp>
        <p:nvSpPr>
          <p:cNvPr id="38" name="Shape 36"/>
          <p:cNvSpPr/>
          <p:nvPr/>
        </p:nvSpPr>
        <p:spPr>
          <a:xfrm>
            <a:off x="5138928" y="2971800"/>
            <a:ext cx="82296" cy="82296"/>
          </a:xfrm>
          <a:prstGeom prst="ellipse">
            <a:avLst/>
          </a:prstGeom>
          <a:solidFill>
            <a:srgbClr val="28C840"/>
          </a:solidFill>
          <a:ln w="12700">
            <a:solidFill>
              <a:srgbClr val="28C840"/>
            </a:solidFill>
            <a:prstDash val="solid"/>
          </a:ln>
        </p:spPr>
        <p:txBody>
          <a:bodyPr/>
          <a:lstStyle/>
          <a:p>
            <a:endParaRPr lang="es-ES"/>
          </a:p>
        </p:txBody>
      </p:sp>
      <p:sp>
        <p:nvSpPr>
          <p:cNvPr id="39" name="Text 37"/>
          <p:cNvSpPr/>
          <p:nvPr/>
        </p:nvSpPr>
        <p:spPr>
          <a:xfrm>
            <a:off x="4882896" y="3127248"/>
            <a:ext cx="3986784" cy="1673352"/>
          </a:xfrm>
          <a:prstGeom prst="rect">
            <a:avLst/>
          </a:prstGeom>
          <a:noFill/>
          <a:ln/>
        </p:spPr>
        <p:txBody>
          <a:bodyPr wrap="square" lIns="0" tIns="0" rIns="0" bIns="0" rtlCol="0" anchor="t"/>
          <a:lstStyle/>
          <a:p>
            <a:pPr marL="0" indent="0">
              <a:buNone/>
            </a:pPr>
            <a:r>
              <a:rPr lang="en-US" sz="1050" dirty="0">
                <a:solidFill>
                  <a:srgbClr val="BAE6FD"/>
                </a:solidFill>
                <a:latin typeface="Consolas" pitchFamily="34" charset="0"/>
                <a:ea typeface="Consolas" pitchFamily="34" charset="-122"/>
                <a:cs typeface="Consolas" pitchFamily="34" charset="-120"/>
              </a:rPr>
              <a:t>-- Atomic bank transfer</a:t>
            </a:r>
            <a:endParaRPr lang="en-US" sz="1050" dirty="0"/>
          </a:p>
          <a:p>
            <a:pPr marL="0" indent="0">
              <a:buNone/>
            </a:pPr>
            <a:r>
              <a:rPr lang="en-US" sz="1050" dirty="0">
                <a:solidFill>
                  <a:srgbClr val="BAE6FD"/>
                </a:solidFill>
                <a:latin typeface="Consolas" pitchFamily="34" charset="0"/>
                <a:ea typeface="Consolas" pitchFamily="34" charset="-122"/>
                <a:cs typeface="Consolas" pitchFamily="34" charset="-120"/>
              </a:rPr>
              <a:t>BEGIN TRANSACTION;</a:t>
            </a:r>
            <a:endParaRPr lang="en-US" sz="1050" dirty="0"/>
          </a:p>
          <a:p>
            <a:pPr marL="0" indent="0">
              <a:buNone/>
            </a:pPr>
            <a:endParaRPr lang="en-US" sz="1050" dirty="0"/>
          </a:p>
          <a:p>
            <a:pPr marL="0" indent="0">
              <a:buNone/>
            </a:pPr>
            <a:r>
              <a:rPr lang="en-US" sz="1050" dirty="0">
                <a:solidFill>
                  <a:srgbClr val="BAE6FD"/>
                </a:solidFill>
                <a:latin typeface="Consolas" pitchFamily="34" charset="0"/>
                <a:ea typeface="Consolas" pitchFamily="34" charset="-122"/>
                <a:cs typeface="Consolas" pitchFamily="34" charset="-120"/>
              </a:rPr>
              <a:t>  UPDATE accounts</a:t>
            </a:r>
            <a:endParaRPr lang="en-US" sz="1050" dirty="0"/>
          </a:p>
          <a:p>
            <a:pPr marL="0" indent="0">
              <a:buNone/>
            </a:pPr>
            <a:r>
              <a:rPr lang="en-US" sz="1050" dirty="0">
                <a:solidFill>
                  <a:srgbClr val="BAE6FD"/>
                </a:solidFill>
                <a:latin typeface="Consolas" pitchFamily="34" charset="0"/>
                <a:ea typeface="Consolas" pitchFamily="34" charset="-122"/>
                <a:cs typeface="Consolas" pitchFamily="34" charset="-120"/>
              </a:rPr>
              <a:t>    SET balance = balance – 500 WHERE account_id = 1;</a:t>
            </a:r>
            <a:endParaRPr lang="en-US" sz="1050" dirty="0"/>
          </a:p>
          <a:p>
            <a:pPr marL="0" indent="0">
              <a:buNone/>
            </a:pPr>
            <a:r>
              <a:rPr lang="en-US" sz="1050" dirty="0">
                <a:solidFill>
                  <a:srgbClr val="BAE6FD"/>
                </a:solidFill>
                <a:latin typeface="Consolas" pitchFamily="34" charset="0"/>
                <a:ea typeface="Consolas" pitchFamily="34" charset="-122"/>
                <a:cs typeface="Consolas" pitchFamily="34" charset="-120"/>
              </a:rPr>
              <a:t>  UPDATE accounts</a:t>
            </a:r>
            <a:endParaRPr lang="en-US" sz="1050" dirty="0"/>
          </a:p>
          <a:p>
            <a:pPr marL="0" indent="0">
              <a:buNone/>
            </a:pPr>
            <a:r>
              <a:rPr lang="en-US" sz="1050" dirty="0">
                <a:solidFill>
                  <a:srgbClr val="BAE6FD"/>
                </a:solidFill>
                <a:latin typeface="Consolas" pitchFamily="34" charset="0"/>
                <a:ea typeface="Consolas" pitchFamily="34" charset="-122"/>
                <a:cs typeface="Consolas" pitchFamily="34" charset="-120"/>
              </a:rPr>
              <a:t>    SET balance = balance + 500 WHERE account_id = 2;</a:t>
            </a:r>
            <a:endParaRPr lang="en-US" sz="1050" dirty="0"/>
          </a:p>
          <a:p>
            <a:pPr marL="0" indent="0">
              <a:buNone/>
            </a:pPr>
            <a:endParaRPr lang="en-US" sz="1050" dirty="0"/>
          </a:p>
          <a:p>
            <a:pPr marL="0" indent="0">
              <a:buNone/>
            </a:pPr>
            <a:r>
              <a:rPr lang="en-US" sz="1050" dirty="0">
                <a:solidFill>
                  <a:srgbClr val="BAE6FD"/>
                </a:solidFill>
                <a:latin typeface="Consolas" pitchFamily="34" charset="0"/>
                <a:ea typeface="Consolas" pitchFamily="34" charset="-122"/>
                <a:cs typeface="Consolas" pitchFamily="34" charset="-120"/>
              </a:rPr>
              <a:t>COMMIT;    -- success: save all</a:t>
            </a:r>
            <a:endParaRPr lang="en-US" sz="1050" dirty="0"/>
          </a:p>
          <a:p>
            <a:pPr marL="0" indent="0">
              <a:buNone/>
            </a:pPr>
            <a:r>
              <a:rPr lang="en-US" sz="1050" dirty="0">
                <a:solidFill>
                  <a:srgbClr val="BAE6FD"/>
                </a:solidFill>
                <a:latin typeface="Consolas" pitchFamily="34" charset="0"/>
                <a:ea typeface="Consolas" pitchFamily="34" charset="-122"/>
                <a:cs typeface="Consolas" pitchFamily="34" charset="-120"/>
              </a:rPr>
              <a:t>ROLLBACK;  -- failure: undo all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0" y="0"/>
            <a:ext cx="9144000" cy="713232"/>
          </a:xfrm>
          <a:prstGeom prst="rect">
            <a:avLst/>
          </a:prstGeom>
          <a:solidFill>
            <a:srgbClr val="1B3A6B"/>
          </a:solidFill>
          <a:ln w="12700">
            <a:solidFill>
              <a:srgbClr val="1B3A6B"/>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SQL: Structured Query Language</a:t>
            </a:r>
            <a:endParaRPr lang="en-US" sz="200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9 / 14</a:t>
            </a:r>
            <a:endParaRPr lang="en-US" sz="900" dirty="0"/>
          </a:p>
        </p:txBody>
      </p:sp>
      <p:sp>
        <p:nvSpPr>
          <p:cNvPr id="6" name="Shape 4"/>
          <p:cNvSpPr/>
          <p:nvPr/>
        </p:nvSpPr>
        <p:spPr>
          <a:xfrm>
            <a:off x="274320" y="822960"/>
            <a:ext cx="2651760" cy="713232"/>
          </a:xfrm>
          <a:prstGeom prst="rect">
            <a:avLst/>
          </a:prstGeom>
          <a:solidFill>
            <a:srgbClr val="EFF6FF"/>
          </a:solidFill>
          <a:ln w="12700">
            <a:solidFill>
              <a:srgbClr val="BFDBFE"/>
            </a:solidFill>
            <a:prstDash val="solid"/>
          </a:ln>
          <a:effectLst>
            <a:outerShdw blurRad="76200" dist="12700" dir="8100000" algn="bl" rotWithShape="0">
              <a:srgbClr val="000000">
                <a:alpha val="10000"/>
              </a:srgbClr>
            </a:outerShdw>
          </a:effectLst>
        </p:spPr>
        <p:txBody>
          <a:bodyPr/>
          <a:lstStyle/>
          <a:p>
            <a:endParaRPr lang="es-ES"/>
          </a:p>
        </p:txBody>
      </p:sp>
      <p:sp>
        <p:nvSpPr>
          <p:cNvPr id="7" name="Text 5"/>
          <p:cNvSpPr/>
          <p:nvPr/>
        </p:nvSpPr>
        <p:spPr>
          <a:xfrm>
            <a:off x="365760" y="859536"/>
            <a:ext cx="1097280" cy="384048"/>
          </a:xfrm>
          <a:prstGeom prst="rect">
            <a:avLst/>
          </a:prstGeom>
          <a:noFill/>
          <a:ln/>
        </p:spPr>
        <p:txBody>
          <a:bodyPr wrap="square" lIns="0" tIns="0" rIns="0" bIns="0" rtlCol="0" anchor="ctr"/>
          <a:lstStyle/>
          <a:p>
            <a:pPr marL="0" indent="0" algn="ctr">
              <a:buNone/>
            </a:pPr>
            <a:r>
              <a:rPr lang="en-US" sz="1800" b="1" dirty="0">
                <a:solidFill>
                  <a:srgbClr val="0891B2"/>
                </a:solidFill>
              </a:rPr>
              <a:t>1970</a:t>
            </a:r>
            <a:endParaRPr lang="en-US" sz="1800" dirty="0"/>
          </a:p>
        </p:txBody>
      </p:sp>
      <p:sp>
        <p:nvSpPr>
          <p:cNvPr id="8" name="Text 6"/>
          <p:cNvSpPr/>
          <p:nvPr/>
        </p:nvSpPr>
        <p:spPr>
          <a:xfrm>
            <a:off x="1508760" y="877824"/>
            <a:ext cx="1325880" cy="566928"/>
          </a:xfrm>
          <a:prstGeom prst="rect">
            <a:avLst/>
          </a:prstGeom>
          <a:noFill/>
          <a:ln/>
        </p:spPr>
        <p:txBody>
          <a:bodyPr wrap="square" lIns="0" tIns="0" rIns="0" bIns="0" rtlCol="0" anchor="ctr"/>
          <a:lstStyle/>
          <a:p>
            <a:pPr marL="0" indent="0">
              <a:buNone/>
            </a:pPr>
            <a:r>
              <a:rPr lang="en-US" sz="950" dirty="0">
                <a:solidFill>
                  <a:srgbClr val="1E293B"/>
                </a:solidFill>
              </a:rPr>
              <a:t>E.F. Codd's Relational</a:t>
            </a:r>
            <a:endParaRPr lang="en-US" sz="950" dirty="0"/>
          </a:p>
          <a:p>
            <a:pPr marL="0" indent="0">
              <a:buNone/>
            </a:pPr>
            <a:r>
              <a:rPr lang="en-US" sz="950" dirty="0">
                <a:solidFill>
                  <a:srgbClr val="1E293B"/>
                </a:solidFill>
              </a:rPr>
              <a:t>Model (IBM)</a:t>
            </a:r>
            <a:endParaRPr lang="en-US" sz="950" dirty="0"/>
          </a:p>
        </p:txBody>
      </p:sp>
      <p:sp>
        <p:nvSpPr>
          <p:cNvPr id="9" name="Shape 7"/>
          <p:cNvSpPr/>
          <p:nvPr/>
        </p:nvSpPr>
        <p:spPr>
          <a:xfrm>
            <a:off x="3182112" y="822960"/>
            <a:ext cx="2651760" cy="713232"/>
          </a:xfrm>
          <a:prstGeom prst="rect">
            <a:avLst/>
          </a:prstGeom>
          <a:solidFill>
            <a:srgbClr val="EFF6FF"/>
          </a:solidFill>
          <a:ln w="12700">
            <a:solidFill>
              <a:srgbClr val="BFDBFE"/>
            </a:solidFill>
            <a:prstDash val="solid"/>
          </a:ln>
          <a:effectLst>
            <a:outerShdw blurRad="76200" dist="12700" dir="8100000" algn="bl" rotWithShape="0">
              <a:srgbClr val="000000">
                <a:alpha val="10000"/>
              </a:srgbClr>
            </a:outerShdw>
          </a:effectLst>
        </p:spPr>
        <p:txBody>
          <a:bodyPr/>
          <a:lstStyle/>
          <a:p>
            <a:endParaRPr lang="es-ES"/>
          </a:p>
        </p:txBody>
      </p:sp>
      <p:sp>
        <p:nvSpPr>
          <p:cNvPr id="10" name="Text 8"/>
          <p:cNvSpPr/>
          <p:nvPr/>
        </p:nvSpPr>
        <p:spPr>
          <a:xfrm>
            <a:off x="3273552" y="859536"/>
            <a:ext cx="1097280" cy="384048"/>
          </a:xfrm>
          <a:prstGeom prst="rect">
            <a:avLst/>
          </a:prstGeom>
          <a:noFill/>
          <a:ln/>
        </p:spPr>
        <p:txBody>
          <a:bodyPr wrap="square" lIns="0" tIns="0" rIns="0" bIns="0" rtlCol="0" anchor="ctr"/>
          <a:lstStyle/>
          <a:p>
            <a:pPr marL="0" indent="0" algn="ctr">
              <a:buNone/>
            </a:pPr>
            <a:r>
              <a:rPr lang="en-US" sz="1800" b="1" dirty="0">
                <a:solidFill>
                  <a:srgbClr val="0891B2"/>
                </a:solidFill>
              </a:rPr>
              <a:t>ISO 9075</a:t>
            </a:r>
            <a:endParaRPr lang="en-US" sz="1800" dirty="0"/>
          </a:p>
        </p:txBody>
      </p:sp>
      <p:sp>
        <p:nvSpPr>
          <p:cNvPr id="11" name="Text 9"/>
          <p:cNvSpPr/>
          <p:nvPr/>
        </p:nvSpPr>
        <p:spPr>
          <a:xfrm>
            <a:off x="4416552" y="877824"/>
            <a:ext cx="1325880" cy="566928"/>
          </a:xfrm>
          <a:prstGeom prst="rect">
            <a:avLst/>
          </a:prstGeom>
          <a:noFill/>
          <a:ln/>
        </p:spPr>
        <p:txBody>
          <a:bodyPr wrap="square" lIns="0" tIns="0" rIns="0" bIns="0" rtlCol="0" anchor="ctr"/>
          <a:lstStyle/>
          <a:p>
            <a:pPr marL="0" indent="0">
              <a:buNone/>
            </a:pPr>
            <a:r>
              <a:rPr lang="en-US" sz="950" dirty="0">
                <a:solidFill>
                  <a:srgbClr val="1E293B"/>
                </a:solidFill>
              </a:rPr>
              <a:t>International Standard</a:t>
            </a:r>
            <a:endParaRPr lang="en-US" sz="950" dirty="0"/>
          </a:p>
          <a:p>
            <a:pPr marL="0" indent="0">
              <a:buNone/>
            </a:pPr>
            <a:r>
              <a:rPr lang="en-US" sz="950" dirty="0">
                <a:solidFill>
                  <a:srgbClr val="1E293B"/>
                </a:solidFill>
              </a:rPr>
              <a:t>for SQL</a:t>
            </a:r>
            <a:endParaRPr lang="en-US" sz="950" dirty="0"/>
          </a:p>
        </p:txBody>
      </p:sp>
      <p:sp>
        <p:nvSpPr>
          <p:cNvPr id="12" name="Shape 10"/>
          <p:cNvSpPr/>
          <p:nvPr/>
        </p:nvSpPr>
        <p:spPr>
          <a:xfrm>
            <a:off x="6089904" y="822960"/>
            <a:ext cx="2651760" cy="713232"/>
          </a:xfrm>
          <a:prstGeom prst="rect">
            <a:avLst/>
          </a:prstGeom>
          <a:solidFill>
            <a:srgbClr val="EFF6FF"/>
          </a:solidFill>
          <a:ln w="12700">
            <a:solidFill>
              <a:srgbClr val="BFDBFE"/>
            </a:solidFill>
            <a:prstDash val="solid"/>
          </a:ln>
          <a:effectLst>
            <a:outerShdw blurRad="76200" dist="12700" dir="8100000" algn="bl" rotWithShape="0">
              <a:srgbClr val="000000">
                <a:alpha val="10000"/>
              </a:srgbClr>
            </a:outerShdw>
          </a:effectLst>
        </p:spPr>
        <p:txBody>
          <a:bodyPr/>
          <a:lstStyle/>
          <a:p>
            <a:endParaRPr lang="es-ES"/>
          </a:p>
        </p:txBody>
      </p:sp>
      <p:sp>
        <p:nvSpPr>
          <p:cNvPr id="13" name="Text 11"/>
          <p:cNvSpPr/>
          <p:nvPr/>
        </p:nvSpPr>
        <p:spPr>
          <a:xfrm>
            <a:off x="6181344" y="859536"/>
            <a:ext cx="1097280" cy="384048"/>
          </a:xfrm>
          <a:prstGeom prst="rect">
            <a:avLst/>
          </a:prstGeom>
          <a:noFill/>
          <a:ln/>
        </p:spPr>
        <p:txBody>
          <a:bodyPr wrap="square" lIns="0" tIns="0" rIns="0" bIns="0" rtlCol="0" anchor="ctr"/>
          <a:lstStyle/>
          <a:p>
            <a:pPr marL="0" indent="0" algn="ctr">
              <a:buNone/>
            </a:pPr>
            <a:r>
              <a:rPr lang="en-US" sz="1800" b="1" dirty="0">
                <a:solidFill>
                  <a:srgbClr val="0891B2"/>
                </a:solidFill>
              </a:rPr>
              <a:t>SQL:2023</a:t>
            </a:r>
            <a:endParaRPr lang="en-US" sz="1800" dirty="0"/>
          </a:p>
        </p:txBody>
      </p:sp>
      <p:sp>
        <p:nvSpPr>
          <p:cNvPr id="14" name="Text 12"/>
          <p:cNvSpPr/>
          <p:nvPr/>
        </p:nvSpPr>
        <p:spPr>
          <a:xfrm>
            <a:off x="7324344" y="877824"/>
            <a:ext cx="1325880" cy="566928"/>
          </a:xfrm>
          <a:prstGeom prst="rect">
            <a:avLst/>
          </a:prstGeom>
          <a:noFill/>
          <a:ln/>
        </p:spPr>
        <p:txBody>
          <a:bodyPr wrap="square" lIns="0" tIns="0" rIns="0" bIns="0" rtlCol="0" anchor="ctr"/>
          <a:lstStyle/>
          <a:p>
            <a:pPr marL="0" indent="0">
              <a:buNone/>
            </a:pPr>
            <a:r>
              <a:rPr lang="en-US" sz="950" dirty="0">
                <a:solidFill>
                  <a:srgbClr val="1E293B"/>
                </a:solidFill>
              </a:rPr>
              <a:t>Latest revision of</a:t>
            </a:r>
            <a:endParaRPr lang="en-US" sz="950" dirty="0"/>
          </a:p>
          <a:p>
            <a:pPr marL="0" indent="0">
              <a:buNone/>
            </a:pPr>
            <a:r>
              <a:rPr lang="en-US" sz="950" dirty="0">
                <a:solidFill>
                  <a:srgbClr val="1E293B"/>
                </a:solidFill>
              </a:rPr>
              <a:t>the SQL standard</a:t>
            </a:r>
            <a:endParaRPr lang="en-US" sz="950" dirty="0"/>
          </a:p>
        </p:txBody>
      </p:sp>
      <p:sp>
        <p:nvSpPr>
          <p:cNvPr id="15" name="Shape 13"/>
          <p:cNvSpPr/>
          <p:nvPr/>
        </p:nvSpPr>
        <p:spPr>
          <a:xfrm>
            <a:off x="274320" y="1664208"/>
            <a:ext cx="4389120" cy="548640"/>
          </a:xfrm>
          <a:prstGeom prst="rect">
            <a:avLst/>
          </a:prstGeom>
          <a:solidFill>
            <a:srgbClr val="F8FAFC"/>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6" name="Shape 14"/>
          <p:cNvSpPr/>
          <p:nvPr/>
        </p:nvSpPr>
        <p:spPr>
          <a:xfrm>
            <a:off x="274320" y="1664208"/>
            <a:ext cx="54864" cy="548640"/>
          </a:xfrm>
          <a:prstGeom prst="rect">
            <a:avLst/>
          </a:prstGeom>
          <a:solidFill>
            <a:srgbClr val="0891B2"/>
          </a:solidFill>
          <a:ln w="12700">
            <a:solidFill>
              <a:srgbClr val="0891B2"/>
            </a:solidFill>
            <a:prstDash val="solid"/>
          </a:ln>
        </p:spPr>
        <p:txBody>
          <a:bodyPr/>
          <a:lstStyle/>
          <a:p>
            <a:endParaRPr lang="es-ES"/>
          </a:p>
        </p:txBody>
      </p:sp>
      <p:sp>
        <p:nvSpPr>
          <p:cNvPr id="17" name="Text 15"/>
          <p:cNvSpPr/>
          <p:nvPr/>
        </p:nvSpPr>
        <p:spPr>
          <a:xfrm>
            <a:off x="457200" y="1709928"/>
            <a:ext cx="1371600" cy="219456"/>
          </a:xfrm>
          <a:prstGeom prst="rect">
            <a:avLst/>
          </a:prstGeom>
          <a:noFill/>
          <a:ln/>
        </p:spPr>
        <p:txBody>
          <a:bodyPr wrap="square" lIns="0" tIns="0" rIns="0" bIns="0" rtlCol="0" anchor="ctr"/>
          <a:lstStyle/>
          <a:p>
            <a:pPr marL="0" indent="0">
              <a:buNone/>
            </a:pPr>
            <a:r>
              <a:rPr lang="en-US" sz="1100" b="1" dirty="0">
                <a:solidFill>
                  <a:srgbClr val="0891B2"/>
                </a:solidFill>
              </a:rPr>
              <a:t>Declarative</a:t>
            </a:r>
            <a:endParaRPr lang="en-US" sz="1100" dirty="0"/>
          </a:p>
        </p:txBody>
      </p:sp>
      <p:sp>
        <p:nvSpPr>
          <p:cNvPr id="18" name="Text 16"/>
          <p:cNvSpPr/>
          <p:nvPr/>
        </p:nvSpPr>
        <p:spPr>
          <a:xfrm>
            <a:off x="457200" y="1947672"/>
            <a:ext cx="4023360" cy="219456"/>
          </a:xfrm>
          <a:prstGeom prst="rect">
            <a:avLst/>
          </a:prstGeom>
          <a:noFill/>
          <a:ln/>
        </p:spPr>
        <p:txBody>
          <a:bodyPr wrap="square" lIns="0" tIns="0" rIns="0" bIns="0" rtlCol="0" anchor="ctr"/>
          <a:lstStyle/>
          <a:p>
            <a:pPr marL="0" indent="0">
              <a:buNone/>
            </a:pPr>
            <a:r>
              <a:rPr lang="en-US" sz="1000" dirty="0">
                <a:solidFill>
                  <a:srgbClr val="64748B"/>
                </a:solidFill>
              </a:rPr>
              <a:t>You specify WHAT to retrieve - the DBMS decides HOW</a:t>
            </a:r>
            <a:endParaRPr lang="en-US" sz="1000" dirty="0"/>
          </a:p>
        </p:txBody>
      </p:sp>
      <p:sp>
        <p:nvSpPr>
          <p:cNvPr id="19" name="Shape 17"/>
          <p:cNvSpPr/>
          <p:nvPr/>
        </p:nvSpPr>
        <p:spPr>
          <a:xfrm>
            <a:off x="274320" y="2276856"/>
            <a:ext cx="4389120" cy="548640"/>
          </a:xfrm>
          <a:prstGeom prst="rect">
            <a:avLst/>
          </a:prstGeom>
          <a:solidFill>
            <a:srgbClr val="F8FAFC"/>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0" name="Shape 18"/>
          <p:cNvSpPr/>
          <p:nvPr/>
        </p:nvSpPr>
        <p:spPr>
          <a:xfrm>
            <a:off x="274320" y="2276856"/>
            <a:ext cx="54864" cy="548640"/>
          </a:xfrm>
          <a:prstGeom prst="rect">
            <a:avLst/>
          </a:prstGeom>
          <a:solidFill>
            <a:srgbClr val="0891B2"/>
          </a:solidFill>
          <a:ln w="12700">
            <a:solidFill>
              <a:srgbClr val="0891B2"/>
            </a:solidFill>
            <a:prstDash val="solid"/>
          </a:ln>
        </p:spPr>
        <p:txBody>
          <a:bodyPr/>
          <a:lstStyle/>
          <a:p>
            <a:endParaRPr lang="es-ES"/>
          </a:p>
        </p:txBody>
      </p:sp>
      <p:sp>
        <p:nvSpPr>
          <p:cNvPr id="21" name="Text 19"/>
          <p:cNvSpPr/>
          <p:nvPr/>
        </p:nvSpPr>
        <p:spPr>
          <a:xfrm>
            <a:off x="457200" y="2322576"/>
            <a:ext cx="1371600" cy="219456"/>
          </a:xfrm>
          <a:prstGeom prst="rect">
            <a:avLst/>
          </a:prstGeom>
          <a:noFill/>
          <a:ln/>
        </p:spPr>
        <p:txBody>
          <a:bodyPr wrap="square" lIns="0" tIns="0" rIns="0" bIns="0" rtlCol="0" anchor="ctr"/>
          <a:lstStyle/>
          <a:p>
            <a:pPr marL="0" indent="0">
              <a:buNone/>
            </a:pPr>
            <a:r>
              <a:rPr lang="en-US" sz="1100" b="1" dirty="0">
                <a:solidFill>
                  <a:srgbClr val="0891B2"/>
                </a:solidFill>
              </a:rPr>
              <a:t>Standardised</a:t>
            </a:r>
            <a:endParaRPr lang="en-US" sz="1100" dirty="0"/>
          </a:p>
        </p:txBody>
      </p:sp>
      <p:sp>
        <p:nvSpPr>
          <p:cNvPr id="22" name="Text 20"/>
          <p:cNvSpPr/>
          <p:nvPr/>
        </p:nvSpPr>
        <p:spPr>
          <a:xfrm>
            <a:off x="457200" y="2560320"/>
            <a:ext cx="4023360" cy="219456"/>
          </a:xfrm>
          <a:prstGeom prst="rect">
            <a:avLst/>
          </a:prstGeom>
          <a:noFill/>
          <a:ln/>
        </p:spPr>
        <p:txBody>
          <a:bodyPr wrap="square" lIns="0" tIns="0" rIns="0" bIns="0" rtlCol="0" anchor="ctr"/>
          <a:lstStyle/>
          <a:p>
            <a:pPr marL="0" indent="0">
              <a:buNone/>
            </a:pPr>
            <a:r>
              <a:rPr lang="en-US" sz="1000" dirty="0">
                <a:solidFill>
                  <a:srgbClr val="64748B"/>
                </a:solidFill>
              </a:rPr>
              <a:t>ISO/IEC 9075; portable across PostgreSQL, MySQL, Oracle, SQL Server</a:t>
            </a:r>
            <a:endParaRPr lang="en-US" sz="1000" dirty="0"/>
          </a:p>
        </p:txBody>
      </p:sp>
      <p:sp>
        <p:nvSpPr>
          <p:cNvPr id="23" name="Shape 21"/>
          <p:cNvSpPr/>
          <p:nvPr/>
        </p:nvSpPr>
        <p:spPr>
          <a:xfrm>
            <a:off x="274320" y="2889504"/>
            <a:ext cx="4389120" cy="548640"/>
          </a:xfrm>
          <a:prstGeom prst="rect">
            <a:avLst/>
          </a:prstGeom>
          <a:solidFill>
            <a:srgbClr val="F8FAFC"/>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4" name="Shape 22"/>
          <p:cNvSpPr/>
          <p:nvPr/>
        </p:nvSpPr>
        <p:spPr>
          <a:xfrm>
            <a:off x="274320" y="2889504"/>
            <a:ext cx="54864" cy="548640"/>
          </a:xfrm>
          <a:prstGeom prst="rect">
            <a:avLst/>
          </a:prstGeom>
          <a:solidFill>
            <a:srgbClr val="0891B2"/>
          </a:solidFill>
          <a:ln w="12700">
            <a:solidFill>
              <a:srgbClr val="0891B2"/>
            </a:solidFill>
            <a:prstDash val="solid"/>
          </a:ln>
        </p:spPr>
        <p:txBody>
          <a:bodyPr/>
          <a:lstStyle/>
          <a:p>
            <a:endParaRPr lang="es-ES"/>
          </a:p>
        </p:txBody>
      </p:sp>
      <p:sp>
        <p:nvSpPr>
          <p:cNvPr id="25" name="Text 23"/>
          <p:cNvSpPr/>
          <p:nvPr/>
        </p:nvSpPr>
        <p:spPr>
          <a:xfrm>
            <a:off x="457200" y="2935224"/>
            <a:ext cx="1371600" cy="219456"/>
          </a:xfrm>
          <a:prstGeom prst="rect">
            <a:avLst/>
          </a:prstGeom>
          <a:noFill/>
          <a:ln/>
        </p:spPr>
        <p:txBody>
          <a:bodyPr wrap="square" lIns="0" tIns="0" rIns="0" bIns="0" rtlCol="0" anchor="ctr"/>
          <a:lstStyle/>
          <a:p>
            <a:pPr marL="0" indent="0">
              <a:buNone/>
            </a:pPr>
            <a:r>
              <a:rPr lang="en-US" sz="1100" b="1" dirty="0">
                <a:solidFill>
                  <a:srgbClr val="0891B2"/>
                </a:solidFill>
              </a:rPr>
              <a:t>4 Sub-languages</a:t>
            </a:r>
            <a:endParaRPr lang="en-US" sz="1100" dirty="0"/>
          </a:p>
        </p:txBody>
      </p:sp>
      <p:sp>
        <p:nvSpPr>
          <p:cNvPr id="26" name="Text 24"/>
          <p:cNvSpPr/>
          <p:nvPr/>
        </p:nvSpPr>
        <p:spPr>
          <a:xfrm>
            <a:off x="457200" y="3172968"/>
            <a:ext cx="4023360" cy="219456"/>
          </a:xfrm>
          <a:prstGeom prst="rect">
            <a:avLst/>
          </a:prstGeom>
          <a:noFill/>
          <a:ln/>
        </p:spPr>
        <p:txBody>
          <a:bodyPr wrap="square" lIns="0" tIns="0" rIns="0" bIns="0" rtlCol="0" anchor="ctr"/>
          <a:lstStyle/>
          <a:p>
            <a:pPr marL="0" indent="0">
              <a:buNone/>
            </a:pPr>
            <a:r>
              <a:rPr lang="en-US" sz="1000" dirty="0">
                <a:solidFill>
                  <a:srgbClr val="64748B"/>
                </a:solidFill>
              </a:rPr>
              <a:t>Encompasses DDL, DML, DCL, and TCL in one unified language</a:t>
            </a:r>
            <a:endParaRPr lang="en-US" sz="1000" dirty="0"/>
          </a:p>
        </p:txBody>
      </p:sp>
      <p:sp>
        <p:nvSpPr>
          <p:cNvPr id="27" name="Shape 25"/>
          <p:cNvSpPr/>
          <p:nvPr/>
        </p:nvSpPr>
        <p:spPr>
          <a:xfrm>
            <a:off x="274320" y="3502152"/>
            <a:ext cx="4389120" cy="548640"/>
          </a:xfrm>
          <a:prstGeom prst="rect">
            <a:avLst/>
          </a:prstGeom>
          <a:solidFill>
            <a:srgbClr val="F8FAFC"/>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8" name="Shape 26"/>
          <p:cNvSpPr/>
          <p:nvPr/>
        </p:nvSpPr>
        <p:spPr>
          <a:xfrm>
            <a:off x="274320" y="3502152"/>
            <a:ext cx="54864" cy="548640"/>
          </a:xfrm>
          <a:prstGeom prst="rect">
            <a:avLst/>
          </a:prstGeom>
          <a:solidFill>
            <a:srgbClr val="0891B2"/>
          </a:solidFill>
          <a:ln w="12700">
            <a:solidFill>
              <a:srgbClr val="0891B2"/>
            </a:solidFill>
            <a:prstDash val="solid"/>
          </a:ln>
        </p:spPr>
        <p:txBody>
          <a:bodyPr/>
          <a:lstStyle/>
          <a:p>
            <a:endParaRPr lang="es-ES"/>
          </a:p>
        </p:txBody>
      </p:sp>
      <p:sp>
        <p:nvSpPr>
          <p:cNvPr id="29" name="Text 27"/>
          <p:cNvSpPr/>
          <p:nvPr/>
        </p:nvSpPr>
        <p:spPr>
          <a:xfrm>
            <a:off x="457200" y="3547872"/>
            <a:ext cx="1371600" cy="219456"/>
          </a:xfrm>
          <a:prstGeom prst="rect">
            <a:avLst/>
          </a:prstGeom>
          <a:noFill/>
          <a:ln/>
        </p:spPr>
        <p:txBody>
          <a:bodyPr wrap="square" lIns="0" tIns="0" rIns="0" bIns="0" rtlCol="0" anchor="ctr"/>
          <a:lstStyle/>
          <a:p>
            <a:pPr marL="0" indent="0">
              <a:buNone/>
            </a:pPr>
            <a:r>
              <a:rPr lang="en-US" sz="1100" b="1" dirty="0">
                <a:solidFill>
                  <a:srgbClr val="0891B2"/>
                </a:solidFill>
              </a:rPr>
              <a:t>Powerful Queries</a:t>
            </a:r>
            <a:endParaRPr lang="en-US" sz="1100" dirty="0"/>
          </a:p>
        </p:txBody>
      </p:sp>
      <p:sp>
        <p:nvSpPr>
          <p:cNvPr id="30" name="Text 28"/>
          <p:cNvSpPr/>
          <p:nvPr/>
        </p:nvSpPr>
        <p:spPr>
          <a:xfrm>
            <a:off x="457200" y="3785616"/>
            <a:ext cx="4023360" cy="219456"/>
          </a:xfrm>
          <a:prstGeom prst="rect">
            <a:avLst/>
          </a:prstGeom>
          <a:noFill/>
          <a:ln/>
        </p:spPr>
        <p:txBody>
          <a:bodyPr wrap="square" lIns="0" tIns="0" rIns="0" bIns="0" rtlCol="0" anchor="ctr"/>
          <a:lstStyle/>
          <a:p>
            <a:pPr marL="0" indent="0">
              <a:buNone/>
            </a:pPr>
            <a:r>
              <a:rPr lang="en-US" sz="1000" dirty="0">
                <a:solidFill>
                  <a:srgbClr val="64748B"/>
                </a:solidFill>
              </a:rPr>
              <a:t>Supports JOINs, subqueries, aggregation, and window functions</a:t>
            </a:r>
            <a:endParaRPr lang="en-US" sz="1000" dirty="0"/>
          </a:p>
        </p:txBody>
      </p:sp>
      <p:sp>
        <p:nvSpPr>
          <p:cNvPr id="31" name="Shape 29"/>
          <p:cNvSpPr/>
          <p:nvPr/>
        </p:nvSpPr>
        <p:spPr>
          <a:xfrm>
            <a:off x="274320" y="4114800"/>
            <a:ext cx="4389120" cy="548640"/>
          </a:xfrm>
          <a:prstGeom prst="rect">
            <a:avLst/>
          </a:prstGeom>
          <a:solidFill>
            <a:srgbClr val="F8FAFC"/>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32" name="Shape 30"/>
          <p:cNvSpPr/>
          <p:nvPr/>
        </p:nvSpPr>
        <p:spPr>
          <a:xfrm>
            <a:off x="274320" y="4114800"/>
            <a:ext cx="54864" cy="548640"/>
          </a:xfrm>
          <a:prstGeom prst="rect">
            <a:avLst/>
          </a:prstGeom>
          <a:solidFill>
            <a:srgbClr val="0891B2"/>
          </a:solidFill>
          <a:ln w="12700">
            <a:solidFill>
              <a:srgbClr val="0891B2"/>
            </a:solidFill>
            <a:prstDash val="solid"/>
          </a:ln>
        </p:spPr>
        <p:txBody>
          <a:bodyPr/>
          <a:lstStyle/>
          <a:p>
            <a:endParaRPr lang="es-ES"/>
          </a:p>
        </p:txBody>
      </p:sp>
      <p:sp>
        <p:nvSpPr>
          <p:cNvPr id="33" name="Text 31"/>
          <p:cNvSpPr/>
          <p:nvPr/>
        </p:nvSpPr>
        <p:spPr>
          <a:xfrm>
            <a:off x="457200" y="4160520"/>
            <a:ext cx="1371600" cy="219456"/>
          </a:xfrm>
          <a:prstGeom prst="rect">
            <a:avLst/>
          </a:prstGeom>
          <a:noFill/>
          <a:ln/>
        </p:spPr>
        <p:txBody>
          <a:bodyPr wrap="square" lIns="0" tIns="0" rIns="0" bIns="0" rtlCol="0" anchor="ctr"/>
          <a:lstStyle/>
          <a:p>
            <a:pPr marL="0" indent="0">
              <a:buNone/>
            </a:pPr>
            <a:r>
              <a:rPr lang="en-US" sz="1100" b="1" dirty="0">
                <a:solidFill>
                  <a:srgbClr val="0891B2"/>
                </a:solidFill>
              </a:rPr>
              <a:t>ORM Integration</a:t>
            </a:r>
            <a:endParaRPr lang="en-US" sz="1100" dirty="0"/>
          </a:p>
        </p:txBody>
      </p:sp>
      <p:sp>
        <p:nvSpPr>
          <p:cNvPr id="34" name="Text 32"/>
          <p:cNvSpPr/>
          <p:nvPr/>
        </p:nvSpPr>
        <p:spPr>
          <a:xfrm>
            <a:off x="457200" y="4398264"/>
            <a:ext cx="4023360" cy="219456"/>
          </a:xfrm>
          <a:prstGeom prst="rect">
            <a:avLst/>
          </a:prstGeom>
          <a:noFill/>
          <a:ln/>
        </p:spPr>
        <p:txBody>
          <a:bodyPr wrap="square" lIns="0" tIns="0" rIns="0" bIns="0" rtlCol="0" anchor="ctr"/>
          <a:lstStyle/>
          <a:p>
            <a:pPr marL="0" indent="0">
              <a:buNone/>
            </a:pPr>
            <a:r>
              <a:rPr lang="en-US" sz="1000" dirty="0">
                <a:solidFill>
                  <a:srgbClr val="64748B"/>
                </a:solidFill>
              </a:rPr>
              <a:t>Embedded via JDBC, ODBC, SQLAlchemy, Hibernate, and more</a:t>
            </a:r>
            <a:endParaRPr lang="en-US" sz="1000" dirty="0"/>
          </a:p>
        </p:txBody>
      </p:sp>
      <p:sp>
        <p:nvSpPr>
          <p:cNvPr id="35" name="Text 33"/>
          <p:cNvSpPr/>
          <p:nvPr/>
        </p:nvSpPr>
        <p:spPr>
          <a:xfrm>
            <a:off x="4937760" y="1664208"/>
            <a:ext cx="3931920" cy="256032"/>
          </a:xfrm>
          <a:prstGeom prst="rect">
            <a:avLst/>
          </a:prstGeom>
          <a:noFill/>
          <a:ln/>
        </p:spPr>
        <p:txBody>
          <a:bodyPr wrap="square" lIns="0" tIns="0" rIns="0" bIns="0" rtlCol="0" anchor="ctr"/>
          <a:lstStyle/>
          <a:p>
            <a:pPr marL="0" indent="0">
              <a:buNone/>
            </a:pPr>
            <a:r>
              <a:rPr lang="en-US" sz="1100" b="1" dirty="0">
                <a:solidFill>
                  <a:srgbClr val="1B3A6B"/>
                </a:solidFill>
              </a:rPr>
              <a:t>Multi-table JOIN Example</a:t>
            </a:r>
            <a:endParaRPr lang="en-US" sz="1100" dirty="0"/>
          </a:p>
        </p:txBody>
      </p:sp>
      <p:sp>
        <p:nvSpPr>
          <p:cNvPr id="36" name="Shape 34"/>
          <p:cNvSpPr/>
          <p:nvPr/>
        </p:nvSpPr>
        <p:spPr>
          <a:xfrm>
            <a:off x="4937760" y="1965960"/>
            <a:ext cx="3931920" cy="2697480"/>
          </a:xfrm>
          <a:prstGeom prst="rect">
            <a:avLst/>
          </a:prstGeom>
          <a:solidFill>
            <a:srgbClr val="1E2D40"/>
          </a:solidFill>
          <a:ln w="12700">
            <a:solidFill>
              <a:srgbClr val="2D4A6B"/>
            </a:solidFill>
            <a:prstDash val="solid"/>
          </a:ln>
          <a:effectLst>
            <a:outerShdw blurRad="101600" dist="25400" dir="8100000" algn="bl" rotWithShape="0">
              <a:srgbClr val="000000">
                <a:alpha val="25000"/>
              </a:srgbClr>
            </a:outerShdw>
          </a:effectLst>
        </p:spPr>
        <p:txBody>
          <a:bodyPr/>
          <a:lstStyle/>
          <a:p>
            <a:endParaRPr lang="es-ES"/>
          </a:p>
        </p:txBody>
      </p:sp>
      <p:sp>
        <p:nvSpPr>
          <p:cNvPr id="37" name="Shape 35"/>
          <p:cNvSpPr/>
          <p:nvPr/>
        </p:nvSpPr>
        <p:spPr>
          <a:xfrm>
            <a:off x="5065776" y="2057400"/>
            <a:ext cx="82296" cy="82296"/>
          </a:xfrm>
          <a:prstGeom prst="ellipse">
            <a:avLst/>
          </a:prstGeom>
          <a:solidFill>
            <a:srgbClr val="FF5F57"/>
          </a:solidFill>
          <a:ln w="12700">
            <a:solidFill>
              <a:srgbClr val="FF5F57"/>
            </a:solidFill>
            <a:prstDash val="solid"/>
          </a:ln>
        </p:spPr>
        <p:txBody>
          <a:bodyPr/>
          <a:lstStyle/>
          <a:p>
            <a:endParaRPr lang="es-ES"/>
          </a:p>
        </p:txBody>
      </p:sp>
      <p:sp>
        <p:nvSpPr>
          <p:cNvPr id="38" name="Shape 36"/>
          <p:cNvSpPr/>
          <p:nvPr/>
        </p:nvSpPr>
        <p:spPr>
          <a:xfrm>
            <a:off x="5193792" y="2057400"/>
            <a:ext cx="82296" cy="82296"/>
          </a:xfrm>
          <a:prstGeom prst="ellipse">
            <a:avLst/>
          </a:prstGeom>
          <a:solidFill>
            <a:srgbClr val="FEBC2E"/>
          </a:solidFill>
          <a:ln w="12700">
            <a:solidFill>
              <a:srgbClr val="FEBC2E"/>
            </a:solidFill>
            <a:prstDash val="solid"/>
          </a:ln>
        </p:spPr>
        <p:txBody>
          <a:bodyPr/>
          <a:lstStyle/>
          <a:p>
            <a:endParaRPr lang="es-ES"/>
          </a:p>
        </p:txBody>
      </p:sp>
      <p:sp>
        <p:nvSpPr>
          <p:cNvPr id="39" name="Shape 37"/>
          <p:cNvSpPr/>
          <p:nvPr/>
        </p:nvSpPr>
        <p:spPr>
          <a:xfrm>
            <a:off x="5321808" y="2057400"/>
            <a:ext cx="82296" cy="82296"/>
          </a:xfrm>
          <a:prstGeom prst="ellipse">
            <a:avLst/>
          </a:prstGeom>
          <a:solidFill>
            <a:srgbClr val="28C840"/>
          </a:solidFill>
          <a:ln w="12700">
            <a:solidFill>
              <a:srgbClr val="28C840"/>
            </a:solidFill>
            <a:prstDash val="solid"/>
          </a:ln>
        </p:spPr>
        <p:txBody>
          <a:bodyPr/>
          <a:lstStyle/>
          <a:p>
            <a:endParaRPr lang="es-ES"/>
          </a:p>
        </p:txBody>
      </p:sp>
      <p:sp>
        <p:nvSpPr>
          <p:cNvPr id="40" name="Text 38"/>
          <p:cNvSpPr/>
          <p:nvPr/>
        </p:nvSpPr>
        <p:spPr>
          <a:xfrm>
            <a:off x="5065776" y="2212848"/>
            <a:ext cx="3675888" cy="2697480"/>
          </a:xfrm>
          <a:prstGeom prst="rect">
            <a:avLst/>
          </a:prstGeom>
          <a:noFill/>
          <a:ln/>
        </p:spPr>
        <p:txBody>
          <a:bodyPr wrap="square" lIns="0" tIns="0" rIns="0" bIns="0" rtlCol="0" anchor="t"/>
          <a:lstStyle/>
          <a:p>
            <a:pPr marL="0" indent="0">
              <a:buNone/>
            </a:pPr>
            <a:r>
              <a:rPr lang="en-US" sz="1150" dirty="0">
                <a:solidFill>
                  <a:srgbClr val="BAE6FD"/>
                </a:solidFill>
                <a:latin typeface="Consolas" pitchFamily="34" charset="0"/>
                <a:ea typeface="Consolas" pitchFamily="34" charset="-122"/>
                <a:cs typeface="Consolas" pitchFamily="34" charset="-120"/>
              </a:rPr>
              <a:t>-- Query three tables with JOIN</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SELECT  s.name,</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c.course_name,</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e.grade</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FROM    students    s</a:t>
            </a:r>
            <a:endParaRPr lang="en-US" sz="1150" dirty="0"/>
          </a:p>
          <a:p>
            <a:pPr marL="0" indent="0">
              <a:buNone/>
            </a:pPr>
            <a:r>
              <a:rPr lang="en-US" sz="1150" b="1" dirty="0">
                <a:solidFill>
                  <a:srgbClr val="BAE6FD"/>
                </a:solidFill>
                <a:latin typeface="Consolas" pitchFamily="34" charset="0"/>
                <a:ea typeface="Consolas" pitchFamily="34" charset="-122"/>
                <a:cs typeface="Consolas" pitchFamily="34" charset="-120"/>
              </a:rPr>
              <a:t>JOIN</a:t>
            </a:r>
            <a:r>
              <a:rPr lang="en-US" sz="1150" dirty="0">
                <a:solidFill>
                  <a:srgbClr val="BAE6FD"/>
                </a:solidFill>
                <a:latin typeface="Consolas" pitchFamily="34" charset="0"/>
                <a:ea typeface="Consolas" pitchFamily="34" charset="-122"/>
                <a:cs typeface="Consolas" pitchFamily="34" charset="-120"/>
              </a:rPr>
              <a:t>    enrolments  e</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ON    e.student_id = s.student_id</a:t>
            </a:r>
            <a:endParaRPr lang="en-US" sz="1150" dirty="0"/>
          </a:p>
          <a:p>
            <a:pPr marL="0" indent="0">
              <a:buNone/>
            </a:pPr>
            <a:r>
              <a:rPr lang="en-US" sz="1150" b="1" dirty="0">
                <a:solidFill>
                  <a:srgbClr val="BAE6FD"/>
                </a:solidFill>
                <a:latin typeface="Consolas" pitchFamily="34" charset="0"/>
                <a:ea typeface="Consolas" pitchFamily="34" charset="-122"/>
                <a:cs typeface="Consolas" pitchFamily="34" charset="-120"/>
              </a:rPr>
              <a:t>JOIN</a:t>
            </a:r>
            <a:r>
              <a:rPr lang="en-US" sz="1150" dirty="0">
                <a:solidFill>
                  <a:srgbClr val="BAE6FD"/>
                </a:solidFill>
                <a:latin typeface="Consolas" pitchFamily="34" charset="0"/>
                <a:ea typeface="Consolas" pitchFamily="34" charset="-122"/>
                <a:cs typeface="Consolas" pitchFamily="34" charset="-120"/>
              </a:rPr>
              <a:t>    courses     c</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ON    c.course_id  = e.course_id</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WHERE   c.department = 'CS'</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ORDER   BY e.grade DESC</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LIMIT   10;</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0" y="0"/>
            <a:ext cx="9144000" cy="713232"/>
          </a:xfrm>
          <a:prstGeom prst="rect">
            <a:avLst/>
          </a:prstGeom>
          <a:solidFill>
            <a:srgbClr val="1B3A6B"/>
          </a:solidFill>
          <a:ln w="12700">
            <a:solidFill>
              <a:srgbClr val="1B3A6B"/>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NoSQL: Query Languages in Non-Relational Databases</a:t>
            </a:r>
            <a:endParaRPr lang="en-US" sz="200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10 / 14</a:t>
            </a:r>
            <a:endParaRPr lang="en-US" sz="900" dirty="0"/>
          </a:p>
        </p:txBody>
      </p:sp>
      <p:sp>
        <p:nvSpPr>
          <p:cNvPr id="6" name="Text 4"/>
          <p:cNvSpPr/>
          <p:nvPr/>
        </p:nvSpPr>
        <p:spPr>
          <a:xfrm>
            <a:off x="274320" y="868680"/>
            <a:ext cx="4114800" cy="274320"/>
          </a:xfrm>
          <a:prstGeom prst="rect">
            <a:avLst/>
          </a:prstGeom>
          <a:noFill/>
          <a:ln/>
        </p:spPr>
        <p:txBody>
          <a:bodyPr wrap="square" lIns="0" tIns="0" rIns="0" bIns="0" rtlCol="0" anchor="ctr"/>
          <a:lstStyle/>
          <a:p>
            <a:pPr marL="0" indent="0">
              <a:buNone/>
            </a:pPr>
            <a:r>
              <a:rPr lang="en-US" sz="1300" b="1" dirty="0">
                <a:solidFill>
                  <a:srgbClr val="1B3A6B"/>
                </a:solidFill>
              </a:rPr>
              <a:t>Beyond SQL: NoSQL Systems</a:t>
            </a:r>
            <a:endParaRPr lang="en-US" sz="1300" dirty="0"/>
          </a:p>
        </p:txBody>
      </p:sp>
      <p:sp>
        <p:nvSpPr>
          <p:cNvPr id="7" name="Text 5"/>
          <p:cNvSpPr/>
          <p:nvPr/>
        </p:nvSpPr>
        <p:spPr>
          <a:xfrm>
            <a:off x="274320" y="1188720"/>
            <a:ext cx="4114800" cy="822960"/>
          </a:xfrm>
          <a:prstGeom prst="rect">
            <a:avLst/>
          </a:prstGeom>
          <a:noFill/>
          <a:ln/>
        </p:spPr>
        <p:txBody>
          <a:bodyPr wrap="square" lIns="0" tIns="0" rIns="0" bIns="0" rtlCol="0" anchor="ctr"/>
          <a:lstStyle/>
          <a:p>
            <a:pPr marL="0" indent="0">
              <a:buNone/>
            </a:pPr>
            <a:r>
              <a:rPr lang="en-US" sz="1050" dirty="0">
                <a:solidFill>
                  <a:srgbClr val="1E293B"/>
                </a:solidFill>
              </a:rPr>
              <a:t>NoSQL databases emerged in the 2000s to handle massive scale, flexible schemas, and diverse data models that relational databases struggled with.</a:t>
            </a:r>
            <a:endParaRPr lang="en-US" sz="1050" dirty="0"/>
          </a:p>
          <a:p>
            <a:pPr marL="0" indent="0">
              <a:buNone/>
            </a:pPr>
            <a:endParaRPr lang="en-US" sz="1050" dirty="0"/>
          </a:p>
          <a:p>
            <a:pPr marL="0" indent="0">
              <a:buNone/>
            </a:pPr>
            <a:r>
              <a:rPr lang="en-US" sz="1050" dirty="0">
                <a:solidFill>
                  <a:srgbClr val="1E293B"/>
                </a:solidFill>
              </a:rPr>
              <a:t>Each NoSQL type uses its own query interface.</a:t>
            </a:r>
            <a:endParaRPr lang="en-US" sz="1050" dirty="0"/>
          </a:p>
        </p:txBody>
      </p:sp>
      <p:sp>
        <p:nvSpPr>
          <p:cNvPr id="8" name="Shape 6"/>
          <p:cNvSpPr/>
          <p:nvPr/>
        </p:nvSpPr>
        <p:spPr>
          <a:xfrm>
            <a:off x="274320" y="2084832"/>
            <a:ext cx="4114800" cy="54864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9" name="Shape 7"/>
          <p:cNvSpPr/>
          <p:nvPr/>
        </p:nvSpPr>
        <p:spPr>
          <a:xfrm>
            <a:off x="274320" y="2084832"/>
            <a:ext cx="54864" cy="548640"/>
          </a:xfrm>
          <a:prstGeom prst="rect">
            <a:avLst/>
          </a:prstGeom>
          <a:solidFill>
            <a:srgbClr val="D97706"/>
          </a:solidFill>
          <a:ln w="12700">
            <a:solidFill>
              <a:srgbClr val="D97706"/>
            </a:solidFill>
            <a:prstDash val="solid"/>
          </a:ln>
        </p:spPr>
        <p:txBody>
          <a:bodyPr/>
          <a:lstStyle/>
          <a:p>
            <a:endParaRPr lang="es-ES"/>
          </a:p>
        </p:txBody>
      </p:sp>
      <p:sp>
        <p:nvSpPr>
          <p:cNvPr id="10" name="Text 8"/>
          <p:cNvSpPr/>
          <p:nvPr/>
        </p:nvSpPr>
        <p:spPr>
          <a:xfrm>
            <a:off x="438912" y="2130552"/>
            <a:ext cx="1371600" cy="228600"/>
          </a:xfrm>
          <a:prstGeom prst="rect">
            <a:avLst/>
          </a:prstGeom>
          <a:noFill/>
          <a:ln/>
        </p:spPr>
        <p:txBody>
          <a:bodyPr wrap="square" lIns="0" tIns="0" rIns="0" bIns="0" rtlCol="0" anchor="ctr"/>
          <a:lstStyle/>
          <a:p>
            <a:pPr marL="0" indent="0">
              <a:buNone/>
            </a:pPr>
            <a:r>
              <a:rPr lang="en-US" sz="1100" b="1" dirty="0">
                <a:solidFill>
                  <a:srgbClr val="1B3A6B"/>
                </a:solidFill>
              </a:rPr>
              <a:t>Document</a:t>
            </a:r>
            <a:endParaRPr lang="en-US" sz="1100" dirty="0"/>
          </a:p>
        </p:txBody>
      </p:sp>
      <p:sp>
        <p:nvSpPr>
          <p:cNvPr id="11" name="Text 9"/>
          <p:cNvSpPr/>
          <p:nvPr/>
        </p:nvSpPr>
        <p:spPr>
          <a:xfrm>
            <a:off x="438912" y="2359152"/>
            <a:ext cx="1828800" cy="201168"/>
          </a:xfrm>
          <a:prstGeom prst="rect">
            <a:avLst/>
          </a:prstGeom>
          <a:noFill/>
          <a:ln/>
        </p:spPr>
        <p:txBody>
          <a:bodyPr wrap="square" lIns="0" tIns="0" rIns="0" bIns="0" rtlCol="0" anchor="ctr"/>
          <a:lstStyle/>
          <a:p>
            <a:pPr marL="0" indent="0">
              <a:buNone/>
            </a:pPr>
            <a:r>
              <a:rPr lang="en-US" sz="950" i="1" dirty="0">
                <a:solidFill>
                  <a:srgbClr val="64748B"/>
                </a:solidFill>
              </a:rPr>
              <a:t>MongoDB, Couchbase</a:t>
            </a:r>
            <a:endParaRPr lang="en-US" sz="950" dirty="0"/>
          </a:p>
        </p:txBody>
      </p:sp>
      <p:sp>
        <p:nvSpPr>
          <p:cNvPr id="12" name="Text 10"/>
          <p:cNvSpPr/>
          <p:nvPr/>
        </p:nvSpPr>
        <p:spPr>
          <a:xfrm>
            <a:off x="2377440" y="2231136"/>
            <a:ext cx="1828800" cy="256032"/>
          </a:xfrm>
          <a:prstGeom prst="rect">
            <a:avLst/>
          </a:prstGeom>
          <a:noFill/>
          <a:ln/>
        </p:spPr>
        <p:txBody>
          <a:bodyPr wrap="square" lIns="0" tIns="0" rIns="0" bIns="0" rtlCol="0" anchor="ctr"/>
          <a:lstStyle/>
          <a:p>
            <a:pPr marL="0" indent="0">
              <a:buNone/>
            </a:pPr>
            <a:r>
              <a:rPr lang="en-US" sz="1000" dirty="0">
                <a:solidFill>
                  <a:srgbClr val="0891B2"/>
                </a:solidFill>
              </a:rPr>
              <a:t>JSON-style query API</a:t>
            </a:r>
            <a:endParaRPr lang="en-US" sz="1000" dirty="0"/>
          </a:p>
        </p:txBody>
      </p:sp>
      <p:sp>
        <p:nvSpPr>
          <p:cNvPr id="13" name="Shape 11"/>
          <p:cNvSpPr/>
          <p:nvPr/>
        </p:nvSpPr>
        <p:spPr>
          <a:xfrm>
            <a:off x="274320" y="2706624"/>
            <a:ext cx="4114800" cy="54864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4" name="Shape 12"/>
          <p:cNvSpPr/>
          <p:nvPr/>
        </p:nvSpPr>
        <p:spPr>
          <a:xfrm>
            <a:off x="274320" y="2706624"/>
            <a:ext cx="54864" cy="548640"/>
          </a:xfrm>
          <a:prstGeom prst="rect">
            <a:avLst/>
          </a:prstGeom>
          <a:solidFill>
            <a:srgbClr val="D97706"/>
          </a:solidFill>
          <a:ln w="12700">
            <a:solidFill>
              <a:srgbClr val="D97706"/>
            </a:solidFill>
            <a:prstDash val="solid"/>
          </a:ln>
        </p:spPr>
        <p:txBody>
          <a:bodyPr/>
          <a:lstStyle/>
          <a:p>
            <a:endParaRPr lang="es-ES"/>
          </a:p>
        </p:txBody>
      </p:sp>
      <p:sp>
        <p:nvSpPr>
          <p:cNvPr id="15" name="Text 13"/>
          <p:cNvSpPr/>
          <p:nvPr/>
        </p:nvSpPr>
        <p:spPr>
          <a:xfrm>
            <a:off x="438912" y="2752344"/>
            <a:ext cx="1371600" cy="228600"/>
          </a:xfrm>
          <a:prstGeom prst="rect">
            <a:avLst/>
          </a:prstGeom>
          <a:noFill/>
          <a:ln/>
        </p:spPr>
        <p:txBody>
          <a:bodyPr wrap="square" lIns="0" tIns="0" rIns="0" bIns="0" rtlCol="0" anchor="ctr"/>
          <a:lstStyle/>
          <a:p>
            <a:pPr marL="0" indent="0">
              <a:buNone/>
            </a:pPr>
            <a:r>
              <a:rPr lang="en-US" sz="1100" b="1" dirty="0">
                <a:solidFill>
                  <a:srgbClr val="1B3A6B"/>
                </a:solidFill>
              </a:rPr>
              <a:t>Key-Value</a:t>
            </a:r>
            <a:endParaRPr lang="en-US" sz="1100" dirty="0"/>
          </a:p>
        </p:txBody>
      </p:sp>
      <p:sp>
        <p:nvSpPr>
          <p:cNvPr id="16" name="Text 14"/>
          <p:cNvSpPr/>
          <p:nvPr/>
        </p:nvSpPr>
        <p:spPr>
          <a:xfrm>
            <a:off x="438912" y="2980944"/>
            <a:ext cx="1828800" cy="201168"/>
          </a:xfrm>
          <a:prstGeom prst="rect">
            <a:avLst/>
          </a:prstGeom>
          <a:noFill/>
          <a:ln/>
        </p:spPr>
        <p:txBody>
          <a:bodyPr wrap="square" lIns="0" tIns="0" rIns="0" bIns="0" rtlCol="0" anchor="ctr"/>
          <a:lstStyle/>
          <a:p>
            <a:pPr marL="0" indent="0">
              <a:buNone/>
            </a:pPr>
            <a:r>
              <a:rPr lang="en-US" sz="950" i="1" dirty="0">
                <a:solidFill>
                  <a:srgbClr val="64748B"/>
                </a:solidFill>
              </a:rPr>
              <a:t>Redis, DynamoDB</a:t>
            </a:r>
            <a:endParaRPr lang="en-US" sz="950" dirty="0"/>
          </a:p>
        </p:txBody>
      </p:sp>
      <p:sp>
        <p:nvSpPr>
          <p:cNvPr id="17" name="Text 15"/>
          <p:cNvSpPr/>
          <p:nvPr/>
        </p:nvSpPr>
        <p:spPr>
          <a:xfrm>
            <a:off x="2377440" y="2852928"/>
            <a:ext cx="1828800" cy="256032"/>
          </a:xfrm>
          <a:prstGeom prst="rect">
            <a:avLst/>
          </a:prstGeom>
          <a:noFill/>
          <a:ln/>
        </p:spPr>
        <p:txBody>
          <a:bodyPr wrap="square" lIns="0" tIns="0" rIns="0" bIns="0" rtlCol="0" anchor="ctr"/>
          <a:lstStyle/>
          <a:p>
            <a:pPr marL="0" indent="0">
              <a:buNone/>
            </a:pPr>
            <a:r>
              <a:rPr lang="en-US" sz="1000" dirty="0">
                <a:solidFill>
                  <a:srgbClr val="0891B2"/>
                </a:solidFill>
              </a:rPr>
              <a:t>GET / SET / DEL commands</a:t>
            </a:r>
            <a:endParaRPr lang="en-US" sz="1000" dirty="0"/>
          </a:p>
        </p:txBody>
      </p:sp>
      <p:sp>
        <p:nvSpPr>
          <p:cNvPr id="18" name="Shape 16"/>
          <p:cNvSpPr/>
          <p:nvPr/>
        </p:nvSpPr>
        <p:spPr>
          <a:xfrm>
            <a:off x="274320" y="3328416"/>
            <a:ext cx="4114800" cy="54864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9" name="Shape 17"/>
          <p:cNvSpPr/>
          <p:nvPr/>
        </p:nvSpPr>
        <p:spPr>
          <a:xfrm>
            <a:off x="274320" y="3328416"/>
            <a:ext cx="54864" cy="548640"/>
          </a:xfrm>
          <a:prstGeom prst="rect">
            <a:avLst/>
          </a:prstGeom>
          <a:solidFill>
            <a:srgbClr val="D97706"/>
          </a:solidFill>
          <a:ln w="12700">
            <a:solidFill>
              <a:srgbClr val="D97706"/>
            </a:solidFill>
            <a:prstDash val="solid"/>
          </a:ln>
        </p:spPr>
        <p:txBody>
          <a:bodyPr/>
          <a:lstStyle/>
          <a:p>
            <a:endParaRPr lang="es-ES"/>
          </a:p>
        </p:txBody>
      </p:sp>
      <p:sp>
        <p:nvSpPr>
          <p:cNvPr id="20" name="Text 18"/>
          <p:cNvSpPr/>
          <p:nvPr/>
        </p:nvSpPr>
        <p:spPr>
          <a:xfrm>
            <a:off x="438912" y="3374136"/>
            <a:ext cx="1371600" cy="228600"/>
          </a:xfrm>
          <a:prstGeom prst="rect">
            <a:avLst/>
          </a:prstGeom>
          <a:noFill/>
          <a:ln/>
        </p:spPr>
        <p:txBody>
          <a:bodyPr wrap="square" lIns="0" tIns="0" rIns="0" bIns="0" rtlCol="0" anchor="ctr"/>
          <a:lstStyle/>
          <a:p>
            <a:pPr marL="0" indent="0">
              <a:buNone/>
            </a:pPr>
            <a:r>
              <a:rPr lang="en-US" sz="1100" b="1" dirty="0">
                <a:solidFill>
                  <a:srgbClr val="1B3A6B"/>
                </a:solidFill>
              </a:rPr>
              <a:t>Column-Family</a:t>
            </a:r>
            <a:endParaRPr lang="en-US" sz="1100" dirty="0"/>
          </a:p>
        </p:txBody>
      </p:sp>
      <p:sp>
        <p:nvSpPr>
          <p:cNvPr id="21" name="Text 19"/>
          <p:cNvSpPr/>
          <p:nvPr/>
        </p:nvSpPr>
        <p:spPr>
          <a:xfrm>
            <a:off x="438912" y="3602736"/>
            <a:ext cx="1828800" cy="201168"/>
          </a:xfrm>
          <a:prstGeom prst="rect">
            <a:avLst/>
          </a:prstGeom>
          <a:noFill/>
          <a:ln/>
        </p:spPr>
        <p:txBody>
          <a:bodyPr wrap="square" lIns="0" tIns="0" rIns="0" bIns="0" rtlCol="0" anchor="ctr"/>
          <a:lstStyle/>
          <a:p>
            <a:pPr marL="0" indent="0">
              <a:buNone/>
            </a:pPr>
            <a:r>
              <a:rPr lang="en-US" sz="950" i="1" dirty="0">
                <a:solidFill>
                  <a:srgbClr val="64748B"/>
                </a:solidFill>
              </a:rPr>
              <a:t>Cassandra, HBase</a:t>
            </a:r>
            <a:endParaRPr lang="en-US" sz="950" dirty="0"/>
          </a:p>
        </p:txBody>
      </p:sp>
      <p:sp>
        <p:nvSpPr>
          <p:cNvPr id="22" name="Text 20"/>
          <p:cNvSpPr/>
          <p:nvPr/>
        </p:nvSpPr>
        <p:spPr>
          <a:xfrm>
            <a:off x="2377440" y="3474720"/>
            <a:ext cx="1828800" cy="256032"/>
          </a:xfrm>
          <a:prstGeom prst="rect">
            <a:avLst/>
          </a:prstGeom>
          <a:noFill/>
          <a:ln/>
        </p:spPr>
        <p:txBody>
          <a:bodyPr wrap="square" lIns="0" tIns="0" rIns="0" bIns="0" rtlCol="0" anchor="ctr"/>
          <a:lstStyle/>
          <a:p>
            <a:pPr marL="0" indent="0">
              <a:buNone/>
            </a:pPr>
            <a:r>
              <a:rPr lang="en-US" sz="1000" dirty="0">
                <a:solidFill>
                  <a:srgbClr val="0891B2"/>
                </a:solidFill>
              </a:rPr>
              <a:t>CQL (Cassandra Query Language)</a:t>
            </a:r>
            <a:endParaRPr lang="en-US" sz="1000" dirty="0"/>
          </a:p>
        </p:txBody>
      </p:sp>
      <p:sp>
        <p:nvSpPr>
          <p:cNvPr id="23" name="Shape 21"/>
          <p:cNvSpPr/>
          <p:nvPr/>
        </p:nvSpPr>
        <p:spPr>
          <a:xfrm>
            <a:off x="274320" y="3950208"/>
            <a:ext cx="4114800" cy="54864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4" name="Shape 22"/>
          <p:cNvSpPr/>
          <p:nvPr/>
        </p:nvSpPr>
        <p:spPr>
          <a:xfrm>
            <a:off x="274320" y="3950208"/>
            <a:ext cx="54864" cy="548640"/>
          </a:xfrm>
          <a:prstGeom prst="rect">
            <a:avLst/>
          </a:prstGeom>
          <a:solidFill>
            <a:srgbClr val="D97706"/>
          </a:solidFill>
          <a:ln w="12700">
            <a:solidFill>
              <a:srgbClr val="D97706"/>
            </a:solidFill>
            <a:prstDash val="solid"/>
          </a:ln>
        </p:spPr>
        <p:txBody>
          <a:bodyPr/>
          <a:lstStyle/>
          <a:p>
            <a:endParaRPr lang="es-ES"/>
          </a:p>
        </p:txBody>
      </p:sp>
      <p:sp>
        <p:nvSpPr>
          <p:cNvPr id="25" name="Text 23"/>
          <p:cNvSpPr/>
          <p:nvPr/>
        </p:nvSpPr>
        <p:spPr>
          <a:xfrm>
            <a:off x="438912" y="3995928"/>
            <a:ext cx="1371600" cy="228600"/>
          </a:xfrm>
          <a:prstGeom prst="rect">
            <a:avLst/>
          </a:prstGeom>
          <a:noFill/>
          <a:ln/>
        </p:spPr>
        <p:txBody>
          <a:bodyPr wrap="square" lIns="0" tIns="0" rIns="0" bIns="0" rtlCol="0" anchor="ctr"/>
          <a:lstStyle/>
          <a:p>
            <a:pPr marL="0" indent="0">
              <a:buNone/>
            </a:pPr>
            <a:r>
              <a:rPr lang="en-US" sz="1100" b="1" dirty="0">
                <a:solidFill>
                  <a:srgbClr val="1B3A6B"/>
                </a:solidFill>
              </a:rPr>
              <a:t>Graph</a:t>
            </a:r>
            <a:endParaRPr lang="en-US" sz="1100" dirty="0"/>
          </a:p>
        </p:txBody>
      </p:sp>
      <p:sp>
        <p:nvSpPr>
          <p:cNvPr id="26" name="Text 24"/>
          <p:cNvSpPr/>
          <p:nvPr/>
        </p:nvSpPr>
        <p:spPr>
          <a:xfrm>
            <a:off x="438912" y="4224528"/>
            <a:ext cx="1828800" cy="201168"/>
          </a:xfrm>
          <a:prstGeom prst="rect">
            <a:avLst/>
          </a:prstGeom>
          <a:noFill/>
          <a:ln/>
        </p:spPr>
        <p:txBody>
          <a:bodyPr wrap="square" lIns="0" tIns="0" rIns="0" bIns="0" rtlCol="0" anchor="ctr"/>
          <a:lstStyle/>
          <a:p>
            <a:pPr marL="0" indent="0">
              <a:buNone/>
            </a:pPr>
            <a:r>
              <a:rPr lang="en-US" sz="950" i="1" dirty="0">
                <a:solidFill>
                  <a:srgbClr val="64748B"/>
                </a:solidFill>
              </a:rPr>
              <a:t>Neo4j, Amazon Neptune</a:t>
            </a:r>
            <a:endParaRPr lang="en-US" sz="950" dirty="0"/>
          </a:p>
        </p:txBody>
      </p:sp>
      <p:sp>
        <p:nvSpPr>
          <p:cNvPr id="27" name="Text 25"/>
          <p:cNvSpPr/>
          <p:nvPr/>
        </p:nvSpPr>
        <p:spPr>
          <a:xfrm>
            <a:off x="2377440" y="4096512"/>
            <a:ext cx="1828800" cy="256032"/>
          </a:xfrm>
          <a:prstGeom prst="rect">
            <a:avLst/>
          </a:prstGeom>
          <a:noFill/>
          <a:ln/>
        </p:spPr>
        <p:txBody>
          <a:bodyPr wrap="square" lIns="0" tIns="0" rIns="0" bIns="0" rtlCol="0" anchor="ctr"/>
          <a:lstStyle/>
          <a:p>
            <a:pPr marL="0" indent="0">
              <a:buNone/>
            </a:pPr>
            <a:r>
              <a:rPr lang="en-US" sz="1000" dirty="0">
                <a:solidFill>
                  <a:srgbClr val="0891B2"/>
                </a:solidFill>
              </a:rPr>
              <a:t>Cypher / SPARQL query language</a:t>
            </a:r>
            <a:endParaRPr lang="en-US" sz="1000" dirty="0"/>
          </a:p>
        </p:txBody>
      </p:sp>
      <p:sp>
        <p:nvSpPr>
          <p:cNvPr id="28" name="Shape 26"/>
          <p:cNvSpPr/>
          <p:nvPr/>
        </p:nvSpPr>
        <p:spPr>
          <a:xfrm>
            <a:off x="4617720" y="804672"/>
            <a:ext cx="4251960" cy="4014216"/>
          </a:xfrm>
          <a:prstGeom prst="rect">
            <a:avLst/>
          </a:prstGeom>
          <a:solidFill>
            <a:srgbClr val="1E2D40"/>
          </a:solidFill>
          <a:ln w="12700">
            <a:solidFill>
              <a:srgbClr val="2D4A6B"/>
            </a:solidFill>
            <a:prstDash val="solid"/>
          </a:ln>
          <a:effectLst>
            <a:outerShdw blurRad="101600" dist="25400" dir="8100000" algn="bl" rotWithShape="0">
              <a:srgbClr val="000000">
                <a:alpha val="25000"/>
              </a:srgbClr>
            </a:outerShdw>
          </a:effectLst>
        </p:spPr>
        <p:txBody>
          <a:bodyPr/>
          <a:lstStyle/>
          <a:p>
            <a:endParaRPr lang="es-ES"/>
          </a:p>
        </p:txBody>
      </p:sp>
      <p:sp>
        <p:nvSpPr>
          <p:cNvPr id="29" name="Shape 27"/>
          <p:cNvSpPr/>
          <p:nvPr/>
        </p:nvSpPr>
        <p:spPr>
          <a:xfrm>
            <a:off x="4745736" y="896112"/>
            <a:ext cx="82296" cy="82296"/>
          </a:xfrm>
          <a:prstGeom prst="ellipse">
            <a:avLst/>
          </a:prstGeom>
          <a:solidFill>
            <a:srgbClr val="FF5F57"/>
          </a:solidFill>
          <a:ln w="12700">
            <a:solidFill>
              <a:srgbClr val="FF5F57"/>
            </a:solidFill>
            <a:prstDash val="solid"/>
          </a:ln>
        </p:spPr>
        <p:txBody>
          <a:bodyPr/>
          <a:lstStyle/>
          <a:p>
            <a:endParaRPr lang="es-ES"/>
          </a:p>
        </p:txBody>
      </p:sp>
      <p:sp>
        <p:nvSpPr>
          <p:cNvPr id="30" name="Shape 28"/>
          <p:cNvSpPr/>
          <p:nvPr/>
        </p:nvSpPr>
        <p:spPr>
          <a:xfrm>
            <a:off x="4873752" y="896112"/>
            <a:ext cx="82296" cy="82296"/>
          </a:xfrm>
          <a:prstGeom prst="ellipse">
            <a:avLst/>
          </a:prstGeom>
          <a:solidFill>
            <a:srgbClr val="FEBC2E"/>
          </a:solidFill>
          <a:ln w="12700">
            <a:solidFill>
              <a:srgbClr val="FEBC2E"/>
            </a:solidFill>
            <a:prstDash val="solid"/>
          </a:ln>
        </p:spPr>
        <p:txBody>
          <a:bodyPr/>
          <a:lstStyle/>
          <a:p>
            <a:endParaRPr lang="es-ES"/>
          </a:p>
        </p:txBody>
      </p:sp>
      <p:sp>
        <p:nvSpPr>
          <p:cNvPr id="31" name="Shape 29"/>
          <p:cNvSpPr/>
          <p:nvPr/>
        </p:nvSpPr>
        <p:spPr>
          <a:xfrm>
            <a:off x="5001768" y="896112"/>
            <a:ext cx="82296" cy="82296"/>
          </a:xfrm>
          <a:prstGeom prst="ellipse">
            <a:avLst/>
          </a:prstGeom>
          <a:solidFill>
            <a:srgbClr val="28C840"/>
          </a:solidFill>
          <a:ln w="12700">
            <a:solidFill>
              <a:srgbClr val="28C840"/>
            </a:solidFill>
            <a:prstDash val="solid"/>
          </a:ln>
        </p:spPr>
        <p:txBody>
          <a:bodyPr/>
          <a:lstStyle/>
          <a:p>
            <a:endParaRPr lang="es-ES"/>
          </a:p>
        </p:txBody>
      </p:sp>
      <p:sp>
        <p:nvSpPr>
          <p:cNvPr id="32" name="Text 30"/>
          <p:cNvSpPr/>
          <p:nvPr/>
        </p:nvSpPr>
        <p:spPr>
          <a:xfrm>
            <a:off x="4745736" y="1051560"/>
            <a:ext cx="3995928" cy="3794760"/>
          </a:xfrm>
          <a:prstGeom prst="rect">
            <a:avLst/>
          </a:prstGeom>
          <a:noFill/>
          <a:ln/>
        </p:spPr>
        <p:txBody>
          <a:bodyPr wrap="square" lIns="0" tIns="0" rIns="0" bIns="0" rtlCol="0" anchor="t"/>
          <a:lstStyle/>
          <a:p>
            <a:pPr marL="0" indent="0">
              <a:buNone/>
            </a:pPr>
            <a:r>
              <a:rPr lang="en-US" sz="1150" dirty="0">
                <a:solidFill>
                  <a:srgbClr val="BAE6FD"/>
                </a:solidFill>
                <a:latin typeface="Consolas" pitchFamily="34" charset="0"/>
                <a:ea typeface="Consolas" pitchFamily="34" charset="-122"/>
                <a:cs typeface="Consolas" pitchFamily="34" charset="-120"/>
              </a:rPr>
              <a:t>// MongoDB Document Query API</a:t>
            </a:r>
            <a:endParaRPr lang="en-US" sz="1150" dirty="0"/>
          </a:p>
          <a:p>
            <a:pPr marL="0" indent="0">
              <a:buNone/>
            </a:pP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INSERT a document</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db.students.insertOne({</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_id: 101,</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name: "Anna Kowalska",</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email: "anna@pwr.edu.pl",</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courses: ["Databases", "Algorithms"]</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a:t>
            </a:r>
            <a:endParaRPr lang="en-US" sz="1150" dirty="0"/>
          </a:p>
          <a:p>
            <a:pPr marL="0" indent="0">
              <a:buNone/>
            </a:pP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FIND students enrolled in Databases</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db.students.find(</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 courses: "Databases" },</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 name: 1, email: 1 }</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a:t>
            </a:r>
            <a:endParaRPr lang="en-US" sz="1150" dirty="0"/>
          </a:p>
          <a:p>
            <a:pPr marL="0" indent="0">
              <a:buNone/>
            </a:pP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UPDATE: push a new course</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db.students.updateOne(</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 _id: 101 },</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  { $push: { courses: "Machine Learning" }}</a:t>
            </a:r>
            <a:endParaRPr lang="en-US" sz="1150" dirty="0"/>
          </a:p>
          <a:p>
            <a:pPr marL="0" indent="0">
              <a:buNone/>
            </a:pPr>
            <a:r>
              <a:rPr lang="en-US" sz="1150" dirty="0">
                <a:solidFill>
                  <a:srgbClr val="BAE6FD"/>
                </a:solidFill>
                <a:latin typeface="Consolas" pitchFamily="34" charset="0"/>
                <a:ea typeface="Consolas" pitchFamily="34" charset="-122"/>
                <a:cs typeface="Consolas" pitchFamily="34" charset="-120"/>
              </a:rPr>
              <a: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0" y="0"/>
            <a:ext cx="9144000" cy="713232"/>
          </a:xfrm>
          <a:prstGeom prst="rect">
            <a:avLst/>
          </a:prstGeom>
          <a:solidFill>
            <a:srgbClr val="1B3A6B"/>
          </a:solidFill>
          <a:ln w="12700">
            <a:solidFill>
              <a:srgbClr val="1B3A6B"/>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SQL vs. NoSQL: Comparative Overview</a:t>
            </a:r>
            <a:endParaRPr lang="en-US" sz="200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11 / 14</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841248"/>
          <a:ext cx="8595360" cy="3538728"/>
        </p:xfrm>
        <a:graphic>
          <a:graphicData uri="http://schemas.openxmlformats.org/drawingml/2006/table">
            <a:tbl>
              <a:tblPr/>
              <a:tblGrid>
                <a:gridCol w="192024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93192">
                <a:tc>
                  <a:txBody>
                    <a:bodyPr/>
                    <a:lstStyle/>
                    <a:p>
                      <a:pPr marL="0" indent="0" algn="ctr">
                        <a:buNone/>
                      </a:pPr>
                      <a:r>
                        <a:rPr lang="en-US" sz="1100" b="1" dirty="0">
                          <a:solidFill>
                            <a:srgbClr val="FFFFFF"/>
                          </a:solidFill>
                        </a:rPr>
                        <a:t>Feature</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64748B"/>
                    </a:solidFill>
                  </a:tcPr>
                </a:tc>
                <a:tc>
                  <a:txBody>
                    <a:bodyPr/>
                    <a:lstStyle/>
                    <a:p>
                      <a:pPr marL="0" indent="0" algn="ctr">
                        <a:buNone/>
                      </a:pPr>
                      <a:r>
                        <a:rPr lang="en-US" sz="1100" b="1" dirty="0">
                          <a:solidFill>
                            <a:srgbClr val="FFFFFF"/>
                          </a:solidFill>
                        </a:rPr>
                        <a:t>SQL (Relational)</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3A6B"/>
                    </a:solidFill>
                  </a:tcPr>
                </a:tc>
                <a:tc>
                  <a:txBody>
                    <a:bodyPr/>
                    <a:lstStyle/>
                    <a:p>
                      <a:pPr marL="0" indent="0" algn="ctr">
                        <a:buNone/>
                      </a:pPr>
                      <a:r>
                        <a:rPr lang="en-US" sz="1100" b="1" dirty="0">
                          <a:solidFill>
                            <a:srgbClr val="FFFFFF"/>
                          </a:solidFill>
                        </a:rPr>
                        <a:t>NoSQL (e.g. MongoDB)</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393192">
                <a:tc>
                  <a:txBody>
                    <a:bodyPr/>
                    <a:lstStyle/>
                    <a:p>
                      <a:pPr marL="0" indent="0" algn="l">
                        <a:buNone/>
                      </a:pPr>
                      <a:r>
                        <a:rPr lang="en-US" sz="1000" b="1" dirty="0">
                          <a:solidFill>
                            <a:srgbClr val="1B3A6B"/>
                          </a:solidFill>
                        </a:rPr>
                        <a:t>Data Model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l">
                        <a:buNone/>
                      </a:pPr>
                      <a:r>
                        <a:rPr lang="en-US" sz="1000" dirty="0">
                          <a:solidFill>
                            <a:srgbClr val="1E293B"/>
                          </a:solidFill>
                        </a:rPr>
                        <a:t>Tables with rows and columns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l">
                        <a:buNone/>
                      </a:pPr>
                      <a:r>
                        <a:rPr lang="en-US" sz="1000" dirty="0">
                          <a:solidFill>
                            <a:srgbClr val="1E293B"/>
                          </a:solidFill>
                        </a:rPr>
                        <a:t>Documents, key-value, graphs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93192">
                <a:tc>
                  <a:txBody>
                    <a:bodyPr/>
                    <a:lstStyle/>
                    <a:p>
                      <a:pPr marL="0" indent="0" algn="l">
                        <a:buNone/>
                      </a:pPr>
                      <a:r>
                        <a:rPr lang="en-US" sz="1000" b="1" dirty="0">
                          <a:solidFill>
                            <a:srgbClr val="1B3A6B"/>
                          </a:solidFill>
                        </a:rPr>
                        <a:t>Schema</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rPr>
                        <a:t>Fixed, enforced at design time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rPr>
                        <a:t>Flexible / schema-less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3192">
                <a:tc>
                  <a:txBody>
                    <a:bodyPr/>
                    <a:lstStyle/>
                    <a:p>
                      <a:pPr marL="0" indent="0" algn="l">
                        <a:buNone/>
                      </a:pPr>
                      <a:r>
                        <a:rPr lang="en-US" sz="1000" b="1" dirty="0">
                          <a:solidFill>
                            <a:srgbClr val="1B3A6B"/>
                          </a:solidFill>
                        </a:rPr>
                        <a:t>Query Language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l">
                        <a:buNone/>
                      </a:pPr>
                      <a:r>
                        <a:rPr lang="en-US" sz="1000" dirty="0">
                          <a:solidFill>
                            <a:srgbClr val="1E293B"/>
                          </a:solidFill>
                        </a:rPr>
                        <a:t>Standardised SQL (ISO)</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l">
                        <a:buNone/>
                      </a:pPr>
                      <a:r>
                        <a:rPr lang="en-US" sz="1000" dirty="0">
                          <a:solidFill>
                            <a:srgbClr val="1E293B"/>
                          </a:solidFill>
                        </a:rPr>
                        <a:t>Proprietary API / CQL / Cypher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93192">
                <a:tc>
                  <a:txBody>
                    <a:bodyPr/>
                    <a:lstStyle/>
                    <a:p>
                      <a:pPr marL="0" indent="0" algn="l">
                        <a:buNone/>
                      </a:pPr>
                      <a:r>
                        <a:rPr lang="en-US" sz="1000" b="1" dirty="0">
                          <a:solidFill>
                            <a:srgbClr val="1B3A6B"/>
                          </a:solidFill>
                        </a:rPr>
                        <a:t>Transactions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rPr>
                        <a:t>Full ACID support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rPr>
                        <a:t>Eventual or BASE consistency</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3192">
                <a:tc>
                  <a:txBody>
                    <a:bodyPr/>
                    <a:lstStyle/>
                    <a:p>
                      <a:pPr marL="0" indent="0" algn="l">
                        <a:buNone/>
                      </a:pPr>
                      <a:r>
                        <a:rPr lang="en-US" sz="1000" b="1" dirty="0">
                          <a:solidFill>
                            <a:srgbClr val="1B3A6B"/>
                          </a:solidFill>
                        </a:rPr>
                        <a:t>Scalability</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l">
                        <a:buNone/>
                      </a:pPr>
                      <a:r>
                        <a:rPr lang="en-US" sz="1000" dirty="0">
                          <a:solidFill>
                            <a:srgbClr val="1E293B"/>
                          </a:solidFill>
                        </a:rPr>
                        <a:t>Vertical (scale-up)</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l">
                        <a:buNone/>
                      </a:pPr>
                      <a:r>
                        <a:rPr lang="en-US" sz="1000" dirty="0">
                          <a:solidFill>
                            <a:srgbClr val="1E293B"/>
                          </a:solidFill>
                        </a:rPr>
                        <a:t>Horizontal (scale-out)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93192">
                <a:tc>
                  <a:txBody>
                    <a:bodyPr/>
                    <a:lstStyle/>
                    <a:p>
                      <a:pPr marL="0" indent="0" algn="l">
                        <a:buNone/>
                      </a:pPr>
                      <a:r>
                        <a:rPr lang="en-US" sz="1000" b="1" dirty="0">
                          <a:solidFill>
                            <a:srgbClr val="1B3A6B"/>
                          </a:solidFill>
                        </a:rPr>
                        <a:t>Relationships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rPr>
                        <a:t>Foreign keys, JOINs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rPr>
                        <a:t>Embedded documents / references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3192">
                <a:tc>
                  <a:txBody>
                    <a:bodyPr/>
                    <a:lstStyle/>
                    <a:p>
                      <a:pPr marL="0" indent="0" algn="l">
                        <a:buNone/>
                      </a:pPr>
                      <a:r>
                        <a:rPr lang="en-US" sz="1000" b="1" dirty="0">
                          <a:solidFill>
                            <a:srgbClr val="1B3A6B"/>
                          </a:solidFill>
                        </a:rPr>
                        <a:t>Best for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l">
                        <a:buNone/>
                      </a:pPr>
                      <a:r>
                        <a:rPr lang="en-US" sz="1000" dirty="0">
                          <a:solidFill>
                            <a:srgbClr val="1E293B"/>
                          </a:solidFill>
                        </a:rPr>
                        <a:t>Banking, ERP, reporting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l">
                        <a:buNone/>
                      </a:pPr>
                      <a:r>
                        <a:rPr lang="en-US" sz="1000" dirty="0">
                          <a:solidFill>
                            <a:srgbClr val="1E293B"/>
                          </a:solidFill>
                        </a:rPr>
                        <a:t>IoT, social media, real-time apps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r h="393192">
                <a:tc>
                  <a:txBody>
                    <a:bodyPr/>
                    <a:lstStyle/>
                    <a:p>
                      <a:pPr marL="0" indent="0" algn="l">
                        <a:buNone/>
                      </a:pPr>
                      <a:r>
                        <a:rPr lang="en-US" sz="1000" b="1" dirty="0">
                          <a:solidFill>
                            <a:srgbClr val="1B3A6B"/>
                          </a:solidFill>
                        </a:rPr>
                        <a:t>Examples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rPr>
                        <a:t>PostgreSQL, MySQL, Oracle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E293B"/>
                          </a:solidFill>
                        </a:rPr>
                        <a:t>MongoDB, Redis, Cassandra</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4"/>
          <p:cNvSpPr/>
          <p:nvPr/>
        </p:nvSpPr>
        <p:spPr>
          <a:xfrm>
            <a:off x="274320" y="4462272"/>
            <a:ext cx="8595360" cy="274320"/>
          </a:xfrm>
          <a:prstGeom prst="rect">
            <a:avLst/>
          </a:prstGeom>
          <a:noFill/>
          <a:ln/>
        </p:spPr>
        <p:txBody>
          <a:bodyPr wrap="square" lIns="0" tIns="0" rIns="0" bIns="0" rtlCol="0" anchor="ctr"/>
          <a:lstStyle/>
          <a:p>
            <a:pPr marL="0" indent="0">
              <a:buNone/>
            </a:pPr>
            <a:r>
              <a:rPr lang="en-US" sz="1050" b="1" i="1" dirty="0">
                <a:solidFill>
                  <a:srgbClr val="0891B2"/>
                </a:solidFill>
              </a:rPr>
              <a:t>💡 Choose based on your data structure, consistency needs, and scale requirements - not fashion.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0" y="0"/>
            <a:ext cx="9144000" cy="713232"/>
          </a:xfrm>
          <a:prstGeom prst="rect">
            <a:avLst/>
          </a:prstGeom>
          <a:solidFill>
            <a:srgbClr val="1B3A6B"/>
          </a:solidFill>
          <a:ln w="12700">
            <a:solidFill>
              <a:srgbClr val="1B3A6B"/>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Real-World Use Cases of Database Languages</a:t>
            </a:r>
            <a:endParaRPr lang="en-US" sz="200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12 / 14</a:t>
            </a:r>
            <a:endParaRPr lang="en-US" sz="900" dirty="0"/>
          </a:p>
        </p:txBody>
      </p:sp>
      <p:sp>
        <p:nvSpPr>
          <p:cNvPr id="6" name="Shape 4"/>
          <p:cNvSpPr/>
          <p:nvPr/>
        </p:nvSpPr>
        <p:spPr>
          <a:xfrm>
            <a:off x="274320" y="868680"/>
            <a:ext cx="4114800" cy="192024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7" name="Shape 5"/>
          <p:cNvSpPr/>
          <p:nvPr/>
        </p:nvSpPr>
        <p:spPr>
          <a:xfrm>
            <a:off x="274320" y="868680"/>
            <a:ext cx="4114800" cy="475488"/>
          </a:xfrm>
          <a:prstGeom prst="rect">
            <a:avLst/>
          </a:prstGeom>
          <a:solidFill>
            <a:srgbClr val="1B3A6B"/>
          </a:solidFill>
          <a:ln w="12700">
            <a:solidFill>
              <a:srgbClr val="1B3A6B"/>
            </a:solidFill>
            <a:prstDash val="solid"/>
          </a:ln>
        </p:spPr>
        <p:txBody>
          <a:bodyPr/>
          <a:lstStyle/>
          <a:p>
            <a:endParaRPr lang="es-ES"/>
          </a:p>
        </p:txBody>
      </p:sp>
      <p:sp>
        <p:nvSpPr>
          <p:cNvPr id="8" name="Shape 6"/>
          <p:cNvSpPr/>
          <p:nvPr/>
        </p:nvSpPr>
        <p:spPr>
          <a:xfrm>
            <a:off x="365760" y="941832"/>
            <a:ext cx="347472" cy="347472"/>
          </a:xfrm>
          <a:prstGeom prst="ellipse">
            <a:avLst/>
          </a:prstGeom>
          <a:solidFill>
            <a:srgbClr val="1B3A6B"/>
          </a:solidFill>
          <a:ln w="12700">
            <a:solidFill>
              <a:srgbClr val="1B3A6B"/>
            </a:solidFill>
            <a:prstDash val="solid"/>
          </a:ln>
        </p:spPr>
        <p:txBody>
          <a:bodyPr/>
          <a:lstStyle/>
          <a:p>
            <a:endParaRPr lang="es-ES"/>
          </a:p>
        </p:txBody>
      </p:sp>
      <p:pic>
        <p:nvPicPr>
          <p:cNvPr id="9" name="Image 0" descr="preencoded.png"/>
          <p:cNvPicPr>
            <a:picLocks noChangeAspect="1"/>
          </p:cNvPicPr>
          <p:nvPr/>
        </p:nvPicPr>
        <p:blipFill>
          <a:blip r:embed="rId3"/>
          <a:stretch>
            <a:fillRect/>
          </a:stretch>
        </p:blipFill>
        <p:spPr>
          <a:xfrm>
            <a:off x="442204" y="1018276"/>
            <a:ext cx="194584" cy="194584"/>
          </a:xfrm>
          <a:prstGeom prst="rect">
            <a:avLst/>
          </a:prstGeom>
        </p:spPr>
      </p:pic>
      <p:sp>
        <p:nvSpPr>
          <p:cNvPr id="10" name="Text 7"/>
          <p:cNvSpPr/>
          <p:nvPr/>
        </p:nvSpPr>
        <p:spPr>
          <a:xfrm>
            <a:off x="841248" y="960120"/>
            <a:ext cx="3383280" cy="274320"/>
          </a:xfrm>
          <a:prstGeom prst="rect">
            <a:avLst/>
          </a:prstGeom>
          <a:noFill/>
          <a:ln/>
        </p:spPr>
        <p:txBody>
          <a:bodyPr wrap="square" lIns="0" tIns="0" rIns="0" bIns="0" rtlCol="0" anchor="ctr"/>
          <a:lstStyle/>
          <a:p>
            <a:pPr marL="0" indent="0">
              <a:buNone/>
            </a:pPr>
            <a:r>
              <a:rPr lang="en-US" sz="1300" b="1" dirty="0">
                <a:solidFill>
                  <a:srgbClr val="FFFFFF"/>
                </a:solidFill>
              </a:rPr>
              <a:t>Backend Development</a:t>
            </a:r>
            <a:endParaRPr lang="en-US" sz="1300" dirty="0"/>
          </a:p>
        </p:txBody>
      </p:sp>
      <p:sp>
        <p:nvSpPr>
          <p:cNvPr id="11" name="Text 8"/>
          <p:cNvSpPr/>
          <p:nvPr/>
        </p:nvSpPr>
        <p:spPr>
          <a:xfrm>
            <a:off x="438912" y="1435608"/>
            <a:ext cx="3785616" cy="1261872"/>
          </a:xfrm>
          <a:prstGeom prst="rect">
            <a:avLst/>
          </a:prstGeom>
          <a:noFill/>
          <a:ln/>
        </p:spPr>
        <p:txBody>
          <a:bodyPr wrap="square" lIns="0" tIns="0" rIns="0" bIns="0" rtlCol="0" anchor="ctr"/>
          <a:lstStyle/>
          <a:p>
            <a:pPr marL="0" indent="0">
              <a:buNone/>
            </a:pPr>
            <a:r>
              <a:rPr lang="en-US" sz="1100" dirty="0">
                <a:solidFill>
                  <a:srgbClr val="1E293B"/>
                </a:solidFill>
              </a:rPr>
              <a:t>REST APIs use SQL/ORM to persist user data, session state, and business entities. Frameworks: Django ORM, Hibernate, Entity Framework.</a:t>
            </a:r>
            <a:endParaRPr lang="en-US" sz="1100" dirty="0"/>
          </a:p>
        </p:txBody>
      </p:sp>
      <p:sp>
        <p:nvSpPr>
          <p:cNvPr id="12" name="Shape 9"/>
          <p:cNvSpPr/>
          <p:nvPr/>
        </p:nvSpPr>
        <p:spPr>
          <a:xfrm>
            <a:off x="4663440" y="868680"/>
            <a:ext cx="4114800" cy="192024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3" name="Shape 10"/>
          <p:cNvSpPr/>
          <p:nvPr/>
        </p:nvSpPr>
        <p:spPr>
          <a:xfrm>
            <a:off x="4663440" y="868680"/>
            <a:ext cx="4114800" cy="475488"/>
          </a:xfrm>
          <a:prstGeom prst="rect">
            <a:avLst/>
          </a:prstGeom>
          <a:solidFill>
            <a:srgbClr val="0891B2"/>
          </a:solidFill>
          <a:ln w="12700">
            <a:solidFill>
              <a:srgbClr val="0891B2"/>
            </a:solidFill>
            <a:prstDash val="solid"/>
          </a:ln>
        </p:spPr>
        <p:txBody>
          <a:bodyPr/>
          <a:lstStyle/>
          <a:p>
            <a:endParaRPr lang="es-ES"/>
          </a:p>
        </p:txBody>
      </p:sp>
      <p:sp>
        <p:nvSpPr>
          <p:cNvPr id="14" name="Shape 11"/>
          <p:cNvSpPr/>
          <p:nvPr/>
        </p:nvSpPr>
        <p:spPr>
          <a:xfrm>
            <a:off x="4754880" y="941832"/>
            <a:ext cx="347472" cy="347472"/>
          </a:xfrm>
          <a:prstGeom prst="ellipse">
            <a:avLst/>
          </a:prstGeom>
          <a:solidFill>
            <a:srgbClr val="0891B2"/>
          </a:solidFill>
          <a:ln w="12700">
            <a:solidFill>
              <a:srgbClr val="0891B2"/>
            </a:solidFill>
            <a:prstDash val="solid"/>
          </a:ln>
        </p:spPr>
        <p:txBody>
          <a:bodyPr/>
          <a:lstStyle/>
          <a:p>
            <a:endParaRPr lang="es-ES"/>
          </a:p>
        </p:txBody>
      </p:sp>
      <p:pic>
        <p:nvPicPr>
          <p:cNvPr id="15" name="Image 1" descr="preencoded.png"/>
          <p:cNvPicPr>
            <a:picLocks noChangeAspect="1"/>
          </p:cNvPicPr>
          <p:nvPr/>
        </p:nvPicPr>
        <p:blipFill>
          <a:blip r:embed="rId4"/>
          <a:stretch>
            <a:fillRect/>
          </a:stretch>
        </p:blipFill>
        <p:spPr>
          <a:xfrm>
            <a:off x="4831324" y="1018276"/>
            <a:ext cx="194584" cy="194584"/>
          </a:xfrm>
          <a:prstGeom prst="rect">
            <a:avLst/>
          </a:prstGeom>
        </p:spPr>
      </p:pic>
      <p:sp>
        <p:nvSpPr>
          <p:cNvPr id="16" name="Text 12"/>
          <p:cNvSpPr/>
          <p:nvPr/>
        </p:nvSpPr>
        <p:spPr>
          <a:xfrm>
            <a:off x="5230368" y="960120"/>
            <a:ext cx="3383280" cy="274320"/>
          </a:xfrm>
          <a:prstGeom prst="rect">
            <a:avLst/>
          </a:prstGeom>
          <a:noFill/>
          <a:ln/>
        </p:spPr>
        <p:txBody>
          <a:bodyPr wrap="square" lIns="0" tIns="0" rIns="0" bIns="0" rtlCol="0" anchor="ctr"/>
          <a:lstStyle/>
          <a:p>
            <a:pPr marL="0" indent="0">
              <a:buNone/>
            </a:pPr>
            <a:r>
              <a:rPr lang="en-US" sz="1300" b="1" dirty="0">
                <a:solidFill>
                  <a:srgbClr val="FFFFFF"/>
                </a:solidFill>
              </a:rPr>
              <a:t>Data Analytics &amp; BI</a:t>
            </a:r>
            <a:endParaRPr lang="en-US" sz="1300" dirty="0"/>
          </a:p>
        </p:txBody>
      </p:sp>
      <p:sp>
        <p:nvSpPr>
          <p:cNvPr id="17" name="Text 13"/>
          <p:cNvSpPr/>
          <p:nvPr/>
        </p:nvSpPr>
        <p:spPr>
          <a:xfrm>
            <a:off x="4828032" y="1435608"/>
            <a:ext cx="3785616" cy="1261872"/>
          </a:xfrm>
          <a:prstGeom prst="rect">
            <a:avLst/>
          </a:prstGeom>
          <a:noFill/>
          <a:ln/>
        </p:spPr>
        <p:txBody>
          <a:bodyPr wrap="square" lIns="0" tIns="0" rIns="0" bIns="0" rtlCol="0" anchor="ctr"/>
          <a:lstStyle/>
          <a:p>
            <a:pPr marL="0" indent="0">
              <a:buNone/>
            </a:pPr>
            <a:r>
              <a:rPr lang="en-US" sz="1100" dirty="0">
                <a:solidFill>
                  <a:srgbClr val="1E293B"/>
                </a:solidFill>
              </a:rPr>
              <a:t>Analysts write complex SQL queries against data warehouses (Snowflake, BigQuery) to generate dashboards and business reports.</a:t>
            </a:r>
            <a:endParaRPr lang="en-US" sz="1100" dirty="0"/>
          </a:p>
        </p:txBody>
      </p:sp>
      <p:sp>
        <p:nvSpPr>
          <p:cNvPr id="18" name="Shape 14"/>
          <p:cNvSpPr/>
          <p:nvPr/>
        </p:nvSpPr>
        <p:spPr>
          <a:xfrm>
            <a:off x="274320" y="2953512"/>
            <a:ext cx="4114800" cy="192024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19" name="Shape 15"/>
          <p:cNvSpPr/>
          <p:nvPr/>
        </p:nvSpPr>
        <p:spPr>
          <a:xfrm>
            <a:off x="274320" y="2953512"/>
            <a:ext cx="4114800" cy="475488"/>
          </a:xfrm>
          <a:prstGeom prst="rect">
            <a:avLst/>
          </a:prstGeom>
          <a:solidFill>
            <a:srgbClr val="7C3AED"/>
          </a:solidFill>
          <a:ln w="12700">
            <a:solidFill>
              <a:srgbClr val="7C3AED"/>
            </a:solidFill>
            <a:prstDash val="solid"/>
          </a:ln>
        </p:spPr>
        <p:txBody>
          <a:bodyPr/>
          <a:lstStyle/>
          <a:p>
            <a:endParaRPr lang="es-ES"/>
          </a:p>
        </p:txBody>
      </p:sp>
      <p:sp>
        <p:nvSpPr>
          <p:cNvPr id="20" name="Shape 16"/>
          <p:cNvSpPr/>
          <p:nvPr/>
        </p:nvSpPr>
        <p:spPr>
          <a:xfrm>
            <a:off x="365760" y="3026664"/>
            <a:ext cx="347472" cy="347472"/>
          </a:xfrm>
          <a:prstGeom prst="ellipse">
            <a:avLst/>
          </a:prstGeom>
          <a:solidFill>
            <a:srgbClr val="7C3AED"/>
          </a:solidFill>
          <a:ln w="12700">
            <a:solidFill>
              <a:srgbClr val="7C3AED"/>
            </a:solidFill>
            <a:prstDash val="solid"/>
          </a:ln>
        </p:spPr>
        <p:txBody>
          <a:bodyPr/>
          <a:lstStyle/>
          <a:p>
            <a:endParaRPr lang="es-ES"/>
          </a:p>
        </p:txBody>
      </p:sp>
      <p:pic>
        <p:nvPicPr>
          <p:cNvPr id="21" name="Image 2" descr="preencoded.png"/>
          <p:cNvPicPr>
            <a:picLocks noChangeAspect="1"/>
          </p:cNvPicPr>
          <p:nvPr/>
        </p:nvPicPr>
        <p:blipFill>
          <a:blip r:embed="rId5"/>
          <a:stretch>
            <a:fillRect/>
          </a:stretch>
        </p:blipFill>
        <p:spPr>
          <a:xfrm>
            <a:off x="442204" y="3103108"/>
            <a:ext cx="194584" cy="194584"/>
          </a:xfrm>
          <a:prstGeom prst="rect">
            <a:avLst/>
          </a:prstGeom>
        </p:spPr>
      </p:pic>
      <p:sp>
        <p:nvSpPr>
          <p:cNvPr id="22" name="Text 17"/>
          <p:cNvSpPr/>
          <p:nvPr/>
        </p:nvSpPr>
        <p:spPr>
          <a:xfrm>
            <a:off x="841248" y="3044952"/>
            <a:ext cx="3383280" cy="274320"/>
          </a:xfrm>
          <a:prstGeom prst="rect">
            <a:avLst/>
          </a:prstGeom>
          <a:noFill/>
          <a:ln/>
        </p:spPr>
        <p:txBody>
          <a:bodyPr wrap="square" lIns="0" tIns="0" rIns="0" bIns="0" rtlCol="0" anchor="ctr"/>
          <a:lstStyle/>
          <a:p>
            <a:pPr marL="0" indent="0">
              <a:buNone/>
            </a:pPr>
            <a:r>
              <a:rPr lang="en-US" sz="1300" b="1" dirty="0">
                <a:solidFill>
                  <a:srgbClr val="FFFFFF"/>
                </a:solidFill>
              </a:rPr>
              <a:t>Web Applications</a:t>
            </a:r>
            <a:endParaRPr lang="en-US" sz="1300" dirty="0"/>
          </a:p>
        </p:txBody>
      </p:sp>
      <p:sp>
        <p:nvSpPr>
          <p:cNvPr id="23" name="Text 18"/>
          <p:cNvSpPr/>
          <p:nvPr/>
        </p:nvSpPr>
        <p:spPr>
          <a:xfrm>
            <a:off x="438912" y="3520440"/>
            <a:ext cx="3785616" cy="1261872"/>
          </a:xfrm>
          <a:prstGeom prst="rect">
            <a:avLst/>
          </a:prstGeom>
          <a:noFill/>
          <a:ln/>
        </p:spPr>
        <p:txBody>
          <a:bodyPr wrap="square" lIns="0" tIns="0" rIns="0" bIns="0" rtlCol="0" anchor="ctr"/>
          <a:lstStyle/>
          <a:p>
            <a:pPr marL="0" indent="0">
              <a:buNone/>
            </a:pPr>
            <a:r>
              <a:rPr lang="en-US" sz="1100" dirty="0">
                <a:solidFill>
                  <a:srgbClr val="1E293B"/>
                </a:solidFill>
              </a:rPr>
              <a:t>E-commerce platforms (product catalogues, orders) and social networks (user profiles, feeds) rely on both SQL and NoSQL databases.</a:t>
            </a:r>
            <a:endParaRPr lang="en-US" sz="1100" dirty="0"/>
          </a:p>
        </p:txBody>
      </p:sp>
      <p:sp>
        <p:nvSpPr>
          <p:cNvPr id="24" name="Shape 19"/>
          <p:cNvSpPr/>
          <p:nvPr/>
        </p:nvSpPr>
        <p:spPr>
          <a:xfrm>
            <a:off x="4663440" y="2953512"/>
            <a:ext cx="4114800" cy="1920240"/>
          </a:xfrm>
          <a:prstGeom prst="rect">
            <a:avLst/>
          </a:prstGeom>
          <a:solidFill>
            <a:srgbClr val="FFFFFF"/>
          </a:solidFill>
          <a:ln w="12700">
            <a:solidFill>
              <a:srgbClr val="CBD5E1"/>
            </a:solidFill>
            <a:prstDash val="solid"/>
          </a:ln>
          <a:effectLst>
            <a:outerShdw blurRad="76200" dist="12700" dir="8100000" algn="bl" rotWithShape="0">
              <a:srgbClr val="000000">
                <a:alpha val="10000"/>
              </a:srgbClr>
            </a:outerShdw>
          </a:effectLst>
        </p:spPr>
        <p:txBody>
          <a:bodyPr/>
          <a:lstStyle/>
          <a:p>
            <a:endParaRPr lang="es-ES"/>
          </a:p>
        </p:txBody>
      </p:sp>
      <p:sp>
        <p:nvSpPr>
          <p:cNvPr id="25" name="Shape 20"/>
          <p:cNvSpPr/>
          <p:nvPr/>
        </p:nvSpPr>
        <p:spPr>
          <a:xfrm>
            <a:off x="4663440" y="2953512"/>
            <a:ext cx="4114800" cy="475488"/>
          </a:xfrm>
          <a:prstGeom prst="rect">
            <a:avLst/>
          </a:prstGeom>
          <a:solidFill>
            <a:srgbClr val="D97706"/>
          </a:solidFill>
          <a:ln w="12700">
            <a:solidFill>
              <a:srgbClr val="D97706"/>
            </a:solidFill>
            <a:prstDash val="solid"/>
          </a:ln>
        </p:spPr>
        <p:txBody>
          <a:bodyPr/>
          <a:lstStyle/>
          <a:p>
            <a:endParaRPr lang="es-ES"/>
          </a:p>
        </p:txBody>
      </p:sp>
      <p:sp>
        <p:nvSpPr>
          <p:cNvPr id="26" name="Shape 21"/>
          <p:cNvSpPr/>
          <p:nvPr/>
        </p:nvSpPr>
        <p:spPr>
          <a:xfrm>
            <a:off x="4754880" y="3026664"/>
            <a:ext cx="347472" cy="347472"/>
          </a:xfrm>
          <a:prstGeom prst="ellipse">
            <a:avLst/>
          </a:prstGeom>
          <a:solidFill>
            <a:srgbClr val="D97706"/>
          </a:solidFill>
          <a:ln w="12700">
            <a:solidFill>
              <a:srgbClr val="D97706"/>
            </a:solidFill>
            <a:prstDash val="solid"/>
          </a:ln>
        </p:spPr>
        <p:txBody>
          <a:bodyPr/>
          <a:lstStyle/>
          <a:p>
            <a:endParaRPr lang="es-ES"/>
          </a:p>
        </p:txBody>
      </p:sp>
      <p:pic>
        <p:nvPicPr>
          <p:cNvPr id="27" name="Image 3" descr="preencoded.png"/>
          <p:cNvPicPr>
            <a:picLocks noChangeAspect="1"/>
          </p:cNvPicPr>
          <p:nvPr/>
        </p:nvPicPr>
        <p:blipFill>
          <a:blip r:embed="rId6"/>
          <a:stretch>
            <a:fillRect/>
          </a:stretch>
        </p:blipFill>
        <p:spPr>
          <a:xfrm>
            <a:off x="4831324" y="3103108"/>
            <a:ext cx="194584" cy="194584"/>
          </a:xfrm>
          <a:prstGeom prst="rect">
            <a:avLst/>
          </a:prstGeom>
        </p:spPr>
      </p:pic>
      <p:sp>
        <p:nvSpPr>
          <p:cNvPr id="28" name="Text 22"/>
          <p:cNvSpPr/>
          <p:nvPr/>
        </p:nvSpPr>
        <p:spPr>
          <a:xfrm>
            <a:off x="5230368" y="3044952"/>
            <a:ext cx="3383280" cy="274320"/>
          </a:xfrm>
          <a:prstGeom prst="rect">
            <a:avLst/>
          </a:prstGeom>
          <a:noFill/>
          <a:ln/>
        </p:spPr>
        <p:txBody>
          <a:bodyPr wrap="square" lIns="0" tIns="0" rIns="0" bIns="0" rtlCol="0" anchor="ctr"/>
          <a:lstStyle/>
          <a:p>
            <a:pPr marL="0" indent="0">
              <a:buNone/>
            </a:pPr>
            <a:r>
              <a:rPr lang="en-US" sz="1300" b="1" dirty="0">
                <a:solidFill>
                  <a:srgbClr val="FFFFFF"/>
                </a:solidFill>
              </a:rPr>
              <a:t>Enterprise Systems</a:t>
            </a:r>
            <a:endParaRPr lang="en-US" sz="1300" dirty="0"/>
          </a:p>
        </p:txBody>
      </p:sp>
      <p:sp>
        <p:nvSpPr>
          <p:cNvPr id="29" name="Text 23"/>
          <p:cNvSpPr/>
          <p:nvPr/>
        </p:nvSpPr>
        <p:spPr>
          <a:xfrm>
            <a:off x="4828032" y="3520440"/>
            <a:ext cx="3785616" cy="1261872"/>
          </a:xfrm>
          <a:prstGeom prst="rect">
            <a:avLst/>
          </a:prstGeom>
          <a:noFill/>
          <a:ln/>
        </p:spPr>
        <p:txBody>
          <a:bodyPr wrap="square" lIns="0" tIns="0" rIns="0" bIns="0" rtlCol="0" anchor="ctr"/>
          <a:lstStyle/>
          <a:p>
            <a:pPr marL="0" indent="0">
              <a:buNone/>
            </a:pPr>
            <a:r>
              <a:rPr lang="en-US" sz="1100" dirty="0">
                <a:solidFill>
                  <a:srgbClr val="1E293B"/>
                </a:solidFill>
              </a:rPr>
              <a:t>ERP and CRM systems (SAP, Salesforce) use SQL databases for financial records, inventory, and customer data with strict ACID guarantees.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s-ES"/>
          </a:p>
        </p:txBody>
      </p:sp>
      <p:sp>
        <p:nvSpPr>
          <p:cNvPr id="3" name="Shape 1"/>
          <p:cNvSpPr/>
          <p:nvPr/>
        </p:nvSpPr>
        <p:spPr>
          <a:xfrm>
            <a:off x="0" y="54864"/>
            <a:ext cx="9144000" cy="658368"/>
          </a:xfrm>
          <a:prstGeom prst="rect">
            <a:avLst/>
          </a:prstGeom>
          <a:solidFill>
            <a:srgbClr val="162032"/>
          </a:solidFill>
          <a:ln w="12700">
            <a:solidFill>
              <a:srgbClr val="162032"/>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Key Takeaways</a:t>
            </a:r>
            <a:endParaRPr lang="en-US" sz="2000" dirty="0"/>
          </a:p>
        </p:txBody>
      </p:sp>
      <p:sp>
        <p:nvSpPr>
          <p:cNvPr id="6" name="Shape 4"/>
          <p:cNvSpPr/>
          <p:nvPr/>
        </p:nvSpPr>
        <p:spPr>
          <a:xfrm>
            <a:off x="274320" y="841248"/>
            <a:ext cx="475488" cy="713232"/>
          </a:xfrm>
          <a:prstGeom prst="rect">
            <a:avLst/>
          </a:prstGeom>
          <a:solidFill>
            <a:srgbClr val="0891B2"/>
          </a:solidFill>
          <a:ln w="12700">
            <a:solidFill>
              <a:srgbClr val="0891B2"/>
            </a:solidFill>
            <a:prstDash val="solid"/>
          </a:ln>
        </p:spPr>
        <p:txBody>
          <a:bodyPr/>
          <a:lstStyle/>
          <a:p>
            <a:endParaRPr lang="es-ES"/>
          </a:p>
        </p:txBody>
      </p:sp>
      <p:sp>
        <p:nvSpPr>
          <p:cNvPr id="7" name="Text 5"/>
          <p:cNvSpPr/>
          <p:nvPr/>
        </p:nvSpPr>
        <p:spPr>
          <a:xfrm>
            <a:off x="274320" y="969264"/>
            <a:ext cx="475488" cy="402336"/>
          </a:xfrm>
          <a:prstGeom prst="rect">
            <a:avLst/>
          </a:prstGeom>
          <a:noFill/>
          <a:ln/>
        </p:spPr>
        <p:txBody>
          <a:bodyPr wrap="square" lIns="0" tIns="0" rIns="0" bIns="0" rtlCol="0" anchor="ctr"/>
          <a:lstStyle/>
          <a:p>
            <a:pPr marL="0" indent="0" algn="ctr">
              <a:buNone/>
            </a:pPr>
            <a:r>
              <a:rPr lang="en-US" sz="1500" b="1" dirty="0">
                <a:solidFill>
                  <a:srgbClr val="FFFFFF"/>
                </a:solidFill>
              </a:rPr>
              <a:t>01</a:t>
            </a:r>
            <a:endParaRPr lang="en-US" sz="1500" dirty="0"/>
          </a:p>
        </p:txBody>
      </p:sp>
      <p:sp>
        <p:nvSpPr>
          <p:cNvPr id="8" name="Shape 6"/>
          <p:cNvSpPr/>
          <p:nvPr/>
        </p:nvSpPr>
        <p:spPr>
          <a:xfrm>
            <a:off x="749808" y="841248"/>
            <a:ext cx="8119872" cy="713232"/>
          </a:xfrm>
          <a:prstGeom prst="rect">
            <a:avLst/>
          </a:prstGeom>
          <a:solidFill>
            <a:srgbClr val="0E2035"/>
          </a:solidFill>
          <a:ln w="12700">
            <a:solidFill>
              <a:srgbClr val="1E3A55"/>
            </a:solidFill>
            <a:prstDash val="solid"/>
          </a:ln>
          <a:effectLst>
            <a:outerShdw blurRad="76200" dist="12700" dir="8100000" algn="bl" rotWithShape="0">
              <a:srgbClr val="000000">
                <a:alpha val="10000"/>
              </a:srgbClr>
            </a:outerShdw>
          </a:effectLst>
        </p:spPr>
        <p:txBody>
          <a:bodyPr/>
          <a:lstStyle/>
          <a:p>
            <a:endParaRPr lang="es-ES"/>
          </a:p>
        </p:txBody>
      </p:sp>
      <p:sp>
        <p:nvSpPr>
          <p:cNvPr id="9" name="Text 7"/>
          <p:cNvSpPr/>
          <p:nvPr/>
        </p:nvSpPr>
        <p:spPr>
          <a:xfrm>
            <a:off x="914400" y="896112"/>
            <a:ext cx="7818120" cy="274320"/>
          </a:xfrm>
          <a:prstGeom prst="rect">
            <a:avLst/>
          </a:prstGeom>
          <a:noFill/>
          <a:ln/>
        </p:spPr>
        <p:txBody>
          <a:bodyPr wrap="square" lIns="0" tIns="0" rIns="0" bIns="0" rtlCol="0" anchor="ctr"/>
          <a:lstStyle/>
          <a:p>
            <a:pPr marL="0" indent="0">
              <a:buNone/>
            </a:pPr>
            <a:r>
              <a:rPr lang="en-US" sz="1200" b="1" dirty="0">
                <a:solidFill>
                  <a:srgbClr val="BAE6FD"/>
                </a:solidFill>
              </a:rPr>
              <a:t>Database languages are essential interfaces</a:t>
            </a:r>
            <a:endParaRPr lang="en-US" sz="1200" dirty="0"/>
          </a:p>
        </p:txBody>
      </p:sp>
      <p:sp>
        <p:nvSpPr>
          <p:cNvPr id="10" name="Text 8"/>
          <p:cNvSpPr/>
          <p:nvPr/>
        </p:nvSpPr>
        <p:spPr>
          <a:xfrm>
            <a:off x="914400" y="1179576"/>
            <a:ext cx="7818120" cy="347472"/>
          </a:xfrm>
          <a:prstGeom prst="rect">
            <a:avLst/>
          </a:prstGeom>
          <a:noFill/>
          <a:ln/>
        </p:spPr>
        <p:txBody>
          <a:bodyPr wrap="square" lIns="0" tIns="0" rIns="0" bIns="0" rtlCol="0" anchor="ctr"/>
          <a:lstStyle/>
          <a:p>
            <a:pPr marL="0" indent="0">
              <a:buNone/>
            </a:pPr>
            <a:r>
              <a:rPr lang="en-US" sz="1050" dirty="0">
                <a:solidFill>
                  <a:srgbClr val="94A3B8"/>
                </a:solidFill>
              </a:rPr>
              <a:t>They define, manipulate, control, and transact data in any DBMS - without them, no application can persist state.</a:t>
            </a:r>
            <a:endParaRPr lang="en-US" sz="1050" dirty="0"/>
          </a:p>
        </p:txBody>
      </p:sp>
      <p:sp>
        <p:nvSpPr>
          <p:cNvPr id="11" name="Shape 9"/>
          <p:cNvSpPr/>
          <p:nvPr/>
        </p:nvSpPr>
        <p:spPr>
          <a:xfrm>
            <a:off x="274320" y="1691640"/>
            <a:ext cx="475488" cy="713232"/>
          </a:xfrm>
          <a:prstGeom prst="rect">
            <a:avLst/>
          </a:prstGeom>
          <a:solidFill>
            <a:srgbClr val="0891B2"/>
          </a:solidFill>
          <a:ln w="12700">
            <a:solidFill>
              <a:srgbClr val="0891B2"/>
            </a:solidFill>
            <a:prstDash val="solid"/>
          </a:ln>
        </p:spPr>
        <p:txBody>
          <a:bodyPr/>
          <a:lstStyle/>
          <a:p>
            <a:endParaRPr lang="es-ES"/>
          </a:p>
        </p:txBody>
      </p:sp>
      <p:sp>
        <p:nvSpPr>
          <p:cNvPr id="12" name="Text 10"/>
          <p:cNvSpPr/>
          <p:nvPr/>
        </p:nvSpPr>
        <p:spPr>
          <a:xfrm>
            <a:off x="274320" y="1819656"/>
            <a:ext cx="475488" cy="402336"/>
          </a:xfrm>
          <a:prstGeom prst="rect">
            <a:avLst/>
          </a:prstGeom>
          <a:noFill/>
          <a:ln/>
        </p:spPr>
        <p:txBody>
          <a:bodyPr wrap="square" lIns="0" tIns="0" rIns="0" bIns="0" rtlCol="0" anchor="ctr"/>
          <a:lstStyle/>
          <a:p>
            <a:pPr marL="0" indent="0" algn="ctr">
              <a:buNone/>
            </a:pPr>
            <a:r>
              <a:rPr lang="en-US" sz="1500" b="1" dirty="0">
                <a:solidFill>
                  <a:srgbClr val="FFFFFF"/>
                </a:solidFill>
              </a:rPr>
              <a:t>02</a:t>
            </a:r>
            <a:endParaRPr lang="en-US" sz="1500" dirty="0"/>
          </a:p>
        </p:txBody>
      </p:sp>
      <p:sp>
        <p:nvSpPr>
          <p:cNvPr id="13" name="Shape 11"/>
          <p:cNvSpPr/>
          <p:nvPr/>
        </p:nvSpPr>
        <p:spPr>
          <a:xfrm>
            <a:off x="749808" y="1691640"/>
            <a:ext cx="8119872" cy="713232"/>
          </a:xfrm>
          <a:prstGeom prst="rect">
            <a:avLst/>
          </a:prstGeom>
          <a:solidFill>
            <a:srgbClr val="0E2035"/>
          </a:solidFill>
          <a:ln w="12700">
            <a:solidFill>
              <a:srgbClr val="1E3A55"/>
            </a:solidFill>
            <a:prstDash val="solid"/>
          </a:ln>
          <a:effectLst>
            <a:outerShdw blurRad="76200" dist="12700" dir="8100000" algn="bl" rotWithShape="0">
              <a:srgbClr val="000000">
                <a:alpha val="10000"/>
              </a:srgbClr>
            </a:outerShdw>
          </a:effectLst>
        </p:spPr>
        <p:txBody>
          <a:bodyPr/>
          <a:lstStyle/>
          <a:p>
            <a:endParaRPr lang="es-ES"/>
          </a:p>
        </p:txBody>
      </p:sp>
      <p:sp>
        <p:nvSpPr>
          <p:cNvPr id="14" name="Text 12"/>
          <p:cNvSpPr/>
          <p:nvPr/>
        </p:nvSpPr>
        <p:spPr>
          <a:xfrm>
            <a:off x="914400" y="1746504"/>
            <a:ext cx="7818120" cy="274320"/>
          </a:xfrm>
          <a:prstGeom prst="rect">
            <a:avLst/>
          </a:prstGeom>
          <a:noFill/>
          <a:ln/>
        </p:spPr>
        <p:txBody>
          <a:bodyPr wrap="square" lIns="0" tIns="0" rIns="0" bIns="0" rtlCol="0" anchor="ctr"/>
          <a:lstStyle/>
          <a:p>
            <a:pPr marL="0" indent="0">
              <a:buNone/>
            </a:pPr>
            <a:r>
              <a:rPr lang="en-US" sz="1200" b="1" dirty="0">
                <a:solidFill>
                  <a:srgbClr val="BAE6FD"/>
                </a:solidFill>
              </a:rPr>
              <a:t>SQL is structured into four sub-languages</a:t>
            </a:r>
            <a:endParaRPr lang="en-US" sz="1200" dirty="0"/>
          </a:p>
        </p:txBody>
      </p:sp>
      <p:sp>
        <p:nvSpPr>
          <p:cNvPr id="15" name="Text 13"/>
          <p:cNvSpPr/>
          <p:nvPr/>
        </p:nvSpPr>
        <p:spPr>
          <a:xfrm>
            <a:off x="914400" y="2029968"/>
            <a:ext cx="7818120" cy="347472"/>
          </a:xfrm>
          <a:prstGeom prst="rect">
            <a:avLst/>
          </a:prstGeom>
          <a:noFill/>
          <a:ln/>
        </p:spPr>
        <p:txBody>
          <a:bodyPr wrap="square" lIns="0" tIns="0" rIns="0" bIns="0" rtlCol="0" anchor="ctr"/>
          <a:lstStyle/>
          <a:p>
            <a:pPr marL="0" indent="0">
              <a:buNone/>
            </a:pPr>
            <a:r>
              <a:rPr lang="en-US" sz="1050" dirty="0">
                <a:solidFill>
                  <a:srgbClr val="94A3B8"/>
                </a:solidFill>
              </a:rPr>
              <a:t>DDL (schema), DML (data), DCL (access), TCL (transactions) - each with distinct commands and purposes.</a:t>
            </a:r>
            <a:endParaRPr lang="en-US" sz="1050" dirty="0"/>
          </a:p>
        </p:txBody>
      </p:sp>
      <p:sp>
        <p:nvSpPr>
          <p:cNvPr id="16" name="Shape 14"/>
          <p:cNvSpPr/>
          <p:nvPr/>
        </p:nvSpPr>
        <p:spPr>
          <a:xfrm>
            <a:off x="274320" y="2542032"/>
            <a:ext cx="475488" cy="713232"/>
          </a:xfrm>
          <a:prstGeom prst="rect">
            <a:avLst/>
          </a:prstGeom>
          <a:solidFill>
            <a:srgbClr val="0891B2"/>
          </a:solidFill>
          <a:ln w="12700">
            <a:solidFill>
              <a:srgbClr val="0891B2"/>
            </a:solidFill>
            <a:prstDash val="solid"/>
          </a:ln>
        </p:spPr>
        <p:txBody>
          <a:bodyPr/>
          <a:lstStyle/>
          <a:p>
            <a:endParaRPr lang="es-ES"/>
          </a:p>
        </p:txBody>
      </p:sp>
      <p:sp>
        <p:nvSpPr>
          <p:cNvPr id="17" name="Text 15"/>
          <p:cNvSpPr/>
          <p:nvPr/>
        </p:nvSpPr>
        <p:spPr>
          <a:xfrm>
            <a:off x="274320" y="2670048"/>
            <a:ext cx="475488" cy="402336"/>
          </a:xfrm>
          <a:prstGeom prst="rect">
            <a:avLst/>
          </a:prstGeom>
          <a:noFill/>
          <a:ln/>
        </p:spPr>
        <p:txBody>
          <a:bodyPr wrap="square" lIns="0" tIns="0" rIns="0" bIns="0" rtlCol="0" anchor="ctr"/>
          <a:lstStyle/>
          <a:p>
            <a:pPr marL="0" indent="0" algn="ctr">
              <a:buNone/>
            </a:pPr>
            <a:r>
              <a:rPr lang="en-US" sz="1500" b="1" dirty="0">
                <a:solidFill>
                  <a:srgbClr val="FFFFFF"/>
                </a:solidFill>
              </a:rPr>
              <a:t>03</a:t>
            </a:r>
            <a:endParaRPr lang="en-US" sz="1500" dirty="0"/>
          </a:p>
        </p:txBody>
      </p:sp>
      <p:sp>
        <p:nvSpPr>
          <p:cNvPr id="18" name="Shape 16"/>
          <p:cNvSpPr/>
          <p:nvPr/>
        </p:nvSpPr>
        <p:spPr>
          <a:xfrm>
            <a:off x="749808" y="2542032"/>
            <a:ext cx="8119872" cy="713232"/>
          </a:xfrm>
          <a:prstGeom prst="rect">
            <a:avLst/>
          </a:prstGeom>
          <a:solidFill>
            <a:srgbClr val="0E2035"/>
          </a:solidFill>
          <a:ln w="12700">
            <a:solidFill>
              <a:srgbClr val="1E3A55"/>
            </a:solidFill>
            <a:prstDash val="solid"/>
          </a:ln>
          <a:effectLst>
            <a:outerShdw blurRad="76200" dist="12700" dir="8100000" algn="bl" rotWithShape="0">
              <a:srgbClr val="000000">
                <a:alpha val="10000"/>
              </a:srgbClr>
            </a:outerShdw>
          </a:effectLst>
        </p:spPr>
        <p:txBody>
          <a:bodyPr/>
          <a:lstStyle/>
          <a:p>
            <a:endParaRPr lang="es-ES"/>
          </a:p>
        </p:txBody>
      </p:sp>
      <p:sp>
        <p:nvSpPr>
          <p:cNvPr id="19" name="Text 17"/>
          <p:cNvSpPr/>
          <p:nvPr/>
        </p:nvSpPr>
        <p:spPr>
          <a:xfrm>
            <a:off x="914400" y="2596896"/>
            <a:ext cx="7818120" cy="274320"/>
          </a:xfrm>
          <a:prstGeom prst="rect">
            <a:avLst/>
          </a:prstGeom>
          <a:noFill/>
          <a:ln/>
        </p:spPr>
        <p:txBody>
          <a:bodyPr wrap="square" lIns="0" tIns="0" rIns="0" bIns="0" rtlCol="0" anchor="ctr"/>
          <a:lstStyle/>
          <a:p>
            <a:pPr marL="0" indent="0">
              <a:buNone/>
            </a:pPr>
            <a:r>
              <a:rPr lang="en-US" sz="1200" b="1" dirty="0">
                <a:solidFill>
                  <a:srgbClr val="BAE6FD"/>
                </a:solidFill>
              </a:rPr>
              <a:t>SQL is declarative and widely standardised</a:t>
            </a:r>
            <a:endParaRPr lang="en-US" sz="1200" dirty="0"/>
          </a:p>
        </p:txBody>
      </p:sp>
      <p:sp>
        <p:nvSpPr>
          <p:cNvPr id="20" name="Text 18"/>
          <p:cNvSpPr/>
          <p:nvPr/>
        </p:nvSpPr>
        <p:spPr>
          <a:xfrm>
            <a:off x="914400" y="2880360"/>
            <a:ext cx="7818120" cy="347472"/>
          </a:xfrm>
          <a:prstGeom prst="rect">
            <a:avLst/>
          </a:prstGeom>
          <a:noFill/>
          <a:ln/>
        </p:spPr>
        <p:txBody>
          <a:bodyPr wrap="square" lIns="0" tIns="0" rIns="0" bIns="0" rtlCol="0" anchor="ctr"/>
          <a:lstStyle/>
          <a:p>
            <a:pPr marL="0" indent="0">
              <a:buNone/>
            </a:pPr>
            <a:r>
              <a:rPr lang="en-US" sz="1050" dirty="0">
                <a:solidFill>
                  <a:srgbClr val="94A3B8"/>
                </a:solidFill>
              </a:rPr>
              <a:t>ISO SQL is supported by all major RDBMS platforms; knowing SQL is transferable across database systems.</a:t>
            </a:r>
            <a:endParaRPr lang="en-US" sz="1050" dirty="0"/>
          </a:p>
        </p:txBody>
      </p:sp>
      <p:sp>
        <p:nvSpPr>
          <p:cNvPr id="21" name="Shape 19"/>
          <p:cNvSpPr/>
          <p:nvPr/>
        </p:nvSpPr>
        <p:spPr>
          <a:xfrm>
            <a:off x="274320" y="3392424"/>
            <a:ext cx="475488" cy="713232"/>
          </a:xfrm>
          <a:prstGeom prst="rect">
            <a:avLst/>
          </a:prstGeom>
          <a:solidFill>
            <a:srgbClr val="0891B2"/>
          </a:solidFill>
          <a:ln w="12700">
            <a:solidFill>
              <a:srgbClr val="0891B2"/>
            </a:solidFill>
            <a:prstDash val="solid"/>
          </a:ln>
        </p:spPr>
        <p:txBody>
          <a:bodyPr/>
          <a:lstStyle/>
          <a:p>
            <a:endParaRPr lang="es-ES"/>
          </a:p>
        </p:txBody>
      </p:sp>
      <p:sp>
        <p:nvSpPr>
          <p:cNvPr id="22" name="Text 20"/>
          <p:cNvSpPr/>
          <p:nvPr/>
        </p:nvSpPr>
        <p:spPr>
          <a:xfrm>
            <a:off x="274320" y="3520440"/>
            <a:ext cx="475488" cy="402336"/>
          </a:xfrm>
          <a:prstGeom prst="rect">
            <a:avLst/>
          </a:prstGeom>
          <a:noFill/>
          <a:ln/>
        </p:spPr>
        <p:txBody>
          <a:bodyPr wrap="square" lIns="0" tIns="0" rIns="0" bIns="0" rtlCol="0" anchor="ctr"/>
          <a:lstStyle/>
          <a:p>
            <a:pPr marL="0" indent="0" algn="ctr">
              <a:buNone/>
            </a:pPr>
            <a:r>
              <a:rPr lang="en-US" sz="1500" b="1" dirty="0">
                <a:solidFill>
                  <a:srgbClr val="FFFFFF"/>
                </a:solidFill>
              </a:rPr>
              <a:t>04</a:t>
            </a:r>
            <a:endParaRPr lang="en-US" sz="1500" dirty="0"/>
          </a:p>
        </p:txBody>
      </p:sp>
      <p:sp>
        <p:nvSpPr>
          <p:cNvPr id="23" name="Shape 21"/>
          <p:cNvSpPr/>
          <p:nvPr/>
        </p:nvSpPr>
        <p:spPr>
          <a:xfrm>
            <a:off x="749808" y="3392424"/>
            <a:ext cx="8119872" cy="713232"/>
          </a:xfrm>
          <a:prstGeom prst="rect">
            <a:avLst/>
          </a:prstGeom>
          <a:solidFill>
            <a:srgbClr val="0E2035"/>
          </a:solidFill>
          <a:ln w="12700">
            <a:solidFill>
              <a:srgbClr val="1E3A55"/>
            </a:solidFill>
            <a:prstDash val="solid"/>
          </a:ln>
          <a:effectLst>
            <a:outerShdw blurRad="76200" dist="12700" dir="8100000" algn="bl" rotWithShape="0">
              <a:srgbClr val="000000">
                <a:alpha val="10000"/>
              </a:srgbClr>
            </a:outerShdw>
          </a:effectLst>
        </p:spPr>
        <p:txBody>
          <a:bodyPr/>
          <a:lstStyle/>
          <a:p>
            <a:endParaRPr lang="es-ES"/>
          </a:p>
        </p:txBody>
      </p:sp>
      <p:sp>
        <p:nvSpPr>
          <p:cNvPr id="24" name="Text 22"/>
          <p:cNvSpPr/>
          <p:nvPr/>
        </p:nvSpPr>
        <p:spPr>
          <a:xfrm>
            <a:off x="914400" y="3447288"/>
            <a:ext cx="7818120" cy="274320"/>
          </a:xfrm>
          <a:prstGeom prst="rect">
            <a:avLst/>
          </a:prstGeom>
          <a:noFill/>
          <a:ln/>
        </p:spPr>
        <p:txBody>
          <a:bodyPr wrap="square" lIns="0" tIns="0" rIns="0" bIns="0" rtlCol="0" anchor="ctr"/>
          <a:lstStyle/>
          <a:p>
            <a:pPr marL="0" indent="0">
              <a:buNone/>
            </a:pPr>
            <a:r>
              <a:rPr lang="en-US" sz="1200" b="1" dirty="0">
                <a:solidFill>
                  <a:srgbClr val="BAE6FD"/>
                </a:solidFill>
              </a:rPr>
              <a:t>NoSQL offers flexibility for modern data</a:t>
            </a:r>
            <a:endParaRPr lang="en-US" sz="1200" dirty="0"/>
          </a:p>
        </p:txBody>
      </p:sp>
      <p:sp>
        <p:nvSpPr>
          <p:cNvPr id="25" name="Text 23"/>
          <p:cNvSpPr/>
          <p:nvPr/>
        </p:nvSpPr>
        <p:spPr>
          <a:xfrm>
            <a:off x="914400" y="3730752"/>
            <a:ext cx="7818120" cy="347472"/>
          </a:xfrm>
          <a:prstGeom prst="rect">
            <a:avLst/>
          </a:prstGeom>
          <a:noFill/>
          <a:ln/>
        </p:spPr>
        <p:txBody>
          <a:bodyPr wrap="square" lIns="0" tIns="0" rIns="0" bIns="0" rtlCol="0" anchor="ctr"/>
          <a:lstStyle/>
          <a:p>
            <a:pPr marL="0" indent="0">
              <a:buNone/>
            </a:pPr>
            <a:r>
              <a:rPr lang="en-US" sz="1050" dirty="0">
                <a:solidFill>
                  <a:srgbClr val="94A3B8"/>
                </a:solidFill>
              </a:rPr>
              <a:t>Document, key-value, column, and graph databases use their own query APIs optimised for scale and schema flexibility.</a:t>
            </a:r>
            <a:endParaRPr lang="en-US" sz="1050" dirty="0"/>
          </a:p>
        </p:txBody>
      </p:sp>
      <p:sp>
        <p:nvSpPr>
          <p:cNvPr id="26" name="Shape 24"/>
          <p:cNvSpPr/>
          <p:nvPr/>
        </p:nvSpPr>
        <p:spPr>
          <a:xfrm>
            <a:off x="274320" y="4242816"/>
            <a:ext cx="475488" cy="713232"/>
          </a:xfrm>
          <a:prstGeom prst="rect">
            <a:avLst/>
          </a:prstGeom>
          <a:solidFill>
            <a:srgbClr val="0891B2"/>
          </a:solidFill>
          <a:ln w="12700">
            <a:solidFill>
              <a:srgbClr val="0891B2"/>
            </a:solidFill>
            <a:prstDash val="solid"/>
          </a:ln>
        </p:spPr>
        <p:txBody>
          <a:bodyPr/>
          <a:lstStyle/>
          <a:p>
            <a:endParaRPr lang="es-ES"/>
          </a:p>
        </p:txBody>
      </p:sp>
      <p:sp>
        <p:nvSpPr>
          <p:cNvPr id="27" name="Text 25"/>
          <p:cNvSpPr/>
          <p:nvPr/>
        </p:nvSpPr>
        <p:spPr>
          <a:xfrm>
            <a:off x="274320" y="4370832"/>
            <a:ext cx="475488" cy="402336"/>
          </a:xfrm>
          <a:prstGeom prst="rect">
            <a:avLst/>
          </a:prstGeom>
          <a:noFill/>
          <a:ln/>
        </p:spPr>
        <p:txBody>
          <a:bodyPr wrap="square" lIns="0" tIns="0" rIns="0" bIns="0" rtlCol="0" anchor="ctr"/>
          <a:lstStyle/>
          <a:p>
            <a:pPr marL="0" indent="0" algn="ctr">
              <a:buNone/>
            </a:pPr>
            <a:r>
              <a:rPr lang="en-US" sz="1500" b="1" dirty="0">
                <a:solidFill>
                  <a:srgbClr val="FFFFFF"/>
                </a:solidFill>
              </a:rPr>
              <a:t>05</a:t>
            </a:r>
            <a:endParaRPr lang="en-US" sz="1500" dirty="0"/>
          </a:p>
        </p:txBody>
      </p:sp>
      <p:sp>
        <p:nvSpPr>
          <p:cNvPr id="28" name="Shape 26"/>
          <p:cNvSpPr/>
          <p:nvPr/>
        </p:nvSpPr>
        <p:spPr>
          <a:xfrm>
            <a:off x="749808" y="4242816"/>
            <a:ext cx="8119872" cy="713232"/>
          </a:xfrm>
          <a:prstGeom prst="rect">
            <a:avLst/>
          </a:prstGeom>
          <a:solidFill>
            <a:srgbClr val="0E2035"/>
          </a:solidFill>
          <a:ln w="12700">
            <a:solidFill>
              <a:srgbClr val="1E3A55"/>
            </a:solidFill>
            <a:prstDash val="solid"/>
          </a:ln>
          <a:effectLst>
            <a:outerShdw blurRad="76200" dist="12700" dir="8100000" algn="bl" rotWithShape="0">
              <a:srgbClr val="000000">
                <a:alpha val="10000"/>
              </a:srgbClr>
            </a:outerShdw>
          </a:effectLst>
        </p:spPr>
        <p:txBody>
          <a:bodyPr/>
          <a:lstStyle/>
          <a:p>
            <a:endParaRPr lang="es-ES"/>
          </a:p>
        </p:txBody>
      </p:sp>
      <p:sp>
        <p:nvSpPr>
          <p:cNvPr id="29" name="Text 27"/>
          <p:cNvSpPr/>
          <p:nvPr/>
        </p:nvSpPr>
        <p:spPr>
          <a:xfrm>
            <a:off x="914400" y="4297680"/>
            <a:ext cx="7818120" cy="274320"/>
          </a:xfrm>
          <a:prstGeom prst="rect">
            <a:avLst/>
          </a:prstGeom>
          <a:noFill/>
          <a:ln/>
        </p:spPr>
        <p:txBody>
          <a:bodyPr wrap="square" lIns="0" tIns="0" rIns="0" bIns="0" rtlCol="0" anchor="ctr"/>
          <a:lstStyle/>
          <a:p>
            <a:pPr marL="0" indent="0">
              <a:buNone/>
            </a:pPr>
            <a:r>
              <a:rPr lang="en-US" sz="1200" b="1" dirty="0">
                <a:solidFill>
                  <a:srgbClr val="BAE6FD"/>
                </a:solidFill>
              </a:rPr>
              <a:t>Choose the right tool for the right problem</a:t>
            </a:r>
            <a:endParaRPr lang="en-US" sz="1200" dirty="0"/>
          </a:p>
        </p:txBody>
      </p:sp>
      <p:sp>
        <p:nvSpPr>
          <p:cNvPr id="30" name="Text 28"/>
          <p:cNvSpPr/>
          <p:nvPr/>
        </p:nvSpPr>
        <p:spPr>
          <a:xfrm>
            <a:off x="914400" y="4581144"/>
            <a:ext cx="7818120" cy="347472"/>
          </a:xfrm>
          <a:prstGeom prst="rect">
            <a:avLst/>
          </a:prstGeom>
          <a:noFill/>
          <a:ln/>
        </p:spPr>
        <p:txBody>
          <a:bodyPr wrap="square" lIns="0" tIns="0" rIns="0" bIns="0" rtlCol="0" anchor="ctr"/>
          <a:lstStyle/>
          <a:p>
            <a:pPr marL="0" indent="0">
              <a:buNone/>
            </a:pPr>
            <a:r>
              <a:rPr lang="en-US" sz="1050" dirty="0">
                <a:solidFill>
                  <a:srgbClr val="94A3B8"/>
                </a:solidFill>
              </a:rPr>
              <a:t>SQL for structured, relational, transactional data. NoSQL for flexible, scalable, high-volume scenarios.</a:t>
            </a:r>
            <a:endParaRPr lang="en-US" sz="105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0" y="0"/>
            <a:ext cx="9144000" cy="713232"/>
          </a:xfrm>
          <a:prstGeom prst="rect">
            <a:avLst/>
          </a:prstGeom>
          <a:solidFill>
            <a:srgbClr val="1B3A6B"/>
          </a:solidFill>
          <a:ln w="12700">
            <a:solidFill>
              <a:srgbClr val="1B3A6B"/>
            </a:solidFill>
            <a:prstDash val="solid"/>
          </a:ln>
        </p:spPr>
        <p:txBody>
          <a:bodyPr/>
          <a:lstStyle/>
          <a:p>
            <a:endParaRPr lang="es-ES"/>
          </a:p>
        </p:txBody>
      </p:sp>
      <p:sp>
        <p:nvSpPr>
          <p:cNvPr id="4" name="Text 2"/>
          <p:cNvSpPr/>
          <p:nvPr/>
        </p:nvSpPr>
        <p:spPr>
          <a:xfrm>
            <a:off x="365760" y="73152"/>
            <a:ext cx="8412480" cy="566928"/>
          </a:xfrm>
          <a:prstGeom prst="rect">
            <a:avLst/>
          </a:prstGeom>
          <a:noFill/>
          <a:ln/>
        </p:spPr>
        <p:txBody>
          <a:bodyPr wrap="square" lIns="0" tIns="0" rIns="0" bIns="0" rtlCol="0" anchor="ctr"/>
          <a:lstStyle/>
          <a:p>
            <a:pPr marL="0" indent="0">
              <a:buNone/>
            </a:pPr>
            <a:r>
              <a:rPr lang="en-US" sz="2000" b="1" dirty="0">
                <a:solidFill>
                  <a:srgbClr val="FFFFFF"/>
                </a:solidFill>
              </a:rPr>
              <a:t>References</a:t>
            </a:r>
            <a:endParaRPr lang="en-US" sz="2000" dirty="0"/>
          </a:p>
        </p:txBody>
      </p:sp>
      <p:sp>
        <p:nvSpPr>
          <p:cNvPr id="5" name="Text 3"/>
          <p:cNvSpPr/>
          <p:nvPr/>
        </p:nvSpPr>
        <p:spPr>
          <a:xfrm>
            <a:off x="8229600" y="4892040"/>
            <a:ext cx="685800" cy="182880"/>
          </a:xfrm>
          <a:prstGeom prst="rect">
            <a:avLst/>
          </a:prstGeom>
          <a:noFill/>
          <a:ln/>
        </p:spPr>
        <p:txBody>
          <a:bodyPr wrap="square" lIns="0" tIns="0" rIns="0" bIns="0" rtlCol="0" anchor="ctr"/>
          <a:lstStyle/>
          <a:p>
            <a:pPr marL="0" indent="0" algn="r">
              <a:buNone/>
            </a:pPr>
            <a:r>
              <a:rPr lang="en-US" sz="900" dirty="0">
                <a:solidFill>
                  <a:srgbClr val="64748B"/>
                </a:solidFill>
              </a:rPr>
              <a:t>14 / 14</a:t>
            </a:r>
            <a:endParaRPr lang="en-US" sz="900" dirty="0"/>
          </a:p>
        </p:txBody>
      </p:sp>
      <p:sp>
        <p:nvSpPr>
          <p:cNvPr id="6" name="Text 4"/>
          <p:cNvSpPr/>
          <p:nvPr/>
        </p:nvSpPr>
        <p:spPr>
          <a:xfrm>
            <a:off x="274320" y="880218"/>
            <a:ext cx="502920" cy="274320"/>
          </a:xfrm>
          <a:prstGeom prst="rect">
            <a:avLst/>
          </a:prstGeom>
          <a:noFill/>
          <a:ln/>
        </p:spPr>
        <p:txBody>
          <a:bodyPr wrap="square" lIns="0" tIns="0" rIns="0" bIns="0" rtlCol="0" anchor="ctr"/>
          <a:lstStyle/>
          <a:p>
            <a:pPr marL="0" indent="0">
              <a:buNone/>
            </a:pPr>
            <a:r>
              <a:rPr lang="en-US" sz="1100" b="1" dirty="0">
                <a:solidFill>
                  <a:srgbClr val="0891B2"/>
                </a:solidFill>
                <a:latin typeface="Consolas" pitchFamily="34" charset="0"/>
                <a:ea typeface="Consolas" pitchFamily="34" charset="-122"/>
                <a:cs typeface="Consolas" pitchFamily="34" charset="-120"/>
              </a:rPr>
              <a:t>[1]</a:t>
            </a:r>
            <a:endParaRPr lang="en-US" sz="1100" dirty="0"/>
          </a:p>
        </p:txBody>
      </p:sp>
      <p:sp>
        <p:nvSpPr>
          <p:cNvPr id="7" name="Text 5"/>
          <p:cNvSpPr/>
          <p:nvPr/>
        </p:nvSpPr>
        <p:spPr>
          <a:xfrm>
            <a:off x="822960" y="822960"/>
            <a:ext cx="8046720" cy="402336"/>
          </a:xfrm>
          <a:prstGeom prst="rect">
            <a:avLst/>
          </a:prstGeom>
          <a:noFill/>
          <a:ln/>
        </p:spPr>
        <p:txBody>
          <a:bodyPr wrap="square" lIns="0" tIns="0" rIns="0" bIns="0" rtlCol="0" anchor="ctr"/>
          <a:lstStyle/>
          <a:p>
            <a:pPr marL="0" indent="0">
              <a:buNone/>
            </a:pPr>
            <a:r>
              <a:rPr lang="en-US" sz="1000" dirty="0">
                <a:solidFill>
                  <a:srgbClr val="1E293B"/>
                </a:solidFill>
              </a:rPr>
              <a:t>Ramez Elmasri &amp; Shamkant B. Navathe - Fundamentals of Database Systems, 7th ed., Pearson, 2016.</a:t>
            </a:r>
            <a:endParaRPr lang="en-US" sz="1000" dirty="0"/>
          </a:p>
        </p:txBody>
      </p:sp>
      <p:sp>
        <p:nvSpPr>
          <p:cNvPr id="8" name="Shape 6"/>
          <p:cNvSpPr/>
          <p:nvPr/>
        </p:nvSpPr>
        <p:spPr>
          <a:xfrm>
            <a:off x="274320" y="1280160"/>
            <a:ext cx="8595360" cy="0"/>
          </a:xfrm>
          <a:prstGeom prst="line">
            <a:avLst/>
          </a:prstGeom>
          <a:noFill/>
          <a:ln w="6350">
            <a:solidFill>
              <a:srgbClr val="CBD5E1"/>
            </a:solidFill>
            <a:prstDash val="solid"/>
          </a:ln>
        </p:spPr>
        <p:txBody>
          <a:bodyPr/>
          <a:lstStyle/>
          <a:p>
            <a:endParaRPr lang="es-ES"/>
          </a:p>
        </p:txBody>
      </p:sp>
      <p:sp>
        <p:nvSpPr>
          <p:cNvPr id="9" name="Text 7"/>
          <p:cNvSpPr/>
          <p:nvPr/>
        </p:nvSpPr>
        <p:spPr>
          <a:xfrm>
            <a:off x="274320" y="1392282"/>
            <a:ext cx="502920" cy="274320"/>
          </a:xfrm>
          <a:prstGeom prst="rect">
            <a:avLst/>
          </a:prstGeom>
          <a:noFill/>
          <a:ln/>
        </p:spPr>
        <p:txBody>
          <a:bodyPr wrap="square" lIns="0" tIns="0" rIns="0" bIns="0" rtlCol="0" anchor="ctr"/>
          <a:lstStyle/>
          <a:p>
            <a:pPr marL="0" indent="0">
              <a:buNone/>
            </a:pPr>
            <a:r>
              <a:rPr lang="en-US" sz="1100" b="1" dirty="0">
                <a:solidFill>
                  <a:srgbClr val="0891B2"/>
                </a:solidFill>
                <a:latin typeface="Consolas" pitchFamily="34" charset="0"/>
                <a:ea typeface="Consolas" pitchFamily="34" charset="-122"/>
                <a:cs typeface="Consolas" pitchFamily="34" charset="-120"/>
              </a:rPr>
              <a:t>[2]</a:t>
            </a:r>
            <a:endParaRPr lang="en-US" sz="1100" dirty="0"/>
          </a:p>
        </p:txBody>
      </p:sp>
      <p:sp>
        <p:nvSpPr>
          <p:cNvPr id="10" name="Text 8"/>
          <p:cNvSpPr/>
          <p:nvPr/>
        </p:nvSpPr>
        <p:spPr>
          <a:xfrm>
            <a:off x="822960" y="1335024"/>
            <a:ext cx="8046720" cy="402336"/>
          </a:xfrm>
          <a:prstGeom prst="rect">
            <a:avLst/>
          </a:prstGeom>
          <a:noFill/>
          <a:ln/>
        </p:spPr>
        <p:txBody>
          <a:bodyPr wrap="square" lIns="0" tIns="0" rIns="0" bIns="0" rtlCol="0" anchor="ctr"/>
          <a:lstStyle/>
          <a:p>
            <a:pPr marL="0" indent="0">
              <a:buNone/>
            </a:pPr>
            <a:r>
              <a:rPr lang="en-US" sz="1000" dirty="0">
                <a:solidFill>
                  <a:srgbClr val="1E293B"/>
                </a:solidFill>
              </a:rPr>
              <a:t>Raghu Ramakrishnan &amp; Johannes Gehrke - Database Management Systems, 3rd ed., McGraw-Hill, 2002.</a:t>
            </a:r>
            <a:endParaRPr lang="en-US" sz="1000" dirty="0"/>
          </a:p>
        </p:txBody>
      </p:sp>
      <p:sp>
        <p:nvSpPr>
          <p:cNvPr id="11" name="Shape 9"/>
          <p:cNvSpPr/>
          <p:nvPr/>
        </p:nvSpPr>
        <p:spPr>
          <a:xfrm>
            <a:off x="274320" y="1792224"/>
            <a:ext cx="8595360" cy="0"/>
          </a:xfrm>
          <a:prstGeom prst="line">
            <a:avLst/>
          </a:prstGeom>
          <a:noFill/>
          <a:ln w="6350">
            <a:solidFill>
              <a:srgbClr val="CBD5E1"/>
            </a:solidFill>
            <a:prstDash val="solid"/>
          </a:ln>
        </p:spPr>
        <p:txBody>
          <a:bodyPr/>
          <a:lstStyle/>
          <a:p>
            <a:endParaRPr lang="es-ES"/>
          </a:p>
        </p:txBody>
      </p:sp>
      <p:sp>
        <p:nvSpPr>
          <p:cNvPr id="12" name="Text 10"/>
          <p:cNvSpPr/>
          <p:nvPr/>
        </p:nvSpPr>
        <p:spPr>
          <a:xfrm>
            <a:off x="274320" y="1904346"/>
            <a:ext cx="502920" cy="274320"/>
          </a:xfrm>
          <a:prstGeom prst="rect">
            <a:avLst/>
          </a:prstGeom>
          <a:noFill/>
          <a:ln/>
        </p:spPr>
        <p:txBody>
          <a:bodyPr wrap="square" lIns="0" tIns="0" rIns="0" bIns="0" rtlCol="0" anchor="ctr"/>
          <a:lstStyle/>
          <a:p>
            <a:pPr marL="0" indent="0">
              <a:buNone/>
            </a:pPr>
            <a:r>
              <a:rPr lang="en-US" sz="1100" b="1" dirty="0">
                <a:solidFill>
                  <a:srgbClr val="0891B2"/>
                </a:solidFill>
                <a:latin typeface="Consolas" pitchFamily="34" charset="0"/>
                <a:ea typeface="Consolas" pitchFamily="34" charset="-122"/>
                <a:cs typeface="Consolas" pitchFamily="34" charset="-120"/>
              </a:rPr>
              <a:t>[3]</a:t>
            </a:r>
            <a:endParaRPr lang="en-US" sz="1100" dirty="0"/>
          </a:p>
        </p:txBody>
      </p:sp>
      <p:sp>
        <p:nvSpPr>
          <p:cNvPr id="13" name="Text 11"/>
          <p:cNvSpPr/>
          <p:nvPr/>
        </p:nvSpPr>
        <p:spPr>
          <a:xfrm>
            <a:off x="822960" y="1847088"/>
            <a:ext cx="8046720" cy="402336"/>
          </a:xfrm>
          <a:prstGeom prst="rect">
            <a:avLst/>
          </a:prstGeom>
          <a:noFill/>
          <a:ln/>
        </p:spPr>
        <p:txBody>
          <a:bodyPr wrap="square" lIns="0" tIns="0" rIns="0" bIns="0" rtlCol="0" anchor="ctr"/>
          <a:lstStyle/>
          <a:p>
            <a:pPr marL="0" indent="0">
              <a:buNone/>
            </a:pPr>
            <a:r>
              <a:rPr lang="en-US" sz="1000" dirty="0">
                <a:solidFill>
                  <a:srgbClr val="1E293B"/>
                </a:solidFill>
              </a:rPr>
              <a:t>ISO/IEC 9075:2023 - Information Technology - Database Languages SQL. International Organization for Standardization, 2023.</a:t>
            </a:r>
            <a:endParaRPr lang="en-US" sz="1000" dirty="0"/>
          </a:p>
        </p:txBody>
      </p:sp>
      <p:sp>
        <p:nvSpPr>
          <p:cNvPr id="14" name="Shape 12"/>
          <p:cNvSpPr/>
          <p:nvPr/>
        </p:nvSpPr>
        <p:spPr>
          <a:xfrm>
            <a:off x="274320" y="2304288"/>
            <a:ext cx="8595360" cy="0"/>
          </a:xfrm>
          <a:prstGeom prst="line">
            <a:avLst/>
          </a:prstGeom>
          <a:noFill/>
          <a:ln w="6350">
            <a:solidFill>
              <a:srgbClr val="CBD5E1"/>
            </a:solidFill>
            <a:prstDash val="solid"/>
          </a:ln>
        </p:spPr>
        <p:txBody>
          <a:bodyPr/>
          <a:lstStyle/>
          <a:p>
            <a:endParaRPr lang="es-ES"/>
          </a:p>
        </p:txBody>
      </p:sp>
      <p:sp>
        <p:nvSpPr>
          <p:cNvPr id="15" name="Text 13"/>
          <p:cNvSpPr/>
          <p:nvPr/>
        </p:nvSpPr>
        <p:spPr>
          <a:xfrm>
            <a:off x="274320" y="2416410"/>
            <a:ext cx="502920" cy="274320"/>
          </a:xfrm>
          <a:prstGeom prst="rect">
            <a:avLst/>
          </a:prstGeom>
          <a:noFill/>
          <a:ln/>
        </p:spPr>
        <p:txBody>
          <a:bodyPr wrap="square" lIns="0" tIns="0" rIns="0" bIns="0" rtlCol="0" anchor="ctr"/>
          <a:lstStyle/>
          <a:p>
            <a:pPr marL="0" indent="0">
              <a:buNone/>
            </a:pPr>
            <a:r>
              <a:rPr lang="en-US" sz="1100" b="1" dirty="0">
                <a:solidFill>
                  <a:srgbClr val="0891B2"/>
                </a:solidFill>
                <a:latin typeface="Consolas" pitchFamily="34" charset="0"/>
                <a:ea typeface="Consolas" pitchFamily="34" charset="-122"/>
                <a:cs typeface="Consolas" pitchFamily="34" charset="-120"/>
              </a:rPr>
              <a:t>[4]</a:t>
            </a:r>
            <a:endParaRPr lang="en-US" sz="1100" dirty="0"/>
          </a:p>
        </p:txBody>
      </p:sp>
      <p:sp>
        <p:nvSpPr>
          <p:cNvPr id="16" name="Text 14"/>
          <p:cNvSpPr/>
          <p:nvPr/>
        </p:nvSpPr>
        <p:spPr>
          <a:xfrm>
            <a:off x="822960" y="2359152"/>
            <a:ext cx="8046720" cy="402336"/>
          </a:xfrm>
          <a:prstGeom prst="rect">
            <a:avLst/>
          </a:prstGeom>
          <a:noFill/>
          <a:ln/>
        </p:spPr>
        <p:txBody>
          <a:bodyPr wrap="square" lIns="0" tIns="0" rIns="0" bIns="0" rtlCol="0" anchor="ctr"/>
          <a:lstStyle/>
          <a:p>
            <a:pPr marL="0" indent="0">
              <a:buNone/>
            </a:pPr>
            <a:r>
              <a:rPr lang="en-US" sz="1000" dirty="0">
                <a:solidFill>
                  <a:srgbClr val="1E293B"/>
                </a:solidFill>
              </a:rPr>
              <a:t>PostgreSQL Documentation - SQL Commands. PostgreSQL Global Development Group, 2024. https://www.postgresql.org/docs/</a:t>
            </a:r>
            <a:endParaRPr lang="en-US" sz="1000" dirty="0"/>
          </a:p>
        </p:txBody>
      </p:sp>
      <p:sp>
        <p:nvSpPr>
          <p:cNvPr id="17" name="Shape 15"/>
          <p:cNvSpPr/>
          <p:nvPr/>
        </p:nvSpPr>
        <p:spPr>
          <a:xfrm>
            <a:off x="274320" y="2816352"/>
            <a:ext cx="8595360" cy="0"/>
          </a:xfrm>
          <a:prstGeom prst="line">
            <a:avLst/>
          </a:prstGeom>
          <a:noFill/>
          <a:ln w="6350">
            <a:solidFill>
              <a:srgbClr val="CBD5E1"/>
            </a:solidFill>
            <a:prstDash val="solid"/>
          </a:ln>
        </p:spPr>
        <p:txBody>
          <a:bodyPr/>
          <a:lstStyle/>
          <a:p>
            <a:endParaRPr lang="es-ES"/>
          </a:p>
        </p:txBody>
      </p:sp>
      <p:sp>
        <p:nvSpPr>
          <p:cNvPr id="18" name="Text 16"/>
          <p:cNvSpPr/>
          <p:nvPr/>
        </p:nvSpPr>
        <p:spPr>
          <a:xfrm>
            <a:off x="274320" y="2928474"/>
            <a:ext cx="502920" cy="274320"/>
          </a:xfrm>
          <a:prstGeom prst="rect">
            <a:avLst/>
          </a:prstGeom>
          <a:noFill/>
          <a:ln/>
        </p:spPr>
        <p:txBody>
          <a:bodyPr wrap="square" lIns="0" tIns="0" rIns="0" bIns="0" rtlCol="0" anchor="ctr"/>
          <a:lstStyle/>
          <a:p>
            <a:pPr marL="0" indent="0">
              <a:buNone/>
            </a:pPr>
            <a:r>
              <a:rPr lang="en-US" sz="1100" b="1" dirty="0">
                <a:solidFill>
                  <a:srgbClr val="0891B2"/>
                </a:solidFill>
                <a:latin typeface="Consolas" pitchFamily="34" charset="0"/>
                <a:ea typeface="Consolas" pitchFamily="34" charset="-122"/>
                <a:cs typeface="Consolas" pitchFamily="34" charset="-120"/>
              </a:rPr>
              <a:t>[5]</a:t>
            </a:r>
            <a:endParaRPr lang="en-US" sz="1100" dirty="0"/>
          </a:p>
        </p:txBody>
      </p:sp>
      <p:sp>
        <p:nvSpPr>
          <p:cNvPr id="19" name="Text 17"/>
          <p:cNvSpPr/>
          <p:nvPr/>
        </p:nvSpPr>
        <p:spPr>
          <a:xfrm>
            <a:off x="822960" y="2871216"/>
            <a:ext cx="8046720" cy="402336"/>
          </a:xfrm>
          <a:prstGeom prst="rect">
            <a:avLst/>
          </a:prstGeom>
          <a:noFill/>
          <a:ln/>
        </p:spPr>
        <p:txBody>
          <a:bodyPr wrap="square" lIns="0" tIns="0" rIns="0" bIns="0" rtlCol="0" anchor="ctr"/>
          <a:lstStyle/>
          <a:p>
            <a:pPr marL="0" indent="0">
              <a:buNone/>
            </a:pPr>
            <a:r>
              <a:rPr lang="en-US" sz="1000" dirty="0">
                <a:solidFill>
                  <a:srgbClr val="1E293B"/>
                </a:solidFill>
              </a:rPr>
              <a:t>MongoDB Documentation - Query Documents. MongoDB Inc., 2024. https://www.mongodb.com/docs/</a:t>
            </a:r>
            <a:endParaRPr lang="en-US" sz="1000" dirty="0"/>
          </a:p>
        </p:txBody>
      </p:sp>
      <p:sp>
        <p:nvSpPr>
          <p:cNvPr id="20" name="Shape 18"/>
          <p:cNvSpPr/>
          <p:nvPr/>
        </p:nvSpPr>
        <p:spPr>
          <a:xfrm>
            <a:off x="274320" y="3328416"/>
            <a:ext cx="8595360" cy="0"/>
          </a:xfrm>
          <a:prstGeom prst="line">
            <a:avLst/>
          </a:prstGeom>
          <a:noFill/>
          <a:ln w="6350">
            <a:solidFill>
              <a:srgbClr val="CBD5E1"/>
            </a:solidFill>
            <a:prstDash val="solid"/>
          </a:ln>
        </p:spPr>
        <p:txBody>
          <a:bodyPr/>
          <a:lstStyle/>
          <a:p>
            <a:endParaRPr lang="es-ES"/>
          </a:p>
        </p:txBody>
      </p:sp>
      <p:sp>
        <p:nvSpPr>
          <p:cNvPr id="21" name="Text 19"/>
          <p:cNvSpPr/>
          <p:nvPr/>
        </p:nvSpPr>
        <p:spPr>
          <a:xfrm>
            <a:off x="274320" y="3440538"/>
            <a:ext cx="502920" cy="274320"/>
          </a:xfrm>
          <a:prstGeom prst="rect">
            <a:avLst/>
          </a:prstGeom>
          <a:noFill/>
          <a:ln/>
        </p:spPr>
        <p:txBody>
          <a:bodyPr wrap="square" lIns="0" tIns="0" rIns="0" bIns="0" rtlCol="0" anchor="ctr"/>
          <a:lstStyle/>
          <a:p>
            <a:pPr marL="0" indent="0">
              <a:buNone/>
            </a:pPr>
            <a:r>
              <a:rPr lang="en-US" sz="1100" b="1" dirty="0">
                <a:solidFill>
                  <a:srgbClr val="0891B2"/>
                </a:solidFill>
                <a:latin typeface="Consolas" pitchFamily="34" charset="0"/>
                <a:ea typeface="Consolas" pitchFamily="34" charset="-122"/>
                <a:cs typeface="Consolas" pitchFamily="34" charset="-120"/>
              </a:rPr>
              <a:t>[6]</a:t>
            </a:r>
            <a:endParaRPr lang="en-US" sz="1100" dirty="0"/>
          </a:p>
        </p:txBody>
      </p:sp>
      <p:sp>
        <p:nvSpPr>
          <p:cNvPr id="22" name="Text 20"/>
          <p:cNvSpPr/>
          <p:nvPr/>
        </p:nvSpPr>
        <p:spPr>
          <a:xfrm>
            <a:off x="822960" y="3383280"/>
            <a:ext cx="8046720" cy="402336"/>
          </a:xfrm>
          <a:prstGeom prst="rect">
            <a:avLst/>
          </a:prstGeom>
          <a:noFill/>
          <a:ln/>
        </p:spPr>
        <p:txBody>
          <a:bodyPr wrap="square" lIns="0" tIns="0" rIns="0" bIns="0" rtlCol="0" anchor="ctr"/>
          <a:lstStyle/>
          <a:p>
            <a:pPr marL="0" indent="0">
              <a:buNone/>
            </a:pPr>
            <a:r>
              <a:rPr lang="en-US" sz="1000" dirty="0">
                <a:solidFill>
                  <a:srgbClr val="1E293B"/>
                </a:solidFill>
              </a:rPr>
              <a:t>Martin Fowler - NoSQL Distilled: A Brief Guide to the Emerging World of Polyglot Persistence. Addison-Wesley, 2012.</a:t>
            </a:r>
            <a:endParaRPr lang="en-US" sz="1000" dirty="0"/>
          </a:p>
        </p:txBody>
      </p:sp>
      <p:sp>
        <p:nvSpPr>
          <p:cNvPr id="23" name="Shape 21"/>
          <p:cNvSpPr/>
          <p:nvPr/>
        </p:nvSpPr>
        <p:spPr>
          <a:xfrm>
            <a:off x="274320" y="3840480"/>
            <a:ext cx="8595360" cy="0"/>
          </a:xfrm>
          <a:prstGeom prst="line">
            <a:avLst/>
          </a:prstGeom>
          <a:noFill/>
          <a:ln w="6350">
            <a:solidFill>
              <a:srgbClr val="CBD5E1"/>
            </a:solidFill>
            <a:prstDash val="solid"/>
          </a:ln>
        </p:spPr>
        <p:txBody>
          <a:bodyPr/>
          <a:lstStyle/>
          <a:p>
            <a:endParaRPr lang="es-ES"/>
          </a:p>
        </p:txBody>
      </p:sp>
      <p:sp>
        <p:nvSpPr>
          <p:cNvPr id="24" name="Text 22"/>
          <p:cNvSpPr/>
          <p:nvPr/>
        </p:nvSpPr>
        <p:spPr>
          <a:xfrm>
            <a:off x="274320" y="3952602"/>
            <a:ext cx="502920" cy="274320"/>
          </a:xfrm>
          <a:prstGeom prst="rect">
            <a:avLst/>
          </a:prstGeom>
          <a:noFill/>
          <a:ln/>
        </p:spPr>
        <p:txBody>
          <a:bodyPr wrap="square" lIns="0" tIns="0" rIns="0" bIns="0" rtlCol="0" anchor="ctr"/>
          <a:lstStyle/>
          <a:p>
            <a:pPr marL="0" indent="0">
              <a:buNone/>
            </a:pPr>
            <a:r>
              <a:rPr lang="en-US" sz="1100" b="1" dirty="0">
                <a:solidFill>
                  <a:srgbClr val="0891B2"/>
                </a:solidFill>
                <a:latin typeface="Consolas" pitchFamily="34" charset="0"/>
                <a:ea typeface="Consolas" pitchFamily="34" charset="-122"/>
                <a:cs typeface="Consolas" pitchFamily="34" charset="-120"/>
              </a:rPr>
              <a:t>[7]</a:t>
            </a:r>
            <a:endParaRPr lang="en-US" sz="1100" dirty="0"/>
          </a:p>
        </p:txBody>
      </p:sp>
      <p:sp>
        <p:nvSpPr>
          <p:cNvPr id="25" name="Text 23"/>
          <p:cNvSpPr/>
          <p:nvPr/>
        </p:nvSpPr>
        <p:spPr>
          <a:xfrm>
            <a:off x="822960" y="3895344"/>
            <a:ext cx="8046720" cy="402336"/>
          </a:xfrm>
          <a:prstGeom prst="rect">
            <a:avLst/>
          </a:prstGeom>
          <a:noFill/>
          <a:ln/>
        </p:spPr>
        <p:txBody>
          <a:bodyPr wrap="square" lIns="0" tIns="0" rIns="0" bIns="0" rtlCol="0" anchor="ctr"/>
          <a:lstStyle/>
          <a:p>
            <a:pPr marL="0" indent="0">
              <a:buNone/>
            </a:pPr>
            <a:r>
              <a:rPr lang="en-US" sz="1000" dirty="0">
                <a:solidFill>
                  <a:srgbClr val="1E293B"/>
                </a:solidFill>
              </a:rPr>
              <a:t>E.F. Codd - A Relational Model of Data for Large Shared Data Banks. Communications of the ACM, Vol. 13, No. 6, 1970.</a:t>
            </a:r>
            <a:endParaRPr lang="en-US" sz="1000" dirty="0"/>
          </a:p>
        </p:txBody>
      </p:sp>
      <p:sp>
        <p:nvSpPr>
          <p:cNvPr id="26" name="Shape 24"/>
          <p:cNvSpPr/>
          <p:nvPr/>
        </p:nvSpPr>
        <p:spPr>
          <a:xfrm>
            <a:off x="274320" y="4352544"/>
            <a:ext cx="8595360" cy="0"/>
          </a:xfrm>
          <a:prstGeom prst="line">
            <a:avLst/>
          </a:prstGeom>
          <a:noFill/>
          <a:ln w="6350">
            <a:solidFill>
              <a:srgbClr val="CBD5E1"/>
            </a:solidFill>
            <a:prstDash val="solid"/>
          </a:ln>
        </p:spPr>
        <p:txBody>
          <a:bodyPr/>
          <a:lstStyle/>
          <a:p>
            <a:endParaRPr lang="es-ES"/>
          </a:p>
        </p:txBody>
      </p:sp>
      <p:sp>
        <p:nvSpPr>
          <p:cNvPr id="27" name="Text 25"/>
          <p:cNvSpPr/>
          <p:nvPr/>
        </p:nvSpPr>
        <p:spPr>
          <a:xfrm>
            <a:off x="274320" y="4464666"/>
            <a:ext cx="502920" cy="274320"/>
          </a:xfrm>
          <a:prstGeom prst="rect">
            <a:avLst/>
          </a:prstGeom>
          <a:noFill/>
          <a:ln/>
        </p:spPr>
        <p:txBody>
          <a:bodyPr wrap="square" lIns="0" tIns="0" rIns="0" bIns="0" rtlCol="0" anchor="ctr"/>
          <a:lstStyle/>
          <a:p>
            <a:pPr marL="0" indent="0">
              <a:buNone/>
            </a:pPr>
            <a:r>
              <a:rPr lang="en-US" sz="1100" b="1" dirty="0">
                <a:solidFill>
                  <a:srgbClr val="0891B2"/>
                </a:solidFill>
                <a:latin typeface="Consolas" pitchFamily="34" charset="0"/>
                <a:ea typeface="Consolas" pitchFamily="34" charset="-122"/>
                <a:cs typeface="Consolas" pitchFamily="34" charset="-120"/>
              </a:rPr>
              <a:t>[8]</a:t>
            </a:r>
            <a:endParaRPr lang="en-US" sz="1100" dirty="0"/>
          </a:p>
        </p:txBody>
      </p:sp>
      <p:sp>
        <p:nvSpPr>
          <p:cNvPr id="28" name="Text 26"/>
          <p:cNvSpPr/>
          <p:nvPr/>
        </p:nvSpPr>
        <p:spPr>
          <a:xfrm>
            <a:off x="822960" y="4407408"/>
            <a:ext cx="8046720" cy="402336"/>
          </a:xfrm>
          <a:prstGeom prst="rect">
            <a:avLst/>
          </a:prstGeom>
          <a:noFill/>
          <a:ln/>
        </p:spPr>
        <p:txBody>
          <a:bodyPr wrap="square" lIns="0" tIns="0" rIns="0" bIns="0" rtlCol="0" anchor="ctr"/>
          <a:lstStyle/>
          <a:p>
            <a:pPr marL="0" indent="0">
              <a:buNone/>
            </a:pPr>
            <a:r>
              <a:rPr lang="en-US" sz="1000" dirty="0">
                <a:solidFill>
                  <a:srgbClr val="1E293B"/>
                </a:solidFill>
              </a:rPr>
              <a:t>W3Schools SQL Tutorial - https://www.w3schools.com/sql/ (introductory reference, supplemental).</a:t>
            </a:r>
            <a:endParaRPr lang="en-US" sz="1000" dirty="0"/>
          </a:p>
        </p:txBody>
      </p:sp>
      <p:sp>
        <p:nvSpPr>
          <p:cNvPr id="29" name="Shape 27"/>
          <p:cNvSpPr/>
          <p:nvPr/>
        </p:nvSpPr>
        <p:spPr>
          <a:xfrm>
            <a:off x="274320" y="4864608"/>
            <a:ext cx="8595360" cy="0"/>
          </a:xfrm>
          <a:prstGeom prst="line">
            <a:avLst/>
          </a:prstGeom>
          <a:noFill/>
          <a:ln w="6350">
            <a:solidFill>
              <a:srgbClr val="CBD5E1"/>
            </a:solidFill>
            <a:prstDash val="solid"/>
          </a:ln>
        </p:spPr>
        <p:txBody>
          <a:bodyPr/>
          <a:lstStyle/>
          <a:p>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TotalTime>
  <Words>3196</Words>
  <Application>Microsoft Office PowerPoint</Application>
  <PresentationFormat>Presentación en pantalla (16:9)</PresentationFormat>
  <Paragraphs>416</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Languages</dc:title>
  <dc:subject>PptxGenJS Presentation</dc:subject>
  <dc:creator>SSD Seminar – Wrocław University of Science and Technology</dc:creator>
  <cp:lastModifiedBy>Alvaro Puebla Ruisanchez (293867)</cp:lastModifiedBy>
  <cp:revision>17</cp:revision>
  <dcterms:created xsi:type="dcterms:W3CDTF">2026-03-09T13:30:01Z</dcterms:created>
  <dcterms:modified xsi:type="dcterms:W3CDTF">2026-05-04T11:30:24Z</dcterms:modified>
</cp:coreProperties>
</file>