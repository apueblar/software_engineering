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5558" autoAdjust="0"/>
  </p:normalViewPr>
  <p:slideViewPr>
    <p:cSldViewPr snapToGrid="0" snapToObjects="1">
      <p:cViewPr varScale="1">
        <p:scale>
          <a:sx n="82" d="100"/>
          <a:sy n="82" d="100"/>
        </p:scale>
        <p:origin x="1474" y="-47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088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ALVARO:
"Good morning everyone. My name is Álvaro and together with my partner Enrique we will be presenting our Ethics of New Technologies report.
Today we'll walk you through two professional codes of ethics, a fictional but realistic case study involving an AI policing algorithm, and our ethical and philosophical analysis.
Let's get started."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ALVARO:
"For this report, we chose two of the most recognized ethical frameworks in computing: the ACM Code of Ethics, published in 2018, and the IEEE Code of Ethics, updated in 2020.
The ACM is the most </a:t>
            </a:r>
            <a:r>
              <a:rPr lang="en-US"/>
              <a:t>detailed - </a:t>
            </a:r>
            <a:r>
              <a:rPr lang="en-US" dirty="0"/>
              <a:t>it's specific to computer science and includes sub-principles covering topics like algorithmic fairness and privacy.
The IEEE is </a:t>
            </a:r>
            <a:r>
              <a:rPr lang="en-US"/>
              <a:t>broader - </a:t>
            </a:r>
            <a:r>
              <a:rPr lang="en-US" dirty="0"/>
              <a:t>it applies to all engineering disciplines and is structured as 10 concise clauses, with public safety at the top.
Both share the same goal: guiding professionals to act responsibly, but they approach it from different angles."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ALVARO:
"Looking at the ACM code more closely, five principles are directly relevant to our case.
Principle 1.1 says computing professionals must contribute to the well-being of all </a:t>
            </a:r>
            <a:r>
              <a:rPr lang="en-US"/>
              <a:t>stakeholders - </a:t>
            </a:r>
            <a:r>
              <a:rPr lang="en-US" dirty="0"/>
              <a:t>not just the majority.
1.2 tells us to actively avoid harm, even when it's unintended.
1.4 is particularly important today: it explicitly addresses algorithmic bias and requires fair treatment regardless of race, income, or origin.
1.6 mandates that personal data must only be used with proper </a:t>
            </a:r>
            <a:r>
              <a:rPr lang="en-US"/>
              <a:t>consent - </a:t>
            </a:r>
            <a:r>
              <a:rPr lang="en-US" dirty="0"/>
              <a:t>this is closely tied to GDPR.
And 2.5 requires thorough, honest evaluations of our systems before deployment.
These five principles will form the backbone of our ethical analysis."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ALVARO:
"The IEEE Code, for its part, covers all engineering disciplines and is built around three clauses we found most relevant.
Clause 1 puts public safety </a:t>
            </a:r>
            <a:r>
              <a:rPr lang="en-US"/>
              <a:t>first - </a:t>
            </a:r>
            <a:r>
              <a:rPr lang="en-US" dirty="0"/>
              <a:t>above cost savings, efficiency, or any other metric.
Clause 7 requires engineers to accept honest criticism and correct errors. And Clause 8 demands fair treatment of all persons, regardless of background.
When we compare the two frameworks side by side, the main differences are clear: ACM is more detailed and specific to software, with explicit coverage of algorithmic bias and privacy. IEEE is broader and more universal, but equally firm on the core values.
Despite their differences, both codes point in the same </a:t>
            </a:r>
            <a:r>
              <a:rPr lang="en-US"/>
              <a:t>direction - </a:t>
            </a:r>
            <a:r>
              <a:rPr lang="en-US" dirty="0"/>
              <a:t>which makes our case study all the more troubling."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ALVARO:
"Let me now introduce the case at the heart of our analysis. PATROL-AI is a fictional but entirely plausible scenario.
A tech startup has deployed a predictive policing algorithm in a city of 500,000 people. On paper, the results look great: crime drops 18%, emergency response improves 12%, and the city saves €900,000 a year.
Management is happy. The press is reporting it as a success.
But then the lead engineer, Marta, runs a bias </a:t>
            </a:r>
            <a:r>
              <a:rPr lang="en-US"/>
              <a:t>audit - </a:t>
            </a:r>
            <a:r>
              <a:rPr lang="en-US" dirty="0"/>
              <a:t>and what she finds changes everything. I'll hand it over to Enrique to explain what she discovered."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ENRIQUE:
"Thank you Álvaro. So what does Marta actually find?
The algorithm flags residents in three low-income and immigrant neighbourhoods at 3.4 times the rate of the rest of the </a:t>
            </a:r>
            <a:r>
              <a:rPr lang="en-US"/>
              <a:t>city - </a:t>
            </a:r>
            <a:r>
              <a:rPr lang="en-US" dirty="0"/>
              <a:t>that's 15,000 people being systematically over-surveilled.
The root cause is historical bias: the training data reflects decades of discriminatory policing, so the model learns to replicate and amplify those patterns. This creates a feedback </a:t>
            </a:r>
            <a:r>
              <a:rPr lang="en-US"/>
              <a:t>loop - </a:t>
            </a:r>
            <a:r>
              <a:rPr lang="en-US" dirty="0"/>
              <a:t>more flags, more patrols, more arrests, more data, even more flags.
On top of that, CCTV footage was used without GDPR-compliant consent.
And when Marta brings all this to management, they dismiss her findings entirely. 'The numbers speak for themselves,' they say. That </a:t>
            </a:r>
            <a:r>
              <a:rPr lang="en-US"/>
              <a:t>response - </a:t>
            </a:r>
            <a:r>
              <a:rPr lang="en-US" dirty="0"/>
              <a:t>or rather, that lack of </a:t>
            </a:r>
            <a:r>
              <a:rPr lang="en-US"/>
              <a:t>response - </a:t>
            </a:r>
            <a:r>
              <a:rPr lang="en-US" dirty="0"/>
              <a:t>is itself an ethical failure."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ENRIQUE:
"Now let's apply both codes to what actually happened.
Under the ACM code, PATROL-AI fails on four out of five principles we examined. It ignores the well-being of 15,000 residents, it causes documented harm that management chooses to continue, it creates algorithmic discrimination, and it violates privacy through illegal data use. The one principle that was upheld is </a:t>
            </a:r>
            <a:r>
              <a:rPr lang="en-US"/>
              <a:t>2.5 - </a:t>
            </a:r>
            <a:r>
              <a:rPr lang="en-US" dirty="0"/>
              <a:t>Marta performed a proper, thorough evaluation. The failure lies entirely with management.
Under IEEE, the picture is the same. Clauses 1, 7, and 8 are all </a:t>
            </a:r>
            <a:r>
              <a:rPr lang="en-US"/>
              <a:t>violated - </a:t>
            </a:r>
            <a:r>
              <a:rPr lang="en-US" dirty="0"/>
              <a:t>public welfare, honest criticism, and fair treatment.
Taken together, both frameworks give us the same verdict: this system, as deployed and as managed, is ethically unacceptable."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ENRIQUE:
"Beyond the codes of ethics, we also looked at this through a utilitarian </a:t>
            </a:r>
            <a:r>
              <a:rPr lang="en-US"/>
              <a:t>lens - </a:t>
            </a:r>
            <a:r>
              <a:rPr lang="en-US" dirty="0"/>
              <a:t>the philosophy of maximising the greatest good for the greatest number.
Management's argument sounds utilitarian: 485,000 people benefit, 15,000 people complain. Simple math, right?
Wrong. This is what we call 'simplistic utilitarianism</a:t>
            </a:r>
            <a:r>
              <a:rPr lang="en-US"/>
              <a:t>' - </a:t>
            </a:r>
            <a:r>
              <a:rPr lang="en-US" dirty="0"/>
              <a:t>and it fails on three grounds.
First, long-term calculus: the feedback loop means harm compounds over time. After five years, the damage to those 15,000 residents likely outweighs any marginal benefit to the rest of the city.
Second, rule utilitarianism from Mill: if we adopted the general rule that 'minority rights can be sacrificed for aggregate statistics,' that would be catastrophic at scale. Good ethical rules must be safe to universalise.
Third, Bentham's intensity of harm: severe, concentrated </a:t>
            </a:r>
            <a:r>
              <a:rPr lang="en-US"/>
              <a:t>harm - </a:t>
            </a:r>
            <a:r>
              <a:rPr lang="en-US" dirty="0"/>
              <a:t>harassment, loss of freedom, psychological </a:t>
            </a:r>
            <a:r>
              <a:rPr lang="en-US"/>
              <a:t>damage - </a:t>
            </a:r>
            <a:r>
              <a:rPr lang="en-US" dirty="0"/>
              <a:t>is not morally equivalent to a diffuse, marginal benefit spread across a large population. Quantity alone does not determine ethical weight."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ENRIQUE:
"So what is the right course of action for Marta, both ethically and practically?
Step one: formal documentation. A verbal complaint is easy to ignore. Marta needs a written audit with timestamps, data, and clear evidence. This protects her and creates accountability.
Step two: propose solutions, not just problems. Technical fixes </a:t>
            </a:r>
            <a:r>
              <a:rPr lang="en-US"/>
              <a:t>exist - </a:t>
            </a:r>
            <a:r>
              <a:rPr lang="en-US" dirty="0"/>
              <a:t>bias correction, fairness constraints, independent auditing. Presenting these makes it harder for management to dismiss her.
Step three: escalate internally. Go beyond her immediate </a:t>
            </a:r>
            <a:r>
              <a:rPr lang="en-US"/>
              <a:t>manager - </a:t>
            </a:r>
            <a:r>
              <a:rPr lang="en-US" dirty="0"/>
              <a:t>to legal, to the ethics board, to senior leadership.
And step four, if all else fails: contact the national data protection authority. GDPR enforcement is real, and regulators have the power to compel the company to act.
The key message here is that staying silent is itself an ethical failure. ACM, IEEE, and utilitarian philosophy all say the same thing: Marta has a professional and moral obligation to act."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ENRIQUE:
"Let me close with three key conclusions from our analysis.
First: PATROL-AI is ethically unacceptable - not because it produces no benefits, but because it produces those benefits by concentrating structural harm on a specific community. That is not an acceptable trade-off.
Second: both ethical frameworks and utilitarian philosophy reach the same verdict. Seven clauses were violated. One was upheld. The alignment across these different approaches strengthens our conclusion.
Third, and most importantly: aggregate benefit does not justify unjust distribution of harm. Ethical analysis must always ask two questions - not just 'how much good is produced?' but 'who bears the cost, and is that distribution fair?'
And fourth: the ethical engineer's responsibility does not end at deployment. Marta's case shows that ongoing auditing, transparency, and the courage to escalate are as important as getting the initial design right.
Thank you for your attention - we're happy to take any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w="12700">
            <a:solidFill>
              <a:srgbClr val="C0392B"/>
            </a:solidFill>
            <a:prstDash val="solid"/>
          </a:ln>
        </p:spPr>
        <p:txBody>
          <a:bodyPr/>
          <a:lstStyle/>
          <a:p>
            <a:endParaRPr lang="es-ES"/>
          </a:p>
        </p:txBody>
      </p:sp>
      <p:sp>
        <p:nvSpPr>
          <p:cNvPr id="3" name="Shape 1"/>
          <p:cNvSpPr/>
          <p:nvPr/>
        </p:nvSpPr>
        <p:spPr>
          <a:xfrm>
            <a:off x="7132320" y="-1097280"/>
            <a:ext cx="3200400" cy="3200400"/>
          </a:xfrm>
          <a:prstGeom prst="ellipse">
            <a:avLst/>
          </a:prstGeom>
          <a:solidFill>
            <a:srgbClr val="142B48"/>
          </a:solidFill>
          <a:ln w="12700">
            <a:solidFill>
              <a:srgbClr val="2E4F7A"/>
            </a:solidFill>
            <a:prstDash val="solid"/>
          </a:ln>
        </p:spPr>
        <p:txBody>
          <a:bodyPr/>
          <a:lstStyle/>
          <a:p>
            <a:endParaRPr lang="es-ES"/>
          </a:p>
        </p:txBody>
      </p:sp>
      <p:sp>
        <p:nvSpPr>
          <p:cNvPr id="4" name="Shape 2"/>
          <p:cNvSpPr/>
          <p:nvPr/>
        </p:nvSpPr>
        <p:spPr>
          <a:xfrm>
            <a:off x="7498080" y="-731520"/>
            <a:ext cx="2560320" cy="2560320"/>
          </a:xfrm>
          <a:prstGeom prst="ellipse">
            <a:avLst/>
          </a:prstGeom>
          <a:solidFill>
            <a:srgbClr val="C0392B">
              <a:alpha val="20000"/>
            </a:srgbClr>
          </a:solidFill>
          <a:ln w="12700">
            <a:solidFill>
              <a:srgbClr val="C0392B">
                <a:alpha val="20000"/>
              </a:srgbClr>
            </a:solidFill>
            <a:prstDash val="solid"/>
          </a:ln>
        </p:spPr>
        <p:txBody>
          <a:bodyPr/>
          <a:lstStyle/>
          <a:p>
            <a:endParaRPr lang="es-ES"/>
          </a:p>
        </p:txBody>
      </p:sp>
      <p:sp>
        <p:nvSpPr>
          <p:cNvPr id="5" name="Shape 3"/>
          <p:cNvSpPr/>
          <p:nvPr/>
        </p:nvSpPr>
        <p:spPr>
          <a:xfrm>
            <a:off x="320040" y="502920"/>
            <a:ext cx="2560320" cy="292608"/>
          </a:xfrm>
          <a:prstGeom prst="rect">
            <a:avLst/>
          </a:prstGeom>
          <a:solidFill>
            <a:srgbClr val="C0392B"/>
          </a:solidFill>
          <a:ln w="12700">
            <a:solidFill>
              <a:srgbClr val="C0392B"/>
            </a:solidFill>
            <a:prstDash val="solid"/>
          </a:ln>
        </p:spPr>
        <p:txBody>
          <a:bodyPr/>
          <a:lstStyle/>
          <a:p>
            <a:endParaRPr lang="es-ES"/>
          </a:p>
        </p:txBody>
      </p:sp>
      <p:sp>
        <p:nvSpPr>
          <p:cNvPr id="6" name="Text 4"/>
          <p:cNvSpPr/>
          <p:nvPr/>
        </p:nvSpPr>
        <p:spPr>
          <a:xfrm>
            <a:off x="320040" y="502920"/>
            <a:ext cx="2560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W08IST-SM4017S · 2025/26</a:t>
            </a:r>
            <a:endParaRPr lang="en-US" sz="900" dirty="0"/>
          </a:p>
        </p:txBody>
      </p:sp>
      <p:sp>
        <p:nvSpPr>
          <p:cNvPr id="7" name="Text 5"/>
          <p:cNvSpPr/>
          <p:nvPr/>
        </p:nvSpPr>
        <p:spPr>
          <a:xfrm>
            <a:off x="320040" y="1005840"/>
            <a:ext cx="6858000" cy="1737360"/>
          </a:xfrm>
          <a:prstGeom prst="rect">
            <a:avLst/>
          </a:prstGeom>
          <a:noFill/>
          <a:ln/>
        </p:spPr>
        <p:txBody>
          <a:bodyPr wrap="square" rtlCol="0" anchor="t"/>
          <a:lstStyle/>
          <a:p>
            <a:pPr marL="0" indent="0" algn="l">
              <a:buNone/>
            </a:pPr>
            <a:r>
              <a:rPr lang="en-US" sz="4800" b="1" dirty="0">
                <a:solidFill>
                  <a:srgbClr val="FFFFFF"/>
                </a:solidFill>
                <a:latin typeface="Cambria" pitchFamily="34" charset="0"/>
                <a:ea typeface="Cambria" pitchFamily="34" charset="-122"/>
                <a:cs typeface="Cambria" pitchFamily="34" charset="-120"/>
              </a:rPr>
              <a:t>Ethics of New</a:t>
            </a:r>
            <a:endParaRPr lang="en-US" sz="4800" dirty="0"/>
          </a:p>
          <a:p>
            <a:pPr marL="0" indent="0" algn="l">
              <a:buNone/>
            </a:pPr>
            <a:r>
              <a:rPr lang="en-US" sz="4800" b="1" dirty="0">
                <a:solidFill>
                  <a:srgbClr val="FFFFFF"/>
                </a:solidFill>
                <a:latin typeface="Cambria" pitchFamily="34" charset="0"/>
                <a:ea typeface="Cambria" pitchFamily="34" charset="-122"/>
                <a:cs typeface="Cambria" pitchFamily="34" charset="-120"/>
              </a:rPr>
              <a:t>Technologies</a:t>
            </a:r>
            <a:endParaRPr lang="en-US" sz="4800" dirty="0"/>
          </a:p>
        </p:txBody>
      </p:sp>
      <p:sp>
        <p:nvSpPr>
          <p:cNvPr id="8" name="Shape 6"/>
          <p:cNvSpPr/>
          <p:nvPr/>
        </p:nvSpPr>
        <p:spPr>
          <a:xfrm>
            <a:off x="320040" y="2697480"/>
            <a:ext cx="1645920" cy="54864"/>
          </a:xfrm>
          <a:prstGeom prst="rect">
            <a:avLst/>
          </a:prstGeom>
          <a:solidFill>
            <a:srgbClr val="C0392B"/>
          </a:solidFill>
          <a:ln w="12700">
            <a:solidFill>
              <a:srgbClr val="C0392B"/>
            </a:solidFill>
            <a:prstDash val="solid"/>
          </a:ln>
        </p:spPr>
        <p:txBody>
          <a:bodyPr/>
          <a:lstStyle/>
          <a:p>
            <a:endParaRPr lang="es-ES"/>
          </a:p>
        </p:txBody>
      </p:sp>
      <p:sp>
        <p:nvSpPr>
          <p:cNvPr id="9" name="Text 7"/>
          <p:cNvSpPr/>
          <p:nvPr/>
        </p:nvSpPr>
        <p:spPr>
          <a:xfrm>
            <a:off x="320040" y="2834640"/>
            <a:ext cx="7315200" cy="822960"/>
          </a:xfrm>
          <a:prstGeom prst="rect">
            <a:avLst/>
          </a:prstGeom>
          <a:noFill/>
          <a:ln/>
        </p:spPr>
        <p:txBody>
          <a:bodyPr wrap="square" rtlCol="0" anchor="t"/>
          <a:lstStyle/>
          <a:p>
            <a:pPr marL="0" indent="0" algn="l">
              <a:buNone/>
            </a:pPr>
            <a:r>
              <a:rPr lang="en-US" sz="1800" dirty="0">
                <a:solidFill>
                  <a:srgbClr val="A8C4E0"/>
                </a:solidFill>
                <a:latin typeface="Calibri" pitchFamily="34" charset="0"/>
                <a:ea typeface="Calibri" pitchFamily="34" charset="-122"/>
                <a:cs typeface="Calibri" pitchFamily="34" charset="-120"/>
              </a:rPr>
              <a:t>When Algorithms Discriminate:</a:t>
            </a:r>
            <a:endParaRPr lang="en-US" sz="1800" dirty="0"/>
          </a:p>
          <a:p>
            <a:pPr marL="0" indent="0" algn="l">
              <a:buNone/>
            </a:pPr>
            <a:r>
              <a:rPr lang="en-US" sz="1800" dirty="0">
                <a:solidFill>
                  <a:srgbClr val="A8C4E0"/>
                </a:solidFill>
                <a:latin typeface="Calibri" pitchFamily="34" charset="0"/>
                <a:ea typeface="Calibri" pitchFamily="34" charset="-122"/>
                <a:cs typeface="Calibri" pitchFamily="34" charset="-120"/>
              </a:rPr>
              <a:t>The PATROL-AI Case Study</a:t>
            </a:r>
            <a:endParaRPr lang="en-US" sz="1800" dirty="0"/>
          </a:p>
        </p:txBody>
      </p:sp>
      <p:sp>
        <p:nvSpPr>
          <p:cNvPr id="10" name="Text 8"/>
          <p:cNvSpPr/>
          <p:nvPr/>
        </p:nvSpPr>
        <p:spPr>
          <a:xfrm>
            <a:off x="320040" y="4023360"/>
            <a:ext cx="5486400" cy="411480"/>
          </a:xfrm>
          <a:prstGeom prst="rect">
            <a:avLst/>
          </a:prstGeom>
          <a:noFill/>
          <a:ln/>
        </p:spPr>
        <p:txBody>
          <a:bodyPr wrap="square" rtlCol="0" anchor="ctr"/>
          <a:lstStyle/>
          <a:p>
            <a:pPr marL="0" indent="0" algn="l">
              <a:buNone/>
            </a:pPr>
            <a:r>
              <a:rPr lang="en-US" sz="1400" dirty="0">
                <a:solidFill>
                  <a:srgbClr val="94A3B8"/>
                </a:solidFill>
                <a:latin typeface="Calibri" pitchFamily="34" charset="0"/>
                <a:ea typeface="Calibri" pitchFamily="34" charset="-122"/>
                <a:cs typeface="Calibri" pitchFamily="34" charset="-120"/>
              </a:rPr>
              <a:t>Álvaro  ·  Enrique</a:t>
            </a:r>
            <a:endParaRPr lang="en-US" sz="1400" dirty="0"/>
          </a:p>
        </p:txBody>
      </p:sp>
      <p:sp>
        <p:nvSpPr>
          <p:cNvPr id="11" name="Shape 9"/>
          <p:cNvSpPr/>
          <p:nvPr/>
        </p:nvSpPr>
        <p:spPr>
          <a:xfrm>
            <a:off x="0" y="4846320"/>
            <a:ext cx="9144000" cy="297180"/>
          </a:xfrm>
          <a:prstGeom prst="rect">
            <a:avLst/>
          </a:prstGeom>
          <a:solidFill>
            <a:srgbClr val="142B48"/>
          </a:solidFill>
          <a:ln w="12700">
            <a:solidFill>
              <a:srgbClr val="142B48"/>
            </a:solidFill>
            <a:prstDash val="solid"/>
          </a:ln>
        </p:spPr>
        <p:txBody>
          <a:bodyPr/>
          <a:lstStyle/>
          <a:p>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s-ES"/>
          </a:p>
        </p:txBody>
      </p:sp>
      <p:sp>
        <p:nvSpPr>
          <p:cNvPr id="3" name="Text 1"/>
          <p:cNvSpPr/>
          <p:nvPr/>
        </p:nvSpPr>
        <p:spPr>
          <a:xfrm>
            <a:off x="365760" y="0"/>
            <a:ext cx="8229600" cy="685800"/>
          </a:xfrm>
          <a:prstGeom prst="rect">
            <a:avLst/>
          </a:prstGeom>
          <a:noFill/>
          <a:ln/>
        </p:spPr>
        <p:txBody>
          <a:bodyPr wrap="square" rtlCol="0" anchor="ctr"/>
          <a:lstStyle/>
          <a:p>
            <a:pPr marL="0" indent="0" algn="l">
              <a:buNone/>
            </a:pPr>
            <a:r>
              <a:rPr lang="en-US" sz="1100" b="1" kern="0" spc="300" dirty="0">
                <a:solidFill>
                  <a:srgbClr val="94A3B8"/>
                </a:solidFill>
                <a:latin typeface="Calibri" pitchFamily="34" charset="0"/>
                <a:ea typeface="Calibri" pitchFamily="34" charset="-122"/>
                <a:cs typeface="Calibri" pitchFamily="34" charset="-120"/>
              </a:rPr>
              <a:t>CODES OF ETHICS</a:t>
            </a:r>
            <a:endParaRPr lang="en-US" sz="1100" dirty="0"/>
          </a:p>
        </p:txBody>
      </p:sp>
      <p:sp>
        <p:nvSpPr>
          <p:cNvPr id="4" name="Text 2"/>
          <p:cNvSpPr/>
          <p:nvPr/>
        </p:nvSpPr>
        <p:spPr>
          <a:xfrm>
            <a:off x="365760" y="822960"/>
            <a:ext cx="8229600" cy="594360"/>
          </a:xfrm>
          <a:prstGeom prst="rect">
            <a:avLst/>
          </a:prstGeom>
          <a:noFill/>
          <a:ln/>
        </p:spPr>
        <p:txBody>
          <a:bodyPr wrap="square"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Two Frameworks, One Goal</a:t>
            </a:r>
            <a:endParaRPr lang="en-US" sz="2800" dirty="0"/>
          </a:p>
        </p:txBody>
      </p:sp>
      <p:sp>
        <p:nvSpPr>
          <p:cNvPr id="5" name="Text 3"/>
          <p:cNvSpPr/>
          <p:nvPr/>
        </p:nvSpPr>
        <p:spPr>
          <a:xfrm>
            <a:off x="365760" y="1417320"/>
            <a:ext cx="8229600" cy="411480"/>
          </a:xfrm>
          <a:prstGeom prst="rect">
            <a:avLst/>
          </a:prstGeom>
          <a:noFill/>
          <a:ln/>
        </p:spPr>
        <p:txBody>
          <a:bodyPr wrap="square" rtlCol="0" anchor="ctr"/>
          <a:lstStyle/>
          <a:p>
            <a:pPr marL="0" indent="0" algn="l">
              <a:buNone/>
            </a:pPr>
            <a:r>
              <a:rPr lang="en-US" sz="1300" dirty="0">
                <a:solidFill>
                  <a:srgbClr val="475569"/>
                </a:solidFill>
                <a:latin typeface="Calibri" pitchFamily="34" charset="0"/>
                <a:ea typeface="Calibri" pitchFamily="34" charset="-122"/>
                <a:cs typeface="Calibri" pitchFamily="34" charset="-120"/>
              </a:rPr>
              <a:t>We selected the ACM and IEEE codes - the two most widely adopted ethical frameworks in computing and engineering.</a:t>
            </a:r>
            <a:endParaRPr lang="en-US" sz="1300" dirty="0"/>
          </a:p>
        </p:txBody>
      </p:sp>
      <p:sp>
        <p:nvSpPr>
          <p:cNvPr id="6" name="Shape 4"/>
          <p:cNvSpPr/>
          <p:nvPr/>
        </p:nvSpPr>
        <p:spPr>
          <a:xfrm>
            <a:off x="365760" y="1965960"/>
            <a:ext cx="3931920" cy="26060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7" name="Shape 5"/>
          <p:cNvSpPr/>
          <p:nvPr/>
        </p:nvSpPr>
        <p:spPr>
          <a:xfrm>
            <a:off x="365760" y="1965960"/>
            <a:ext cx="3931920" cy="54864"/>
          </a:xfrm>
          <a:prstGeom prst="rect">
            <a:avLst/>
          </a:prstGeom>
          <a:solidFill>
            <a:srgbClr val="1E3A5F"/>
          </a:solidFill>
          <a:ln w="12700">
            <a:solidFill>
              <a:srgbClr val="1E3A5F"/>
            </a:solidFill>
            <a:prstDash val="solid"/>
          </a:ln>
        </p:spPr>
        <p:txBody>
          <a:bodyPr/>
          <a:lstStyle/>
          <a:p>
            <a:endParaRPr lang="es-ES"/>
          </a:p>
        </p:txBody>
      </p:sp>
      <p:sp>
        <p:nvSpPr>
          <p:cNvPr id="8" name="Text 6"/>
          <p:cNvSpPr/>
          <p:nvPr/>
        </p:nvSpPr>
        <p:spPr>
          <a:xfrm>
            <a:off x="502920" y="2057400"/>
            <a:ext cx="3657600" cy="365760"/>
          </a:xfrm>
          <a:prstGeom prst="rect">
            <a:avLst/>
          </a:prstGeom>
          <a:noFill/>
          <a:ln/>
        </p:spPr>
        <p:txBody>
          <a:bodyPr wrap="square" rtlCol="0" anchor="ctr"/>
          <a:lstStyle/>
          <a:p>
            <a:pPr marL="0" indent="0" algn="l">
              <a:buNone/>
            </a:pPr>
            <a:r>
              <a:rPr lang="en-US" sz="1500" b="1" dirty="0">
                <a:solidFill>
                  <a:srgbClr val="1E3A5F"/>
                </a:solidFill>
                <a:latin typeface="Cambria" pitchFamily="34" charset="0"/>
                <a:ea typeface="Cambria" pitchFamily="34" charset="-122"/>
                <a:cs typeface="Cambria" pitchFamily="34" charset="-120"/>
              </a:rPr>
              <a:t>ACM Code of Ethics</a:t>
            </a:r>
            <a:endParaRPr lang="en-US" sz="1500" dirty="0"/>
          </a:p>
        </p:txBody>
      </p:sp>
      <p:sp>
        <p:nvSpPr>
          <p:cNvPr id="9" name="Text 7"/>
          <p:cNvSpPr/>
          <p:nvPr/>
        </p:nvSpPr>
        <p:spPr>
          <a:xfrm>
            <a:off x="502920" y="2404872"/>
            <a:ext cx="3657600" cy="256032"/>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Association for Computing Machinery · 2018</a:t>
            </a:r>
            <a:endParaRPr lang="en-US" sz="1000" dirty="0"/>
          </a:p>
        </p:txBody>
      </p:sp>
      <p:sp>
        <p:nvSpPr>
          <p:cNvPr id="10" name="Text 8"/>
          <p:cNvSpPr/>
          <p:nvPr/>
        </p:nvSpPr>
        <p:spPr>
          <a:xfrm>
            <a:off x="502920" y="2724912"/>
            <a:ext cx="3566160" cy="1645920"/>
          </a:xfrm>
          <a:prstGeom prst="rect">
            <a:avLst/>
          </a:prstGeom>
          <a:noFill/>
          <a:ln/>
        </p:spPr>
        <p:txBody>
          <a:bodyPr wrap="square" rtlCol="0" anchor="t"/>
          <a:lstStyle/>
          <a:p>
            <a:pPr marL="342900" indent="-342900" algn="l">
              <a:spcAft>
                <a:spcPts val="400"/>
              </a:spcAft>
              <a:buSzPct val="100000"/>
              <a:buChar char="•"/>
            </a:pPr>
            <a:r>
              <a:rPr lang="en-US" sz="1200" b="1" dirty="0">
                <a:solidFill>
                  <a:srgbClr val="1E293B"/>
                </a:solidFill>
                <a:latin typeface="Calibri" pitchFamily="34" charset="0"/>
                <a:ea typeface="Calibri" pitchFamily="34" charset="-122"/>
                <a:cs typeface="Calibri" pitchFamily="34" charset="-120"/>
              </a:rPr>
              <a:t>Computing-specific</a:t>
            </a:r>
            <a:endParaRPr lang="en-US" sz="1200" dirty="0"/>
          </a:p>
          <a:p>
            <a:pPr marL="342900" indent="-342900" algn="l">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Detailed sub-principles organized by tier</a:t>
            </a:r>
            <a:endParaRPr lang="en-US" sz="1200" dirty="0"/>
          </a:p>
          <a:p>
            <a:pPr marL="342900" indent="-342900" algn="l">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Covers algorithmic fairness &amp; privacy</a:t>
            </a:r>
            <a:endParaRPr lang="en-US" sz="1200" dirty="0"/>
          </a:p>
          <a:p>
            <a:pPr marL="342900" indent="-342900" algn="l">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Obligations for both individuals &amp; organizations</a:t>
            </a:r>
            <a:endParaRPr lang="en-US" sz="1200" dirty="0"/>
          </a:p>
        </p:txBody>
      </p:sp>
      <p:sp>
        <p:nvSpPr>
          <p:cNvPr id="11" name="Shape 9"/>
          <p:cNvSpPr/>
          <p:nvPr/>
        </p:nvSpPr>
        <p:spPr>
          <a:xfrm>
            <a:off x="4846320" y="1965960"/>
            <a:ext cx="3931920" cy="26060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2" name="Shape 10"/>
          <p:cNvSpPr/>
          <p:nvPr/>
        </p:nvSpPr>
        <p:spPr>
          <a:xfrm>
            <a:off x="4846320" y="1965960"/>
            <a:ext cx="3931920" cy="54864"/>
          </a:xfrm>
          <a:prstGeom prst="rect">
            <a:avLst/>
          </a:prstGeom>
          <a:solidFill>
            <a:srgbClr val="C0392B"/>
          </a:solidFill>
          <a:ln w="12700">
            <a:solidFill>
              <a:srgbClr val="C0392B"/>
            </a:solidFill>
            <a:prstDash val="solid"/>
          </a:ln>
        </p:spPr>
        <p:txBody>
          <a:bodyPr/>
          <a:lstStyle/>
          <a:p>
            <a:endParaRPr lang="es-ES"/>
          </a:p>
        </p:txBody>
      </p:sp>
      <p:sp>
        <p:nvSpPr>
          <p:cNvPr id="13" name="Text 11"/>
          <p:cNvSpPr/>
          <p:nvPr/>
        </p:nvSpPr>
        <p:spPr>
          <a:xfrm>
            <a:off x="4983480" y="2057400"/>
            <a:ext cx="3657600" cy="365760"/>
          </a:xfrm>
          <a:prstGeom prst="rect">
            <a:avLst/>
          </a:prstGeom>
          <a:noFill/>
          <a:ln/>
        </p:spPr>
        <p:txBody>
          <a:bodyPr wrap="square" rtlCol="0" anchor="ctr"/>
          <a:lstStyle/>
          <a:p>
            <a:pPr marL="0" indent="0" algn="l">
              <a:buNone/>
            </a:pPr>
            <a:r>
              <a:rPr lang="en-US" sz="1500" b="1" dirty="0">
                <a:solidFill>
                  <a:srgbClr val="C0392B"/>
                </a:solidFill>
                <a:latin typeface="Cambria" pitchFamily="34" charset="0"/>
                <a:ea typeface="Cambria" pitchFamily="34" charset="-122"/>
                <a:cs typeface="Cambria" pitchFamily="34" charset="-120"/>
              </a:rPr>
              <a:t>IEEE Code of Ethics</a:t>
            </a:r>
            <a:endParaRPr lang="en-US" sz="1500" dirty="0"/>
          </a:p>
        </p:txBody>
      </p:sp>
      <p:sp>
        <p:nvSpPr>
          <p:cNvPr id="14" name="Text 12"/>
          <p:cNvSpPr/>
          <p:nvPr/>
        </p:nvSpPr>
        <p:spPr>
          <a:xfrm>
            <a:off x="4983480" y="2404872"/>
            <a:ext cx="3657600" cy="256032"/>
          </a:xfrm>
          <a:prstGeom prst="rect">
            <a:avLst/>
          </a:prstGeom>
          <a:noFill/>
          <a:ln/>
        </p:spPr>
        <p:txBody>
          <a:bodyPr wrap="square" rtlCol="0" anchor="ctr"/>
          <a:lstStyle/>
          <a:p>
            <a:pPr marL="0" indent="0" algn="l">
              <a:buNone/>
            </a:pPr>
            <a:r>
              <a:rPr lang="en-US" sz="1000" dirty="0">
                <a:solidFill>
                  <a:srgbClr val="94A3B8"/>
                </a:solidFill>
                <a:latin typeface="Calibri" pitchFamily="34" charset="0"/>
                <a:ea typeface="Calibri" pitchFamily="34" charset="-122"/>
                <a:cs typeface="Calibri" pitchFamily="34" charset="-120"/>
              </a:rPr>
              <a:t>Institute of Electrical &amp; Electronics Engineers · 2020</a:t>
            </a:r>
            <a:endParaRPr lang="en-US" sz="1000" dirty="0"/>
          </a:p>
        </p:txBody>
      </p:sp>
      <p:sp>
        <p:nvSpPr>
          <p:cNvPr id="15" name="Text 13"/>
          <p:cNvSpPr/>
          <p:nvPr/>
        </p:nvSpPr>
        <p:spPr>
          <a:xfrm>
            <a:off x="4983480" y="2724912"/>
            <a:ext cx="3566160" cy="1645920"/>
          </a:xfrm>
          <a:prstGeom prst="rect">
            <a:avLst/>
          </a:prstGeom>
          <a:noFill/>
          <a:ln/>
        </p:spPr>
        <p:txBody>
          <a:bodyPr wrap="square" rtlCol="0" anchor="t"/>
          <a:lstStyle/>
          <a:p>
            <a:pPr marL="342900" indent="-342900" algn="l">
              <a:spcAft>
                <a:spcPts val="400"/>
              </a:spcAft>
              <a:buSzPct val="100000"/>
              <a:buChar char="•"/>
            </a:pPr>
            <a:r>
              <a:rPr lang="en-US" sz="1200" b="1" dirty="0">
                <a:solidFill>
                  <a:srgbClr val="1E293B"/>
                </a:solidFill>
                <a:latin typeface="Calibri" pitchFamily="34" charset="0"/>
                <a:ea typeface="Calibri" pitchFamily="34" charset="-122"/>
                <a:cs typeface="Calibri" pitchFamily="34" charset="-120"/>
              </a:rPr>
              <a:t>All engineering disciplines</a:t>
            </a:r>
            <a:endParaRPr lang="en-US" sz="1200" dirty="0"/>
          </a:p>
          <a:p>
            <a:pPr marL="342900" indent="-342900" algn="l">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10 concise, universal clauses</a:t>
            </a:r>
            <a:endParaRPr lang="en-US" sz="1200" dirty="0"/>
          </a:p>
          <a:p>
            <a:pPr marL="342900" indent="-342900" algn="l">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Public safety as paramount principle</a:t>
            </a:r>
            <a:endParaRPr lang="en-US" sz="1200" dirty="0"/>
          </a:p>
          <a:p>
            <a:pPr marL="342900" indent="-342900" algn="l">
              <a:spcAft>
                <a:spcPts val="400"/>
              </a:spcAft>
              <a:buSzPct val="100000"/>
              <a:buChar char="•"/>
            </a:pPr>
            <a:r>
              <a:rPr lang="en-US" sz="1200" dirty="0">
                <a:solidFill>
                  <a:srgbClr val="1E293B"/>
                </a:solidFill>
                <a:latin typeface="Calibri" pitchFamily="34" charset="0"/>
                <a:ea typeface="Calibri" pitchFamily="34" charset="-122"/>
                <a:cs typeface="Calibri" pitchFamily="34" charset="-120"/>
              </a:rPr>
              <a:t>Emphasizes honesty and fair treatment</a:t>
            </a:r>
            <a:endParaRPr lang="en-US" sz="1200" dirty="0"/>
          </a:p>
        </p:txBody>
      </p:sp>
      <p:sp>
        <p:nvSpPr>
          <p:cNvPr id="16" name="Shape 14"/>
          <p:cNvSpPr/>
          <p:nvPr/>
        </p:nvSpPr>
        <p:spPr>
          <a:xfrm>
            <a:off x="0" y="4892040"/>
            <a:ext cx="9144000" cy="251460"/>
          </a:xfrm>
          <a:prstGeom prst="rect">
            <a:avLst/>
          </a:prstGeom>
          <a:solidFill>
            <a:srgbClr val="E2E8F0"/>
          </a:solidFill>
          <a:ln w="12700">
            <a:solidFill>
              <a:srgbClr val="E2E8F0"/>
            </a:solidFill>
            <a:prstDash val="solid"/>
          </a:ln>
        </p:spPr>
        <p:txBody>
          <a:bodyPr/>
          <a:lstStyle/>
          <a:p>
            <a:endParaRPr lang="es-ES"/>
          </a:p>
        </p:txBody>
      </p:sp>
      <p:sp>
        <p:nvSpPr>
          <p:cNvPr id="17" name="Text 15"/>
          <p:cNvSpPr/>
          <p:nvPr/>
        </p:nvSpPr>
        <p:spPr>
          <a:xfrm>
            <a:off x="365760" y="4892040"/>
            <a:ext cx="8229600" cy="25146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s-ES"/>
          </a:p>
        </p:txBody>
      </p:sp>
      <p:sp>
        <p:nvSpPr>
          <p:cNvPr id="3" name="Text 1"/>
          <p:cNvSpPr/>
          <p:nvPr/>
        </p:nvSpPr>
        <p:spPr>
          <a:xfrm>
            <a:off x="365760" y="0"/>
            <a:ext cx="8229600" cy="685800"/>
          </a:xfrm>
          <a:prstGeom prst="rect">
            <a:avLst/>
          </a:prstGeom>
          <a:noFill/>
          <a:ln/>
        </p:spPr>
        <p:txBody>
          <a:bodyPr wrap="square" rtlCol="0" anchor="ctr"/>
          <a:lstStyle/>
          <a:p>
            <a:pPr marL="0" indent="0" algn="l">
              <a:buNone/>
            </a:pPr>
            <a:r>
              <a:rPr lang="en-US" sz="1100" b="1" kern="0" spc="300" dirty="0">
                <a:solidFill>
                  <a:srgbClr val="94A3B8"/>
                </a:solidFill>
                <a:latin typeface="Calibri" pitchFamily="34" charset="0"/>
                <a:ea typeface="Calibri" pitchFamily="34" charset="-122"/>
                <a:cs typeface="Calibri" pitchFamily="34" charset="-120"/>
              </a:rPr>
              <a:t>ACM CODE OF ETHICS</a:t>
            </a:r>
            <a:endParaRPr lang="en-US" sz="1100" dirty="0"/>
          </a:p>
        </p:txBody>
      </p:sp>
      <p:sp>
        <p:nvSpPr>
          <p:cNvPr id="4" name="Text 2"/>
          <p:cNvSpPr/>
          <p:nvPr/>
        </p:nvSpPr>
        <p:spPr>
          <a:xfrm>
            <a:off x="365760" y="822960"/>
            <a:ext cx="8229600" cy="502920"/>
          </a:xfrm>
          <a:prstGeom prst="rect">
            <a:avLst/>
          </a:prstGeom>
          <a:noFill/>
          <a:ln/>
        </p:spPr>
        <p:txBody>
          <a:bodyPr wrap="square"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The 5 Principles Relevant to Our Case</a:t>
            </a:r>
            <a:endParaRPr lang="en-US" sz="2800" dirty="0"/>
          </a:p>
        </p:txBody>
      </p:sp>
      <p:sp>
        <p:nvSpPr>
          <p:cNvPr id="5" name="Shape 3"/>
          <p:cNvSpPr/>
          <p:nvPr/>
        </p:nvSpPr>
        <p:spPr>
          <a:xfrm>
            <a:off x="365760" y="1444752"/>
            <a:ext cx="4160520" cy="8046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6" name="Shape 4"/>
          <p:cNvSpPr/>
          <p:nvPr/>
        </p:nvSpPr>
        <p:spPr>
          <a:xfrm>
            <a:off x="365760" y="1444752"/>
            <a:ext cx="54864" cy="804672"/>
          </a:xfrm>
          <a:prstGeom prst="rect">
            <a:avLst/>
          </a:prstGeom>
          <a:solidFill>
            <a:srgbClr val="1E3A5F"/>
          </a:solidFill>
          <a:ln w="12700">
            <a:solidFill>
              <a:srgbClr val="1E3A5F"/>
            </a:solidFill>
            <a:prstDash val="solid"/>
          </a:ln>
        </p:spPr>
        <p:txBody>
          <a:bodyPr/>
          <a:lstStyle/>
          <a:p>
            <a:endParaRPr lang="es-ES"/>
          </a:p>
        </p:txBody>
      </p:sp>
      <p:sp>
        <p:nvSpPr>
          <p:cNvPr id="7" name="Text 5"/>
          <p:cNvSpPr/>
          <p:nvPr/>
        </p:nvSpPr>
        <p:spPr>
          <a:xfrm>
            <a:off x="502920" y="1517904"/>
            <a:ext cx="457200" cy="274320"/>
          </a:xfrm>
          <a:prstGeom prst="rect">
            <a:avLst/>
          </a:prstGeom>
          <a:noFill/>
          <a:ln/>
        </p:spPr>
        <p:txBody>
          <a:bodyPr wrap="square"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1.1</a:t>
            </a:r>
            <a:endParaRPr lang="en-US" sz="1000" dirty="0"/>
          </a:p>
        </p:txBody>
      </p:sp>
      <p:sp>
        <p:nvSpPr>
          <p:cNvPr id="8" name="Text 6"/>
          <p:cNvSpPr/>
          <p:nvPr/>
        </p:nvSpPr>
        <p:spPr>
          <a:xfrm>
            <a:off x="502920" y="1719072"/>
            <a:ext cx="3840480" cy="246888"/>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Contribute to well-being</a:t>
            </a:r>
            <a:endParaRPr lang="en-US" sz="1200" dirty="0"/>
          </a:p>
        </p:txBody>
      </p:sp>
      <p:sp>
        <p:nvSpPr>
          <p:cNvPr id="9" name="Text 7"/>
          <p:cNvSpPr/>
          <p:nvPr/>
        </p:nvSpPr>
        <p:spPr>
          <a:xfrm>
            <a:off x="502920" y="1947672"/>
            <a:ext cx="3840480" cy="246888"/>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All stakeholders must benefit - not just the majority.</a:t>
            </a:r>
            <a:endParaRPr lang="en-US" sz="1000" dirty="0"/>
          </a:p>
        </p:txBody>
      </p:sp>
      <p:sp>
        <p:nvSpPr>
          <p:cNvPr id="10" name="Shape 8"/>
          <p:cNvSpPr/>
          <p:nvPr/>
        </p:nvSpPr>
        <p:spPr>
          <a:xfrm>
            <a:off x="365760" y="2414016"/>
            <a:ext cx="4160520" cy="8046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1" name="Shape 9"/>
          <p:cNvSpPr/>
          <p:nvPr/>
        </p:nvSpPr>
        <p:spPr>
          <a:xfrm>
            <a:off x="365760" y="2414016"/>
            <a:ext cx="54864" cy="804672"/>
          </a:xfrm>
          <a:prstGeom prst="rect">
            <a:avLst/>
          </a:prstGeom>
          <a:solidFill>
            <a:srgbClr val="1E3A5F"/>
          </a:solidFill>
          <a:ln w="12700">
            <a:solidFill>
              <a:srgbClr val="1E3A5F"/>
            </a:solidFill>
            <a:prstDash val="solid"/>
          </a:ln>
        </p:spPr>
        <p:txBody>
          <a:bodyPr/>
          <a:lstStyle/>
          <a:p>
            <a:endParaRPr lang="es-ES"/>
          </a:p>
        </p:txBody>
      </p:sp>
      <p:sp>
        <p:nvSpPr>
          <p:cNvPr id="12" name="Text 10"/>
          <p:cNvSpPr/>
          <p:nvPr/>
        </p:nvSpPr>
        <p:spPr>
          <a:xfrm>
            <a:off x="502920" y="2487168"/>
            <a:ext cx="457200" cy="274320"/>
          </a:xfrm>
          <a:prstGeom prst="rect">
            <a:avLst/>
          </a:prstGeom>
          <a:noFill/>
          <a:ln/>
        </p:spPr>
        <p:txBody>
          <a:bodyPr wrap="square"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1.2</a:t>
            </a:r>
            <a:endParaRPr lang="en-US" sz="1000" dirty="0"/>
          </a:p>
        </p:txBody>
      </p:sp>
      <p:sp>
        <p:nvSpPr>
          <p:cNvPr id="13" name="Text 11"/>
          <p:cNvSpPr/>
          <p:nvPr/>
        </p:nvSpPr>
        <p:spPr>
          <a:xfrm>
            <a:off x="502920" y="2688336"/>
            <a:ext cx="3840480" cy="246888"/>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Avoid harm</a:t>
            </a:r>
            <a:endParaRPr lang="en-US" sz="1200" dirty="0"/>
          </a:p>
        </p:txBody>
      </p:sp>
      <p:sp>
        <p:nvSpPr>
          <p:cNvPr id="14" name="Text 12"/>
          <p:cNvSpPr/>
          <p:nvPr/>
        </p:nvSpPr>
        <p:spPr>
          <a:xfrm>
            <a:off x="502920" y="2916936"/>
            <a:ext cx="3840480" cy="246888"/>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Identify and mitigate negative consequences, even unintended.</a:t>
            </a:r>
            <a:endParaRPr lang="en-US" sz="1000" dirty="0"/>
          </a:p>
        </p:txBody>
      </p:sp>
      <p:sp>
        <p:nvSpPr>
          <p:cNvPr id="15" name="Shape 13"/>
          <p:cNvSpPr/>
          <p:nvPr/>
        </p:nvSpPr>
        <p:spPr>
          <a:xfrm>
            <a:off x="365760" y="3383280"/>
            <a:ext cx="4160520" cy="8046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6" name="Shape 14"/>
          <p:cNvSpPr/>
          <p:nvPr/>
        </p:nvSpPr>
        <p:spPr>
          <a:xfrm>
            <a:off x="365760" y="3383280"/>
            <a:ext cx="54864" cy="804672"/>
          </a:xfrm>
          <a:prstGeom prst="rect">
            <a:avLst/>
          </a:prstGeom>
          <a:solidFill>
            <a:srgbClr val="C0392B"/>
          </a:solidFill>
          <a:ln w="12700">
            <a:solidFill>
              <a:srgbClr val="C0392B"/>
            </a:solidFill>
            <a:prstDash val="solid"/>
          </a:ln>
        </p:spPr>
        <p:txBody>
          <a:bodyPr/>
          <a:lstStyle/>
          <a:p>
            <a:endParaRPr lang="es-ES"/>
          </a:p>
        </p:txBody>
      </p:sp>
      <p:sp>
        <p:nvSpPr>
          <p:cNvPr id="17" name="Text 15"/>
          <p:cNvSpPr/>
          <p:nvPr/>
        </p:nvSpPr>
        <p:spPr>
          <a:xfrm>
            <a:off x="502920" y="3456432"/>
            <a:ext cx="457200" cy="274320"/>
          </a:xfrm>
          <a:prstGeom prst="rect">
            <a:avLst/>
          </a:prstGeom>
          <a:noFill/>
          <a:ln/>
        </p:spPr>
        <p:txBody>
          <a:bodyPr wrap="square" rtlCol="0" anchor="ctr"/>
          <a:lstStyle/>
          <a:p>
            <a:pPr marL="0" indent="0" algn="l">
              <a:buNone/>
            </a:pPr>
            <a:r>
              <a:rPr lang="en-US" sz="1000" b="1" dirty="0">
                <a:solidFill>
                  <a:srgbClr val="C0392B"/>
                </a:solidFill>
                <a:latin typeface="Calibri" pitchFamily="34" charset="0"/>
                <a:ea typeface="Calibri" pitchFamily="34" charset="-122"/>
                <a:cs typeface="Calibri" pitchFamily="34" charset="-120"/>
              </a:rPr>
              <a:t>1.4</a:t>
            </a:r>
            <a:endParaRPr lang="en-US" sz="1000" dirty="0"/>
          </a:p>
        </p:txBody>
      </p:sp>
      <p:sp>
        <p:nvSpPr>
          <p:cNvPr id="18" name="Text 16"/>
          <p:cNvSpPr/>
          <p:nvPr/>
        </p:nvSpPr>
        <p:spPr>
          <a:xfrm>
            <a:off x="502920" y="3657600"/>
            <a:ext cx="3840480" cy="246888"/>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Be fair - no discrimination</a:t>
            </a:r>
            <a:endParaRPr lang="en-US" sz="1200" dirty="0"/>
          </a:p>
        </p:txBody>
      </p:sp>
      <p:sp>
        <p:nvSpPr>
          <p:cNvPr id="19" name="Text 17"/>
          <p:cNvSpPr/>
          <p:nvPr/>
        </p:nvSpPr>
        <p:spPr>
          <a:xfrm>
            <a:off x="502920" y="3886200"/>
            <a:ext cx="3840480" cy="246888"/>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Explicitly addresses algorithmic bias and unfair outcomes.</a:t>
            </a:r>
            <a:endParaRPr lang="en-US" sz="1000" dirty="0"/>
          </a:p>
        </p:txBody>
      </p:sp>
      <p:sp>
        <p:nvSpPr>
          <p:cNvPr id="20" name="Shape 18"/>
          <p:cNvSpPr/>
          <p:nvPr/>
        </p:nvSpPr>
        <p:spPr>
          <a:xfrm>
            <a:off x="4800600" y="1444752"/>
            <a:ext cx="4160520" cy="8046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21" name="Shape 19"/>
          <p:cNvSpPr/>
          <p:nvPr/>
        </p:nvSpPr>
        <p:spPr>
          <a:xfrm>
            <a:off x="4800600" y="1444752"/>
            <a:ext cx="54864" cy="804672"/>
          </a:xfrm>
          <a:prstGeom prst="rect">
            <a:avLst/>
          </a:prstGeom>
          <a:solidFill>
            <a:srgbClr val="C0392B"/>
          </a:solidFill>
          <a:ln w="12700">
            <a:solidFill>
              <a:srgbClr val="C0392B"/>
            </a:solidFill>
            <a:prstDash val="solid"/>
          </a:ln>
        </p:spPr>
        <p:txBody>
          <a:bodyPr/>
          <a:lstStyle/>
          <a:p>
            <a:endParaRPr lang="es-ES"/>
          </a:p>
        </p:txBody>
      </p:sp>
      <p:sp>
        <p:nvSpPr>
          <p:cNvPr id="22" name="Text 20"/>
          <p:cNvSpPr/>
          <p:nvPr/>
        </p:nvSpPr>
        <p:spPr>
          <a:xfrm>
            <a:off x="4937760" y="1517904"/>
            <a:ext cx="457200" cy="274320"/>
          </a:xfrm>
          <a:prstGeom prst="rect">
            <a:avLst/>
          </a:prstGeom>
          <a:noFill/>
          <a:ln/>
        </p:spPr>
        <p:txBody>
          <a:bodyPr wrap="square" rtlCol="0" anchor="ctr"/>
          <a:lstStyle/>
          <a:p>
            <a:pPr marL="0" indent="0" algn="l">
              <a:buNone/>
            </a:pPr>
            <a:r>
              <a:rPr lang="en-US" sz="1000" b="1" dirty="0">
                <a:solidFill>
                  <a:srgbClr val="C0392B"/>
                </a:solidFill>
                <a:latin typeface="Calibri" pitchFamily="34" charset="0"/>
                <a:ea typeface="Calibri" pitchFamily="34" charset="-122"/>
                <a:cs typeface="Calibri" pitchFamily="34" charset="-120"/>
              </a:rPr>
              <a:t>1.6</a:t>
            </a:r>
            <a:endParaRPr lang="en-US" sz="1000" dirty="0"/>
          </a:p>
        </p:txBody>
      </p:sp>
      <p:sp>
        <p:nvSpPr>
          <p:cNvPr id="23" name="Text 21"/>
          <p:cNvSpPr/>
          <p:nvPr/>
        </p:nvSpPr>
        <p:spPr>
          <a:xfrm>
            <a:off x="4937760" y="1719072"/>
            <a:ext cx="3840480" cy="246888"/>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Respect privacy</a:t>
            </a:r>
            <a:endParaRPr lang="en-US" sz="1200" dirty="0"/>
          </a:p>
        </p:txBody>
      </p:sp>
      <p:sp>
        <p:nvSpPr>
          <p:cNvPr id="24" name="Text 22"/>
          <p:cNvSpPr/>
          <p:nvPr/>
        </p:nvSpPr>
        <p:spPr>
          <a:xfrm>
            <a:off x="4937760" y="1947672"/>
            <a:ext cx="3840480" cy="246888"/>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Consent is required before using personal data.</a:t>
            </a:r>
            <a:endParaRPr lang="en-US" sz="1000" dirty="0"/>
          </a:p>
        </p:txBody>
      </p:sp>
      <p:sp>
        <p:nvSpPr>
          <p:cNvPr id="25" name="Shape 23"/>
          <p:cNvSpPr/>
          <p:nvPr/>
        </p:nvSpPr>
        <p:spPr>
          <a:xfrm>
            <a:off x="4800600" y="2414016"/>
            <a:ext cx="4160520" cy="804672"/>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26" name="Shape 24"/>
          <p:cNvSpPr/>
          <p:nvPr/>
        </p:nvSpPr>
        <p:spPr>
          <a:xfrm>
            <a:off x="4800600" y="2414016"/>
            <a:ext cx="54864" cy="804672"/>
          </a:xfrm>
          <a:prstGeom prst="rect">
            <a:avLst/>
          </a:prstGeom>
          <a:solidFill>
            <a:srgbClr val="1E3A5F"/>
          </a:solidFill>
          <a:ln w="12700">
            <a:solidFill>
              <a:srgbClr val="1E3A5F"/>
            </a:solidFill>
            <a:prstDash val="solid"/>
          </a:ln>
        </p:spPr>
        <p:txBody>
          <a:bodyPr/>
          <a:lstStyle/>
          <a:p>
            <a:endParaRPr lang="es-ES"/>
          </a:p>
        </p:txBody>
      </p:sp>
      <p:sp>
        <p:nvSpPr>
          <p:cNvPr id="27" name="Text 25"/>
          <p:cNvSpPr/>
          <p:nvPr/>
        </p:nvSpPr>
        <p:spPr>
          <a:xfrm>
            <a:off x="4937760" y="2487168"/>
            <a:ext cx="457200" cy="274320"/>
          </a:xfrm>
          <a:prstGeom prst="rect">
            <a:avLst/>
          </a:prstGeom>
          <a:noFill/>
          <a:ln/>
        </p:spPr>
        <p:txBody>
          <a:bodyPr wrap="square"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2.5</a:t>
            </a:r>
            <a:endParaRPr lang="en-US" sz="1000" dirty="0"/>
          </a:p>
        </p:txBody>
      </p:sp>
      <p:sp>
        <p:nvSpPr>
          <p:cNvPr id="28" name="Text 26"/>
          <p:cNvSpPr/>
          <p:nvPr/>
        </p:nvSpPr>
        <p:spPr>
          <a:xfrm>
            <a:off x="4937760" y="2688336"/>
            <a:ext cx="3840480" cy="246888"/>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Thorough evaluation</a:t>
            </a:r>
            <a:endParaRPr lang="en-US" sz="1200" dirty="0"/>
          </a:p>
        </p:txBody>
      </p:sp>
      <p:sp>
        <p:nvSpPr>
          <p:cNvPr id="29" name="Text 27"/>
          <p:cNvSpPr/>
          <p:nvPr/>
        </p:nvSpPr>
        <p:spPr>
          <a:xfrm>
            <a:off x="4937760" y="2916936"/>
            <a:ext cx="3840480" cy="246888"/>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Anticipate and report unintended consequences of systems.</a:t>
            </a:r>
            <a:endParaRPr lang="en-US" sz="1000" dirty="0"/>
          </a:p>
        </p:txBody>
      </p:sp>
      <p:sp>
        <p:nvSpPr>
          <p:cNvPr id="30" name="Shape 28"/>
          <p:cNvSpPr/>
          <p:nvPr/>
        </p:nvSpPr>
        <p:spPr>
          <a:xfrm>
            <a:off x="0" y="4892040"/>
            <a:ext cx="9144000" cy="251460"/>
          </a:xfrm>
          <a:prstGeom prst="rect">
            <a:avLst/>
          </a:prstGeom>
          <a:solidFill>
            <a:srgbClr val="E2E8F0"/>
          </a:solidFill>
          <a:ln w="12700">
            <a:solidFill>
              <a:srgbClr val="E2E8F0"/>
            </a:solidFill>
            <a:prstDash val="solid"/>
          </a:ln>
        </p:spPr>
        <p:txBody>
          <a:bodyPr/>
          <a:lstStyle/>
          <a:p>
            <a:endParaRPr lang="es-ES"/>
          </a:p>
        </p:txBody>
      </p:sp>
      <p:sp>
        <p:nvSpPr>
          <p:cNvPr id="31" name="Text 29"/>
          <p:cNvSpPr/>
          <p:nvPr/>
        </p:nvSpPr>
        <p:spPr>
          <a:xfrm>
            <a:off x="365760" y="4892040"/>
            <a:ext cx="8229600" cy="25146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s-ES"/>
          </a:p>
        </p:txBody>
      </p:sp>
      <p:sp>
        <p:nvSpPr>
          <p:cNvPr id="3" name="Text 1"/>
          <p:cNvSpPr/>
          <p:nvPr/>
        </p:nvSpPr>
        <p:spPr>
          <a:xfrm>
            <a:off x="365760" y="0"/>
            <a:ext cx="8229600" cy="685800"/>
          </a:xfrm>
          <a:prstGeom prst="rect">
            <a:avLst/>
          </a:prstGeom>
          <a:noFill/>
          <a:ln/>
        </p:spPr>
        <p:txBody>
          <a:bodyPr wrap="square" rtlCol="0" anchor="ctr"/>
          <a:lstStyle/>
          <a:p>
            <a:pPr marL="0" indent="0" algn="l">
              <a:buNone/>
            </a:pPr>
            <a:r>
              <a:rPr lang="en-US" sz="1100" b="1" kern="0" spc="300" dirty="0">
                <a:solidFill>
                  <a:srgbClr val="94A3B8"/>
                </a:solidFill>
                <a:latin typeface="Calibri" pitchFamily="34" charset="0"/>
                <a:ea typeface="Calibri" pitchFamily="34" charset="-122"/>
                <a:cs typeface="Calibri" pitchFamily="34" charset="-120"/>
              </a:rPr>
              <a:t>IEEE CODE &amp; COMPARISON</a:t>
            </a:r>
            <a:endParaRPr lang="en-US" sz="1100" dirty="0"/>
          </a:p>
        </p:txBody>
      </p:sp>
      <p:sp>
        <p:nvSpPr>
          <p:cNvPr id="4" name="Text 2"/>
          <p:cNvSpPr/>
          <p:nvPr/>
        </p:nvSpPr>
        <p:spPr>
          <a:xfrm>
            <a:off x="365760" y="822960"/>
            <a:ext cx="8229600" cy="502920"/>
          </a:xfrm>
          <a:prstGeom prst="rect">
            <a:avLst/>
          </a:prstGeom>
          <a:noFill/>
          <a:ln/>
        </p:spPr>
        <p:txBody>
          <a:bodyPr wrap="square"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IEEE Clauses &amp; Side-by-Side Comparison</a:t>
            </a:r>
            <a:endParaRPr lang="en-US" sz="2600" dirty="0"/>
          </a:p>
        </p:txBody>
      </p:sp>
      <p:sp>
        <p:nvSpPr>
          <p:cNvPr id="5" name="Shape 3"/>
          <p:cNvSpPr/>
          <p:nvPr/>
        </p:nvSpPr>
        <p:spPr>
          <a:xfrm>
            <a:off x="365760" y="1481328"/>
            <a:ext cx="2651760" cy="14173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6" name="Shape 4"/>
          <p:cNvSpPr/>
          <p:nvPr/>
        </p:nvSpPr>
        <p:spPr>
          <a:xfrm>
            <a:off x="1371600" y="1536192"/>
            <a:ext cx="640080" cy="640080"/>
          </a:xfrm>
          <a:prstGeom prst="ellipse">
            <a:avLst/>
          </a:prstGeom>
          <a:solidFill>
            <a:srgbClr val="C0392B"/>
          </a:solidFill>
          <a:ln w="12700">
            <a:solidFill>
              <a:srgbClr val="C0392B"/>
            </a:solidFill>
            <a:prstDash val="solid"/>
          </a:ln>
        </p:spPr>
        <p:txBody>
          <a:bodyPr/>
          <a:lstStyle/>
          <a:p>
            <a:endParaRPr lang="es-ES"/>
          </a:p>
        </p:txBody>
      </p:sp>
      <p:sp>
        <p:nvSpPr>
          <p:cNvPr id="7" name="Text 5"/>
          <p:cNvSpPr/>
          <p:nvPr/>
        </p:nvSpPr>
        <p:spPr>
          <a:xfrm>
            <a:off x="1371600" y="153619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6"/>
          <p:cNvSpPr/>
          <p:nvPr/>
        </p:nvSpPr>
        <p:spPr>
          <a:xfrm>
            <a:off x="457200" y="2194560"/>
            <a:ext cx="2468880" cy="228600"/>
          </a:xfrm>
          <a:prstGeom prst="rect">
            <a:avLst/>
          </a:prstGeom>
          <a:noFill/>
          <a:ln/>
        </p:spPr>
        <p:txBody>
          <a:bodyPr wrap="square" rtlCol="0" anchor="ctr"/>
          <a:lstStyle/>
          <a:p>
            <a:pPr marL="0" indent="0" algn="ctr">
              <a:buNone/>
            </a:pPr>
            <a:r>
              <a:rPr lang="en-US" sz="1100" b="1" dirty="0">
                <a:solidFill>
                  <a:srgbClr val="C0392B"/>
                </a:solidFill>
                <a:latin typeface="Cambria" pitchFamily="34" charset="0"/>
                <a:ea typeface="Cambria" pitchFamily="34" charset="-122"/>
                <a:cs typeface="Cambria" pitchFamily="34" charset="-120"/>
              </a:rPr>
              <a:t>Clause 1</a:t>
            </a:r>
            <a:endParaRPr lang="en-US" sz="1100" dirty="0"/>
          </a:p>
        </p:txBody>
      </p:sp>
      <p:sp>
        <p:nvSpPr>
          <p:cNvPr id="9" name="Text 7"/>
          <p:cNvSpPr/>
          <p:nvPr/>
        </p:nvSpPr>
        <p:spPr>
          <a:xfrm>
            <a:off x="457200" y="2432304"/>
            <a:ext cx="2468880" cy="420624"/>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Public safety and welfare are paramount above all other considerations.</a:t>
            </a:r>
            <a:endParaRPr lang="en-US" sz="1000" dirty="0"/>
          </a:p>
        </p:txBody>
      </p:sp>
      <p:sp>
        <p:nvSpPr>
          <p:cNvPr id="10" name="Shape 8"/>
          <p:cNvSpPr/>
          <p:nvPr/>
        </p:nvSpPr>
        <p:spPr>
          <a:xfrm>
            <a:off x="3246120" y="1481328"/>
            <a:ext cx="2651760" cy="14173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1" name="Shape 9"/>
          <p:cNvSpPr/>
          <p:nvPr/>
        </p:nvSpPr>
        <p:spPr>
          <a:xfrm>
            <a:off x="4251960" y="1536192"/>
            <a:ext cx="640080" cy="640080"/>
          </a:xfrm>
          <a:prstGeom prst="ellipse">
            <a:avLst/>
          </a:prstGeom>
          <a:solidFill>
            <a:srgbClr val="C0392B"/>
          </a:solidFill>
          <a:ln w="12700">
            <a:solidFill>
              <a:srgbClr val="C0392B"/>
            </a:solidFill>
            <a:prstDash val="solid"/>
          </a:ln>
        </p:spPr>
        <p:txBody>
          <a:bodyPr/>
          <a:lstStyle/>
          <a:p>
            <a:endParaRPr lang="es-ES"/>
          </a:p>
        </p:txBody>
      </p:sp>
      <p:sp>
        <p:nvSpPr>
          <p:cNvPr id="12" name="Text 10"/>
          <p:cNvSpPr/>
          <p:nvPr/>
        </p:nvSpPr>
        <p:spPr>
          <a:xfrm>
            <a:off x="4251960" y="153619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13" name="Text 11"/>
          <p:cNvSpPr/>
          <p:nvPr/>
        </p:nvSpPr>
        <p:spPr>
          <a:xfrm>
            <a:off x="3337560" y="2194560"/>
            <a:ext cx="2468880" cy="228600"/>
          </a:xfrm>
          <a:prstGeom prst="rect">
            <a:avLst/>
          </a:prstGeom>
          <a:noFill/>
          <a:ln/>
        </p:spPr>
        <p:txBody>
          <a:bodyPr wrap="square" rtlCol="0" anchor="ctr"/>
          <a:lstStyle/>
          <a:p>
            <a:pPr marL="0" indent="0" algn="ctr">
              <a:buNone/>
            </a:pPr>
            <a:r>
              <a:rPr lang="en-US" sz="1100" b="1" dirty="0">
                <a:solidFill>
                  <a:srgbClr val="C0392B"/>
                </a:solidFill>
                <a:latin typeface="Cambria" pitchFamily="34" charset="0"/>
                <a:ea typeface="Cambria" pitchFamily="34" charset="-122"/>
                <a:cs typeface="Cambria" pitchFamily="34" charset="-120"/>
              </a:rPr>
              <a:t>Clause 7</a:t>
            </a:r>
            <a:endParaRPr lang="en-US" sz="1100" dirty="0"/>
          </a:p>
        </p:txBody>
      </p:sp>
      <p:sp>
        <p:nvSpPr>
          <p:cNvPr id="14" name="Text 12"/>
          <p:cNvSpPr/>
          <p:nvPr/>
        </p:nvSpPr>
        <p:spPr>
          <a:xfrm>
            <a:off x="3337560" y="2432304"/>
            <a:ext cx="2468880" cy="420624"/>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Accept honest criticism and acknowledge errors when discovered.</a:t>
            </a:r>
            <a:endParaRPr lang="en-US" sz="1000" dirty="0"/>
          </a:p>
        </p:txBody>
      </p:sp>
      <p:sp>
        <p:nvSpPr>
          <p:cNvPr id="15" name="Shape 13"/>
          <p:cNvSpPr/>
          <p:nvPr/>
        </p:nvSpPr>
        <p:spPr>
          <a:xfrm>
            <a:off x="6126480" y="1481328"/>
            <a:ext cx="2651760" cy="14173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6" name="Shape 14"/>
          <p:cNvSpPr/>
          <p:nvPr/>
        </p:nvSpPr>
        <p:spPr>
          <a:xfrm>
            <a:off x="7132320" y="1536192"/>
            <a:ext cx="640080" cy="640080"/>
          </a:xfrm>
          <a:prstGeom prst="ellipse">
            <a:avLst/>
          </a:prstGeom>
          <a:solidFill>
            <a:srgbClr val="C0392B"/>
          </a:solidFill>
          <a:ln w="12700">
            <a:solidFill>
              <a:srgbClr val="C0392B"/>
            </a:solidFill>
            <a:prstDash val="solid"/>
          </a:ln>
        </p:spPr>
        <p:txBody>
          <a:bodyPr/>
          <a:lstStyle/>
          <a:p>
            <a:endParaRPr lang="es-ES"/>
          </a:p>
        </p:txBody>
      </p:sp>
      <p:sp>
        <p:nvSpPr>
          <p:cNvPr id="17" name="Text 15"/>
          <p:cNvSpPr/>
          <p:nvPr/>
        </p:nvSpPr>
        <p:spPr>
          <a:xfrm>
            <a:off x="7132320" y="1536192"/>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8</a:t>
            </a:r>
            <a:endParaRPr lang="en-US" sz="1800" dirty="0"/>
          </a:p>
        </p:txBody>
      </p:sp>
      <p:sp>
        <p:nvSpPr>
          <p:cNvPr id="18" name="Text 16"/>
          <p:cNvSpPr/>
          <p:nvPr/>
        </p:nvSpPr>
        <p:spPr>
          <a:xfrm>
            <a:off x="6217920" y="2194560"/>
            <a:ext cx="2468880" cy="228600"/>
          </a:xfrm>
          <a:prstGeom prst="rect">
            <a:avLst/>
          </a:prstGeom>
          <a:noFill/>
          <a:ln/>
        </p:spPr>
        <p:txBody>
          <a:bodyPr wrap="square" rtlCol="0" anchor="ctr"/>
          <a:lstStyle/>
          <a:p>
            <a:pPr marL="0" indent="0" algn="ctr">
              <a:buNone/>
            </a:pPr>
            <a:r>
              <a:rPr lang="en-US" sz="1100" b="1" dirty="0">
                <a:solidFill>
                  <a:srgbClr val="C0392B"/>
                </a:solidFill>
                <a:latin typeface="Cambria" pitchFamily="34" charset="0"/>
                <a:ea typeface="Cambria" pitchFamily="34" charset="-122"/>
                <a:cs typeface="Cambria" pitchFamily="34" charset="-120"/>
              </a:rPr>
              <a:t>Clause 8</a:t>
            </a:r>
            <a:endParaRPr lang="en-US" sz="1100" dirty="0"/>
          </a:p>
        </p:txBody>
      </p:sp>
      <p:sp>
        <p:nvSpPr>
          <p:cNvPr id="19" name="Text 17"/>
          <p:cNvSpPr/>
          <p:nvPr/>
        </p:nvSpPr>
        <p:spPr>
          <a:xfrm>
            <a:off x="6217920" y="2432304"/>
            <a:ext cx="2468880" cy="420624"/>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Treat all persons fairly regardless of origin, ethnicity, or social background.</a:t>
            </a:r>
            <a:endParaRPr lang="en-US" sz="1000" dirty="0"/>
          </a:p>
        </p:txBody>
      </p:sp>
      <p:sp>
        <p:nvSpPr>
          <p:cNvPr id="20" name="Text 18"/>
          <p:cNvSpPr/>
          <p:nvPr/>
        </p:nvSpPr>
        <p:spPr>
          <a:xfrm>
            <a:off x="365760" y="3063240"/>
            <a:ext cx="8229600" cy="320040"/>
          </a:xfrm>
          <a:prstGeom prst="rect">
            <a:avLst/>
          </a:prstGeom>
          <a:noFill/>
          <a:ln/>
        </p:spPr>
        <p:txBody>
          <a:bodyPr wrap="square" rtlCol="0" anchor="ctr"/>
          <a:lstStyle/>
          <a:p>
            <a:pPr marL="0" indent="0" algn="l">
              <a:buNone/>
            </a:pPr>
            <a:r>
              <a:rPr lang="en-US" sz="1400" b="1" dirty="0">
                <a:solidFill>
                  <a:srgbClr val="1E293B"/>
                </a:solidFill>
                <a:latin typeface="Cambria" pitchFamily="34" charset="0"/>
                <a:ea typeface="Cambria" pitchFamily="34" charset="-122"/>
                <a:cs typeface="Cambria" pitchFamily="34" charset="-120"/>
              </a:rPr>
              <a:t>Key Differences at a Glance</a:t>
            </a:r>
            <a:endParaRPr lang="en-US" sz="1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3429000"/>
          <a:ext cx="8412480" cy="1417320"/>
        </p:xfrm>
        <a:graphic>
          <a:graphicData uri="http://schemas.openxmlformats.org/drawingml/2006/table">
            <a:tbl>
              <a:tblPr/>
              <a:tblGrid>
                <a:gridCol w="2103120">
                  <a:extLst>
                    <a:ext uri="{9D8B030D-6E8A-4147-A177-3AD203B41FA5}">
                      <a16:colId xmlns:a16="http://schemas.microsoft.com/office/drawing/2014/main" val="20000"/>
                    </a:ext>
                  </a:extLst>
                </a:gridCol>
                <a:gridCol w="3154680">
                  <a:extLst>
                    <a:ext uri="{9D8B030D-6E8A-4147-A177-3AD203B41FA5}">
                      <a16:colId xmlns:a16="http://schemas.microsoft.com/office/drawing/2014/main" val="20001"/>
                    </a:ext>
                  </a:extLst>
                </a:gridCol>
                <a:gridCol w="3154680">
                  <a:extLst>
                    <a:ext uri="{9D8B030D-6E8A-4147-A177-3AD203B41FA5}">
                      <a16:colId xmlns:a16="http://schemas.microsoft.com/office/drawing/2014/main" val="20002"/>
                    </a:ext>
                  </a:extLst>
                </a:gridCol>
              </a:tblGrid>
              <a:tr h="283464">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ACM (2018)</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IEEE (2020)</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E3A5F"/>
                    </a:solidFill>
                  </a:tcPr>
                </a:tc>
                <a:extLst>
                  <a:ext uri="{0D108BD9-81ED-4DB2-BD59-A6C34878D82A}">
                    <a16:rowId xmlns:a16="http://schemas.microsoft.com/office/drawing/2014/main" val="10000"/>
                  </a:ext>
                </a:extLst>
              </a:tr>
              <a:tr h="283464">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Scope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Computing only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All engineering</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83464">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Structure</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Extensive sub-principles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10 concise clauses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83464">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Algorithmic Bias</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Explicit (Principle 1.4)</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Implicit (Clause 8)</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83464">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Privacy</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Dedicated principle (1.6)</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E293B"/>
                          </a:solidFill>
                          <a:latin typeface="Calibri" pitchFamily="34" charset="0"/>
                          <a:ea typeface="Calibri" pitchFamily="34" charset="-122"/>
                          <a:cs typeface="Calibri" pitchFamily="34" charset="-120"/>
                        </a:rPr>
                        <a:t>Implied</a:t>
                      </a:r>
                      <a:endParaRPr lang="en-US" sz="1100" dirty="0">
                        <a:latin typeface="Calibri" charset="0"/>
                        <a:ea typeface="Calibri" charset="0"/>
                        <a:cs typeface="Calibri" charset="0"/>
                      </a:endParaRPr>
                    </a:p>
                  </a:txBody>
                  <a:tcPr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2" name="Shape 19"/>
          <p:cNvSpPr/>
          <p:nvPr/>
        </p:nvSpPr>
        <p:spPr>
          <a:xfrm>
            <a:off x="0" y="4892040"/>
            <a:ext cx="9144000" cy="251460"/>
          </a:xfrm>
          <a:prstGeom prst="rect">
            <a:avLst/>
          </a:prstGeom>
          <a:solidFill>
            <a:srgbClr val="E2E8F0"/>
          </a:solidFill>
          <a:ln w="12700">
            <a:solidFill>
              <a:srgbClr val="E2E8F0"/>
            </a:solidFill>
            <a:prstDash val="solid"/>
          </a:ln>
        </p:spPr>
        <p:txBody>
          <a:bodyPr/>
          <a:lstStyle/>
          <a:p>
            <a:endParaRPr lang="es-ES"/>
          </a:p>
        </p:txBody>
      </p:sp>
      <p:sp>
        <p:nvSpPr>
          <p:cNvPr id="23" name="Text 20"/>
          <p:cNvSpPr/>
          <p:nvPr/>
        </p:nvSpPr>
        <p:spPr>
          <a:xfrm>
            <a:off x="365760" y="4892040"/>
            <a:ext cx="8229600" cy="25146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6858000" y="2286000"/>
            <a:ext cx="4114800" cy="4114800"/>
          </a:xfrm>
          <a:prstGeom prst="ellipse">
            <a:avLst/>
          </a:prstGeom>
          <a:solidFill>
            <a:srgbClr val="142B48"/>
          </a:solidFill>
          <a:ln w="12700">
            <a:solidFill>
              <a:srgbClr val="2E4F7A"/>
            </a:solidFill>
            <a:prstDash val="solid"/>
          </a:ln>
        </p:spPr>
        <p:txBody>
          <a:bodyPr/>
          <a:lstStyle/>
          <a:p>
            <a:endParaRPr lang="es-ES"/>
          </a:p>
        </p:txBody>
      </p:sp>
      <p:sp>
        <p:nvSpPr>
          <p:cNvPr id="3" name="Shape 1"/>
          <p:cNvSpPr/>
          <p:nvPr/>
        </p:nvSpPr>
        <p:spPr>
          <a:xfrm>
            <a:off x="0" y="0"/>
            <a:ext cx="109728" cy="5143500"/>
          </a:xfrm>
          <a:prstGeom prst="rect">
            <a:avLst/>
          </a:prstGeom>
          <a:solidFill>
            <a:srgbClr val="C0392B"/>
          </a:solidFill>
          <a:ln w="12700">
            <a:solidFill>
              <a:srgbClr val="C0392B"/>
            </a:solidFill>
            <a:prstDash val="solid"/>
          </a:ln>
        </p:spPr>
        <p:txBody>
          <a:bodyPr/>
          <a:lstStyle/>
          <a:p>
            <a:endParaRPr lang="es-ES"/>
          </a:p>
        </p:txBody>
      </p:sp>
      <p:sp>
        <p:nvSpPr>
          <p:cNvPr id="4" name="Shape 2"/>
          <p:cNvSpPr/>
          <p:nvPr/>
        </p:nvSpPr>
        <p:spPr>
          <a:xfrm>
            <a:off x="320040" y="411480"/>
            <a:ext cx="1828800" cy="320040"/>
          </a:xfrm>
          <a:prstGeom prst="rect">
            <a:avLst/>
          </a:prstGeom>
          <a:solidFill>
            <a:srgbClr val="C0392B"/>
          </a:solidFill>
          <a:ln w="12700">
            <a:solidFill>
              <a:srgbClr val="C0392B"/>
            </a:solidFill>
            <a:prstDash val="solid"/>
          </a:ln>
        </p:spPr>
        <p:txBody>
          <a:bodyPr/>
          <a:lstStyle/>
          <a:p>
            <a:endParaRPr lang="es-ES"/>
          </a:p>
        </p:txBody>
      </p:sp>
      <p:sp>
        <p:nvSpPr>
          <p:cNvPr id="5" name="Text 3"/>
          <p:cNvSpPr/>
          <p:nvPr/>
        </p:nvSpPr>
        <p:spPr>
          <a:xfrm>
            <a:off x="320040" y="411480"/>
            <a:ext cx="1828800" cy="32004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CASE STUDY</a:t>
            </a:r>
            <a:endParaRPr lang="en-US" sz="1000" dirty="0"/>
          </a:p>
        </p:txBody>
      </p:sp>
      <p:sp>
        <p:nvSpPr>
          <p:cNvPr id="6" name="Text 4"/>
          <p:cNvSpPr/>
          <p:nvPr/>
        </p:nvSpPr>
        <p:spPr>
          <a:xfrm>
            <a:off x="320040" y="868680"/>
            <a:ext cx="6858000" cy="914400"/>
          </a:xfrm>
          <a:prstGeom prst="rect">
            <a:avLst/>
          </a:prstGeom>
          <a:noFill/>
          <a:ln/>
        </p:spPr>
        <p:txBody>
          <a:bodyPr wrap="square" rtlCol="0" anchor="ctr"/>
          <a:lstStyle/>
          <a:p>
            <a:pPr marL="0" indent="0" algn="l">
              <a:buNone/>
            </a:pPr>
            <a:r>
              <a:rPr lang="en-US" sz="5200" b="1" dirty="0">
                <a:solidFill>
                  <a:srgbClr val="FFFFFF"/>
                </a:solidFill>
                <a:latin typeface="Cambria" pitchFamily="34" charset="0"/>
                <a:ea typeface="Cambria" pitchFamily="34" charset="-122"/>
                <a:cs typeface="Cambria" pitchFamily="34" charset="-120"/>
              </a:rPr>
              <a:t>PATROL-AI</a:t>
            </a:r>
            <a:endParaRPr lang="en-US" sz="5200" dirty="0"/>
          </a:p>
        </p:txBody>
      </p:sp>
      <p:sp>
        <p:nvSpPr>
          <p:cNvPr id="7" name="Text 5"/>
          <p:cNvSpPr/>
          <p:nvPr/>
        </p:nvSpPr>
        <p:spPr>
          <a:xfrm>
            <a:off x="320040" y="1737360"/>
            <a:ext cx="6583680" cy="411480"/>
          </a:xfrm>
          <a:prstGeom prst="rect">
            <a:avLst/>
          </a:prstGeom>
          <a:noFill/>
          <a:ln/>
        </p:spPr>
        <p:txBody>
          <a:bodyPr wrap="square" rtlCol="0" anchor="ctr"/>
          <a:lstStyle/>
          <a:p>
            <a:pPr marL="0" indent="0" algn="l">
              <a:buNone/>
            </a:pPr>
            <a:r>
              <a:rPr lang="en-US" sz="1700" dirty="0">
                <a:solidFill>
                  <a:srgbClr val="A8C4E0"/>
                </a:solidFill>
                <a:latin typeface="Calibri" pitchFamily="34" charset="0"/>
                <a:ea typeface="Calibri" pitchFamily="34" charset="-122"/>
                <a:cs typeface="Calibri" pitchFamily="34" charset="-120"/>
              </a:rPr>
              <a:t>Predictive Policing in a City of 500,000</a:t>
            </a:r>
            <a:endParaRPr lang="en-US" sz="1700" dirty="0"/>
          </a:p>
        </p:txBody>
      </p:sp>
      <p:sp>
        <p:nvSpPr>
          <p:cNvPr id="8" name="Shape 6"/>
          <p:cNvSpPr/>
          <p:nvPr/>
        </p:nvSpPr>
        <p:spPr>
          <a:xfrm>
            <a:off x="320040" y="2423160"/>
            <a:ext cx="2606040" cy="1188720"/>
          </a:xfrm>
          <a:prstGeom prst="rect">
            <a:avLst/>
          </a:prstGeom>
          <a:solidFill>
            <a:srgbClr val="1A3356"/>
          </a:solidFill>
          <a:ln w="12700">
            <a:solidFill>
              <a:srgbClr val="2E5080"/>
            </a:solidFill>
            <a:prstDash val="solid"/>
          </a:ln>
        </p:spPr>
        <p:txBody>
          <a:bodyPr/>
          <a:lstStyle/>
          <a:p>
            <a:endParaRPr lang="es-ES"/>
          </a:p>
        </p:txBody>
      </p:sp>
      <p:sp>
        <p:nvSpPr>
          <p:cNvPr id="9" name="Text 7"/>
          <p:cNvSpPr/>
          <p:nvPr/>
        </p:nvSpPr>
        <p:spPr>
          <a:xfrm>
            <a:off x="411480" y="2487168"/>
            <a:ext cx="2423160" cy="54864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−18%</a:t>
            </a:r>
            <a:endParaRPr lang="en-US" sz="3200" dirty="0"/>
          </a:p>
        </p:txBody>
      </p:sp>
      <p:sp>
        <p:nvSpPr>
          <p:cNvPr id="10" name="Text 8"/>
          <p:cNvSpPr/>
          <p:nvPr/>
        </p:nvSpPr>
        <p:spPr>
          <a:xfrm>
            <a:off x="411480" y="3017520"/>
            <a:ext cx="2423160" cy="228600"/>
          </a:xfrm>
          <a:prstGeom prst="rect">
            <a:avLst/>
          </a:prstGeom>
          <a:noFill/>
          <a:ln/>
        </p:spPr>
        <p:txBody>
          <a:bodyPr wrap="square" rtlCol="0" anchor="ctr"/>
          <a:lstStyle/>
          <a:p>
            <a:pPr marL="0" indent="0" algn="ctr">
              <a:buNone/>
            </a:pPr>
            <a:r>
              <a:rPr lang="en-US" sz="1100" b="1" dirty="0">
                <a:solidFill>
                  <a:srgbClr val="7EB8E8"/>
                </a:solidFill>
                <a:latin typeface="Calibri" pitchFamily="34" charset="0"/>
                <a:ea typeface="Calibri" pitchFamily="34" charset="-122"/>
                <a:cs typeface="Calibri" pitchFamily="34" charset="-120"/>
              </a:rPr>
              <a:t>Crime rate drop</a:t>
            </a:r>
            <a:endParaRPr lang="en-US" sz="1100" dirty="0"/>
          </a:p>
        </p:txBody>
      </p:sp>
      <p:sp>
        <p:nvSpPr>
          <p:cNvPr id="11" name="Text 9"/>
          <p:cNvSpPr/>
          <p:nvPr/>
        </p:nvSpPr>
        <p:spPr>
          <a:xfrm>
            <a:off x="411480" y="3246120"/>
            <a:ext cx="2423160" cy="228600"/>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Across the city</a:t>
            </a:r>
            <a:endParaRPr lang="en-US" sz="900" dirty="0"/>
          </a:p>
        </p:txBody>
      </p:sp>
      <p:sp>
        <p:nvSpPr>
          <p:cNvPr id="12" name="Shape 10"/>
          <p:cNvSpPr/>
          <p:nvPr/>
        </p:nvSpPr>
        <p:spPr>
          <a:xfrm>
            <a:off x="3154680" y="2423160"/>
            <a:ext cx="2606040" cy="1188720"/>
          </a:xfrm>
          <a:prstGeom prst="rect">
            <a:avLst/>
          </a:prstGeom>
          <a:solidFill>
            <a:srgbClr val="1A3356"/>
          </a:solidFill>
          <a:ln w="12700">
            <a:solidFill>
              <a:srgbClr val="2E5080"/>
            </a:solidFill>
            <a:prstDash val="solid"/>
          </a:ln>
        </p:spPr>
        <p:txBody>
          <a:bodyPr/>
          <a:lstStyle/>
          <a:p>
            <a:endParaRPr lang="es-ES"/>
          </a:p>
        </p:txBody>
      </p:sp>
      <p:sp>
        <p:nvSpPr>
          <p:cNvPr id="13" name="Text 11"/>
          <p:cNvSpPr/>
          <p:nvPr/>
        </p:nvSpPr>
        <p:spPr>
          <a:xfrm>
            <a:off x="3246120" y="2487168"/>
            <a:ext cx="2423160" cy="54864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−12%</a:t>
            </a:r>
            <a:endParaRPr lang="en-US" sz="3200" dirty="0"/>
          </a:p>
        </p:txBody>
      </p:sp>
      <p:sp>
        <p:nvSpPr>
          <p:cNvPr id="14" name="Text 12"/>
          <p:cNvSpPr/>
          <p:nvPr/>
        </p:nvSpPr>
        <p:spPr>
          <a:xfrm>
            <a:off x="3246120" y="3017520"/>
            <a:ext cx="2423160" cy="228600"/>
          </a:xfrm>
          <a:prstGeom prst="rect">
            <a:avLst/>
          </a:prstGeom>
          <a:noFill/>
          <a:ln/>
        </p:spPr>
        <p:txBody>
          <a:bodyPr wrap="square" rtlCol="0" anchor="ctr"/>
          <a:lstStyle/>
          <a:p>
            <a:pPr marL="0" indent="0" algn="ctr">
              <a:buNone/>
            </a:pPr>
            <a:r>
              <a:rPr lang="en-US" sz="1100" b="1" dirty="0">
                <a:solidFill>
                  <a:srgbClr val="7EB8E8"/>
                </a:solidFill>
                <a:latin typeface="Calibri" pitchFamily="34" charset="0"/>
                <a:ea typeface="Calibri" pitchFamily="34" charset="-122"/>
                <a:cs typeface="Calibri" pitchFamily="34" charset="-120"/>
              </a:rPr>
              <a:t>Response time</a:t>
            </a:r>
            <a:endParaRPr lang="en-US" sz="1100" dirty="0"/>
          </a:p>
        </p:txBody>
      </p:sp>
      <p:sp>
        <p:nvSpPr>
          <p:cNvPr id="15" name="Text 13"/>
          <p:cNvSpPr/>
          <p:nvPr/>
        </p:nvSpPr>
        <p:spPr>
          <a:xfrm>
            <a:off x="3246120" y="3246120"/>
            <a:ext cx="2423160" cy="228600"/>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Emergency services</a:t>
            </a:r>
            <a:endParaRPr lang="en-US" sz="900" dirty="0"/>
          </a:p>
        </p:txBody>
      </p:sp>
      <p:sp>
        <p:nvSpPr>
          <p:cNvPr id="16" name="Shape 14"/>
          <p:cNvSpPr/>
          <p:nvPr/>
        </p:nvSpPr>
        <p:spPr>
          <a:xfrm>
            <a:off x="5989320" y="2423160"/>
            <a:ext cx="2606040" cy="1188720"/>
          </a:xfrm>
          <a:prstGeom prst="rect">
            <a:avLst/>
          </a:prstGeom>
          <a:solidFill>
            <a:srgbClr val="1A3356"/>
          </a:solidFill>
          <a:ln w="12700">
            <a:solidFill>
              <a:srgbClr val="2E5080"/>
            </a:solidFill>
            <a:prstDash val="solid"/>
          </a:ln>
        </p:spPr>
        <p:txBody>
          <a:bodyPr/>
          <a:lstStyle/>
          <a:p>
            <a:endParaRPr lang="es-ES"/>
          </a:p>
        </p:txBody>
      </p:sp>
      <p:sp>
        <p:nvSpPr>
          <p:cNvPr id="17" name="Text 15"/>
          <p:cNvSpPr/>
          <p:nvPr/>
        </p:nvSpPr>
        <p:spPr>
          <a:xfrm>
            <a:off x="6080760" y="2487168"/>
            <a:ext cx="2423160" cy="548640"/>
          </a:xfrm>
          <a:prstGeom prst="rect">
            <a:avLst/>
          </a:prstGeom>
          <a:noFill/>
          <a:ln/>
        </p:spPr>
        <p:txBody>
          <a:bodyPr wrap="square" rtlCol="0" anchor="ctr"/>
          <a:lstStyle/>
          <a:p>
            <a:pPr marL="0" indent="0" algn="ctr">
              <a:buNone/>
            </a:pPr>
            <a:r>
              <a:rPr lang="en-US" sz="3200" b="1" dirty="0">
                <a:solidFill>
                  <a:srgbClr val="FFFFFF"/>
                </a:solidFill>
                <a:latin typeface="Cambria" pitchFamily="34" charset="0"/>
                <a:ea typeface="Cambria" pitchFamily="34" charset="-122"/>
                <a:cs typeface="Cambria" pitchFamily="34" charset="-120"/>
              </a:rPr>
              <a:t>€900k</a:t>
            </a:r>
            <a:endParaRPr lang="en-US" sz="3200" dirty="0"/>
          </a:p>
        </p:txBody>
      </p:sp>
      <p:sp>
        <p:nvSpPr>
          <p:cNvPr id="18" name="Text 16"/>
          <p:cNvSpPr/>
          <p:nvPr/>
        </p:nvSpPr>
        <p:spPr>
          <a:xfrm>
            <a:off x="6080760" y="3017520"/>
            <a:ext cx="2423160" cy="228600"/>
          </a:xfrm>
          <a:prstGeom prst="rect">
            <a:avLst/>
          </a:prstGeom>
          <a:noFill/>
          <a:ln/>
        </p:spPr>
        <p:txBody>
          <a:bodyPr wrap="square" rtlCol="0" anchor="ctr"/>
          <a:lstStyle/>
          <a:p>
            <a:pPr marL="0" indent="0" algn="ctr">
              <a:buNone/>
            </a:pPr>
            <a:r>
              <a:rPr lang="en-US" sz="1100" b="1" dirty="0">
                <a:solidFill>
                  <a:srgbClr val="7EB8E8"/>
                </a:solidFill>
                <a:latin typeface="Calibri" pitchFamily="34" charset="0"/>
                <a:ea typeface="Calibri" pitchFamily="34" charset="-122"/>
                <a:cs typeface="Calibri" pitchFamily="34" charset="-120"/>
              </a:rPr>
              <a:t>Annual savings</a:t>
            </a:r>
            <a:endParaRPr lang="en-US" sz="1100" dirty="0"/>
          </a:p>
        </p:txBody>
      </p:sp>
      <p:sp>
        <p:nvSpPr>
          <p:cNvPr id="19" name="Text 17"/>
          <p:cNvSpPr/>
          <p:nvPr/>
        </p:nvSpPr>
        <p:spPr>
          <a:xfrm>
            <a:off x="6080760" y="3246120"/>
            <a:ext cx="2423160" cy="228600"/>
          </a:xfrm>
          <a:prstGeom prst="rect">
            <a:avLst/>
          </a:prstGeom>
          <a:noFill/>
          <a:ln/>
        </p:spPr>
        <p:txBody>
          <a:bodyPr wrap="square" rtlCol="0" anchor="ctr"/>
          <a:lstStyle/>
          <a:p>
            <a:pPr marL="0" indent="0" algn="ctr">
              <a:buNone/>
            </a:pPr>
            <a:r>
              <a:rPr lang="en-US" sz="900" dirty="0">
                <a:solidFill>
                  <a:srgbClr val="94A3B8"/>
                </a:solidFill>
                <a:latin typeface="Calibri" pitchFamily="34" charset="0"/>
                <a:ea typeface="Calibri" pitchFamily="34" charset="-122"/>
                <a:cs typeface="Calibri" pitchFamily="34" charset="-120"/>
              </a:rPr>
              <a:t>City budget</a:t>
            </a:r>
            <a:endParaRPr lang="en-US" sz="900" dirty="0"/>
          </a:p>
        </p:txBody>
      </p:sp>
      <p:sp>
        <p:nvSpPr>
          <p:cNvPr id="20" name="Text 18"/>
          <p:cNvSpPr/>
          <p:nvPr/>
        </p:nvSpPr>
        <p:spPr>
          <a:xfrm>
            <a:off x="320040" y="3749040"/>
            <a:ext cx="8503920" cy="594360"/>
          </a:xfrm>
          <a:prstGeom prst="rect">
            <a:avLst/>
          </a:prstGeom>
          <a:noFill/>
          <a:ln/>
        </p:spPr>
        <p:txBody>
          <a:bodyPr wrap="square" rtlCol="0" anchor="ctr"/>
          <a:lstStyle/>
          <a:p>
            <a:pPr marL="0" indent="0" algn="l">
              <a:buNone/>
            </a:pPr>
            <a:r>
              <a:rPr lang="en-US" sz="1200" dirty="0">
                <a:solidFill>
                  <a:srgbClr val="A8C4E0"/>
                </a:solidFill>
                <a:latin typeface="Calibri" pitchFamily="34" charset="0"/>
                <a:ea typeface="Calibri" pitchFamily="34" charset="-122"/>
                <a:cs typeface="Calibri" pitchFamily="34" charset="-120"/>
              </a:rPr>
              <a:t>A fictional-but-realistic scenario: a tech startup deploys an AI algorithm to predict and prevent crime. The headline numbers look impressive - but the story doesn't end there.</a:t>
            </a:r>
            <a:endParaRPr lang="en-US" sz="1200" dirty="0"/>
          </a:p>
        </p:txBody>
      </p:sp>
      <p:sp>
        <p:nvSpPr>
          <p:cNvPr id="21" name="Shape 19"/>
          <p:cNvSpPr/>
          <p:nvPr/>
        </p:nvSpPr>
        <p:spPr>
          <a:xfrm>
            <a:off x="0" y="4846320"/>
            <a:ext cx="9144000" cy="297180"/>
          </a:xfrm>
          <a:prstGeom prst="rect">
            <a:avLst/>
          </a:prstGeom>
          <a:solidFill>
            <a:srgbClr val="142B48"/>
          </a:solidFill>
          <a:ln w="12700">
            <a:solidFill>
              <a:srgbClr val="142B48"/>
            </a:solidFill>
            <a:prstDash val="solid"/>
          </a:ln>
        </p:spPr>
        <p:txBody>
          <a:bodyPr/>
          <a:lstStyle/>
          <a:p>
            <a:endParaRPr lang="es-ES"/>
          </a:p>
        </p:txBody>
      </p:sp>
      <p:sp>
        <p:nvSpPr>
          <p:cNvPr id="22" name="Text 20"/>
          <p:cNvSpPr/>
          <p:nvPr/>
        </p:nvSpPr>
        <p:spPr>
          <a:xfrm>
            <a:off x="365760" y="4846320"/>
            <a:ext cx="8229600" cy="29718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s-ES"/>
          </a:p>
        </p:txBody>
      </p:sp>
      <p:sp>
        <p:nvSpPr>
          <p:cNvPr id="3" name="Text 1"/>
          <p:cNvSpPr/>
          <p:nvPr/>
        </p:nvSpPr>
        <p:spPr>
          <a:xfrm>
            <a:off x="365760" y="0"/>
            <a:ext cx="8229600" cy="685800"/>
          </a:xfrm>
          <a:prstGeom prst="rect">
            <a:avLst/>
          </a:prstGeom>
          <a:noFill/>
          <a:ln/>
        </p:spPr>
        <p:txBody>
          <a:bodyPr wrap="square" rtlCol="0" anchor="ctr"/>
          <a:lstStyle/>
          <a:p>
            <a:pPr marL="0" indent="0" algn="l">
              <a:buNone/>
            </a:pPr>
            <a:r>
              <a:rPr lang="en-US" sz="1100" b="1" kern="0" spc="300" dirty="0">
                <a:solidFill>
                  <a:srgbClr val="94A3B8"/>
                </a:solidFill>
                <a:latin typeface="Calibri" pitchFamily="34" charset="0"/>
                <a:ea typeface="Calibri" pitchFamily="34" charset="-122"/>
                <a:cs typeface="Calibri" pitchFamily="34" charset="-120"/>
              </a:rPr>
              <a:t>THE PROBLEM</a:t>
            </a:r>
            <a:endParaRPr lang="en-US" sz="1100" dirty="0"/>
          </a:p>
        </p:txBody>
      </p:sp>
      <p:sp>
        <p:nvSpPr>
          <p:cNvPr id="4" name="Text 2"/>
          <p:cNvSpPr/>
          <p:nvPr/>
        </p:nvSpPr>
        <p:spPr>
          <a:xfrm>
            <a:off x="365760" y="822960"/>
            <a:ext cx="8229600" cy="502920"/>
          </a:xfrm>
          <a:prstGeom prst="rect">
            <a:avLst/>
          </a:prstGeom>
          <a:noFill/>
          <a:ln/>
        </p:spPr>
        <p:txBody>
          <a:bodyPr wrap="square" rtlCol="0" anchor="ctr"/>
          <a:lstStyle/>
          <a:p>
            <a:pPr marL="0" indent="0" algn="l">
              <a:buNone/>
            </a:pPr>
            <a:r>
              <a:rPr lang="en-US" sz="2600" b="1" dirty="0">
                <a:solidFill>
                  <a:srgbClr val="1E293B"/>
                </a:solidFill>
                <a:latin typeface="Cambria" pitchFamily="34" charset="0"/>
                <a:ea typeface="Cambria" pitchFamily="34" charset="-122"/>
                <a:cs typeface="Cambria" pitchFamily="34" charset="-120"/>
              </a:rPr>
              <a:t>Marta's Audit Reveals Structural Bias</a:t>
            </a:r>
            <a:endParaRPr lang="en-US" sz="2600" dirty="0"/>
          </a:p>
        </p:txBody>
      </p:sp>
      <p:sp>
        <p:nvSpPr>
          <p:cNvPr id="5" name="Shape 3"/>
          <p:cNvSpPr/>
          <p:nvPr/>
        </p:nvSpPr>
        <p:spPr>
          <a:xfrm>
            <a:off x="365760" y="1463040"/>
            <a:ext cx="2468880" cy="2103120"/>
          </a:xfrm>
          <a:prstGeom prst="rect">
            <a:avLst/>
          </a:prstGeom>
          <a:solidFill>
            <a:srgbClr val="1E3A5F"/>
          </a:solidFill>
          <a:ln w="12700">
            <a:solidFill>
              <a:srgbClr val="1E3A5F"/>
            </a:solidFill>
            <a:prstDash val="solid"/>
          </a:ln>
          <a:effectLst>
            <a:outerShdw blurRad="101600" dist="38100" dir="8100000" algn="bl" rotWithShape="0">
              <a:srgbClr val="000000">
                <a:alpha val="10000"/>
              </a:srgbClr>
            </a:outerShdw>
          </a:effectLst>
        </p:spPr>
        <p:txBody>
          <a:bodyPr/>
          <a:lstStyle/>
          <a:p>
            <a:endParaRPr lang="es-ES"/>
          </a:p>
        </p:txBody>
      </p:sp>
      <p:sp>
        <p:nvSpPr>
          <p:cNvPr id="6" name="Text 4"/>
          <p:cNvSpPr/>
          <p:nvPr/>
        </p:nvSpPr>
        <p:spPr>
          <a:xfrm>
            <a:off x="365760" y="1554480"/>
            <a:ext cx="2468880" cy="1005840"/>
          </a:xfrm>
          <a:prstGeom prst="rect">
            <a:avLst/>
          </a:prstGeom>
          <a:noFill/>
          <a:ln/>
        </p:spPr>
        <p:txBody>
          <a:bodyPr wrap="square" rtlCol="0" anchor="ctr"/>
          <a:lstStyle/>
          <a:p>
            <a:pPr marL="0" indent="0" algn="ctr">
              <a:buNone/>
            </a:pPr>
            <a:r>
              <a:rPr lang="en-US" sz="5600" b="1" dirty="0">
                <a:solidFill>
                  <a:srgbClr val="FFFFFF"/>
                </a:solidFill>
                <a:latin typeface="Cambria" pitchFamily="34" charset="0"/>
                <a:ea typeface="Cambria" pitchFamily="34" charset="-122"/>
                <a:cs typeface="Cambria" pitchFamily="34" charset="-120"/>
              </a:rPr>
              <a:t>3.4×</a:t>
            </a:r>
            <a:endParaRPr lang="en-US" sz="5600" dirty="0"/>
          </a:p>
        </p:txBody>
      </p:sp>
      <p:sp>
        <p:nvSpPr>
          <p:cNvPr id="7" name="Text 5"/>
          <p:cNvSpPr/>
          <p:nvPr/>
        </p:nvSpPr>
        <p:spPr>
          <a:xfrm>
            <a:off x="365760" y="2514600"/>
            <a:ext cx="2468880" cy="914400"/>
          </a:xfrm>
          <a:prstGeom prst="rect">
            <a:avLst/>
          </a:prstGeom>
          <a:noFill/>
          <a:ln/>
        </p:spPr>
        <p:txBody>
          <a:bodyPr wrap="square" rtlCol="0" anchor="t"/>
          <a:lstStyle/>
          <a:p>
            <a:pPr marL="0" indent="0" algn="ctr">
              <a:buNone/>
            </a:pPr>
            <a:r>
              <a:rPr lang="en-US" sz="1100" dirty="0">
                <a:solidFill>
                  <a:srgbClr val="A8C4E0"/>
                </a:solidFill>
                <a:latin typeface="Calibri" pitchFamily="34" charset="0"/>
                <a:ea typeface="Calibri" pitchFamily="34" charset="-122"/>
                <a:cs typeface="Calibri" pitchFamily="34" charset="-120"/>
              </a:rPr>
              <a:t>Higher flagging rate</a:t>
            </a:r>
            <a:endParaRPr lang="en-US" sz="1100" dirty="0"/>
          </a:p>
          <a:p>
            <a:pPr marL="0" indent="0" algn="ctr">
              <a:buNone/>
            </a:pPr>
            <a:r>
              <a:rPr lang="en-US" sz="1100" dirty="0">
                <a:solidFill>
                  <a:srgbClr val="A8C4E0"/>
                </a:solidFill>
                <a:latin typeface="Calibri" pitchFamily="34" charset="0"/>
                <a:ea typeface="Calibri" pitchFamily="34" charset="-122"/>
                <a:cs typeface="Calibri" pitchFamily="34" charset="-120"/>
              </a:rPr>
              <a:t>in 3 neighbourhoods</a:t>
            </a:r>
            <a:endParaRPr lang="en-US" sz="1100" dirty="0"/>
          </a:p>
          <a:p>
            <a:pPr marL="0" indent="0" algn="ctr">
              <a:buNone/>
            </a:pPr>
            <a:r>
              <a:rPr lang="en-US" sz="1100" dirty="0">
                <a:solidFill>
                  <a:srgbClr val="A8C4E0"/>
                </a:solidFill>
                <a:latin typeface="Calibri" pitchFamily="34" charset="0"/>
                <a:ea typeface="Calibri" pitchFamily="34" charset="-122"/>
                <a:cs typeface="Calibri" pitchFamily="34" charset="-120"/>
              </a:rPr>
              <a:t>(15,000 residents)</a:t>
            </a:r>
            <a:endParaRPr lang="en-US" sz="1100" dirty="0"/>
          </a:p>
        </p:txBody>
      </p:sp>
      <p:sp>
        <p:nvSpPr>
          <p:cNvPr id="8" name="Shape 6"/>
          <p:cNvSpPr/>
          <p:nvPr/>
        </p:nvSpPr>
        <p:spPr>
          <a:xfrm>
            <a:off x="3154680" y="1463040"/>
            <a:ext cx="566928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9" name="Shape 7"/>
          <p:cNvSpPr/>
          <p:nvPr/>
        </p:nvSpPr>
        <p:spPr>
          <a:xfrm>
            <a:off x="3154680" y="1463040"/>
            <a:ext cx="54864" cy="749808"/>
          </a:xfrm>
          <a:prstGeom prst="rect">
            <a:avLst/>
          </a:prstGeom>
          <a:solidFill>
            <a:srgbClr val="C0392B"/>
          </a:solidFill>
          <a:ln w="12700">
            <a:solidFill>
              <a:srgbClr val="C0392B"/>
            </a:solidFill>
            <a:prstDash val="solid"/>
          </a:ln>
        </p:spPr>
        <p:txBody>
          <a:bodyPr/>
          <a:lstStyle/>
          <a:p>
            <a:endParaRPr lang="es-ES"/>
          </a:p>
        </p:txBody>
      </p:sp>
      <p:sp>
        <p:nvSpPr>
          <p:cNvPr id="10" name="Text 8"/>
          <p:cNvSpPr/>
          <p:nvPr/>
        </p:nvSpPr>
        <p:spPr>
          <a:xfrm>
            <a:off x="3310128" y="1527048"/>
            <a:ext cx="5349240" cy="256032"/>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Historical Bias in Training Data</a:t>
            </a:r>
            <a:endParaRPr lang="en-US" sz="1200" dirty="0"/>
          </a:p>
        </p:txBody>
      </p:sp>
      <p:sp>
        <p:nvSpPr>
          <p:cNvPr id="11" name="Text 9"/>
          <p:cNvSpPr/>
          <p:nvPr/>
        </p:nvSpPr>
        <p:spPr>
          <a:xfrm>
            <a:off x="3310128" y="1792224"/>
            <a:ext cx="5349240" cy="347472"/>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Past over-policing of low-income &amp; immigrant neighbourhoods fed directly into the model's predictions.</a:t>
            </a:r>
            <a:endParaRPr lang="en-US" sz="1000" dirty="0"/>
          </a:p>
        </p:txBody>
      </p:sp>
      <p:sp>
        <p:nvSpPr>
          <p:cNvPr id="12" name="Shape 10"/>
          <p:cNvSpPr/>
          <p:nvPr/>
        </p:nvSpPr>
        <p:spPr>
          <a:xfrm>
            <a:off x="3154680" y="2322576"/>
            <a:ext cx="566928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3" name="Shape 11"/>
          <p:cNvSpPr/>
          <p:nvPr/>
        </p:nvSpPr>
        <p:spPr>
          <a:xfrm>
            <a:off x="3154680" y="2322576"/>
            <a:ext cx="54864" cy="749808"/>
          </a:xfrm>
          <a:prstGeom prst="rect">
            <a:avLst/>
          </a:prstGeom>
          <a:solidFill>
            <a:srgbClr val="C0392B"/>
          </a:solidFill>
          <a:ln w="12700">
            <a:solidFill>
              <a:srgbClr val="C0392B"/>
            </a:solidFill>
            <a:prstDash val="solid"/>
          </a:ln>
        </p:spPr>
        <p:txBody>
          <a:bodyPr/>
          <a:lstStyle/>
          <a:p>
            <a:endParaRPr lang="es-ES"/>
          </a:p>
        </p:txBody>
      </p:sp>
      <p:sp>
        <p:nvSpPr>
          <p:cNvPr id="14" name="Text 12"/>
          <p:cNvSpPr/>
          <p:nvPr/>
        </p:nvSpPr>
        <p:spPr>
          <a:xfrm>
            <a:off x="3310128" y="2386584"/>
            <a:ext cx="5349240" cy="256032"/>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Compounding Feedback Loop</a:t>
            </a:r>
            <a:endParaRPr lang="en-US" sz="1200" dirty="0"/>
          </a:p>
        </p:txBody>
      </p:sp>
      <p:sp>
        <p:nvSpPr>
          <p:cNvPr id="15" name="Text 13"/>
          <p:cNvSpPr/>
          <p:nvPr/>
        </p:nvSpPr>
        <p:spPr>
          <a:xfrm>
            <a:off x="3310128" y="2651760"/>
            <a:ext cx="5349240" cy="347472"/>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More flags → more patrols → more arrests → more data points → even more flags. The bias amplifies itself.</a:t>
            </a:r>
            <a:endParaRPr lang="en-US" sz="1000" dirty="0"/>
          </a:p>
        </p:txBody>
      </p:sp>
      <p:sp>
        <p:nvSpPr>
          <p:cNvPr id="16" name="Shape 14"/>
          <p:cNvSpPr/>
          <p:nvPr/>
        </p:nvSpPr>
        <p:spPr>
          <a:xfrm>
            <a:off x="3154680" y="3182112"/>
            <a:ext cx="566928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7" name="Shape 15"/>
          <p:cNvSpPr/>
          <p:nvPr/>
        </p:nvSpPr>
        <p:spPr>
          <a:xfrm>
            <a:off x="3154680" y="3182112"/>
            <a:ext cx="54864" cy="749808"/>
          </a:xfrm>
          <a:prstGeom prst="rect">
            <a:avLst/>
          </a:prstGeom>
          <a:solidFill>
            <a:srgbClr val="D97706"/>
          </a:solidFill>
          <a:ln w="12700">
            <a:solidFill>
              <a:srgbClr val="D97706"/>
            </a:solidFill>
            <a:prstDash val="solid"/>
          </a:ln>
        </p:spPr>
        <p:txBody>
          <a:bodyPr/>
          <a:lstStyle/>
          <a:p>
            <a:endParaRPr lang="es-ES"/>
          </a:p>
        </p:txBody>
      </p:sp>
      <p:sp>
        <p:nvSpPr>
          <p:cNvPr id="18" name="Text 16"/>
          <p:cNvSpPr/>
          <p:nvPr/>
        </p:nvSpPr>
        <p:spPr>
          <a:xfrm>
            <a:off x="3310128" y="3246120"/>
            <a:ext cx="5349240" cy="256032"/>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GDPR Violation</a:t>
            </a:r>
            <a:endParaRPr lang="en-US" sz="1200" dirty="0"/>
          </a:p>
        </p:txBody>
      </p:sp>
      <p:sp>
        <p:nvSpPr>
          <p:cNvPr id="19" name="Text 17"/>
          <p:cNvSpPr/>
          <p:nvPr/>
        </p:nvSpPr>
        <p:spPr>
          <a:xfrm>
            <a:off x="3310128" y="3511296"/>
            <a:ext cx="5349240" cy="347472"/>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CCTV footage was used without proper consent - a clear breach of Principle 1.6 (ACM) and data protection law.</a:t>
            </a:r>
            <a:endParaRPr lang="en-US" sz="1000" dirty="0"/>
          </a:p>
        </p:txBody>
      </p:sp>
      <p:sp>
        <p:nvSpPr>
          <p:cNvPr id="20" name="Shape 18"/>
          <p:cNvSpPr/>
          <p:nvPr/>
        </p:nvSpPr>
        <p:spPr>
          <a:xfrm>
            <a:off x="3154680" y="4041648"/>
            <a:ext cx="566928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21" name="Shape 19"/>
          <p:cNvSpPr/>
          <p:nvPr/>
        </p:nvSpPr>
        <p:spPr>
          <a:xfrm>
            <a:off x="3154680" y="4041648"/>
            <a:ext cx="54864" cy="749808"/>
          </a:xfrm>
          <a:prstGeom prst="rect">
            <a:avLst/>
          </a:prstGeom>
          <a:solidFill>
            <a:srgbClr val="D97706"/>
          </a:solidFill>
          <a:ln w="12700">
            <a:solidFill>
              <a:srgbClr val="D97706"/>
            </a:solidFill>
            <a:prstDash val="solid"/>
          </a:ln>
        </p:spPr>
        <p:txBody>
          <a:bodyPr/>
          <a:lstStyle/>
          <a:p>
            <a:endParaRPr lang="es-ES"/>
          </a:p>
        </p:txBody>
      </p:sp>
      <p:sp>
        <p:nvSpPr>
          <p:cNvPr id="22" name="Text 20"/>
          <p:cNvSpPr/>
          <p:nvPr/>
        </p:nvSpPr>
        <p:spPr>
          <a:xfrm>
            <a:off x="3310128" y="4105656"/>
            <a:ext cx="5349240" cy="256032"/>
          </a:xfrm>
          <a:prstGeom prst="rect">
            <a:avLst/>
          </a:prstGeom>
          <a:noFill/>
          <a:ln/>
        </p:spPr>
        <p:txBody>
          <a:bodyPr wrap="square" rtlCol="0" anchor="ctr"/>
          <a:lstStyle/>
          <a:p>
            <a:pPr marL="0" indent="0" algn="l">
              <a:buNone/>
            </a:pPr>
            <a:r>
              <a:rPr lang="en-US" sz="1200" b="1" dirty="0">
                <a:solidFill>
                  <a:srgbClr val="1E293B"/>
                </a:solidFill>
                <a:latin typeface="Cambria" pitchFamily="34" charset="0"/>
                <a:ea typeface="Cambria" pitchFamily="34" charset="-122"/>
                <a:cs typeface="Cambria" pitchFamily="34" charset="-120"/>
              </a:rPr>
              <a:t>Management Dismisses the Audit</a:t>
            </a:r>
            <a:endParaRPr lang="en-US" sz="1200" dirty="0"/>
          </a:p>
        </p:txBody>
      </p:sp>
      <p:sp>
        <p:nvSpPr>
          <p:cNvPr id="23" name="Text 21"/>
          <p:cNvSpPr/>
          <p:nvPr/>
        </p:nvSpPr>
        <p:spPr>
          <a:xfrm>
            <a:off x="3310128" y="4370832"/>
            <a:ext cx="5349240" cy="347472"/>
          </a:xfrm>
          <a:prstGeom prst="rect">
            <a:avLst/>
          </a:prstGeom>
          <a:noFill/>
          <a:ln/>
        </p:spPr>
        <p:txBody>
          <a:bodyPr wrap="square" rtlCol="0" anchor="ctr"/>
          <a:lstStyle/>
          <a:p>
            <a:pPr marL="0" indent="0" algn="l">
              <a:buNone/>
            </a:pPr>
            <a:r>
              <a:rPr lang="en-US" sz="1000" dirty="0">
                <a:solidFill>
                  <a:srgbClr val="475569"/>
                </a:solidFill>
                <a:latin typeface="Calibri" pitchFamily="34" charset="0"/>
                <a:ea typeface="Calibri" pitchFamily="34" charset="-122"/>
                <a:cs typeface="Calibri" pitchFamily="34" charset="-120"/>
              </a:rPr>
              <a:t>Marta reports her findings. Response from management: "The numbers speak for themselves."</a:t>
            </a:r>
            <a:endParaRPr lang="en-US" sz="1000" dirty="0"/>
          </a:p>
        </p:txBody>
      </p:sp>
      <p:sp>
        <p:nvSpPr>
          <p:cNvPr id="24" name="Shape 22"/>
          <p:cNvSpPr/>
          <p:nvPr/>
        </p:nvSpPr>
        <p:spPr>
          <a:xfrm>
            <a:off x="0" y="4892040"/>
            <a:ext cx="9144000" cy="251460"/>
          </a:xfrm>
          <a:prstGeom prst="rect">
            <a:avLst/>
          </a:prstGeom>
          <a:solidFill>
            <a:srgbClr val="E2E8F0"/>
          </a:solidFill>
          <a:ln w="12700">
            <a:solidFill>
              <a:srgbClr val="E2E8F0"/>
            </a:solidFill>
            <a:prstDash val="solid"/>
          </a:ln>
        </p:spPr>
        <p:txBody>
          <a:bodyPr/>
          <a:lstStyle/>
          <a:p>
            <a:endParaRPr lang="es-ES"/>
          </a:p>
        </p:txBody>
      </p:sp>
      <p:sp>
        <p:nvSpPr>
          <p:cNvPr id="25" name="Text 23"/>
          <p:cNvSpPr/>
          <p:nvPr/>
        </p:nvSpPr>
        <p:spPr>
          <a:xfrm>
            <a:off x="365760" y="4892040"/>
            <a:ext cx="8229600" cy="25146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s-ES"/>
          </a:p>
        </p:txBody>
      </p:sp>
      <p:sp>
        <p:nvSpPr>
          <p:cNvPr id="3" name="Text 1"/>
          <p:cNvSpPr/>
          <p:nvPr/>
        </p:nvSpPr>
        <p:spPr>
          <a:xfrm>
            <a:off x="365760" y="0"/>
            <a:ext cx="8229600" cy="685800"/>
          </a:xfrm>
          <a:prstGeom prst="rect">
            <a:avLst/>
          </a:prstGeom>
          <a:noFill/>
          <a:ln/>
        </p:spPr>
        <p:txBody>
          <a:bodyPr wrap="square" rtlCol="0" anchor="ctr"/>
          <a:lstStyle/>
          <a:p>
            <a:pPr marL="0" indent="0" algn="l">
              <a:buNone/>
            </a:pPr>
            <a:r>
              <a:rPr lang="en-US" sz="1100" b="1" kern="0" spc="300" dirty="0">
                <a:solidFill>
                  <a:srgbClr val="94A3B8"/>
                </a:solidFill>
                <a:latin typeface="Calibri" pitchFamily="34" charset="0"/>
                <a:ea typeface="Calibri" pitchFamily="34" charset="-122"/>
                <a:cs typeface="Calibri" pitchFamily="34" charset="-120"/>
              </a:rPr>
              <a:t>ETHICAL ANALYSIS</a:t>
            </a:r>
            <a:endParaRPr lang="en-US" sz="1100" dirty="0"/>
          </a:p>
        </p:txBody>
      </p:sp>
      <p:sp>
        <p:nvSpPr>
          <p:cNvPr id="4" name="Text 2"/>
          <p:cNvSpPr/>
          <p:nvPr/>
        </p:nvSpPr>
        <p:spPr>
          <a:xfrm>
            <a:off x="365760" y="822960"/>
            <a:ext cx="8229600" cy="502920"/>
          </a:xfrm>
          <a:prstGeom prst="rect">
            <a:avLst/>
          </a:prstGeom>
          <a:noFill/>
          <a:ln/>
        </p:spPr>
        <p:txBody>
          <a:bodyPr wrap="square" rtlCol="0" anchor="ctr"/>
          <a:lstStyle/>
          <a:p>
            <a:pPr marL="0" indent="0" algn="l">
              <a:buNone/>
            </a:pPr>
            <a:r>
              <a:rPr lang="en-US" sz="2400" b="1" dirty="0">
                <a:solidFill>
                  <a:srgbClr val="1E293B"/>
                </a:solidFill>
                <a:latin typeface="Cambria" pitchFamily="34" charset="0"/>
                <a:ea typeface="Cambria" pitchFamily="34" charset="-122"/>
                <a:cs typeface="Cambria" pitchFamily="34" charset="-120"/>
              </a:rPr>
              <a:t>Verdict: ACM &amp; IEEE Applied to PATROL-AI</a:t>
            </a:r>
            <a:endParaRPr lang="en-US" sz="2400" dirty="0"/>
          </a:p>
        </p:txBody>
      </p:sp>
      <p:sp>
        <p:nvSpPr>
          <p:cNvPr id="5" name="Shape 3"/>
          <p:cNvSpPr/>
          <p:nvPr/>
        </p:nvSpPr>
        <p:spPr>
          <a:xfrm>
            <a:off x="365760" y="1463040"/>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6" name="Shape 4"/>
          <p:cNvSpPr/>
          <p:nvPr/>
        </p:nvSpPr>
        <p:spPr>
          <a:xfrm>
            <a:off x="365760" y="1463040"/>
            <a:ext cx="54864" cy="731520"/>
          </a:xfrm>
          <a:prstGeom prst="rect">
            <a:avLst/>
          </a:prstGeom>
          <a:solidFill>
            <a:srgbClr val="C0392B"/>
          </a:solidFill>
          <a:ln w="12700">
            <a:solidFill>
              <a:srgbClr val="C0392B"/>
            </a:solidFill>
            <a:prstDash val="solid"/>
          </a:ln>
        </p:spPr>
        <p:txBody>
          <a:bodyPr/>
          <a:lstStyle/>
          <a:p>
            <a:endParaRPr lang="es-ES"/>
          </a:p>
        </p:txBody>
      </p:sp>
      <p:sp>
        <p:nvSpPr>
          <p:cNvPr id="7" name="Text 5"/>
          <p:cNvSpPr/>
          <p:nvPr/>
        </p:nvSpPr>
        <p:spPr>
          <a:xfrm>
            <a:off x="502920" y="1517904"/>
            <a:ext cx="1005840" cy="219456"/>
          </a:xfrm>
          <a:prstGeom prst="rect">
            <a:avLst/>
          </a:prstGeom>
          <a:noFill/>
          <a:ln/>
        </p:spPr>
        <p:txBody>
          <a:bodyPr wrap="square" rtlCol="0" anchor="ctr"/>
          <a:lstStyle/>
          <a:p>
            <a:pPr marL="0" indent="0" algn="l">
              <a:buNone/>
            </a:pPr>
            <a:r>
              <a:rPr lang="en-US" sz="900" b="1" dirty="0">
                <a:solidFill>
                  <a:srgbClr val="C0392B"/>
                </a:solidFill>
                <a:latin typeface="Calibri" pitchFamily="34" charset="0"/>
                <a:ea typeface="Calibri" pitchFamily="34" charset="-122"/>
                <a:cs typeface="Calibri" pitchFamily="34" charset="-120"/>
              </a:rPr>
              <a:t>ACM 1.1</a:t>
            </a:r>
            <a:endParaRPr lang="en-US" sz="900" dirty="0"/>
          </a:p>
        </p:txBody>
      </p:sp>
      <p:sp>
        <p:nvSpPr>
          <p:cNvPr id="8" name="Text 6"/>
          <p:cNvSpPr/>
          <p:nvPr/>
        </p:nvSpPr>
        <p:spPr>
          <a:xfrm>
            <a:off x="1463040" y="1517904"/>
            <a:ext cx="2926080" cy="219456"/>
          </a:xfrm>
          <a:prstGeom prst="rect">
            <a:avLst/>
          </a:prstGeom>
          <a:noFill/>
          <a:ln/>
        </p:spPr>
        <p:txBody>
          <a:bodyPr wrap="square" rtlCol="0" anchor="ctr"/>
          <a:lstStyle/>
          <a:p>
            <a:pPr marL="0" indent="0" algn="r">
              <a:buNone/>
            </a:pPr>
            <a:r>
              <a:rPr lang="en-US" sz="900" b="1" dirty="0">
                <a:solidFill>
                  <a:srgbClr val="C0392B"/>
                </a:solidFill>
                <a:latin typeface="Calibri" pitchFamily="34" charset="0"/>
                <a:ea typeface="Calibri" pitchFamily="34" charset="-122"/>
                <a:cs typeface="Calibri" pitchFamily="34" charset="-120"/>
              </a:rPr>
              <a:t>❌  VIOLATED</a:t>
            </a:r>
            <a:endParaRPr lang="en-US" sz="900" dirty="0"/>
          </a:p>
        </p:txBody>
      </p:sp>
      <p:sp>
        <p:nvSpPr>
          <p:cNvPr id="9" name="Text 7"/>
          <p:cNvSpPr/>
          <p:nvPr/>
        </p:nvSpPr>
        <p:spPr>
          <a:xfrm>
            <a:off x="502920" y="1719072"/>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Contribute to well-being</a:t>
            </a:r>
            <a:endParaRPr lang="en-US" sz="1100" dirty="0"/>
          </a:p>
        </p:txBody>
      </p:sp>
      <p:sp>
        <p:nvSpPr>
          <p:cNvPr id="10" name="Text 8"/>
          <p:cNvSpPr/>
          <p:nvPr/>
        </p:nvSpPr>
        <p:spPr>
          <a:xfrm>
            <a:off x="502920" y="1920240"/>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15,000 stakeholders are ignored - their welfare is sacrificed.</a:t>
            </a:r>
            <a:endParaRPr lang="en-US" sz="950" dirty="0"/>
          </a:p>
        </p:txBody>
      </p:sp>
      <p:sp>
        <p:nvSpPr>
          <p:cNvPr id="11" name="Shape 9"/>
          <p:cNvSpPr/>
          <p:nvPr/>
        </p:nvSpPr>
        <p:spPr>
          <a:xfrm>
            <a:off x="365760" y="2313432"/>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2" name="Shape 10"/>
          <p:cNvSpPr/>
          <p:nvPr/>
        </p:nvSpPr>
        <p:spPr>
          <a:xfrm>
            <a:off x="365760" y="2313432"/>
            <a:ext cx="54864" cy="731520"/>
          </a:xfrm>
          <a:prstGeom prst="rect">
            <a:avLst/>
          </a:prstGeom>
          <a:solidFill>
            <a:srgbClr val="C0392B"/>
          </a:solidFill>
          <a:ln w="12700">
            <a:solidFill>
              <a:srgbClr val="C0392B"/>
            </a:solidFill>
            <a:prstDash val="solid"/>
          </a:ln>
        </p:spPr>
        <p:txBody>
          <a:bodyPr/>
          <a:lstStyle/>
          <a:p>
            <a:endParaRPr lang="es-ES"/>
          </a:p>
        </p:txBody>
      </p:sp>
      <p:sp>
        <p:nvSpPr>
          <p:cNvPr id="13" name="Text 11"/>
          <p:cNvSpPr/>
          <p:nvPr/>
        </p:nvSpPr>
        <p:spPr>
          <a:xfrm>
            <a:off x="502920" y="2368296"/>
            <a:ext cx="1005840" cy="219456"/>
          </a:xfrm>
          <a:prstGeom prst="rect">
            <a:avLst/>
          </a:prstGeom>
          <a:noFill/>
          <a:ln/>
        </p:spPr>
        <p:txBody>
          <a:bodyPr wrap="square" rtlCol="0" anchor="ctr"/>
          <a:lstStyle/>
          <a:p>
            <a:pPr marL="0" indent="0" algn="l">
              <a:buNone/>
            </a:pPr>
            <a:r>
              <a:rPr lang="en-US" sz="900" b="1" dirty="0">
                <a:solidFill>
                  <a:srgbClr val="C0392B"/>
                </a:solidFill>
                <a:latin typeface="Calibri" pitchFamily="34" charset="0"/>
                <a:ea typeface="Calibri" pitchFamily="34" charset="-122"/>
                <a:cs typeface="Calibri" pitchFamily="34" charset="-120"/>
              </a:rPr>
              <a:t>ACM 1.2</a:t>
            </a:r>
            <a:endParaRPr lang="en-US" sz="900" dirty="0"/>
          </a:p>
        </p:txBody>
      </p:sp>
      <p:sp>
        <p:nvSpPr>
          <p:cNvPr id="14" name="Text 12"/>
          <p:cNvSpPr/>
          <p:nvPr/>
        </p:nvSpPr>
        <p:spPr>
          <a:xfrm>
            <a:off x="1463040" y="2368296"/>
            <a:ext cx="2926080" cy="219456"/>
          </a:xfrm>
          <a:prstGeom prst="rect">
            <a:avLst/>
          </a:prstGeom>
          <a:noFill/>
          <a:ln/>
        </p:spPr>
        <p:txBody>
          <a:bodyPr wrap="square" rtlCol="0" anchor="ctr"/>
          <a:lstStyle/>
          <a:p>
            <a:pPr marL="0" indent="0" algn="r">
              <a:buNone/>
            </a:pPr>
            <a:r>
              <a:rPr lang="en-US" sz="900" b="1" dirty="0">
                <a:solidFill>
                  <a:srgbClr val="C0392B"/>
                </a:solidFill>
                <a:latin typeface="Calibri" pitchFamily="34" charset="0"/>
                <a:ea typeface="Calibri" pitchFamily="34" charset="-122"/>
                <a:cs typeface="Calibri" pitchFamily="34" charset="-120"/>
              </a:rPr>
              <a:t>❌  VIOLATED</a:t>
            </a:r>
            <a:endParaRPr lang="en-US" sz="900" dirty="0"/>
          </a:p>
        </p:txBody>
      </p:sp>
      <p:sp>
        <p:nvSpPr>
          <p:cNvPr id="15" name="Text 13"/>
          <p:cNvSpPr/>
          <p:nvPr/>
        </p:nvSpPr>
        <p:spPr>
          <a:xfrm>
            <a:off x="502920" y="2569464"/>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Avoid harm</a:t>
            </a:r>
            <a:endParaRPr lang="en-US" sz="1100" dirty="0"/>
          </a:p>
        </p:txBody>
      </p:sp>
      <p:sp>
        <p:nvSpPr>
          <p:cNvPr id="16" name="Text 14"/>
          <p:cNvSpPr/>
          <p:nvPr/>
        </p:nvSpPr>
        <p:spPr>
          <a:xfrm>
            <a:off x="502920" y="2770632"/>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Documented harm is deliberately continued by management.</a:t>
            </a:r>
            <a:endParaRPr lang="en-US" sz="950" dirty="0"/>
          </a:p>
        </p:txBody>
      </p:sp>
      <p:sp>
        <p:nvSpPr>
          <p:cNvPr id="17" name="Shape 15"/>
          <p:cNvSpPr/>
          <p:nvPr/>
        </p:nvSpPr>
        <p:spPr>
          <a:xfrm>
            <a:off x="365760" y="3163824"/>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8" name="Shape 16"/>
          <p:cNvSpPr/>
          <p:nvPr/>
        </p:nvSpPr>
        <p:spPr>
          <a:xfrm>
            <a:off x="365760" y="3163824"/>
            <a:ext cx="54864" cy="731520"/>
          </a:xfrm>
          <a:prstGeom prst="rect">
            <a:avLst/>
          </a:prstGeom>
          <a:solidFill>
            <a:srgbClr val="C0392B"/>
          </a:solidFill>
          <a:ln w="12700">
            <a:solidFill>
              <a:srgbClr val="C0392B"/>
            </a:solidFill>
            <a:prstDash val="solid"/>
          </a:ln>
        </p:spPr>
        <p:txBody>
          <a:bodyPr/>
          <a:lstStyle/>
          <a:p>
            <a:endParaRPr lang="es-ES"/>
          </a:p>
        </p:txBody>
      </p:sp>
      <p:sp>
        <p:nvSpPr>
          <p:cNvPr id="19" name="Text 17"/>
          <p:cNvSpPr/>
          <p:nvPr/>
        </p:nvSpPr>
        <p:spPr>
          <a:xfrm>
            <a:off x="502920" y="3218688"/>
            <a:ext cx="1005840" cy="219456"/>
          </a:xfrm>
          <a:prstGeom prst="rect">
            <a:avLst/>
          </a:prstGeom>
          <a:noFill/>
          <a:ln/>
        </p:spPr>
        <p:txBody>
          <a:bodyPr wrap="square" rtlCol="0" anchor="ctr"/>
          <a:lstStyle/>
          <a:p>
            <a:pPr marL="0" indent="0" algn="l">
              <a:buNone/>
            </a:pPr>
            <a:r>
              <a:rPr lang="en-US" sz="900" b="1" dirty="0">
                <a:solidFill>
                  <a:srgbClr val="C0392B"/>
                </a:solidFill>
                <a:latin typeface="Calibri" pitchFamily="34" charset="0"/>
                <a:ea typeface="Calibri" pitchFamily="34" charset="-122"/>
                <a:cs typeface="Calibri" pitchFamily="34" charset="-120"/>
              </a:rPr>
              <a:t>ACM 1.4</a:t>
            </a:r>
            <a:endParaRPr lang="en-US" sz="900" dirty="0"/>
          </a:p>
        </p:txBody>
      </p:sp>
      <p:sp>
        <p:nvSpPr>
          <p:cNvPr id="20" name="Text 18"/>
          <p:cNvSpPr/>
          <p:nvPr/>
        </p:nvSpPr>
        <p:spPr>
          <a:xfrm>
            <a:off x="1463040" y="3218688"/>
            <a:ext cx="2926080" cy="219456"/>
          </a:xfrm>
          <a:prstGeom prst="rect">
            <a:avLst/>
          </a:prstGeom>
          <a:noFill/>
          <a:ln/>
        </p:spPr>
        <p:txBody>
          <a:bodyPr wrap="square" rtlCol="0" anchor="ctr"/>
          <a:lstStyle/>
          <a:p>
            <a:pPr marL="0" indent="0" algn="r">
              <a:buNone/>
            </a:pPr>
            <a:r>
              <a:rPr lang="en-US" sz="900" b="1" dirty="0">
                <a:solidFill>
                  <a:srgbClr val="C0392B"/>
                </a:solidFill>
                <a:latin typeface="Calibri" pitchFamily="34" charset="0"/>
                <a:ea typeface="Calibri" pitchFamily="34" charset="-122"/>
                <a:cs typeface="Calibri" pitchFamily="34" charset="-120"/>
              </a:rPr>
              <a:t>❌  VIOLATED</a:t>
            </a:r>
            <a:endParaRPr lang="en-US" sz="900" dirty="0"/>
          </a:p>
        </p:txBody>
      </p:sp>
      <p:sp>
        <p:nvSpPr>
          <p:cNvPr id="21" name="Text 19"/>
          <p:cNvSpPr/>
          <p:nvPr/>
        </p:nvSpPr>
        <p:spPr>
          <a:xfrm>
            <a:off x="502920" y="3419856"/>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Non-discrimination</a:t>
            </a:r>
            <a:endParaRPr lang="en-US" sz="1100" dirty="0"/>
          </a:p>
        </p:txBody>
      </p:sp>
      <p:sp>
        <p:nvSpPr>
          <p:cNvPr id="22" name="Text 20"/>
          <p:cNvSpPr/>
          <p:nvPr/>
        </p:nvSpPr>
        <p:spPr>
          <a:xfrm>
            <a:off x="502920" y="3621024"/>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Algorithmic discrimination by race and income is clear.</a:t>
            </a:r>
            <a:endParaRPr lang="en-US" sz="950" dirty="0"/>
          </a:p>
        </p:txBody>
      </p:sp>
      <p:sp>
        <p:nvSpPr>
          <p:cNvPr id="23" name="Shape 21"/>
          <p:cNvSpPr/>
          <p:nvPr/>
        </p:nvSpPr>
        <p:spPr>
          <a:xfrm>
            <a:off x="365760" y="4014216"/>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24" name="Shape 22"/>
          <p:cNvSpPr/>
          <p:nvPr/>
        </p:nvSpPr>
        <p:spPr>
          <a:xfrm>
            <a:off x="365760" y="4014216"/>
            <a:ext cx="54864" cy="731520"/>
          </a:xfrm>
          <a:prstGeom prst="rect">
            <a:avLst/>
          </a:prstGeom>
          <a:solidFill>
            <a:srgbClr val="C0392B"/>
          </a:solidFill>
          <a:ln w="12700">
            <a:solidFill>
              <a:srgbClr val="C0392B"/>
            </a:solidFill>
            <a:prstDash val="solid"/>
          </a:ln>
        </p:spPr>
        <p:txBody>
          <a:bodyPr/>
          <a:lstStyle/>
          <a:p>
            <a:endParaRPr lang="es-ES"/>
          </a:p>
        </p:txBody>
      </p:sp>
      <p:sp>
        <p:nvSpPr>
          <p:cNvPr id="25" name="Text 23"/>
          <p:cNvSpPr/>
          <p:nvPr/>
        </p:nvSpPr>
        <p:spPr>
          <a:xfrm>
            <a:off x="502920" y="4069080"/>
            <a:ext cx="1005840" cy="219456"/>
          </a:xfrm>
          <a:prstGeom prst="rect">
            <a:avLst/>
          </a:prstGeom>
          <a:noFill/>
          <a:ln/>
        </p:spPr>
        <p:txBody>
          <a:bodyPr wrap="square" rtlCol="0" anchor="ctr"/>
          <a:lstStyle/>
          <a:p>
            <a:pPr marL="0" indent="0" algn="l">
              <a:buNone/>
            </a:pPr>
            <a:r>
              <a:rPr lang="en-US" sz="900" b="1" dirty="0">
                <a:solidFill>
                  <a:srgbClr val="C0392B"/>
                </a:solidFill>
                <a:latin typeface="Calibri" pitchFamily="34" charset="0"/>
                <a:ea typeface="Calibri" pitchFamily="34" charset="-122"/>
                <a:cs typeface="Calibri" pitchFamily="34" charset="-120"/>
              </a:rPr>
              <a:t>ACM 1.6</a:t>
            </a:r>
            <a:endParaRPr lang="en-US" sz="900" dirty="0"/>
          </a:p>
        </p:txBody>
      </p:sp>
      <p:sp>
        <p:nvSpPr>
          <p:cNvPr id="26" name="Text 24"/>
          <p:cNvSpPr/>
          <p:nvPr/>
        </p:nvSpPr>
        <p:spPr>
          <a:xfrm>
            <a:off x="1463040" y="4069080"/>
            <a:ext cx="2926080" cy="219456"/>
          </a:xfrm>
          <a:prstGeom prst="rect">
            <a:avLst/>
          </a:prstGeom>
          <a:noFill/>
          <a:ln/>
        </p:spPr>
        <p:txBody>
          <a:bodyPr wrap="square" rtlCol="0" anchor="ctr"/>
          <a:lstStyle/>
          <a:p>
            <a:pPr marL="0" indent="0" algn="r">
              <a:buNone/>
            </a:pPr>
            <a:r>
              <a:rPr lang="en-US" sz="900" b="1" dirty="0">
                <a:solidFill>
                  <a:srgbClr val="C0392B"/>
                </a:solidFill>
                <a:latin typeface="Calibri" pitchFamily="34" charset="0"/>
                <a:ea typeface="Calibri" pitchFamily="34" charset="-122"/>
                <a:cs typeface="Calibri" pitchFamily="34" charset="-120"/>
              </a:rPr>
              <a:t>❌  VIOLATED</a:t>
            </a:r>
            <a:endParaRPr lang="en-US" sz="900" dirty="0"/>
          </a:p>
        </p:txBody>
      </p:sp>
      <p:sp>
        <p:nvSpPr>
          <p:cNvPr id="27" name="Text 25"/>
          <p:cNvSpPr/>
          <p:nvPr/>
        </p:nvSpPr>
        <p:spPr>
          <a:xfrm>
            <a:off x="502920" y="4270248"/>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Respect privacy</a:t>
            </a:r>
            <a:endParaRPr lang="en-US" sz="1100" dirty="0"/>
          </a:p>
        </p:txBody>
      </p:sp>
      <p:sp>
        <p:nvSpPr>
          <p:cNvPr id="28" name="Text 26"/>
          <p:cNvSpPr/>
          <p:nvPr/>
        </p:nvSpPr>
        <p:spPr>
          <a:xfrm>
            <a:off x="502920" y="4471416"/>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CCTV data used without GDPR-compliant consent.</a:t>
            </a:r>
            <a:endParaRPr lang="en-US" sz="950" dirty="0"/>
          </a:p>
        </p:txBody>
      </p:sp>
      <p:sp>
        <p:nvSpPr>
          <p:cNvPr id="29" name="Shape 27"/>
          <p:cNvSpPr/>
          <p:nvPr/>
        </p:nvSpPr>
        <p:spPr>
          <a:xfrm>
            <a:off x="4800600" y="1463040"/>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30" name="Shape 28"/>
          <p:cNvSpPr/>
          <p:nvPr/>
        </p:nvSpPr>
        <p:spPr>
          <a:xfrm>
            <a:off x="4800600" y="1463040"/>
            <a:ext cx="54864" cy="731520"/>
          </a:xfrm>
          <a:prstGeom prst="rect">
            <a:avLst/>
          </a:prstGeom>
          <a:solidFill>
            <a:srgbClr val="16A34A"/>
          </a:solidFill>
          <a:ln w="12700">
            <a:solidFill>
              <a:srgbClr val="16A34A"/>
            </a:solidFill>
            <a:prstDash val="solid"/>
          </a:ln>
        </p:spPr>
        <p:txBody>
          <a:bodyPr/>
          <a:lstStyle/>
          <a:p>
            <a:endParaRPr lang="es-ES"/>
          </a:p>
        </p:txBody>
      </p:sp>
      <p:sp>
        <p:nvSpPr>
          <p:cNvPr id="31" name="Text 29"/>
          <p:cNvSpPr/>
          <p:nvPr/>
        </p:nvSpPr>
        <p:spPr>
          <a:xfrm>
            <a:off x="4937760" y="1517904"/>
            <a:ext cx="1005840" cy="219456"/>
          </a:xfrm>
          <a:prstGeom prst="rect">
            <a:avLst/>
          </a:prstGeom>
          <a:noFill/>
          <a:ln/>
        </p:spPr>
        <p:txBody>
          <a:bodyPr wrap="square" rtlCol="0" anchor="ctr"/>
          <a:lstStyle/>
          <a:p>
            <a:pPr marL="0" indent="0" algn="l">
              <a:buNone/>
            </a:pPr>
            <a:r>
              <a:rPr lang="en-US" sz="900" b="1" dirty="0">
                <a:solidFill>
                  <a:srgbClr val="16A34A"/>
                </a:solidFill>
                <a:latin typeface="Calibri" pitchFamily="34" charset="0"/>
                <a:ea typeface="Calibri" pitchFamily="34" charset="-122"/>
                <a:cs typeface="Calibri" pitchFamily="34" charset="-120"/>
              </a:rPr>
              <a:t>ACM 2.5</a:t>
            </a:r>
            <a:endParaRPr lang="en-US" sz="900" dirty="0"/>
          </a:p>
        </p:txBody>
      </p:sp>
      <p:sp>
        <p:nvSpPr>
          <p:cNvPr id="32" name="Text 30"/>
          <p:cNvSpPr/>
          <p:nvPr/>
        </p:nvSpPr>
        <p:spPr>
          <a:xfrm>
            <a:off x="5897880" y="1517904"/>
            <a:ext cx="2926080" cy="219456"/>
          </a:xfrm>
          <a:prstGeom prst="rect">
            <a:avLst/>
          </a:prstGeom>
          <a:noFill/>
          <a:ln/>
        </p:spPr>
        <p:txBody>
          <a:bodyPr wrap="square" rtlCol="0" anchor="ctr"/>
          <a:lstStyle/>
          <a:p>
            <a:pPr marL="0" indent="0" algn="r">
              <a:buNone/>
            </a:pPr>
            <a:r>
              <a:rPr lang="en-US" sz="900" b="1" dirty="0">
                <a:solidFill>
                  <a:srgbClr val="16A34A"/>
                </a:solidFill>
                <a:latin typeface="Calibri" pitchFamily="34" charset="0"/>
                <a:ea typeface="Calibri" pitchFamily="34" charset="-122"/>
                <a:cs typeface="Calibri" pitchFamily="34" charset="-120"/>
              </a:rPr>
              <a:t>✅  UPHELD</a:t>
            </a:r>
            <a:endParaRPr lang="en-US" sz="900" dirty="0"/>
          </a:p>
        </p:txBody>
      </p:sp>
      <p:sp>
        <p:nvSpPr>
          <p:cNvPr id="33" name="Text 31"/>
          <p:cNvSpPr/>
          <p:nvPr/>
        </p:nvSpPr>
        <p:spPr>
          <a:xfrm>
            <a:off x="4937760" y="1719072"/>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Thorough evaluation</a:t>
            </a:r>
            <a:endParaRPr lang="en-US" sz="1100" dirty="0"/>
          </a:p>
        </p:txBody>
      </p:sp>
      <p:sp>
        <p:nvSpPr>
          <p:cNvPr id="34" name="Text 32"/>
          <p:cNvSpPr/>
          <p:nvPr/>
        </p:nvSpPr>
        <p:spPr>
          <a:xfrm>
            <a:off x="4937760" y="1920240"/>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Marta's audit was thorough - management who failed this, not Marta.</a:t>
            </a:r>
            <a:endParaRPr lang="en-US" sz="950" dirty="0"/>
          </a:p>
        </p:txBody>
      </p:sp>
      <p:sp>
        <p:nvSpPr>
          <p:cNvPr id="35" name="Shape 33"/>
          <p:cNvSpPr/>
          <p:nvPr/>
        </p:nvSpPr>
        <p:spPr>
          <a:xfrm>
            <a:off x="4800600" y="2313432"/>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36" name="Shape 34"/>
          <p:cNvSpPr/>
          <p:nvPr/>
        </p:nvSpPr>
        <p:spPr>
          <a:xfrm>
            <a:off x="4800600" y="2313432"/>
            <a:ext cx="54864" cy="731520"/>
          </a:xfrm>
          <a:prstGeom prst="rect">
            <a:avLst/>
          </a:prstGeom>
          <a:solidFill>
            <a:srgbClr val="C0392B"/>
          </a:solidFill>
          <a:ln w="12700">
            <a:solidFill>
              <a:srgbClr val="C0392B"/>
            </a:solidFill>
            <a:prstDash val="solid"/>
          </a:ln>
        </p:spPr>
        <p:txBody>
          <a:bodyPr/>
          <a:lstStyle/>
          <a:p>
            <a:endParaRPr lang="es-ES"/>
          </a:p>
        </p:txBody>
      </p:sp>
      <p:sp>
        <p:nvSpPr>
          <p:cNvPr id="37" name="Text 35"/>
          <p:cNvSpPr/>
          <p:nvPr/>
        </p:nvSpPr>
        <p:spPr>
          <a:xfrm>
            <a:off x="4937760" y="2368296"/>
            <a:ext cx="1005840" cy="219456"/>
          </a:xfrm>
          <a:prstGeom prst="rect">
            <a:avLst/>
          </a:prstGeom>
          <a:noFill/>
          <a:ln/>
        </p:spPr>
        <p:txBody>
          <a:bodyPr wrap="square" rtlCol="0" anchor="ctr"/>
          <a:lstStyle/>
          <a:p>
            <a:pPr marL="0" indent="0" algn="l">
              <a:buNone/>
            </a:pPr>
            <a:r>
              <a:rPr lang="en-US" sz="900" b="1" dirty="0">
                <a:solidFill>
                  <a:srgbClr val="C0392B"/>
                </a:solidFill>
                <a:latin typeface="Calibri" pitchFamily="34" charset="0"/>
                <a:ea typeface="Calibri" pitchFamily="34" charset="-122"/>
                <a:cs typeface="Calibri" pitchFamily="34" charset="-120"/>
              </a:rPr>
              <a:t>IEEE 1</a:t>
            </a:r>
            <a:endParaRPr lang="en-US" sz="900" dirty="0"/>
          </a:p>
        </p:txBody>
      </p:sp>
      <p:sp>
        <p:nvSpPr>
          <p:cNvPr id="38" name="Text 36"/>
          <p:cNvSpPr/>
          <p:nvPr/>
        </p:nvSpPr>
        <p:spPr>
          <a:xfrm>
            <a:off x="5897880" y="2368296"/>
            <a:ext cx="2926080" cy="219456"/>
          </a:xfrm>
          <a:prstGeom prst="rect">
            <a:avLst/>
          </a:prstGeom>
          <a:noFill/>
          <a:ln/>
        </p:spPr>
        <p:txBody>
          <a:bodyPr wrap="square" rtlCol="0" anchor="ctr"/>
          <a:lstStyle/>
          <a:p>
            <a:pPr marL="0" indent="0" algn="r">
              <a:buNone/>
            </a:pPr>
            <a:r>
              <a:rPr lang="en-US" sz="900" b="1" dirty="0">
                <a:solidFill>
                  <a:srgbClr val="C0392B"/>
                </a:solidFill>
                <a:latin typeface="Calibri" pitchFamily="34" charset="0"/>
                <a:ea typeface="Calibri" pitchFamily="34" charset="-122"/>
                <a:cs typeface="Calibri" pitchFamily="34" charset="-120"/>
              </a:rPr>
              <a:t>❌  VIOLATED</a:t>
            </a:r>
            <a:endParaRPr lang="en-US" sz="900" dirty="0"/>
          </a:p>
        </p:txBody>
      </p:sp>
      <p:sp>
        <p:nvSpPr>
          <p:cNvPr id="39" name="Text 37"/>
          <p:cNvSpPr/>
          <p:nvPr/>
        </p:nvSpPr>
        <p:spPr>
          <a:xfrm>
            <a:off x="4937760" y="2569464"/>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Public welfare paramount</a:t>
            </a:r>
            <a:endParaRPr lang="en-US" sz="1100" dirty="0"/>
          </a:p>
        </p:txBody>
      </p:sp>
      <p:sp>
        <p:nvSpPr>
          <p:cNvPr id="40" name="Text 38"/>
          <p:cNvSpPr/>
          <p:nvPr/>
        </p:nvSpPr>
        <p:spPr>
          <a:xfrm>
            <a:off x="4937760" y="2770632"/>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Minority welfare is sacrificed for aggregate statistics.</a:t>
            </a:r>
            <a:endParaRPr lang="en-US" sz="950" dirty="0"/>
          </a:p>
        </p:txBody>
      </p:sp>
      <p:sp>
        <p:nvSpPr>
          <p:cNvPr id="41" name="Shape 39"/>
          <p:cNvSpPr/>
          <p:nvPr/>
        </p:nvSpPr>
        <p:spPr>
          <a:xfrm>
            <a:off x="4800600" y="3163824"/>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42" name="Shape 40"/>
          <p:cNvSpPr/>
          <p:nvPr/>
        </p:nvSpPr>
        <p:spPr>
          <a:xfrm>
            <a:off x="4800600" y="3163824"/>
            <a:ext cx="54864" cy="731520"/>
          </a:xfrm>
          <a:prstGeom prst="rect">
            <a:avLst/>
          </a:prstGeom>
          <a:solidFill>
            <a:srgbClr val="C0392B"/>
          </a:solidFill>
          <a:ln w="12700">
            <a:solidFill>
              <a:srgbClr val="C0392B"/>
            </a:solidFill>
            <a:prstDash val="solid"/>
          </a:ln>
        </p:spPr>
        <p:txBody>
          <a:bodyPr/>
          <a:lstStyle/>
          <a:p>
            <a:endParaRPr lang="es-ES"/>
          </a:p>
        </p:txBody>
      </p:sp>
      <p:sp>
        <p:nvSpPr>
          <p:cNvPr id="43" name="Text 41"/>
          <p:cNvSpPr/>
          <p:nvPr/>
        </p:nvSpPr>
        <p:spPr>
          <a:xfrm>
            <a:off x="4937760" y="3218688"/>
            <a:ext cx="1005840" cy="219456"/>
          </a:xfrm>
          <a:prstGeom prst="rect">
            <a:avLst/>
          </a:prstGeom>
          <a:noFill/>
          <a:ln/>
        </p:spPr>
        <p:txBody>
          <a:bodyPr wrap="square" rtlCol="0" anchor="ctr"/>
          <a:lstStyle/>
          <a:p>
            <a:pPr marL="0" indent="0" algn="l">
              <a:buNone/>
            </a:pPr>
            <a:r>
              <a:rPr lang="en-US" sz="900" b="1" dirty="0">
                <a:solidFill>
                  <a:srgbClr val="C0392B"/>
                </a:solidFill>
                <a:latin typeface="Calibri" pitchFamily="34" charset="0"/>
                <a:ea typeface="Calibri" pitchFamily="34" charset="-122"/>
                <a:cs typeface="Calibri" pitchFamily="34" charset="-120"/>
              </a:rPr>
              <a:t>IEEE 7</a:t>
            </a:r>
            <a:endParaRPr lang="en-US" sz="900" dirty="0"/>
          </a:p>
        </p:txBody>
      </p:sp>
      <p:sp>
        <p:nvSpPr>
          <p:cNvPr id="44" name="Text 42"/>
          <p:cNvSpPr/>
          <p:nvPr/>
        </p:nvSpPr>
        <p:spPr>
          <a:xfrm>
            <a:off x="5897880" y="3218688"/>
            <a:ext cx="2926080" cy="219456"/>
          </a:xfrm>
          <a:prstGeom prst="rect">
            <a:avLst/>
          </a:prstGeom>
          <a:noFill/>
          <a:ln/>
        </p:spPr>
        <p:txBody>
          <a:bodyPr wrap="square" rtlCol="0" anchor="ctr"/>
          <a:lstStyle/>
          <a:p>
            <a:pPr marL="0" indent="0" algn="r">
              <a:buNone/>
            </a:pPr>
            <a:r>
              <a:rPr lang="en-US" sz="900" b="1" dirty="0">
                <a:solidFill>
                  <a:srgbClr val="C0392B"/>
                </a:solidFill>
                <a:latin typeface="Calibri" pitchFamily="34" charset="0"/>
                <a:ea typeface="Calibri" pitchFamily="34" charset="-122"/>
                <a:cs typeface="Calibri" pitchFamily="34" charset="-120"/>
              </a:rPr>
              <a:t>❌  VIOLATED</a:t>
            </a:r>
            <a:endParaRPr lang="en-US" sz="900" dirty="0"/>
          </a:p>
        </p:txBody>
      </p:sp>
      <p:sp>
        <p:nvSpPr>
          <p:cNvPr id="45" name="Text 43"/>
          <p:cNvSpPr/>
          <p:nvPr/>
        </p:nvSpPr>
        <p:spPr>
          <a:xfrm>
            <a:off x="4937760" y="3419856"/>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Accept honest criticism</a:t>
            </a:r>
            <a:endParaRPr lang="en-US" sz="1100" dirty="0"/>
          </a:p>
        </p:txBody>
      </p:sp>
      <p:sp>
        <p:nvSpPr>
          <p:cNvPr id="46" name="Text 44"/>
          <p:cNvSpPr/>
          <p:nvPr/>
        </p:nvSpPr>
        <p:spPr>
          <a:xfrm>
            <a:off x="4937760" y="3621024"/>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Management rejected documented, timestamped findings.</a:t>
            </a:r>
            <a:endParaRPr lang="en-US" sz="950" dirty="0"/>
          </a:p>
        </p:txBody>
      </p:sp>
      <p:sp>
        <p:nvSpPr>
          <p:cNvPr id="47" name="Shape 45"/>
          <p:cNvSpPr/>
          <p:nvPr/>
        </p:nvSpPr>
        <p:spPr>
          <a:xfrm>
            <a:off x="4800600" y="4014216"/>
            <a:ext cx="4160520" cy="731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48" name="Shape 46"/>
          <p:cNvSpPr/>
          <p:nvPr/>
        </p:nvSpPr>
        <p:spPr>
          <a:xfrm>
            <a:off x="4800600" y="4014216"/>
            <a:ext cx="54864" cy="731520"/>
          </a:xfrm>
          <a:prstGeom prst="rect">
            <a:avLst/>
          </a:prstGeom>
          <a:solidFill>
            <a:srgbClr val="C0392B"/>
          </a:solidFill>
          <a:ln w="12700">
            <a:solidFill>
              <a:srgbClr val="C0392B"/>
            </a:solidFill>
            <a:prstDash val="solid"/>
          </a:ln>
        </p:spPr>
        <p:txBody>
          <a:bodyPr/>
          <a:lstStyle/>
          <a:p>
            <a:endParaRPr lang="es-ES"/>
          </a:p>
        </p:txBody>
      </p:sp>
      <p:sp>
        <p:nvSpPr>
          <p:cNvPr id="49" name="Text 47"/>
          <p:cNvSpPr/>
          <p:nvPr/>
        </p:nvSpPr>
        <p:spPr>
          <a:xfrm>
            <a:off x="4937760" y="4069080"/>
            <a:ext cx="1005840" cy="219456"/>
          </a:xfrm>
          <a:prstGeom prst="rect">
            <a:avLst/>
          </a:prstGeom>
          <a:noFill/>
          <a:ln/>
        </p:spPr>
        <p:txBody>
          <a:bodyPr wrap="square" rtlCol="0" anchor="ctr"/>
          <a:lstStyle/>
          <a:p>
            <a:pPr marL="0" indent="0" algn="l">
              <a:buNone/>
            </a:pPr>
            <a:r>
              <a:rPr lang="en-US" sz="900" b="1" dirty="0">
                <a:solidFill>
                  <a:srgbClr val="C0392B"/>
                </a:solidFill>
                <a:latin typeface="Calibri" pitchFamily="34" charset="0"/>
                <a:ea typeface="Calibri" pitchFamily="34" charset="-122"/>
                <a:cs typeface="Calibri" pitchFamily="34" charset="-120"/>
              </a:rPr>
              <a:t>IEEE 8</a:t>
            </a:r>
            <a:endParaRPr lang="en-US" sz="900" dirty="0"/>
          </a:p>
        </p:txBody>
      </p:sp>
      <p:sp>
        <p:nvSpPr>
          <p:cNvPr id="50" name="Text 48"/>
          <p:cNvSpPr/>
          <p:nvPr/>
        </p:nvSpPr>
        <p:spPr>
          <a:xfrm>
            <a:off x="5897880" y="4069080"/>
            <a:ext cx="2926080" cy="219456"/>
          </a:xfrm>
          <a:prstGeom prst="rect">
            <a:avLst/>
          </a:prstGeom>
          <a:noFill/>
          <a:ln/>
        </p:spPr>
        <p:txBody>
          <a:bodyPr wrap="square" rtlCol="0" anchor="ctr"/>
          <a:lstStyle/>
          <a:p>
            <a:pPr marL="0" indent="0" algn="r">
              <a:buNone/>
            </a:pPr>
            <a:r>
              <a:rPr lang="en-US" sz="900" b="1" dirty="0">
                <a:solidFill>
                  <a:srgbClr val="C0392B"/>
                </a:solidFill>
                <a:latin typeface="Calibri" pitchFamily="34" charset="0"/>
                <a:ea typeface="Calibri" pitchFamily="34" charset="-122"/>
                <a:cs typeface="Calibri" pitchFamily="34" charset="-120"/>
              </a:rPr>
              <a:t>❌  VIOLATED</a:t>
            </a:r>
            <a:endParaRPr lang="en-US" sz="900" dirty="0"/>
          </a:p>
        </p:txBody>
      </p:sp>
      <p:sp>
        <p:nvSpPr>
          <p:cNvPr id="51" name="Text 49"/>
          <p:cNvSpPr/>
          <p:nvPr/>
        </p:nvSpPr>
        <p:spPr>
          <a:xfrm>
            <a:off x="4937760" y="4270248"/>
            <a:ext cx="3840480" cy="201168"/>
          </a:xfrm>
          <a:prstGeom prst="rect">
            <a:avLst/>
          </a:prstGeom>
          <a:noFill/>
          <a:ln/>
        </p:spPr>
        <p:txBody>
          <a:bodyPr wrap="square" rtlCol="0" anchor="ctr"/>
          <a:lstStyle/>
          <a:p>
            <a:pPr marL="0" indent="0" algn="l">
              <a:buNone/>
            </a:pPr>
            <a:r>
              <a:rPr lang="en-US" sz="1100" b="1" dirty="0">
                <a:solidFill>
                  <a:srgbClr val="1E293B"/>
                </a:solidFill>
                <a:latin typeface="Cambria" pitchFamily="34" charset="0"/>
                <a:ea typeface="Cambria" pitchFamily="34" charset="-122"/>
                <a:cs typeface="Cambria" pitchFamily="34" charset="-120"/>
              </a:rPr>
              <a:t>Fair treatment</a:t>
            </a:r>
            <a:endParaRPr lang="en-US" sz="1100" dirty="0"/>
          </a:p>
        </p:txBody>
      </p:sp>
      <p:sp>
        <p:nvSpPr>
          <p:cNvPr id="52" name="Text 50"/>
          <p:cNvSpPr/>
          <p:nvPr/>
        </p:nvSpPr>
        <p:spPr>
          <a:xfrm>
            <a:off x="4937760" y="4471416"/>
            <a:ext cx="3840480" cy="219456"/>
          </a:xfrm>
          <a:prstGeom prst="rect">
            <a:avLst/>
          </a:prstGeom>
          <a:noFill/>
          <a:ln/>
        </p:spPr>
        <p:txBody>
          <a:bodyPr wrap="square" rtlCol="0" anchor="ctr"/>
          <a:lstStyle/>
          <a:p>
            <a:pPr marL="0" indent="0" algn="l">
              <a:buNone/>
            </a:pPr>
            <a:r>
              <a:rPr lang="en-US" sz="950" dirty="0">
                <a:solidFill>
                  <a:srgbClr val="475569"/>
                </a:solidFill>
                <a:latin typeface="Calibri" pitchFamily="34" charset="0"/>
                <a:ea typeface="Calibri" pitchFamily="34" charset="-122"/>
                <a:cs typeface="Calibri" pitchFamily="34" charset="-120"/>
              </a:rPr>
              <a:t>Discriminatory outcomes against a minority community.</a:t>
            </a:r>
            <a:endParaRPr lang="en-US" sz="950" dirty="0"/>
          </a:p>
        </p:txBody>
      </p:sp>
      <p:sp>
        <p:nvSpPr>
          <p:cNvPr id="53" name="Shape 51"/>
          <p:cNvSpPr/>
          <p:nvPr/>
        </p:nvSpPr>
        <p:spPr>
          <a:xfrm>
            <a:off x="0" y="4892040"/>
            <a:ext cx="9144000" cy="251460"/>
          </a:xfrm>
          <a:prstGeom prst="rect">
            <a:avLst/>
          </a:prstGeom>
          <a:solidFill>
            <a:srgbClr val="E2E8F0"/>
          </a:solidFill>
          <a:ln w="12700">
            <a:solidFill>
              <a:srgbClr val="E2E8F0"/>
            </a:solidFill>
            <a:prstDash val="solid"/>
          </a:ln>
        </p:spPr>
        <p:txBody>
          <a:bodyPr/>
          <a:lstStyle/>
          <a:p>
            <a:endParaRPr lang="es-ES"/>
          </a:p>
        </p:txBody>
      </p:sp>
      <p:sp>
        <p:nvSpPr>
          <p:cNvPr id="54" name="Text 52"/>
          <p:cNvSpPr/>
          <p:nvPr/>
        </p:nvSpPr>
        <p:spPr>
          <a:xfrm>
            <a:off x="365760" y="4892040"/>
            <a:ext cx="8229600" cy="25146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s-ES"/>
          </a:p>
        </p:txBody>
      </p:sp>
      <p:sp>
        <p:nvSpPr>
          <p:cNvPr id="3" name="Text 1"/>
          <p:cNvSpPr/>
          <p:nvPr/>
        </p:nvSpPr>
        <p:spPr>
          <a:xfrm>
            <a:off x="365760" y="0"/>
            <a:ext cx="8229600" cy="685800"/>
          </a:xfrm>
          <a:prstGeom prst="rect">
            <a:avLst/>
          </a:prstGeom>
          <a:noFill/>
          <a:ln/>
        </p:spPr>
        <p:txBody>
          <a:bodyPr wrap="square" rtlCol="0" anchor="ctr"/>
          <a:lstStyle/>
          <a:p>
            <a:pPr marL="0" indent="0" algn="l">
              <a:buNone/>
            </a:pPr>
            <a:r>
              <a:rPr lang="en-US" sz="1100" b="1" kern="0" spc="300" dirty="0">
                <a:solidFill>
                  <a:srgbClr val="94A3B8"/>
                </a:solidFill>
                <a:latin typeface="Calibri" pitchFamily="34" charset="0"/>
                <a:ea typeface="Calibri" pitchFamily="34" charset="-122"/>
                <a:cs typeface="Calibri" pitchFamily="34" charset="-120"/>
              </a:rPr>
              <a:t>UTILITARIAN ANALYSIS</a:t>
            </a:r>
            <a:endParaRPr lang="en-US" sz="1100" dirty="0"/>
          </a:p>
        </p:txBody>
      </p:sp>
      <p:sp>
        <p:nvSpPr>
          <p:cNvPr id="4" name="Text 2"/>
          <p:cNvSpPr/>
          <p:nvPr/>
        </p:nvSpPr>
        <p:spPr>
          <a:xfrm>
            <a:off x="365760" y="822960"/>
            <a:ext cx="8229600" cy="502920"/>
          </a:xfrm>
          <a:prstGeom prst="rect">
            <a:avLst/>
          </a:prstGeom>
          <a:noFill/>
          <a:ln/>
        </p:spPr>
        <p:txBody>
          <a:bodyPr wrap="square" rtlCol="0" anchor="ctr"/>
          <a:lstStyle/>
          <a:p>
            <a:pPr marL="0" indent="0" algn="l">
              <a:buNone/>
            </a:pPr>
            <a:r>
              <a:rPr lang="en-US" sz="2500" b="1" dirty="0">
                <a:solidFill>
                  <a:srgbClr val="1E293B"/>
                </a:solidFill>
                <a:latin typeface="Cambria" pitchFamily="34" charset="0"/>
                <a:ea typeface="Cambria" pitchFamily="34" charset="-122"/>
                <a:cs typeface="Cambria" pitchFamily="34" charset="-120"/>
              </a:rPr>
              <a:t>Does "Greatest Good" Justify the Harm?</a:t>
            </a:r>
            <a:endParaRPr lang="en-US" sz="2500" dirty="0"/>
          </a:p>
        </p:txBody>
      </p:sp>
      <p:sp>
        <p:nvSpPr>
          <p:cNvPr id="5" name="Shape 3"/>
          <p:cNvSpPr/>
          <p:nvPr/>
        </p:nvSpPr>
        <p:spPr>
          <a:xfrm>
            <a:off x="365760" y="1435608"/>
            <a:ext cx="8412480" cy="658368"/>
          </a:xfrm>
          <a:prstGeom prst="rect">
            <a:avLst/>
          </a:prstGeom>
          <a:solidFill>
            <a:srgbClr val="FFF1F0"/>
          </a:solidFill>
          <a:ln w="12700">
            <a:solidFill>
              <a:srgbClr val="FECACA"/>
            </a:solidFill>
            <a:prstDash val="solid"/>
          </a:ln>
        </p:spPr>
        <p:txBody>
          <a:bodyPr/>
          <a:lstStyle/>
          <a:p>
            <a:endParaRPr lang="es-ES"/>
          </a:p>
        </p:txBody>
      </p:sp>
      <p:sp>
        <p:nvSpPr>
          <p:cNvPr id="6" name="Shape 4"/>
          <p:cNvSpPr/>
          <p:nvPr/>
        </p:nvSpPr>
        <p:spPr>
          <a:xfrm>
            <a:off x="365760" y="1435608"/>
            <a:ext cx="54864" cy="658368"/>
          </a:xfrm>
          <a:prstGeom prst="rect">
            <a:avLst/>
          </a:prstGeom>
          <a:solidFill>
            <a:srgbClr val="C0392B"/>
          </a:solidFill>
          <a:ln w="12700">
            <a:solidFill>
              <a:srgbClr val="C0392B"/>
            </a:solidFill>
            <a:prstDash val="solid"/>
          </a:ln>
        </p:spPr>
        <p:txBody>
          <a:bodyPr/>
          <a:lstStyle/>
          <a:p>
            <a:endParaRPr lang="es-ES"/>
          </a:p>
        </p:txBody>
      </p:sp>
      <p:sp>
        <p:nvSpPr>
          <p:cNvPr id="7" name="Text 5"/>
          <p:cNvSpPr/>
          <p:nvPr/>
        </p:nvSpPr>
        <p:spPr>
          <a:xfrm>
            <a:off x="548640" y="1508760"/>
            <a:ext cx="2194560" cy="237744"/>
          </a:xfrm>
          <a:prstGeom prst="rect">
            <a:avLst/>
          </a:prstGeom>
          <a:noFill/>
          <a:ln/>
        </p:spPr>
        <p:txBody>
          <a:bodyPr wrap="square" rtlCol="0" anchor="ctr"/>
          <a:lstStyle/>
          <a:p>
            <a:pPr marL="0" indent="0" algn="l">
              <a:buNone/>
            </a:pPr>
            <a:r>
              <a:rPr lang="en-US" sz="1100" b="1" dirty="0">
                <a:solidFill>
                  <a:srgbClr val="C0392B"/>
                </a:solidFill>
                <a:latin typeface="Calibri" pitchFamily="34" charset="0"/>
                <a:ea typeface="Calibri" pitchFamily="34" charset="-122"/>
                <a:cs typeface="Calibri" pitchFamily="34" charset="-120"/>
              </a:rPr>
              <a:t>Management's argument: </a:t>
            </a:r>
            <a:endParaRPr lang="en-US" sz="1100" dirty="0"/>
          </a:p>
        </p:txBody>
      </p:sp>
      <p:sp>
        <p:nvSpPr>
          <p:cNvPr id="8" name="Text 6"/>
          <p:cNvSpPr/>
          <p:nvPr/>
        </p:nvSpPr>
        <p:spPr>
          <a:xfrm>
            <a:off x="548640" y="1755648"/>
            <a:ext cx="8046720" cy="237744"/>
          </a:xfrm>
          <a:prstGeom prst="rect">
            <a:avLst/>
          </a:prstGeom>
          <a:noFill/>
          <a:ln/>
        </p:spPr>
        <p:txBody>
          <a:bodyPr wrap="square" rtlCol="0" anchor="ctr"/>
          <a:lstStyle/>
          <a:p>
            <a:pPr marL="0" indent="0" algn="l">
              <a:buNone/>
            </a:pPr>
            <a:r>
              <a:rPr lang="en-US" sz="1100" i="1" dirty="0">
                <a:solidFill>
                  <a:srgbClr val="1E293B"/>
                </a:solidFill>
                <a:latin typeface="Calibri" pitchFamily="34" charset="0"/>
                <a:ea typeface="Calibri" pitchFamily="34" charset="-122"/>
                <a:cs typeface="Calibri" pitchFamily="34" charset="-120"/>
              </a:rPr>
              <a:t>"An 18% crime reduction for 485,000 people outweighs complaints from 15,000."</a:t>
            </a:r>
            <a:endParaRPr lang="en-US" sz="1100" dirty="0"/>
          </a:p>
        </p:txBody>
      </p:sp>
      <p:sp>
        <p:nvSpPr>
          <p:cNvPr id="9" name="Shape 7"/>
          <p:cNvSpPr/>
          <p:nvPr/>
        </p:nvSpPr>
        <p:spPr>
          <a:xfrm>
            <a:off x="365760" y="2249424"/>
            <a:ext cx="2651760" cy="19659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0" name="Shape 8"/>
          <p:cNvSpPr/>
          <p:nvPr/>
        </p:nvSpPr>
        <p:spPr>
          <a:xfrm>
            <a:off x="1371600" y="2304288"/>
            <a:ext cx="640080" cy="640080"/>
          </a:xfrm>
          <a:prstGeom prst="ellipse">
            <a:avLst/>
          </a:prstGeom>
          <a:solidFill>
            <a:srgbClr val="1E3A5F"/>
          </a:solidFill>
          <a:ln w="12700">
            <a:solidFill>
              <a:srgbClr val="1E3A5F"/>
            </a:solidFill>
            <a:prstDash val="solid"/>
          </a:ln>
        </p:spPr>
        <p:txBody>
          <a:bodyPr/>
          <a:lstStyle/>
          <a:p>
            <a:endParaRPr lang="es-ES"/>
          </a:p>
        </p:txBody>
      </p:sp>
      <p:sp>
        <p:nvSpPr>
          <p:cNvPr id="11" name="Text 9"/>
          <p:cNvSpPr/>
          <p:nvPr/>
        </p:nvSpPr>
        <p:spPr>
          <a:xfrm>
            <a:off x="1371600" y="2304288"/>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2" name="Text 10"/>
          <p:cNvSpPr/>
          <p:nvPr/>
        </p:nvSpPr>
        <p:spPr>
          <a:xfrm>
            <a:off x="475488" y="2999232"/>
            <a:ext cx="2432304" cy="384048"/>
          </a:xfrm>
          <a:prstGeom prst="rect">
            <a:avLst/>
          </a:prstGeom>
          <a:noFill/>
          <a:ln/>
        </p:spPr>
        <p:txBody>
          <a:bodyPr wrap="square" rtlCol="0" anchor="ctr"/>
          <a:lstStyle/>
          <a:p>
            <a:pPr marL="0" indent="0" algn="ctr">
              <a:buNone/>
            </a:pPr>
            <a:r>
              <a:rPr lang="en-US" sz="1100" b="1" dirty="0">
                <a:solidFill>
                  <a:srgbClr val="1E293B"/>
                </a:solidFill>
                <a:latin typeface="Cambria" pitchFamily="34" charset="0"/>
                <a:ea typeface="Cambria" pitchFamily="34" charset="-122"/>
                <a:cs typeface="Cambria" pitchFamily="34" charset="-120"/>
              </a:rPr>
              <a:t>Long-term calculus (Mill)</a:t>
            </a:r>
            <a:endParaRPr lang="en-US" sz="1100" dirty="0"/>
          </a:p>
        </p:txBody>
      </p:sp>
      <p:sp>
        <p:nvSpPr>
          <p:cNvPr id="13" name="Text 11"/>
          <p:cNvSpPr/>
          <p:nvPr/>
        </p:nvSpPr>
        <p:spPr>
          <a:xfrm>
            <a:off x="475488" y="3419856"/>
            <a:ext cx="2432304" cy="6858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The feedback loop means harm compounds over time. 5-year cumulative harm to 15,000 likely exceeds marginal benefit to 485,000.</a:t>
            </a:r>
            <a:endParaRPr lang="en-US" sz="1000" dirty="0"/>
          </a:p>
        </p:txBody>
      </p:sp>
      <p:sp>
        <p:nvSpPr>
          <p:cNvPr id="14" name="Shape 12"/>
          <p:cNvSpPr/>
          <p:nvPr/>
        </p:nvSpPr>
        <p:spPr>
          <a:xfrm>
            <a:off x="3246120" y="2249424"/>
            <a:ext cx="2651760" cy="19659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5" name="Shape 13"/>
          <p:cNvSpPr/>
          <p:nvPr/>
        </p:nvSpPr>
        <p:spPr>
          <a:xfrm>
            <a:off x="4251960" y="2304288"/>
            <a:ext cx="640080" cy="640080"/>
          </a:xfrm>
          <a:prstGeom prst="ellipse">
            <a:avLst/>
          </a:prstGeom>
          <a:solidFill>
            <a:srgbClr val="1E3A5F"/>
          </a:solidFill>
          <a:ln w="12700">
            <a:solidFill>
              <a:srgbClr val="1E3A5F"/>
            </a:solidFill>
            <a:prstDash val="solid"/>
          </a:ln>
        </p:spPr>
        <p:txBody>
          <a:bodyPr/>
          <a:lstStyle/>
          <a:p>
            <a:endParaRPr lang="es-ES"/>
          </a:p>
        </p:txBody>
      </p:sp>
      <p:sp>
        <p:nvSpPr>
          <p:cNvPr id="16" name="Text 14"/>
          <p:cNvSpPr/>
          <p:nvPr/>
        </p:nvSpPr>
        <p:spPr>
          <a:xfrm>
            <a:off x="4251960" y="2304288"/>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7" name="Text 15"/>
          <p:cNvSpPr/>
          <p:nvPr/>
        </p:nvSpPr>
        <p:spPr>
          <a:xfrm>
            <a:off x="3355848" y="2999232"/>
            <a:ext cx="2432304" cy="384048"/>
          </a:xfrm>
          <a:prstGeom prst="rect">
            <a:avLst/>
          </a:prstGeom>
          <a:noFill/>
          <a:ln/>
        </p:spPr>
        <p:txBody>
          <a:bodyPr wrap="square" rtlCol="0" anchor="ctr"/>
          <a:lstStyle/>
          <a:p>
            <a:pPr marL="0" indent="0" algn="ctr">
              <a:buNone/>
            </a:pPr>
            <a:r>
              <a:rPr lang="en-US" sz="1100" b="1" dirty="0">
                <a:solidFill>
                  <a:srgbClr val="1E293B"/>
                </a:solidFill>
                <a:latin typeface="Cambria" pitchFamily="34" charset="0"/>
                <a:ea typeface="Cambria" pitchFamily="34" charset="-122"/>
                <a:cs typeface="Cambria" pitchFamily="34" charset="-120"/>
              </a:rPr>
              <a:t>Rule utilitarianism</a:t>
            </a:r>
            <a:endParaRPr lang="en-US" sz="1100" dirty="0"/>
          </a:p>
        </p:txBody>
      </p:sp>
      <p:sp>
        <p:nvSpPr>
          <p:cNvPr id="18" name="Text 16"/>
          <p:cNvSpPr/>
          <p:nvPr/>
        </p:nvSpPr>
        <p:spPr>
          <a:xfrm>
            <a:off x="3355848" y="3419856"/>
            <a:ext cx="2432304" cy="6858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The rule 'sacrifice minority civil liberties for statistics' is catastrophic if adopted universally. Good rules must be safe to generalize.</a:t>
            </a:r>
            <a:endParaRPr lang="en-US" sz="1000" dirty="0"/>
          </a:p>
        </p:txBody>
      </p:sp>
      <p:sp>
        <p:nvSpPr>
          <p:cNvPr id="19" name="Shape 17"/>
          <p:cNvSpPr/>
          <p:nvPr/>
        </p:nvSpPr>
        <p:spPr>
          <a:xfrm>
            <a:off x="6126480" y="2249424"/>
            <a:ext cx="2651760" cy="196596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20" name="Shape 18"/>
          <p:cNvSpPr/>
          <p:nvPr/>
        </p:nvSpPr>
        <p:spPr>
          <a:xfrm>
            <a:off x="7132320" y="2304288"/>
            <a:ext cx="640080" cy="640080"/>
          </a:xfrm>
          <a:prstGeom prst="ellipse">
            <a:avLst/>
          </a:prstGeom>
          <a:solidFill>
            <a:srgbClr val="C0392B"/>
          </a:solidFill>
          <a:ln w="12700">
            <a:solidFill>
              <a:srgbClr val="C0392B"/>
            </a:solidFill>
            <a:prstDash val="solid"/>
          </a:ln>
        </p:spPr>
        <p:txBody>
          <a:bodyPr/>
          <a:lstStyle/>
          <a:p>
            <a:endParaRPr lang="es-ES"/>
          </a:p>
        </p:txBody>
      </p:sp>
      <p:sp>
        <p:nvSpPr>
          <p:cNvPr id="21" name="Text 19"/>
          <p:cNvSpPr/>
          <p:nvPr/>
        </p:nvSpPr>
        <p:spPr>
          <a:xfrm>
            <a:off x="7132320" y="2304288"/>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20"/>
          <p:cNvSpPr/>
          <p:nvPr/>
        </p:nvSpPr>
        <p:spPr>
          <a:xfrm>
            <a:off x="6236208" y="2999232"/>
            <a:ext cx="2432304" cy="384048"/>
          </a:xfrm>
          <a:prstGeom prst="rect">
            <a:avLst/>
          </a:prstGeom>
          <a:noFill/>
          <a:ln/>
        </p:spPr>
        <p:txBody>
          <a:bodyPr wrap="square" rtlCol="0" anchor="ctr"/>
          <a:lstStyle/>
          <a:p>
            <a:pPr marL="0" indent="0" algn="ctr">
              <a:buNone/>
            </a:pPr>
            <a:r>
              <a:rPr lang="en-US" sz="1100" b="1" dirty="0">
                <a:solidFill>
                  <a:srgbClr val="1E293B"/>
                </a:solidFill>
                <a:latin typeface="Cambria" pitchFamily="34" charset="0"/>
                <a:ea typeface="Cambria" pitchFamily="34" charset="-122"/>
                <a:cs typeface="Cambria" pitchFamily="34" charset="-120"/>
              </a:rPr>
              <a:t>Intensity of harm (Bentham)</a:t>
            </a:r>
            <a:endParaRPr lang="en-US" sz="1100" dirty="0"/>
          </a:p>
        </p:txBody>
      </p:sp>
      <p:sp>
        <p:nvSpPr>
          <p:cNvPr id="23" name="Text 21"/>
          <p:cNvSpPr/>
          <p:nvPr/>
        </p:nvSpPr>
        <p:spPr>
          <a:xfrm>
            <a:off x="6236208" y="3419856"/>
            <a:ext cx="2432304" cy="685800"/>
          </a:xfrm>
          <a:prstGeom prst="rect">
            <a:avLst/>
          </a:prstGeom>
          <a:noFill/>
          <a:ln/>
        </p:spPr>
        <p:txBody>
          <a:bodyPr wrap="square" rtlCol="0" anchor="ctr"/>
          <a:lstStyle/>
          <a:p>
            <a:pPr marL="0" indent="0" algn="ctr">
              <a:buNone/>
            </a:pPr>
            <a:r>
              <a:rPr lang="en-US" sz="1000" dirty="0">
                <a:solidFill>
                  <a:srgbClr val="475569"/>
                </a:solidFill>
                <a:latin typeface="Calibri" pitchFamily="34" charset="0"/>
                <a:ea typeface="Calibri" pitchFamily="34" charset="-122"/>
                <a:cs typeface="Calibri" pitchFamily="34" charset="-120"/>
              </a:rPr>
              <a:t>Severe concentrated harm (harassment, loss of freedom) is not offset by diffuse marginal benefit spread across a much larger population.</a:t>
            </a:r>
            <a:endParaRPr lang="en-US" sz="1000" dirty="0"/>
          </a:p>
        </p:txBody>
      </p:sp>
      <p:sp>
        <p:nvSpPr>
          <p:cNvPr id="24" name="Shape 22"/>
          <p:cNvSpPr/>
          <p:nvPr/>
        </p:nvSpPr>
        <p:spPr>
          <a:xfrm>
            <a:off x="0" y="4892040"/>
            <a:ext cx="9144000" cy="251460"/>
          </a:xfrm>
          <a:prstGeom prst="rect">
            <a:avLst/>
          </a:prstGeom>
          <a:solidFill>
            <a:srgbClr val="E2E8F0"/>
          </a:solidFill>
          <a:ln w="12700">
            <a:solidFill>
              <a:srgbClr val="E2E8F0"/>
            </a:solidFill>
            <a:prstDash val="solid"/>
          </a:ln>
        </p:spPr>
        <p:txBody>
          <a:bodyPr/>
          <a:lstStyle/>
          <a:p>
            <a:endParaRPr lang="es-ES"/>
          </a:p>
        </p:txBody>
      </p:sp>
      <p:sp>
        <p:nvSpPr>
          <p:cNvPr id="25" name="Text 23"/>
          <p:cNvSpPr/>
          <p:nvPr/>
        </p:nvSpPr>
        <p:spPr>
          <a:xfrm>
            <a:off x="365760" y="4892040"/>
            <a:ext cx="8229600" cy="25146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3A5F"/>
          </a:solidFill>
          <a:ln w="12700">
            <a:solidFill>
              <a:srgbClr val="1E3A5F"/>
            </a:solidFill>
            <a:prstDash val="solid"/>
          </a:ln>
        </p:spPr>
        <p:txBody>
          <a:bodyPr/>
          <a:lstStyle/>
          <a:p>
            <a:endParaRPr lang="es-ES"/>
          </a:p>
        </p:txBody>
      </p:sp>
      <p:sp>
        <p:nvSpPr>
          <p:cNvPr id="3" name="Text 1"/>
          <p:cNvSpPr/>
          <p:nvPr/>
        </p:nvSpPr>
        <p:spPr>
          <a:xfrm>
            <a:off x="365760" y="0"/>
            <a:ext cx="8229600" cy="685800"/>
          </a:xfrm>
          <a:prstGeom prst="rect">
            <a:avLst/>
          </a:prstGeom>
          <a:noFill/>
          <a:ln/>
        </p:spPr>
        <p:txBody>
          <a:bodyPr wrap="square" rtlCol="0" anchor="ctr"/>
          <a:lstStyle/>
          <a:p>
            <a:pPr marL="0" indent="0" algn="l">
              <a:buNone/>
            </a:pPr>
            <a:r>
              <a:rPr lang="en-US" sz="1100" b="1" kern="0" spc="300" dirty="0">
                <a:solidFill>
                  <a:srgbClr val="94A3B8"/>
                </a:solidFill>
                <a:latin typeface="Calibri" pitchFamily="34" charset="0"/>
                <a:ea typeface="Calibri" pitchFamily="34" charset="-122"/>
                <a:cs typeface="Calibri" pitchFamily="34" charset="-120"/>
              </a:rPr>
              <a:t>RECOMMENDATIONS</a:t>
            </a:r>
            <a:endParaRPr lang="en-US" sz="1100" dirty="0"/>
          </a:p>
        </p:txBody>
      </p:sp>
      <p:sp>
        <p:nvSpPr>
          <p:cNvPr id="4" name="Text 2"/>
          <p:cNvSpPr/>
          <p:nvPr/>
        </p:nvSpPr>
        <p:spPr>
          <a:xfrm>
            <a:off x="365760" y="822960"/>
            <a:ext cx="8229600" cy="502920"/>
          </a:xfrm>
          <a:prstGeom prst="rect">
            <a:avLst/>
          </a:prstGeom>
          <a:noFill/>
          <a:ln/>
        </p:spPr>
        <p:txBody>
          <a:bodyPr wrap="square" rtlCol="0" anchor="ctr"/>
          <a:lstStyle/>
          <a:p>
            <a:pPr marL="0" indent="0" algn="l">
              <a:buNone/>
            </a:pPr>
            <a:r>
              <a:rPr lang="en-US" sz="2800" b="1" dirty="0">
                <a:solidFill>
                  <a:srgbClr val="1E293B"/>
                </a:solidFill>
                <a:latin typeface="Cambria" pitchFamily="34" charset="0"/>
                <a:ea typeface="Cambria" pitchFamily="34" charset="-122"/>
                <a:cs typeface="Cambria" pitchFamily="34" charset="-120"/>
              </a:rPr>
              <a:t>What Should Marta Do?</a:t>
            </a:r>
            <a:endParaRPr lang="en-US" sz="2800" dirty="0"/>
          </a:p>
        </p:txBody>
      </p:sp>
      <p:sp>
        <p:nvSpPr>
          <p:cNvPr id="5" name="Text 3"/>
          <p:cNvSpPr/>
          <p:nvPr/>
        </p:nvSpPr>
        <p:spPr>
          <a:xfrm>
            <a:off x="365760" y="1353312"/>
            <a:ext cx="8229600" cy="320040"/>
          </a:xfrm>
          <a:prstGeom prst="rect">
            <a:avLst/>
          </a:prstGeom>
          <a:noFill/>
          <a:ln/>
        </p:spPr>
        <p:txBody>
          <a:bodyPr wrap="square" rtlCol="0" anchor="ctr"/>
          <a:lstStyle/>
          <a:p>
            <a:pPr marL="0" indent="0" algn="l">
              <a:buNone/>
            </a:pPr>
            <a:r>
              <a:rPr lang="en-US" sz="1300" dirty="0">
                <a:solidFill>
                  <a:srgbClr val="475569"/>
                </a:solidFill>
                <a:latin typeface="Calibri" pitchFamily="34" charset="0"/>
                <a:ea typeface="Calibri" pitchFamily="34" charset="-122"/>
                <a:cs typeface="Calibri" pitchFamily="34" charset="-120"/>
              </a:rPr>
              <a:t>Both codes and utilitarian philosophy converge on the same answer: she must act.</a:t>
            </a:r>
            <a:endParaRPr lang="en-US" sz="1300" dirty="0"/>
          </a:p>
        </p:txBody>
      </p:sp>
      <p:sp>
        <p:nvSpPr>
          <p:cNvPr id="6" name="Shape 4"/>
          <p:cNvSpPr/>
          <p:nvPr/>
        </p:nvSpPr>
        <p:spPr>
          <a:xfrm>
            <a:off x="365760" y="1828800"/>
            <a:ext cx="416052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7" name="Shape 5"/>
          <p:cNvSpPr/>
          <p:nvPr/>
        </p:nvSpPr>
        <p:spPr>
          <a:xfrm>
            <a:off x="365760" y="1828800"/>
            <a:ext cx="4160520" cy="54864"/>
          </a:xfrm>
          <a:prstGeom prst="rect">
            <a:avLst/>
          </a:prstGeom>
          <a:solidFill>
            <a:srgbClr val="1E3A5F"/>
          </a:solidFill>
          <a:ln w="12700">
            <a:solidFill>
              <a:srgbClr val="1E3A5F"/>
            </a:solidFill>
            <a:prstDash val="solid"/>
          </a:ln>
        </p:spPr>
        <p:txBody>
          <a:bodyPr/>
          <a:lstStyle/>
          <a:p>
            <a:endParaRPr lang="es-ES"/>
          </a:p>
        </p:txBody>
      </p:sp>
      <p:sp>
        <p:nvSpPr>
          <p:cNvPr id="8" name="Text 6"/>
          <p:cNvSpPr/>
          <p:nvPr/>
        </p:nvSpPr>
        <p:spPr>
          <a:xfrm>
            <a:off x="530352" y="1920240"/>
            <a:ext cx="640080" cy="402336"/>
          </a:xfrm>
          <a:prstGeom prst="rect">
            <a:avLst/>
          </a:prstGeom>
          <a:noFill/>
          <a:ln/>
        </p:spPr>
        <p:txBody>
          <a:bodyPr wrap="square" rtlCol="0" anchor="ctr"/>
          <a:lstStyle/>
          <a:p>
            <a:pPr marL="0" indent="0" algn="l">
              <a:buNone/>
            </a:pPr>
            <a:r>
              <a:rPr lang="en-US" sz="2200" b="1" dirty="0">
                <a:solidFill>
                  <a:srgbClr val="1E3A5F"/>
                </a:solidFill>
                <a:latin typeface="Cambria" pitchFamily="34" charset="0"/>
                <a:ea typeface="Cambria" pitchFamily="34" charset="-122"/>
                <a:cs typeface="Cambria" pitchFamily="34" charset="-120"/>
              </a:rPr>
              <a:t>01</a:t>
            </a:r>
            <a:endParaRPr lang="en-US" sz="2200" dirty="0"/>
          </a:p>
        </p:txBody>
      </p:sp>
      <p:sp>
        <p:nvSpPr>
          <p:cNvPr id="9" name="Text 7"/>
          <p:cNvSpPr/>
          <p:nvPr/>
        </p:nvSpPr>
        <p:spPr>
          <a:xfrm>
            <a:off x="1188720" y="1965960"/>
            <a:ext cx="3154680" cy="347472"/>
          </a:xfrm>
          <a:prstGeom prst="rect">
            <a:avLst/>
          </a:prstGeom>
          <a:noFill/>
          <a:ln/>
        </p:spPr>
        <p:txBody>
          <a:bodyPr wrap="square" rtlCol="0" anchor="ctr"/>
          <a:lstStyle/>
          <a:p>
            <a:pPr marL="0" indent="0" algn="l">
              <a:buNone/>
            </a:pPr>
            <a:r>
              <a:rPr lang="en-US" sz="1300" b="1" dirty="0">
                <a:solidFill>
                  <a:srgbClr val="1E293B"/>
                </a:solidFill>
                <a:latin typeface="Cambria" pitchFamily="34" charset="0"/>
                <a:ea typeface="Cambria" pitchFamily="34" charset="-122"/>
                <a:cs typeface="Cambria" pitchFamily="34" charset="-120"/>
              </a:rPr>
              <a:t>Formal Documentation</a:t>
            </a:r>
            <a:endParaRPr lang="en-US" sz="1300" dirty="0"/>
          </a:p>
        </p:txBody>
      </p:sp>
      <p:sp>
        <p:nvSpPr>
          <p:cNvPr id="10" name="Text 8"/>
          <p:cNvSpPr/>
          <p:nvPr/>
        </p:nvSpPr>
        <p:spPr>
          <a:xfrm>
            <a:off x="530352" y="2395728"/>
            <a:ext cx="3840480" cy="640080"/>
          </a:xfrm>
          <a:prstGeom prst="rect">
            <a:avLst/>
          </a:prstGeom>
          <a:noFill/>
          <a:ln/>
        </p:spPr>
        <p:txBody>
          <a:bodyPr wrap="square"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Record all findings with timestamps, data, and evidence. A verbal report is not enough - create a written audit trail.</a:t>
            </a:r>
            <a:endParaRPr lang="en-US" sz="1100" dirty="0"/>
          </a:p>
        </p:txBody>
      </p:sp>
      <p:sp>
        <p:nvSpPr>
          <p:cNvPr id="11" name="Shape 9"/>
          <p:cNvSpPr/>
          <p:nvPr/>
        </p:nvSpPr>
        <p:spPr>
          <a:xfrm>
            <a:off x="4800600" y="1828800"/>
            <a:ext cx="416052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2" name="Shape 10"/>
          <p:cNvSpPr/>
          <p:nvPr/>
        </p:nvSpPr>
        <p:spPr>
          <a:xfrm>
            <a:off x="4800600" y="1828800"/>
            <a:ext cx="4160520" cy="54864"/>
          </a:xfrm>
          <a:prstGeom prst="rect">
            <a:avLst/>
          </a:prstGeom>
          <a:solidFill>
            <a:srgbClr val="1E3A5F"/>
          </a:solidFill>
          <a:ln w="12700">
            <a:solidFill>
              <a:srgbClr val="1E3A5F"/>
            </a:solidFill>
            <a:prstDash val="solid"/>
          </a:ln>
        </p:spPr>
        <p:txBody>
          <a:bodyPr/>
          <a:lstStyle/>
          <a:p>
            <a:endParaRPr lang="es-ES"/>
          </a:p>
        </p:txBody>
      </p:sp>
      <p:sp>
        <p:nvSpPr>
          <p:cNvPr id="13" name="Text 11"/>
          <p:cNvSpPr/>
          <p:nvPr/>
        </p:nvSpPr>
        <p:spPr>
          <a:xfrm>
            <a:off x="4965192" y="1920240"/>
            <a:ext cx="640080" cy="402336"/>
          </a:xfrm>
          <a:prstGeom prst="rect">
            <a:avLst/>
          </a:prstGeom>
          <a:noFill/>
          <a:ln/>
        </p:spPr>
        <p:txBody>
          <a:bodyPr wrap="square" rtlCol="0" anchor="ctr"/>
          <a:lstStyle/>
          <a:p>
            <a:pPr marL="0" indent="0" algn="l">
              <a:buNone/>
            </a:pPr>
            <a:r>
              <a:rPr lang="en-US" sz="2200" b="1" dirty="0">
                <a:solidFill>
                  <a:srgbClr val="1E3A5F"/>
                </a:solidFill>
                <a:latin typeface="Cambria" pitchFamily="34" charset="0"/>
                <a:ea typeface="Cambria" pitchFamily="34" charset="-122"/>
                <a:cs typeface="Cambria" pitchFamily="34" charset="-120"/>
              </a:rPr>
              <a:t>02</a:t>
            </a:r>
            <a:endParaRPr lang="en-US" sz="2200" dirty="0"/>
          </a:p>
        </p:txBody>
      </p:sp>
      <p:sp>
        <p:nvSpPr>
          <p:cNvPr id="14" name="Text 12"/>
          <p:cNvSpPr/>
          <p:nvPr/>
        </p:nvSpPr>
        <p:spPr>
          <a:xfrm>
            <a:off x="5623560" y="1965960"/>
            <a:ext cx="3154680" cy="347472"/>
          </a:xfrm>
          <a:prstGeom prst="rect">
            <a:avLst/>
          </a:prstGeom>
          <a:noFill/>
          <a:ln/>
        </p:spPr>
        <p:txBody>
          <a:bodyPr wrap="square" rtlCol="0" anchor="ctr"/>
          <a:lstStyle/>
          <a:p>
            <a:pPr marL="0" indent="0" algn="l">
              <a:buNone/>
            </a:pPr>
            <a:r>
              <a:rPr lang="en-US" sz="1300" b="1" dirty="0">
                <a:solidFill>
                  <a:srgbClr val="1E293B"/>
                </a:solidFill>
                <a:latin typeface="Cambria" pitchFamily="34" charset="0"/>
                <a:ea typeface="Cambria" pitchFamily="34" charset="-122"/>
                <a:cs typeface="Cambria" pitchFamily="34" charset="-120"/>
              </a:rPr>
              <a:t>Propose Technical Fixes</a:t>
            </a:r>
            <a:endParaRPr lang="en-US" sz="1300" dirty="0"/>
          </a:p>
        </p:txBody>
      </p:sp>
      <p:sp>
        <p:nvSpPr>
          <p:cNvPr id="15" name="Text 13"/>
          <p:cNvSpPr/>
          <p:nvPr/>
        </p:nvSpPr>
        <p:spPr>
          <a:xfrm>
            <a:off x="4965192" y="2395728"/>
            <a:ext cx="3840480" cy="640080"/>
          </a:xfrm>
          <a:prstGeom prst="rect">
            <a:avLst/>
          </a:prstGeom>
          <a:noFill/>
          <a:ln/>
        </p:spPr>
        <p:txBody>
          <a:bodyPr wrap="square"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Bias correction algorithms, fairness constraints, and independent auditing are all feasible solutions. Present them alongside the problem.</a:t>
            </a:r>
            <a:endParaRPr lang="en-US" sz="1100" dirty="0"/>
          </a:p>
        </p:txBody>
      </p:sp>
      <p:sp>
        <p:nvSpPr>
          <p:cNvPr id="16" name="Shape 14"/>
          <p:cNvSpPr/>
          <p:nvPr/>
        </p:nvSpPr>
        <p:spPr>
          <a:xfrm>
            <a:off x="365760" y="3291840"/>
            <a:ext cx="416052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17" name="Shape 15"/>
          <p:cNvSpPr/>
          <p:nvPr/>
        </p:nvSpPr>
        <p:spPr>
          <a:xfrm>
            <a:off x="365760" y="3291840"/>
            <a:ext cx="4160520" cy="54864"/>
          </a:xfrm>
          <a:prstGeom prst="rect">
            <a:avLst/>
          </a:prstGeom>
          <a:solidFill>
            <a:srgbClr val="1E3A5F"/>
          </a:solidFill>
          <a:ln w="12700">
            <a:solidFill>
              <a:srgbClr val="1E3A5F"/>
            </a:solidFill>
            <a:prstDash val="solid"/>
          </a:ln>
        </p:spPr>
        <p:txBody>
          <a:bodyPr/>
          <a:lstStyle/>
          <a:p>
            <a:endParaRPr lang="es-ES"/>
          </a:p>
        </p:txBody>
      </p:sp>
      <p:sp>
        <p:nvSpPr>
          <p:cNvPr id="18" name="Text 16"/>
          <p:cNvSpPr/>
          <p:nvPr/>
        </p:nvSpPr>
        <p:spPr>
          <a:xfrm>
            <a:off x="530352" y="3383280"/>
            <a:ext cx="640080" cy="402336"/>
          </a:xfrm>
          <a:prstGeom prst="rect">
            <a:avLst/>
          </a:prstGeom>
          <a:noFill/>
          <a:ln/>
        </p:spPr>
        <p:txBody>
          <a:bodyPr wrap="square" rtlCol="0" anchor="ctr"/>
          <a:lstStyle/>
          <a:p>
            <a:pPr marL="0" indent="0" algn="l">
              <a:buNone/>
            </a:pPr>
            <a:r>
              <a:rPr lang="en-US" sz="2200" b="1" dirty="0">
                <a:solidFill>
                  <a:srgbClr val="1E3A5F"/>
                </a:solidFill>
                <a:latin typeface="Cambria" pitchFamily="34" charset="0"/>
                <a:ea typeface="Cambria" pitchFamily="34" charset="-122"/>
                <a:cs typeface="Cambria" pitchFamily="34" charset="-120"/>
              </a:rPr>
              <a:t>03</a:t>
            </a:r>
            <a:endParaRPr lang="en-US" sz="2200" dirty="0"/>
          </a:p>
        </p:txBody>
      </p:sp>
      <p:sp>
        <p:nvSpPr>
          <p:cNvPr id="19" name="Text 17"/>
          <p:cNvSpPr/>
          <p:nvPr/>
        </p:nvSpPr>
        <p:spPr>
          <a:xfrm>
            <a:off x="1188720" y="3429000"/>
            <a:ext cx="3154680" cy="347472"/>
          </a:xfrm>
          <a:prstGeom prst="rect">
            <a:avLst/>
          </a:prstGeom>
          <a:noFill/>
          <a:ln/>
        </p:spPr>
        <p:txBody>
          <a:bodyPr wrap="square" rtlCol="0" anchor="ctr"/>
          <a:lstStyle/>
          <a:p>
            <a:pPr marL="0" indent="0" algn="l">
              <a:buNone/>
            </a:pPr>
            <a:r>
              <a:rPr lang="en-US" sz="1300" b="1" dirty="0">
                <a:solidFill>
                  <a:srgbClr val="1E293B"/>
                </a:solidFill>
                <a:latin typeface="Cambria" pitchFamily="34" charset="0"/>
                <a:ea typeface="Cambria" pitchFamily="34" charset="-122"/>
                <a:cs typeface="Cambria" pitchFamily="34" charset="-120"/>
              </a:rPr>
              <a:t>Internal Escalation</a:t>
            </a:r>
            <a:endParaRPr lang="en-US" sz="1300" dirty="0"/>
          </a:p>
        </p:txBody>
      </p:sp>
      <p:sp>
        <p:nvSpPr>
          <p:cNvPr id="20" name="Text 18"/>
          <p:cNvSpPr/>
          <p:nvPr/>
        </p:nvSpPr>
        <p:spPr>
          <a:xfrm>
            <a:off x="530352" y="3858768"/>
            <a:ext cx="3840480" cy="640080"/>
          </a:xfrm>
          <a:prstGeom prst="rect">
            <a:avLst/>
          </a:prstGeom>
          <a:noFill/>
          <a:ln/>
        </p:spPr>
        <p:txBody>
          <a:bodyPr wrap="square"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Raise the issue beyond immediate management - to the ethics board, legal team, or senior leadership. Document every response.</a:t>
            </a:r>
            <a:endParaRPr lang="en-US" sz="1100" dirty="0"/>
          </a:p>
        </p:txBody>
      </p:sp>
      <p:sp>
        <p:nvSpPr>
          <p:cNvPr id="21" name="Shape 19"/>
          <p:cNvSpPr/>
          <p:nvPr/>
        </p:nvSpPr>
        <p:spPr>
          <a:xfrm>
            <a:off x="4800600" y="3291840"/>
            <a:ext cx="416052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txBody>
          <a:bodyPr/>
          <a:lstStyle/>
          <a:p>
            <a:endParaRPr lang="es-ES"/>
          </a:p>
        </p:txBody>
      </p:sp>
      <p:sp>
        <p:nvSpPr>
          <p:cNvPr id="22" name="Shape 20"/>
          <p:cNvSpPr/>
          <p:nvPr/>
        </p:nvSpPr>
        <p:spPr>
          <a:xfrm>
            <a:off x="4800600" y="3291840"/>
            <a:ext cx="4160520" cy="54864"/>
          </a:xfrm>
          <a:prstGeom prst="rect">
            <a:avLst/>
          </a:prstGeom>
          <a:solidFill>
            <a:srgbClr val="C0392B"/>
          </a:solidFill>
          <a:ln w="12700">
            <a:solidFill>
              <a:srgbClr val="C0392B"/>
            </a:solidFill>
            <a:prstDash val="solid"/>
          </a:ln>
        </p:spPr>
        <p:txBody>
          <a:bodyPr/>
          <a:lstStyle/>
          <a:p>
            <a:endParaRPr lang="es-ES"/>
          </a:p>
        </p:txBody>
      </p:sp>
      <p:sp>
        <p:nvSpPr>
          <p:cNvPr id="23" name="Text 21"/>
          <p:cNvSpPr/>
          <p:nvPr/>
        </p:nvSpPr>
        <p:spPr>
          <a:xfrm>
            <a:off x="4965192" y="3383280"/>
            <a:ext cx="640080" cy="402336"/>
          </a:xfrm>
          <a:prstGeom prst="rect">
            <a:avLst/>
          </a:prstGeom>
          <a:noFill/>
          <a:ln/>
        </p:spPr>
        <p:txBody>
          <a:bodyPr wrap="square" rtlCol="0" anchor="ctr"/>
          <a:lstStyle/>
          <a:p>
            <a:pPr marL="0" indent="0" algn="l">
              <a:buNone/>
            </a:pPr>
            <a:r>
              <a:rPr lang="en-US" sz="2200" b="1" dirty="0">
                <a:solidFill>
                  <a:srgbClr val="C0392B"/>
                </a:solidFill>
                <a:latin typeface="Cambria" pitchFamily="34" charset="0"/>
                <a:ea typeface="Cambria" pitchFamily="34" charset="-122"/>
                <a:cs typeface="Cambria" pitchFamily="34" charset="-120"/>
              </a:rPr>
              <a:t>04</a:t>
            </a:r>
            <a:endParaRPr lang="en-US" sz="2200" dirty="0"/>
          </a:p>
        </p:txBody>
      </p:sp>
      <p:sp>
        <p:nvSpPr>
          <p:cNvPr id="24" name="Text 22"/>
          <p:cNvSpPr/>
          <p:nvPr/>
        </p:nvSpPr>
        <p:spPr>
          <a:xfrm>
            <a:off x="5623560" y="3429000"/>
            <a:ext cx="3154680" cy="347472"/>
          </a:xfrm>
          <a:prstGeom prst="rect">
            <a:avLst/>
          </a:prstGeom>
          <a:noFill/>
          <a:ln/>
        </p:spPr>
        <p:txBody>
          <a:bodyPr wrap="square" rtlCol="0" anchor="ctr"/>
          <a:lstStyle/>
          <a:p>
            <a:pPr marL="0" indent="0" algn="l">
              <a:buNone/>
            </a:pPr>
            <a:r>
              <a:rPr lang="en-US" sz="1300" b="1" dirty="0">
                <a:solidFill>
                  <a:srgbClr val="1E293B"/>
                </a:solidFill>
                <a:latin typeface="Cambria" pitchFamily="34" charset="0"/>
                <a:ea typeface="Cambria" pitchFamily="34" charset="-122"/>
                <a:cs typeface="Cambria" pitchFamily="34" charset="-120"/>
              </a:rPr>
              <a:t>External Reporting (if needed)</a:t>
            </a:r>
            <a:endParaRPr lang="en-US" sz="1300" dirty="0"/>
          </a:p>
        </p:txBody>
      </p:sp>
      <p:sp>
        <p:nvSpPr>
          <p:cNvPr id="25" name="Text 23"/>
          <p:cNvSpPr/>
          <p:nvPr/>
        </p:nvSpPr>
        <p:spPr>
          <a:xfrm>
            <a:off x="4965192" y="3858768"/>
            <a:ext cx="3840480" cy="640080"/>
          </a:xfrm>
          <a:prstGeom prst="rect">
            <a:avLst/>
          </a:prstGeom>
          <a:noFill/>
          <a:ln/>
        </p:spPr>
        <p:txBody>
          <a:bodyPr wrap="square" rtlCol="0" anchor="ctr"/>
          <a:lstStyle/>
          <a:p>
            <a:pPr marL="0" indent="0" algn="l">
              <a:buNone/>
            </a:pPr>
            <a:r>
              <a:rPr lang="en-US" sz="1100" dirty="0">
                <a:solidFill>
                  <a:srgbClr val="475569"/>
                </a:solidFill>
                <a:latin typeface="Calibri" pitchFamily="34" charset="0"/>
                <a:ea typeface="Calibri" pitchFamily="34" charset="-122"/>
                <a:cs typeface="Calibri" pitchFamily="34" charset="-120"/>
              </a:rPr>
              <a:t>If internal channels fail, contact the national data protection authority. GDPR gives regulators the power to compel action.</a:t>
            </a:r>
            <a:endParaRPr lang="en-US" sz="1100" dirty="0"/>
          </a:p>
        </p:txBody>
      </p:sp>
      <p:sp>
        <p:nvSpPr>
          <p:cNvPr id="26" name="Shape 24"/>
          <p:cNvSpPr/>
          <p:nvPr/>
        </p:nvSpPr>
        <p:spPr>
          <a:xfrm>
            <a:off x="0" y="4892040"/>
            <a:ext cx="9144000" cy="251460"/>
          </a:xfrm>
          <a:prstGeom prst="rect">
            <a:avLst/>
          </a:prstGeom>
          <a:solidFill>
            <a:srgbClr val="E2E8F0"/>
          </a:solidFill>
          <a:ln w="12700">
            <a:solidFill>
              <a:srgbClr val="E2E8F0"/>
            </a:solidFill>
            <a:prstDash val="solid"/>
          </a:ln>
        </p:spPr>
        <p:txBody>
          <a:bodyPr/>
          <a:lstStyle/>
          <a:p>
            <a:endParaRPr lang="es-ES"/>
          </a:p>
        </p:txBody>
      </p:sp>
      <p:sp>
        <p:nvSpPr>
          <p:cNvPr id="27" name="Text 25"/>
          <p:cNvSpPr/>
          <p:nvPr/>
        </p:nvSpPr>
        <p:spPr>
          <a:xfrm>
            <a:off x="365760" y="4892040"/>
            <a:ext cx="8229600" cy="251460"/>
          </a:xfrm>
          <a:prstGeom prst="rect">
            <a:avLst/>
          </a:prstGeom>
          <a:noFill/>
          <a:ln/>
        </p:spPr>
        <p:txBody>
          <a:bodyPr wrap="square" rtlCol="0" anchor="ctr"/>
          <a:lstStyle/>
          <a:p>
            <a:pPr marL="0" indent="0" algn="l">
              <a:buNone/>
            </a:pPr>
            <a:r>
              <a:rPr lang="en-US" sz="800" dirty="0">
                <a:solidFill>
                  <a:srgbClr val="94A3B8"/>
                </a:solidFill>
                <a:latin typeface="Calibri" pitchFamily="34" charset="0"/>
                <a:ea typeface="Calibri" pitchFamily="34" charset="-122"/>
                <a:cs typeface="Calibri" pitchFamily="34" charset="-120"/>
              </a:rPr>
              <a:t>Ethics of New Technologies  ·  Álvaro &amp; Enrique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C0392B"/>
          </a:solidFill>
          <a:ln w="12700">
            <a:solidFill>
              <a:srgbClr val="C0392B"/>
            </a:solidFill>
            <a:prstDash val="solid"/>
          </a:ln>
        </p:spPr>
        <p:txBody>
          <a:bodyPr/>
          <a:lstStyle/>
          <a:p>
            <a:endParaRPr lang="es-ES"/>
          </a:p>
        </p:txBody>
      </p:sp>
      <p:sp>
        <p:nvSpPr>
          <p:cNvPr id="3" name="Shape 1"/>
          <p:cNvSpPr/>
          <p:nvPr/>
        </p:nvSpPr>
        <p:spPr>
          <a:xfrm>
            <a:off x="7132320" y="2560320"/>
            <a:ext cx="3657600" cy="3657600"/>
          </a:xfrm>
          <a:prstGeom prst="ellipse">
            <a:avLst/>
          </a:prstGeom>
          <a:solidFill>
            <a:srgbClr val="142B48"/>
          </a:solidFill>
          <a:ln w="12700">
            <a:solidFill>
              <a:srgbClr val="2E4F7A"/>
            </a:solidFill>
            <a:prstDash val="solid"/>
          </a:ln>
        </p:spPr>
        <p:txBody>
          <a:bodyPr/>
          <a:lstStyle/>
          <a:p>
            <a:endParaRPr lang="es-ES"/>
          </a:p>
        </p:txBody>
      </p:sp>
      <p:sp>
        <p:nvSpPr>
          <p:cNvPr id="4" name="Shape 2"/>
          <p:cNvSpPr/>
          <p:nvPr/>
        </p:nvSpPr>
        <p:spPr>
          <a:xfrm>
            <a:off x="320040" y="365760"/>
            <a:ext cx="1645920" cy="320040"/>
          </a:xfrm>
          <a:prstGeom prst="rect">
            <a:avLst/>
          </a:prstGeom>
          <a:solidFill>
            <a:srgbClr val="C0392B"/>
          </a:solidFill>
          <a:ln w="12700">
            <a:solidFill>
              <a:srgbClr val="C0392B"/>
            </a:solidFill>
            <a:prstDash val="solid"/>
          </a:ln>
        </p:spPr>
        <p:txBody>
          <a:bodyPr/>
          <a:lstStyle/>
          <a:p>
            <a:endParaRPr lang="es-ES"/>
          </a:p>
        </p:txBody>
      </p:sp>
      <p:sp>
        <p:nvSpPr>
          <p:cNvPr id="5" name="Text 3"/>
          <p:cNvSpPr/>
          <p:nvPr/>
        </p:nvSpPr>
        <p:spPr>
          <a:xfrm>
            <a:off x="320040" y="365760"/>
            <a:ext cx="1645920" cy="320040"/>
          </a:xfrm>
          <a:prstGeom prst="rect">
            <a:avLst/>
          </a:prstGeom>
          <a:noFill/>
          <a:ln/>
        </p:spPr>
        <p:txBody>
          <a:bodyPr wrap="square" lIns="0" tIns="0" rIns="0" bIns="0" rtlCol="0" anchor="ctr"/>
          <a:lstStyle/>
          <a:p>
            <a:pPr marL="0" indent="0" algn="ctr">
              <a:buNone/>
            </a:pPr>
            <a:r>
              <a:rPr lang="en-US" sz="1000" b="1" kern="0" spc="200" dirty="0">
                <a:solidFill>
                  <a:srgbClr val="FFFFFF"/>
                </a:solidFill>
                <a:latin typeface="Calibri" pitchFamily="34" charset="0"/>
                <a:ea typeface="Calibri" pitchFamily="34" charset="-122"/>
                <a:cs typeface="Calibri" pitchFamily="34" charset="-120"/>
              </a:rPr>
              <a:t>CONCLUSIONS</a:t>
            </a:r>
            <a:endParaRPr lang="en-US" sz="1000" dirty="0"/>
          </a:p>
        </p:txBody>
      </p:sp>
      <p:sp>
        <p:nvSpPr>
          <p:cNvPr id="6" name="Text 4"/>
          <p:cNvSpPr/>
          <p:nvPr/>
        </p:nvSpPr>
        <p:spPr>
          <a:xfrm>
            <a:off x="320040" y="822960"/>
            <a:ext cx="7315200" cy="640080"/>
          </a:xfrm>
          <a:prstGeom prst="rect">
            <a:avLst/>
          </a:prstGeom>
          <a:noFill/>
          <a:ln/>
        </p:spPr>
        <p:txBody>
          <a:bodyPr wrap="square"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Key Takeaways</a:t>
            </a:r>
            <a:endParaRPr lang="en-US" sz="3600" dirty="0"/>
          </a:p>
        </p:txBody>
      </p:sp>
      <p:sp>
        <p:nvSpPr>
          <p:cNvPr id="7" name="Shape 5"/>
          <p:cNvSpPr/>
          <p:nvPr/>
        </p:nvSpPr>
        <p:spPr>
          <a:xfrm>
            <a:off x="320040" y="1673352"/>
            <a:ext cx="420624" cy="420624"/>
          </a:xfrm>
          <a:prstGeom prst="ellipse">
            <a:avLst/>
          </a:prstGeom>
          <a:solidFill>
            <a:srgbClr val="C0392B"/>
          </a:solidFill>
          <a:ln w="12700">
            <a:solidFill>
              <a:srgbClr val="C0392B"/>
            </a:solidFill>
            <a:prstDash val="solid"/>
          </a:ln>
        </p:spPr>
        <p:txBody>
          <a:bodyPr/>
          <a:lstStyle/>
          <a:p>
            <a:endParaRPr lang="es-ES"/>
          </a:p>
        </p:txBody>
      </p:sp>
      <p:sp>
        <p:nvSpPr>
          <p:cNvPr id="8" name="Text 6"/>
          <p:cNvSpPr/>
          <p:nvPr/>
        </p:nvSpPr>
        <p:spPr>
          <a:xfrm>
            <a:off x="320040" y="1673352"/>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9" name="Text 7"/>
          <p:cNvSpPr/>
          <p:nvPr/>
        </p:nvSpPr>
        <p:spPr>
          <a:xfrm>
            <a:off x="813816" y="1527608"/>
            <a:ext cx="6949440" cy="694944"/>
          </a:xfrm>
          <a:prstGeom prst="rect">
            <a:avLst/>
          </a:prstGeom>
          <a:noFill/>
          <a:ln/>
        </p:spPr>
        <p:txBody>
          <a:bodyPr wrap="square" rtlCol="0" anchor="ctr"/>
          <a:lstStyle/>
          <a:p>
            <a:pPr marL="0" indent="0" algn="l">
              <a:buNone/>
            </a:pPr>
            <a:r>
              <a:rPr lang="en-US" sz="1200" dirty="0">
                <a:solidFill>
                  <a:srgbClr val="D1E8FF"/>
                </a:solidFill>
                <a:latin typeface="Calibri" pitchFamily="34" charset="0"/>
                <a:ea typeface="Calibri" pitchFamily="34" charset="-122"/>
                <a:cs typeface="Calibri" pitchFamily="34" charset="-120"/>
              </a:rPr>
              <a:t>PATROL-AI as deployed is ethically unacceptable - not because it has no benefits, but because it achieves them by concentrating harm on a specific community.</a:t>
            </a:r>
            <a:endParaRPr lang="en-US" sz="1200" dirty="0"/>
          </a:p>
        </p:txBody>
      </p:sp>
      <p:sp>
        <p:nvSpPr>
          <p:cNvPr id="10" name="Shape 8"/>
          <p:cNvSpPr/>
          <p:nvPr/>
        </p:nvSpPr>
        <p:spPr>
          <a:xfrm>
            <a:off x="320040" y="2478024"/>
            <a:ext cx="420624" cy="420624"/>
          </a:xfrm>
          <a:prstGeom prst="ellipse">
            <a:avLst/>
          </a:prstGeom>
          <a:solidFill>
            <a:srgbClr val="C0392B"/>
          </a:solidFill>
          <a:ln w="12700">
            <a:solidFill>
              <a:srgbClr val="C0392B"/>
            </a:solidFill>
            <a:prstDash val="solid"/>
          </a:ln>
        </p:spPr>
        <p:txBody>
          <a:bodyPr/>
          <a:lstStyle/>
          <a:p>
            <a:endParaRPr lang="es-ES"/>
          </a:p>
        </p:txBody>
      </p:sp>
      <p:sp>
        <p:nvSpPr>
          <p:cNvPr id="11" name="Text 9"/>
          <p:cNvSpPr/>
          <p:nvPr/>
        </p:nvSpPr>
        <p:spPr>
          <a:xfrm>
            <a:off x="320040" y="2478024"/>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2" name="Text 10"/>
          <p:cNvSpPr/>
          <p:nvPr/>
        </p:nvSpPr>
        <p:spPr>
          <a:xfrm>
            <a:off x="813816" y="2332280"/>
            <a:ext cx="6949440" cy="694944"/>
          </a:xfrm>
          <a:prstGeom prst="rect">
            <a:avLst/>
          </a:prstGeom>
          <a:noFill/>
          <a:ln/>
        </p:spPr>
        <p:txBody>
          <a:bodyPr wrap="square" rtlCol="0" anchor="ctr"/>
          <a:lstStyle/>
          <a:p>
            <a:pPr marL="0" indent="0" algn="l">
              <a:buNone/>
            </a:pPr>
            <a:r>
              <a:rPr lang="en-US" sz="1200" dirty="0">
                <a:solidFill>
                  <a:srgbClr val="D1E8FF"/>
                </a:solidFill>
                <a:latin typeface="Calibri" pitchFamily="34" charset="0"/>
                <a:ea typeface="Calibri" pitchFamily="34" charset="-122"/>
                <a:cs typeface="Calibri" pitchFamily="34" charset="-120"/>
              </a:rPr>
              <a:t>ACM, IEEE, and utilitarian philosophy all converge on the same verdict - seven clauses violated, one upheld.</a:t>
            </a:r>
            <a:endParaRPr lang="en-US" sz="1200" dirty="0"/>
          </a:p>
        </p:txBody>
      </p:sp>
      <p:sp>
        <p:nvSpPr>
          <p:cNvPr id="13" name="Shape 11"/>
          <p:cNvSpPr/>
          <p:nvPr/>
        </p:nvSpPr>
        <p:spPr>
          <a:xfrm>
            <a:off x="320040" y="3282696"/>
            <a:ext cx="420624" cy="420624"/>
          </a:xfrm>
          <a:prstGeom prst="ellipse">
            <a:avLst/>
          </a:prstGeom>
          <a:solidFill>
            <a:srgbClr val="C0392B"/>
          </a:solidFill>
          <a:ln w="12700">
            <a:solidFill>
              <a:srgbClr val="C0392B"/>
            </a:solidFill>
            <a:prstDash val="solid"/>
          </a:ln>
        </p:spPr>
        <p:txBody>
          <a:bodyPr/>
          <a:lstStyle/>
          <a:p>
            <a:endParaRPr lang="es-ES"/>
          </a:p>
        </p:txBody>
      </p:sp>
      <p:sp>
        <p:nvSpPr>
          <p:cNvPr id="14" name="Text 12"/>
          <p:cNvSpPr/>
          <p:nvPr/>
        </p:nvSpPr>
        <p:spPr>
          <a:xfrm>
            <a:off x="320040" y="3282696"/>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5" name="Text 13"/>
          <p:cNvSpPr/>
          <p:nvPr/>
        </p:nvSpPr>
        <p:spPr>
          <a:xfrm>
            <a:off x="813816" y="3136952"/>
            <a:ext cx="6949440" cy="694944"/>
          </a:xfrm>
          <a:prstGeom prst="rect">
            <a:avLst/>
          </a:prstGeom>
          <a:noFill/>
          <a:ln/>
        </p:spPr>
        <p:txBody>
          <a:bodyPr wrap="square" rtlCol="0" anchor="ctr"/>
          <a:lstStyle/>
          <a:p>
            <a:pPr marL="0" indent="0" algn="l">
              <a:buNone/>
            </a:pPr>
            <a:r>
              <a:rPr lang="en-US" sz="1200" dirty="0">
                <a:solidFill>
                  <a:srgbClr val="D1E8FF"/>
                </a:solidFill>
                <a:latin typeface="Calibri" pitchFamily="34" charset="0"/>
                <a:ea typeface="Calibri" pitchFamily="34" charset="-122"/>
                <a:cs typeface="Calibri" pitchFamily="34" charset="-120"/>
              </a:rPr>
              <a:t>Aggregate benefit does not justify unjust distribution of harm. Ethics must ask not only how much good is produced, but who bears the cost.</a:t>
            </a:r>
            <a:endParaRPr lang="en-US" sz="1200" dirty="0"/>
          </a:p>
        </p:txBody>
      </p:sp>
      <p:sp>
        <p:nvSpPr>
          <p:cNvPr id="16" name="Shape 14"/>
          <p:cNvSpPr/>
          <p:nvPr/>
        </p:nvSpPr>
        <p:spPr>
          <a:xfrm>
            <a:off x="320040" y="4087368"/>
            <a:ext cx="420624" cy="420624"/>
          </a:xfrm>
          <a:prstGeom prst="ellipse">
            <a:avLst/>
          </a:prstGeom>
          <a:solidFill>
            <a:srgbClr val="C0392B"/>
          </a:solidFill>
          <a:ln w="12700">
            <a:solidFill>
              <a:srgbClr val="C0392B"/>
            </a:solidFill>
            <a:prstDash val="solid"/>
          </a:ln>
        </p:spPr>
        <p:txBody>
          <a:bodyPr/>
          <a:lstStyle/>
          <a:p>
            <a:endParaRPr lang="es-ES"/>
          </a:p>
        </p:txBody>
      </p:sp>
      <p:sp>
        <p:nvSpPr>
          <p:cNvPr id="17" name="Text 15"/>
          <p:cNvSpPr/>
          <p:nvPr/>
        </p:nvSpPr>
        <p:spPr>
          <a:xfrm>
            <a:off x="320040" y="4087368"/>
            <a:ext cx="420624" cy="420624"/>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8" name="Text 16"/>
          <p:cNvSpPr/>
          <p:nvPr/>
        </p:nvSpPr>
        <p:spPr>
          <a:xfrm>
            <a:off x="813816" y="3941624"/>
            <a:ext cx="6949440" cy="694944"/>
          </a:xfrm>
          <a:prstGeom prst="rect">
            <a:avLst/>
          </a:prstGeom>
          <a:noFill/>
          <a:ln/>
        </p:spPr>
        <p:txBody>
          <a:bodyPr wrap="square" rtlCol="0" anchor="ctr"/>
          <a:lstStyle/>
          <a:p>
            <a:pPr marL="0" indent="0" algn="l">
              <a:buNone/>
            </a:pPr>
            <a:r>
              <a:rPr lang="en-US" sz="1200" dirty="0">
                <a:solidFill>
                  <a:srgbClr val="D1E8FF"/>
                </a:solidFill>
                <a:latin typeface="Calibri" pitchFamily="34" charset="0"/>
                <a:ea typeface="Calibri" pitchFamily="34" charset="-122"/>
                <a:cs typeface="Calibri" pitchFamily="34" charset="-120"/>
              </a:rPr>
              <a:t>The ethical engineer's responsibility does not end at deployment. Ongoing auditing, transparency, and willingness to escalate are as important as the initial design.</a:t>
            </a:r>
            <a:endParaRPr lang="en-US" sz="1200" dirty="0"/>
          </a:p>
        </p:txBody>
      </p:sp>
      <p:sp>
        <p:nvSpPr>
          <p:cNvPr id="19" name="Shape 17"/>
          <p:cNvSpPr/>
          <p:nvPr/>
        </p:nvSpPr>
        <p:spPr>
          <a:xfrm>
            <a:off x="0" y="4846320"/>
            <a:ext cx="9144000" cy="297180"/>
          </a:xfrm>
          <a:prstGeom prst="rect">
            <a:avLst/>
          </a:prstGeom>
          <a:solidFill>
            <a:srgbClr val="142B48"/>
          </a:solidFill>
          <a:ln w="12700">
            <a:solidFill>
              <a:srgbClr val="142B48"/>
            </a:solidFill>
            <a:prstDash val="solid"/>
          </a:ln>
        </p:spPr>
        <p:txBody>
          <a:bodyPr/>
          <a:lstStyle/>
          <a:p>
            <a:endParaRPr lang="es-ES"/>
          </a:p>
        </p:txBody>
      </p:sp>
      <p:sp>
        <p:nvSpPr>
          <p:cNvPr id="20" name="Text 18"/>
          <p:cNvSpPr/>
          <p:nvPr/>
        </p:nvSpPr>
        <p:spPr>
          <a:xfrm>
            <a:off x="365760" y="4846320"/>
            <a:ext cx="8229600" cy="297180"/>
          </a:xfrm>
          <a:prstGeom prst="rect">
            <a:avLst/>
          </a:prstGeom>
          <a:noFill/>
          <a:ln/>
        </p:spPr>
        <p:txBody>
          <a:bodyPr wrap="square" rtlCol="0" anchor="ctr"/>
          <a:lstStyle/>
          <a:p>
            <a:pPr marL="0" indent="0" algn="ctr">
              <a:buNone/>
            </a:pPr>
            <a:r>
              <a:rPr lang="en-US" sz="800" dirty="0">
                <a:solidFill>
                  <a:srgbClr val="94A3B8"/>
                </a:solidFill>
                <a:latin typeface="Calibri" pitchFamily="34" charset="0"/>
                <a:ea typeface="Calibri" pitchFamily="34" charset="-122"/>
                <a:cs typeface="Calibri" pitchFamily="34" charset="-120"/>
              </a:rPr>
              <a:t>Ethics of New Technologies  ·  W08IST-SM4017S  ·  Álvaro &amp; Enrique  ·  2025/26</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2429</Words>
  <Application>Microsoft Office PowerPoint</Application>
  <PresentationFormat>Presentación en pantalla (16:9)</PresentationFormat>
  <Paragraphs>193</Paragraphs>
  <Slides>10</Slides>
  <Notes>10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Ethics of New Technologies — PATROL-AI</dc:title>
  <dc:subject>PptxGenJS Presentation</dc:subject>
  <dc:creator>Alvaro &amp; Enrique</dc:creator>
  <cp:lastModifiedBy>Alvaro Puebla Ruisanchez (293867)</cp:lastModifiedBy>
  <cp:revision>3</cp:revision>
  <dcterms:created xsi:type="dcterms:W3CDTF">2026-05-30T13:36:07Z</dcterms:created>
  <dcterms:modified xsi:type="dcterms:W3CDTF">2026-05-30T13:40:11Z</dcterms:modified>
</cp:coreProperties>
</file>