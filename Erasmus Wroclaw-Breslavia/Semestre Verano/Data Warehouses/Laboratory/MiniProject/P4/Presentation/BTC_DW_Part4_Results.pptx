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9" r:id="rId10"/>
    <p:sldId id="264" r:id="rId11"/>
    <p:sldId id="265" r:id="rId12"/>
    <p:sldId id="270" r:id="rId13"/>
    <p:sldId id="266" r:id="rId14"/>
    <p:sldId id="268"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327" autoAdjust="0"/>
  </p:normalViewPr>
  <p:slideViewPr>
    <p:cSldViewPr snapToGrid="0" snapToObjects="1">
      <p:cViewPr>
        <p:scale>
          <a:sx n="75" d="100"/>
          <a:sy n="75" d="100"/>
        </p:scale>
        <p:origin x="1666" y="22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6163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presentation covers the results of the Bitcoin On-Chain Data Warehouse mini-project.
The core idea: bridging two worlds that are rarely merged - Bitcoin's raw blockchain data and its market/sentiment signals - inside a single queryable star schema warehouse.
We'll walk through architecture, ETL, the dimensional model, 10 OLAP queries against a live SSAS cube, and the Power BI management dashboard.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heaviest focus - by design and by the grading criteria - is on ETL implementation, the dimensional model, and the OLAP analysis.
The architecture and dataset sections are reminders to set context; the real substance starts with the ETL slides.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a hybrid of four APIs: Mempool.space for raw on-chain data (blocks and transactions), Yahoo Finance for daily BTC-USD price, Alternative.me for the Fear &amp; Greed Index, and CoinLore for BTC market dominance.
The target user is a Blockchain Analyst who needs to correlate network-level activity with market </a:t>
            </a:r>
            <a:r>
              <a:rPr lang="en-US"/>
              <a:t>sentiment - </a:t>
            </a:r>
            <a:r>
              <a:rPr lang="en-US" dirty="0"/>
              <a:t>something no single existing tool does out of the box.
The core research question drives everything: has Bitcoin evolved from a cheap payment network into a high-value settlement layer?
The three questions at the bottom are exactly the kinds of things our dashboard answers.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stack: four APIs → Python ETL → BTC_Staging DB (raw landing zone) → BTC_DW (clean star schema) → SSAS Cube → Power BI live connection.
Three key justification points:
</a:t>
            </a:r>
            <a:r>
              <a:rPr lang="en-US"/>
              <a:t>First - </a:t>
            </a:r>
            <a:r>
              <a:rPr lang="en-US" dirty="0"/>
              <a:t>Python over SSIS. The Mempool API has a quirk: when a block has exactly 25 or 50 transactions and you request the next page, it returns HTTP 404 instead of an empty list. SSIS has no graceful 404 handler. Python's custom http_get with ignore_404=True solves this in three lines.
</a:t>
            </a:r>
            <a:r>
              <a:rPr lang="en-US"/>
              <a:t>Second - </a:t>
            </a:r>
            <a:r>
              <a:rPr lang="en-US" dirty="0"/>
              <a:t>two separate databases. Staging keeps raw data intact so we can re-run ETL without touching the analytical layer. An ETL bug cannot corrupt the DW.
</a:t>
            </a:r>
            <a:r>
              <a:rPr lang="en-US"/>
              <a:t>Third - </a:t>
            </a:r>
            <a:r>
              <a:rPr lang="en-US" dirty="0"/>
              <a:t>SSAS live connection. With 657,000+ rows (and growing), Power BI never loads raw data into </a:t>
            </a:r>
            <a:r>
              <a:rPr lang="en-US"/>
              <a:t>RAM - </a:t>
            </a:r>
            <a:r>
              <a:rPr lang="en-US" dirty="0"/>
              <a:t>it sends MDX queries to the pre-aggregated cube. Sub-second response times on every dashboard interaction.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phases: Extract uses </a:t>
            </a:r>
            <a:r>
              <a:rPr lang="en-US"/>
              <a:t>watermarks - </a:t>
            </a:r>
            <a:r>
              <a:rPr lang="en-US" dirty="0"/>
              <a:t>MAX(height) for blocks, date-based for market </a:t>
            </a:r>
            <a:r>
              <a:rPr lang="en-US"/>
              <a:t>data - </a:t>
            </a:r>
            <a:r>
              <a:rPr lang="en-US" dirty="0"/>
              <a:t>so every run only fetches new data.
Stage flattens JSON into six staging tables, one per data entity.
Transform applies four DQ gates: uniqueness, completeness, consistency (script_type whitelist), and freshness. Failures go to an error log </a:t>
            </a:r>
            <a:r>
              <a:rPr lang="en-US"/>
              <a:t>table - </a:t>
            </a:r>
            <a:r>
              <a:rPr lang="en-US" dirty="0"/>
              <a:t>never silently swallowed.
Load uses SCD Type 1 (overwrite) for all </a:t>
            </a:r>
            <a:r>
              <a:rPr lang="en-US"/>
              <a:t>dimensions - </a:t>
            </a:r>
            <a:r>
              <a:rPr lang="en-US" dirty="0"/>
              <a:t>Bitcoin block data is append-only so overwrites are </a:t>
            </a:r>
            <a:r>
              <a:rPr lang="en-US"/>
              <a:t>safe - </a:t>
            </a:r>
            <a:r>
              <a:rPr lang="en-US" dirty="0"/>
              <a:t>and bulk INSERT for the fact table. All derived columns (fee_burden_pct, io_value_ratio, etc.) are computed in SQL during the load, not in Python.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Two implementation highlights worth dwelling on.
The backward backfill pipeline is a second independent script. It starts from the oldest block we have and walks backward toward block 0 in batches of 200. It's fully resumable - Ctrl+C stops it, restart picks up exactly where it left off. A three-empty-batch guard prevents infinite loops.
The four bugs on the right were all discovered during implementation and are worth discussing:
- The arithmetic overflow - pyodbc silently inferred satoshi values as tinyint (max 255) despite Bitcoin having up to 2.1×10^15 satoshis. The fix was explicit CAST(? AS BIGINT) in every INSERT.
- The 404 crash - already covered in the architecture slide.
- The NVT/Fear-Greed sync issue was subtle: load_ts wasn't being bumped after a staging merge, so the DW thought the data was unchanged and skipped the SCD-1 update. Always updating load_ts after any merge fixed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Grain: one row per transaction. This is the most atomic useful grain - we can always roll up to block or day, but can never drill down if we start coarser.
Four dimensions:
DIM_DATE - the richest dimension. Includes Halving Era (1–5, derived from block height ranges) and Difficulty Tier (Low/Medium/High/Extreme, derived from network difficulty). These enable the most interesting cross-era and cross-tier analyses.
DIM_BLOCK - SCD Type 0 because blocks are cryptographically immutable once mined.
DIM_MARKET - daily snapshot, SCD Type 1 overwrite.
DIM_TX_TYPE - this is a junk dimension. Five boolean flags (segwit, coinbase, RBF, locktime, script_type) are grouped into one dimension instead of adding five columns to the fact table. This keeps the star schema narrow and clean.
The two starred measures - fear_greed_score and </a:t>
            </a:r>
            <a:r>
              <a:rPr lang="en-US" dirty="0" err="1"/>
              <a:t>market_cap_usd</a:t>
            </a:r>
            <a:r>
              <a:rPr lang="en-US" dirty="0"/>
              <a:t> - are denormalized directly into FACT to avoid an extra join on the hottest query paths.
Honest reflection: input_count and a DIM_SIZE_TIER were identified as missing after OLAP testing.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10 queries from Stage 1 were tested against the live SSAS cube via Power BI.
7 fully answered with live pivot results.
2 partially </a:t>
            </a:r>
            <a:r>
              <a:rPr lang="en-US"/>
              <a:t>answered - </a:t>
            </a:r>
            <a:r>
              <a:rPr lang="en-US" dirty="0"/>
              <a:t>only Era 5 is loaded so cross-era comparisons show a single data point.
3 correctly identified as structurally </a:t>
            </a:r>
            <a:r>
              <a:rPr lang="en-US"/>
              <a:t>impossible - </a:t>
            </a:r>
            <a:r>
              <a:rPr lang="en-US" dirty="0"/>
              <a:t>and this is worth emphasizing. We documented the exact technical reason for each impossibility rather than silently omitting them. Q1.3 needs a DIM_SIZE_TIER that doesn't exist. Q1.5 needs input_count in FACT, which was not promoted from staging. Q1.8 requires a proper market cap column and more historical data than we have.
This kind of honest gap analysis demonstrates real design reflection and is more valuable than glossing over limitations.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3D7BF-BAD3-2644-2DF6-46F25DFB9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AAE80E-B36F-97ED-63F7-FC9ED6E66D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0D3500-50BE-1189-10FC-5CDD43E4C0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A3B4E8-6245-102A-CBD3-4E5911CEC06A}"/>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253373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results worth highlighting:
</a:t>
            </a:r>
            <a:r>
              <a:rPr lang="en-US"/>
              <a:t>Q1.4 - </a:t>
            </a:r>
            <a:r>
              <a:rPr lang="en-US" dirty="0"/>
              <a:t>Fear drives activity. Counter-intuitively, Extreme Fear days account for the most on-chain volume: 370K transactions, $205B in output value. This is consistent with panic-selling or accumulation during downturns. No Greed observations </a:t>
            </a:r>
            <a:r>
              <a:rPr lang="en-US"/>
              <a:t>exist - </a:t>
            </a:r>
            <a:r>
              <a:rPr lang="en-US" dirty="0"/>
              <a:t>the market was in persistent fear throughout Q2 2026.
</a:t>
            </a:r>
            <a:r>
              <a:rPr lang="en-US"/>
              <a:t>Q1.10 - </a:t>
            </a:r>
            <a:r>
              <a:rPr lang="en-US" dirty="0"/>
              <a:t>Tuesday is the most expensive day to send Bitcoin. 24.07 sat/vByte on Tuesdays vs 14.57 on Sundays. Institutional settlement concentrated on business days creates a 30–40% weekend discount. This is directly actionable for anyone transacting on-chain.
</a:t>
            </a:r>
            <a:r>
              <a:rPr lang="en-US"/>
              <a:t>Q1.1 - </a:t>
            </a:r>
            <a:r>
              <a:rPr lang="en-US" dirty="0"/>
              <a:t>SegWit has essentially won. 89.6% of non-coinbase transactions are SegWit-native. Legacy P2PKH is now the minority.
</a:t>
            </a:r>
            <a:r>
              <a:rPr lang="en-US"/>
              <a:t>Q1.2 - </a:t>
            </a:r>
            <a:r>
              <a:rPr lang="en-US" dirty="0"/>
              <a:t>Efficiency matters more than raw fee rate. June had higher fee rates than May but lower fee burden, because larger-value transactions absorbed fees proportionally better.
</a:t>
            </a:r>
            <a:r>
              <a:rPr lang="en-US"/>
              <a:t>Q1.7 - </a:t>
            </a:r>
            <a:r>
              <a:rPr lang="en-US" dirty="0"/>
              <a:t>Block subsidy is becoming economically marginal in Era 5. Coinbase transactions represent only 0.4% of BTC value moved. The network is moving toward a fee-based security </a:t>
            </a:r>
            <a:r>
              <a:rPr lang="en-US"/>
              <a:t>model - </a:t>
            </a:r>
            <a:r>
              <a:rPr lang="en-US" dirty="0"/>
              <a:t>slowly, but measurably.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follows a deliberate reading flow: top-left to bottom-right, moving from strategic headline to structural drivers.
Chapter 1 is a single KPI </a:t>
            </a:r>
            <a:r>
              <a:rPr lang="en-US"/>
              <a:t>card - </a:t>
            </a:r>
            <a:r>
              <a:rPr lang="en-US" dirty="0"/>
              <a:t>the Network Fee Sustainability Score. Before the analyst reads any chart, they get a traffic-light signal on the most important strategic question.
Chapter 2 provides historical evidence: the dual-axis line chart shows the May-June fee divergence pattern, and the stacked bar shows SegWit adoption progress.
Chapter 3 covers structural drivers: the scatter plot correlates sentiment with settlement volume, the horizontal bar shows fee burden by difficulty tier, the donut shows output value by script type, and the heatmap gives the day-of-week fee </a:t>
            </a:r>
            <a:r>
              <a:rPr lang="en-US"/>
              <a:t>seasonality - </a:t>
            </a:r>
            <a:r>
              <a:rPr lang="en-US" dirty="0"/>
              <a:t>the most tactically useful insight, placed last as a reward for careful reading.
All 7 visuals connect live to the BTC_Analytics_Cube via Analysis Services. No Power BI-level DAX columns were needed.
Note on the KPI Card: it currently shows Red (0.00). This is either a KPI goal misconfiguration in SSAS, or a genuine reflection that coinbase subsidy still dominates miner revenue at the block-reward level in Era 5.</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A142D-6015-0555-B258-C833934FAA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68E11F-2400-885E-259E-3F5B2752DD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C5E1E3-DDD7-5465-3A2E-8E3944F582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05CC41-F076-E16C-524E-7A26E2501EC8}"/>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899110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was delivered: a complete, end-to-end data warehouse from API to dashboard.
Two Python scripts, six staging tables, five DW tables (four dimensions plus one fact), one SSAS cube, one Power BI dashboard with seven visuals.
Seven OLAP queries answered live; three documented as structurally impossible with precise technical justifications.
The primary limitation is data </a:t>
            </a:r>
            <a:r>
              <a:rPr lang="en-US"/>
              <a:t>scope - </a:t>
            </a:r>
            <a:r>
              <a:rPr lang="en-US" dirty="0"/>
              <a:t>only Era 5 (May-June 2026) is loaded. The backward backfill pipeline is actively fixing this; as it progresses, all cross-era comparisons auto-populate without any code changes.
Three concrete v2 additions have already been identified: input_count in FACT, a DIM_SIZE_TIER bucketed dimension, and a circulating supply fact table for proper NVT computation.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the presentation. Happy to take questions on any </a:t>
            </a:r>
            <a:r>
              <a:rPr lang="en-US"/>
              <a:t>component - </a:t>
            </a:r>
            <a:r>
              <a:rPr lang="en-US" dirty="0"/>
              <a:t>the ETL implementation, the dimensional model design decisions, the OLAP query results, or the dashboard.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7132320" y="-731520"/>
            <a:ext cx="3200400" cy="3200400"/>
          </a:xfrm>
          <a:prstGeom prst="ellipse">
            <a:avLst/>
          </a:prstGeom>
          <a:solidFill>
            <a:srgbClr val="F7931A">
              <a:alpha val="12000"/>
            </a:srgbClr>
          </a:solidFill>
          <a:ln w="12700">
            <a:solidFill>
              <a:srgbClr val="F7931A">
                <a:alpha val="12000"/>
              </a:srgbClr>
            </a:solidFill>
            <a:prstDash val="solid"/>
          </a:ln>
        </p:spPr>
        <p:txBody>
          <a:bodyPr/>
          <a:lstStyle/>
          <a:p>
            <a:endParaRPr lang="es-ES"/>
          </a:p>
        </p:txBody>
      </p:sp>
      <p:sp>
        <p:nvSpPr>
          <p:cNvPr id="3" name="Shape 1"/>
          <p:cNvSpPr/>
          <p:nvPr/>
        </p:nvSpPr>
        <p:spPr>
          <a:xfrm>
            <a:off x="7772400" y="3200400"/>
            <a:ext cx="1828800" cy="1828800"/>
          </a:xfrm>
          <a:prstGeom prst="ellipse">
            <a:avLst/>
          </a:prstGeom>
          <a:solidFill>
            <a:srgbClr val="1E88E5">
              <a:alpha val="15000"/>
            </a:srgbClr>
          </a:solidFill>
          <a:ln w="12700">
            <a:solidFill>
              <a:srgbClr val="1E88E5">
                <a:alpha val="15000"/>
              </a:srgbClr>
            </a:solidFill>
            <a:prstDash val="solid"/>
          </a:ln>
        </p:spPr>
        <p:txBody>
          <a:bodyPr/>
          <a:lstStyle/>
          <a:p>
            <a:endParaRPr lang="es-ES"/>
          </a:p>
        </p:txBody>
      </p:sp>
      <p:sp>
        <p:nvSpPr>
          <p:cNvPr id="4" name="Text 2"/>
          <p:cNvSpPr/>
          <p:nvPr/>
        </p:nvSpPr>
        <p:spPr>
          <a:xfrm>
            <a:off x="502920" y="502920"/>
            <a:ext cx="6400800" cy="274320"/>
          </a:xfrm>
          <a:prstGeom prst="rect">
            <a:avLst/>
          </a:prstGeom>
          <a:noFill/>
          <a:ln/>
        </p:spPr>
        <p:txBody>
          <a:bodyPr wrap="square" lIns="0" tIns="0" rIns="0" bIns="0" rtlCol="0" anchor="ctr"/>
          <a:lstStyle/>
          <a:p>
            <a:pPr marL="0" indent="0">
              <a:buNone/>
            </a:pPr>
            <a:r>
              <a:rPr lang="en-US" sz="1000" b="1" kern="0" spc="200" dirty="0">
                <a:solidFill>
                  <a:srgbClr val="F7931A"/>
                </a:solidFill>
              </a:rPr>
              <a:t>DATA WAREHOUSES · Summer 2025/2026</a:t>
            </a:r>
            <a:endParaRPr lang="en-US" sz="1000" dirty="0"/>
          </a:p>
        </p:txBody>
      </p:sp>
      <p:sp>
        <p:nvSpPr>
          <p:cNvPr id="5" name="Text 3"/>
          <p:cNvSpPr/>
          <p:nvPr/>
        </p:nvSpPr>
        <p:spPr>
          <a:xfrm>
            <a:off x="502920" y="1051560"/>
            <a:ext cx="7772400" cy="777240"/>
          </a:xfrm>
          <a:prstGeom prst="rect">
            <a:avLst/>
          </a:prstGeom>
          <a:noFill/>
          <a:ln/>
        </p:spPr>
        <p:txBody>
          <a:bodyPr wrap="square" lIns="0" tIns="0" rIns="0" bIns="0" rtlCol="0" anchor="ctr"/>
          <a:lstStyle/>
          <a:p>
            <a:pPr marL="0" indent="0">
              <a:buNone/>
            </a:pPr>
            <a:r>
              <a:rPr lang="en-US" sz="5200" b="1" dirty="0">
                <a:solidFill>
                  <a:srgbClr val="FFFFFF"/>
                </a:solidFill>
              </a:rPr>
              <a:t>Bitcoin On-Chain</a:t>
            </a:r>
            <a:endParaRPr lang="en-US" sz="5200" dirty="0"/>
          </a:p>
        </p:txBody>
      </p:sp>
      <p:sp>
        <p:nvSpPr>
          <p:cNvPr id="6" name="Text 4"/>
          <p:cNvSpPr/>
          <p:nvPr/>
        </p:nvSpPr>
        <p:spPr>
          <a:xfrm>
            <a:off x="502920" y="1783080"/>
            <a:ext cx="7772400" cy="777240"/>
          </a:xfrm>
          <a:prstGeom prst="rect">
            <a:avLst/>
          </a:prstGeom>
          <a:noFill/>
          <a:ln/>
        </p:spPr>
        <p:txBody>
          <a:bodyPr wrap="square" lIns="0" tIns="0" rIns="0" bIns="0" rtlCol="0" anchor="ctr"/>
          <a:lstStyle/>
          <a:p>
            <a:pPr marL="0" indent="0">
              <a:buNone/>
            </a:pPr>
            <a:r>
              <a:rPr lang="en-US" sz="5200" b="1" dirty="0">
                <a:solidFill>
                  <a:srgbClr val="F7931A"/>
                </a:solidFill>
              </a:rPr>
              <a:t>Data Warehouse</a:t>
            </a:r>
            <a:endParaRPr lang="en-US" sz="5200" dirty="0"/>
          </a:p>
        </p:txBody>
      </p:sp>
      <p:sp>
        <p:nvSpPr>
          <p:cNvPr id="7" name="Text 5"/>
          <p:cNvSpPr/>
          <p:nvPr/>
        </p:nvSpPr>
        <p:spPr>
          <a:xfrm>
            <a:off x="502920" y="2697480"/>
            <a:ext cx="7772400" cy="411480"/>
          </a:xfrm>
          <a:prstGeom prst="rect">
            <a:avLst/>
          </a:prstGeom>
          <a:noFill/>
          <a:ln/>
        </p:spPr>
        <p:txBody>
          <a:bodyPr wrap="square" lIns="0" tIns="0" rIns="0" bIns="0" rtlCol="0" anchor="ctr"/>
          <a:lstStyle/>
          <a:p>
            <a:pPr marL="0" indent="0">
              <a:buNone/>
            </a:pPr>
            <a:r>
              <a:rPr lang="en-US" sz="1600" i="1" dirty="0">
                <a:solidFill>
                  <a:srgbClr val="B0BEC5"/>
                </a:solidFill>
              </a:rPr>
              <a:t>From Raw Blockchain to Multidimensional OLAP Analysis</a:t>
            </a:r>
            <a:endParaRPr lang="en-US" sz="1600" dirty="0"/>
          </a:p>
        </p:txBody>
      </p:sp>
      <p:sp>
        <p:nvSpPr>
          <p:cNvPr id="8" name="Shape 6"/>
          <p:cNvSpPr/>
          <p:nvPr/>
        </p:nvSpPr>
        <p:spPr>
          <a:xfrm>
            <a:off x="502920" y="3246120"/>
            <a:ext cx="4114800" cy="36576"/>
          </a:xfrm>
          <a:prstGeom prst="rect">
            <a:avLst/>
          </a:prstGeom>
          <a:solidFill>
            <a:srgbClr val="F7931A"/>
          </a:solidFill>
          <a:ln w="12700">
            <a:solidFill>
              <a:srgbClr val="F7931A"/>
            </a:solidFill>
            <a:prstDash val="solid"/>
          </a:ln>
        </p:spPr>
        <p:txBody>
          <a:bodyPr/>
          <a:lstStyle/>
          <a:p>
            <a:endParaRPr lang="es-ES"/>
          </a:p>
        </p:txBody>
      </p:sp>
      <p:sp>
        <p:nvSpPr>
          <p:cNvPr id="9" name="Shape 7"/>
          <p:cNvSpPr/>
          <p:nvPr/>
        </p:nvSpPr>
        <p:spPr>
          <a:xfrm>
            <a:off x="502920" y="3520440"/>
            <a:ext cx="1645920" cy="868680"/>
          </a:xfrm>
          <a:prstGeom prst="roundRect">
            <a:avLst>
              <a:gd name="adj" fmla="val 8421"/>
            </a:avLst>
          </a:prstGeom>
          <a:solidFill>
            <a:srgbClr val="1C2B3A"/>
          </a:solidFill>
          <a:ln/>
          <a:effectLst>
            <a:outerShdw blurRad="127000" dist="38100" dir="8100000" algn="bl" rotWithShape="0">
              <a:srgbClr val="000000">
                <a:alpha val="30000"/>
              </a:srgbClr>
            </a:outerShdw>
          </a:effectLst>
        </p:spPr>
        <p:txBody>
          <a:bodyPr/>
          <a:lstStyle/>
          <a:p>
            <a:endParaRPr lang="es-ES"/>
          </a:p>
        </p:txBody>
      </p:sp>
      <p:sp>
        <p:nvSpPr>
          <p:cNvPr id="10" name="Text 8"/>
          <p:cNvSpPr/>
          <p:nvPr/>
        </p:nvSpPr>
        <p:spPr>
          <a:xfrm>
            <a:off x="502920" y="3626968"/>
            <a:ext cx="1645920" cy="477774"/>
          </a:xfrm>
          <a:prstGeom prst="rect">
            <a:avLst/>
          </a:prstGeom>
          <a:noFill/>
          <a:ln/>
        </p:spPr>
        <p:txBody>
          <a:bodyPr wrap="square" lIns="0" tIns="0" rIns="0" bIns="0" rtlCol="0" anchor="b"/>
          <a:lstStyle/>
          <a:p>
            <a:pPr marL="0" indent="0" algn="ctr">
              <a:buNone/>
            </a:pPr>
            <a:r>
              <a:rPr lang="en-US" sz="3000" b="1" dirty="0">
                <a:solidFill>
                  <a:srgbClr val="F7931A"/>
                </a:solidFill>
              </a:rPr>
              <a:t>657K+</a:t>
            </a:r>
            <a:endParaRPr lang="en-US" sz="3000" dirty="0"/>
          </a:p>
        </p:txBody>
      </p:sp>
      <p:sp>
        <p:nvSpPr>
          <p:cNvPr id="11" name="Text 9"/>
          <p:cNvSpPr/>
          <p:nvPr/>
        </p:nvSpPr>
        <p:spPr>
          <a:xfrm>
            <a:off x="502920" y="4059022"/>
            <a:ext cx="1645920" cy="330098"/>
          </a:xfrm>
          <a:prstGeom prst="rect">
            <a:avLst/>
          </a:prstGeom>
          <a:noFill/>
          <a:ln/>
        </p:spPr>
        <p:txBody>
          <a:bodyPr wrap="square" lIns="0" tIns="0" rIns="0" bIns="0" rtlCol="0" anchor="t"/>
          <a:lstStyle/>
          <a:p>
            <a:pPr marL="0" indent="0" algn="ctr">
              <a:buNone/>
            </a:pPr>
            <a:r>
              <a:rPr lang="en-US" sz="1100" dirty="0">
                <a:solidFill>
                  <a:srgbClr val="B0BEC5"/>
                </a:solidFill>
              </a:rPr>
              <a:t>Transactions</a:t>
            </a:r>
            <a:endParaRPr lang="en-US" sz="1100" dirty="0"/>
          </a:p>
        </p:txBody>
      </p:sp>
      <p:sp>
        <p:nvSpPr>
          <p:cNvPr id="12" name="Shape 10"/>
          <p:cNvSpPr/>
          <p:nvPr/>
        </p:nvSpPr>
        <p:spPr>
          <a:xfrm>
            <a:off x="2331720" y="3520440"/>
            <a:ext cx="1645920" cy="868680"/>
          </a:xfrm>
          <a:prstGeom prst="roundRect">
            <a:avLst>
              <a:gd name="adj" fmla="val 8421"/>
            </a:avLst>
          </a:prstGeom>
          <a:solidFill>
            <a:srgbClr val="1C2B3A"/>
          </a:solidFill>
          <a:ln/>
          <a:effectLst>
            <a:outerShdw blurRad="127000" dist="38100" dir="8100000" algn="bl" rotWithShape="0">
              <a:srgbClr val="000000">
                <a:alpha val="30000"/>
              </a:srgbClr>
            </a:outerShdw>
          </a:effectLst>
        </p:spPr>
        <p:txBody>
          <a:bodyPr/>
          <a:lstStyle/>
          <a:p>
            <a:endParaRPr lang="es-ES"/>
          </a:p>
        </p:txBody>
      </p:sp>
      <p:sp>
        <p:nvSpPr>
          <p:cNvPr id="13" name="Text 11"/>
          <p:cNvSpPr/>
          <p:nvPr/>
        </p:nvSpPr>
        <p:spPr>
          <a:xfrm>
            <a:off x="2331720" y="3626968"/>
            <a:ext cx="1645920" cy="477774"/>
          </a:xfrm>
          <a:prstGeom prst="rect">
            <a:avLst/>
          </a:prstGeom>
          <a:noFill/>
          <a:ln/>
        </p:spPr>
        <p:txBody>
          <a:bodyPr wrap="square" lIns="0" tIns="0" rIns="0" bIns="0" rtlCol="0" anchor="b"/>
          <a:lstStyle/>
          <a:p>
            <a:pPr marL="0" indent="0" algn="ctr">
              <a:buNone/>
            </a:pPr>
            <a:r>
              <a:rPr lang="en-US" sz="3000" b="1" dirty="0">
                <a:solidFill>
                  <a:srgbClr val="F7931A"/>
                </a:solidFill>
              </a:rPr>
              <a:t>4</a:t>
            </a:r>
            <a:endParaRPr lang="en-US" sz="3000" dirty="0"/>
          </a:p>
        </p:txBody>
      </p:sp>
      <p:sp>
        <p:nvSpPr>
          <p:cNvPr id="14" name="Text 12"/>
          <p:cNvSpPr/>
          <p:nvPr/>
        </p:nvSpPr>
        <p:spPr>
          <a:xfrm>
            <a:off x="2331720" y="4059022"/>
            <a:ext cx="1645920" cy="330098"/>
          </a:xfrm>
          <a:prstGeom prst="rect">
            <a:avLst/>
          </a:prstGeom>
          <a:noFill/>
          <a:ln/>
        </p:spPr>
        <p:txBody>
          <a:bodyPr wrap="square" lIns="0" tIns="0" rIns="0" bIns="0" rtlCol="0" anchor="t"/>
          <a:lstStyle/>
          <a:p>
            <a:pPr marL="0" indent="0" algn="ctr">
              <a:buNone/>
            </a:pPr>
            <a:r>
              <a:rPr lang="en-US" sz="1100" dirty="0">
                <a:solidFill>
                  <a:srgbClr val="B0BEC5"/>
                </a:solidFill>
              </a:rPr>
              <a:t>Dimensions</a:t>
            </a:r>
            <a:endParaRPr lang="en-US" sz="1100" dirty="0"/>
          </a:p>
        </p:txBody>
      </p:sp>
      <p:sp>
        <p:nvSpPr>
          <p:cNvPr id="15" name="Shape 13"/>
          <p:cNvSpPr/>
          <p:nvPr/>
        </p:nvSpPr>
        <p:spPr>
          <a:xfrm>
            <a:off x="4160520" y="3520440"/>
            <a:ext cx="1645920" cy="868680"/>
          </a:xfrm>
          <a:prstGeom prst="roundRect">
            <a:avLst>
              <a:gd name="adj" fmla="val 8421"/>
            </a:avLst>
          </a:prstGeom>
          <a:solidFill>
            <a:srgbClr val="1C2B3A"/>
          </a:solidFill>
          <a:ln/>
          <a:effectLst>
            <a:outerShdw blurRad="127000" dist="38100" dir="8100000" algn="bl" rotWithShape="0">
              <a:srgbClr val="000000">
                <a:alpha val="30000"/>
              </a:srgbClr>
            </a:outerShdw>
          </a:effectLst>
        </p:spPr>
        <p:txBody>
          <a:bodyPr/>
          <a:lstStyle/>
          <a:p>
            <a:endParaRPr lang="es-ES"/>
          </a:p>
        </p:txBody>
      </p:sp>
      <p:sp>
        <p:nvSpPr>
          <p:cNvPr id="16" name="Text 14"/>
          <p:cNvSpPr/>
          <p:nvPr/>
        </p:nvSpPr>
        <p:spPr>
          <a:xfrm>
            <a:off x="4160520" y="3626968"/>
            <a:ext cx="1645920" cy="477774"/>
          </a:xfrm>
          <a:prstGeom prst="rect">
            <a:avLst/>
          </a:prstGeom>
          <a:noFill/>
          <a:ln/>
        </p:spPr>
        <p:txBody>
          <a:bodyPr wrap="square" lIns="0" tIns="0" rIns="0" bIns="0" rtlCol="0" anchor="b"/>
          <a:lstStyle/>
          <a:p>
            <a:pPr marL="0" indent="0" algn="ctr">
              <a:buNone/>
            </a:pPr>
            <a:r>
              <a:rPr lang="en-US" sz="3000" b="1" dirty="0">
                <a:solidFill>
                  <a:srgbClr val="F7931A"/>
                </a:solidFill>
              </a:rPr>
              <a:t>10</a:t>
            </a:r>
            <a:endParaRPr lang="en-US" sz="3000" dirty="0"/>
          </a:p>
        </p:txBody>
      </p:sp>
      <p:sp>
        <p:nvSpPr>
          <p:cNvPr id="17" name="Text 15"/>
          <p:cNvSpPr/>
          <p:nvPr/>
        </p:nvSpPr>
        <p:spPr>
          <a:xfrm>
            <a:off x="4160520" y="4059022"/>
            <a:ext cx="1645920" cy="330098"/>
          </a:xfrm>
          <a:prstGeom prst="rect">
            <a:avLst/>
          </a:prstGeom>
          <a:noFill/>
          <a:ln/>
        </p:spPr>
        <p:txBody>
          <a:bodyPr wrap="square" lIns="0" tIns="0" rIns="0" bIns="0" rtlCol="0" anchor="t"/>
          <a:lstStyle/>
          <a:p>
            <a:pPr marL="0" indent="0" algn="ctr">
              <a:buNone/>
            </a:pPr>
            <a:r>
              <a:rPr lang="en-US" sz="1100" dirty="0">
                <a:solidFill>
                  <a:srgbClr val="B0BEC5"/>
                </a:solidFill>
              </a:rPr>
              <a:t>OLAP Queries</a:t>
            </a:r>
            <a:endParaRPr lang="en-US" sz="1100" dirty="0"/>
          </a:p>
        </p:txBody>
      </p:sp>
      <p:sp>
        <p:nvSpPr>
          <p:cNvPr id="18" name="Shape 16"/>
          <p:cNvSpPr/>
          <p:nvPr/>
        </p:nvSpPr>
        <p:spPr>
          <a:xfrm>
            <a:off x="5989320" y="3520440"/>
            <a:ext cx="1645920" cy="868680"/>
          </a:xfrm>
          <a:prstGeom prst="roundRect">
            <a:avLst>
              <a:gd name="adj" fmla="val 8421"/>
            </a:avLst>
          </a:prstGeom>
          <a:solidFill>
            <a:srgbClr val="1C2B3A"/>
          </a:solidFill>
          <a:ln/>
          <a:effectLst>
            <a:outerShdw blurRad="127000" dist="38100" dir="8100000" algn="bl" rotWithShape="0">
              <a:srgbClr val="000000">
                <a:alpha val="30000"/>
              </a:srgbClr>
            </a:outerShdw>
          </a:effectLst>
        </p:spPr>
        <p:txBody>
          <a:bodyPr/>
          <a:lstStyle/>
          <a:p>
            <a:endParaRPr lang="es-ES"/>
          </a:p>
        </p:txBody>
      </p:sp>
      <p:sp>
        <p:nvSpPr>
          <p:cNvPr id="19" name="Text 17"/>
          <p:cNvSpPr/>
          <p:nvPr/>
        </p:nvSpPr>
        <p:spPr>
          <a:xfrm>
            <a:off x="5989320" y="3626968"/>
            <a:ext cx="1645920" cy="477774"/>
          </a:xfrm>
          <a:prstGeom prst="rect">
            <a:avLst/>
          </a:prstGeom>
          <a:noFill/>
          <a:ln/>
        </p:spPr>
        <p:txBody>
          <a:bodyPr wrap="square" lIns="0" tIns="0" rIns="0" bIns="0" rtlCol="0" anchor="b"/>
          <a:lstStyle/>
          <a:p>
            <a:pPr marL="0" indent="0" algn="ctr">
              <a:buNone/>
            </a:pPr>
            <a:r>
              <a:rPr lang="en-US" sz="3000" b="1" dirty="0">
                <a:solidFill>
                  <a:srgbClr val="26C6A2"/>
                </a:solidFill>
              </a:rPr>
              <a:t>7/10</a:t>
            </a:r>
            <a:endParaRPr lang="en-US" sz="3000" dirty="0"/>
          </a:p>
        </p:txBody>
      </p:sp>
      <p:sp>
        <p:nvSpPr>
          <p:cNvPr id="20" name="Text 18"/>
          <p:cNvSpPr/>
          <p:nvPr/>
        </p:nvSpPr>
        <p:spPr>
          <a:xfrm>
            <a:off x="5989320" y="4059022"/>
            <a:ext cx="1645920" cy="330098"/>
          </a:xfrm>
          <a:prstGeom prst="rect">
            <a:avLst/>
          </a:prstGeom>
          <a:noFill/>
          <a:ln/>
        </p:spPr>
        <p:txBody>
          <a:bodyPr wrap="square" lIns="0" tIns="0" rIns="0" bIns="0" rtlCol="0" anchor="t"/>
          <a:lstStyle/>
          <a:p>
            <a:pPr marL="0" indent="0" algn="ctr">
              <a:buNone/>
            </a:pPr>
            <a:r>
              <a:rPr lang="en-US" sz="1100" dirty="0">
                <a:solidFill>
                  <a:srgbClr val="B0BEC5"/>
                </a:solidFill>
              </a:rPr>
              <a:t>Queries Solved</a:t>
            </a:r>
            <a:endParaRPr lang="en-US" sz="1100" dirty="0"/>
          </a:p>
        </p:txBody>
      </p:sp>
      <p:sp>
        <p:nvSpPr>
          <p:cNvPr id="21" name="Text 19"/>
          <p:cNvSpPr/>
          <p:nvPr/>
        </p:nvSpPr>
        <p:spPr>
          <a:xfrm>
            <a:off x="502920" y="4617720"/>
            <a:ext cx="8229600" cy="274320"/>
          </a:xfrm>
          <a:prstGeom prst="rect">
            <a:avLst/>
          </a:prstGeom>
          <a:noFill/>
          <a:ln/>
        </p:spPr>
        <p:txBody>
          <a:bodyPr wrap="square" lIns="0" tIns="0" rIns="0" bIns="0" rtlCol="0" anchor="ctr"/>
          <a:lstStyle/>
          <a:p>
            <a:pPr marL="0" indent="0">
              <a:buNone/>
            </a:pPr>
            <a:r>
              <a:rPr lang="en-US" sz="950" dirty="0">
                <a:solidFill>
                  <a:srgbClr val="B0BEC5"/>
                </a:solidFill>
              </a:rPr>
              <a:t>Student ID: 293867  ·  Part 4 - Results  ·  23-06-2026</a:t>
            </a:r>
            <a:endParaRPr lang="en-US" sz="950" dirty="0"/>
          </a:p>
        </p:txBody>
      </p:sp>
      <p:sp>
        <p:nvSpPr>
          <p:cNvPr id="22" name="Text 20"/>
          <p:cNvSpPr/>
          <p:nvPr/>
        </p:nvSpPr>
        <p:spPr>
          <a:xfrm>
            <a:off x="502920" y="4828032"/>
            <a:ext cx="8229600" cy="228600"/>
          </a:xfrm>
          <a:prstGeom prst="rect">
            <a:avLst/>
          </a:prstGeom>
          <a:noFill/>
          <a:ln/>
        </p:spPr>
        <p:txBody>
          <a:bodyPr wrap="square" lIns="0" tIns="0" rIns="0" bIns="0" rtlCol="0" anchor="ctr"/>
          <a:lstStyle/>
          <a:p>
            <a:pPr marL="0" indent="0">
              <a:buNone/>
            </a:pPr>
            <a:r>
              <a:rPr lang="en-US" sz="950" dirty="0">
                <a:solidFill>
                  <a:srgbClr val="B0BEC5"/>
                </a:solidFill>
              </a:rPr>
              <a:t>Álvaro Puebla Ruisánchez</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57200" y="256032"/>
            <a:ext cx="2423160" cy="256032"/>
          </a:xfrm>
          <a:prstGeom prst="roundRect">
            <a:avLst>
              <a:gd name="adj" fmla="val 14286"/>
            </a:avLst>
          </a:prstGeom>
          <a:solidFill>
            <a:srgbClr val="F7931A"/>
          </a:solidFill>
          <a:ln w="12700">
            <a:solidFill>
              <a:srgbClr val="F7931A"/>
            </a:solidFill>
            <a:prstDash val="solid"/>
          </a:ln>
        </p:spPr>
        <p:txBody>
          <a:bodyPr/>
          <a:lstStyle/>
          <a:p>
            <a:endParaRPr lang="es-ES"/>
          </a:p>
        </p:txBody>
      </p:sp>
      <p:sp>
        <p:nvSpPr>
          <p:cNvPr id="3" name="Text 1"/>
          <p:cNvSpPr/>
          <p:nvPr/>
        </p:nvSpPr>
        <p:spPr>
          <a:xfrm>
            <a:off x="457200" y="256032"/>
            <a:ext cx="2423160" cy="256032"/>
          </a:xfrm>
          <a:prstGeom prst="rect">
            <a:avLst/>
          </a:prstGeom>
          <a:noFill/>
          <a:ln/>
        </p:spPr>
        <p:txBody>
          <a:bodyPr wrap="square" lIns="0" tIns="0" rIns="0" bIns="0" rtlCol="0" anchor="ctr"/>
          <a:lstStyle/>
          <a:p>
            <a:pPr marL="0" indent="0" algn="ctr">
              <a:buNone/>
            </a:pPr>
            <a:r>
              <a:rPr lang="en-US" sz="1100" b="1" dirty="0">
                <a:solidFill>
                  <a:srgbClr val="FFFFFF"/>
                </a:solidFill>
              </a:rPr>
              <a:t>PRESENTATION OUTLINE</a:t>
            </a:r>
            <a:endParaRPr lang="en-US" sz="1100" dirty="0"/>
          </a:p>
        </p:txBody>
      </p:sp>
      <p:sp>
        <p:nvSpPr>
          <p:cNvPr id="4" name="Text 2"/>
          <p:cNvSpPr/>
          <p:nvPr/>
        </p:nvSpPr>
        <p:spPr>
          <a:xfrm>
            <a:off x="457200" y="594360"/>
            <a:ext cx="8229600" cy="502920"/>
          </a:xfrm>
          <a:prstGeom prst="rect">
            <a:avLst/>
          </a:prstGeom>
          <a:noFill/>
          <a:ln/>
        </p:spPr>
        <p:txBody>
          <a:bodyPr wrap="square" lIns="0" tIns="0" rIns="0" bIns="0" rtlCol="0" anchor="ctr"/>
          <a:lstStyle/>
          <a:p>
            <a:pPr marL="0" indent="0">
              <a:buNone/>
            </a:pPr>
            <a:r>
              <a:rPr lang="en-US" sz="3000" b="1" dirty="0">
                <a:solidFill>
                  <a:srgbClr val="FFFFFF"/>
                </a:solidFill>
              </a:rPr>
              <a:t>Presentation Structure</a:t>
            </a:r>
            <a:endParaRPr lang="en-US" sz="3000" dirty="0"/>
          </a:p>
        </p:txBody>
      </p:sp>
      <p:sp>
        <p:nvSpPr>
          <p:cNvPr id="5" name="Shape 3"/>
          <p:cNvSpPr/>
          <p:nvPr/>
        </p:nvSpPr>
        <p:spPr>
          <a:xfrm>
            <a:off x="457200" y="1280160"/>
            <a:ext cx="4114800" cy="713232"/>
          </a:xfrm>
          <a:prstGeom prst="roundRect">
            <a:avLst>
              <a:gd name="adj" fmla="val 8974"/>
            </a:avLst>
          </a:prstGeom>
          <a:solidFill>
            <a:srgbClr val="1C2B3A"/>
          </a:solidFill>
          <a:ln/>
          <a:effectLst>
            <a:outerShdw blurRad="101600" dist="25400" dir="8100000" algn="bl" rotWithShape="0">
              <a:srgbClr val="000000">
                <a:alpha val="25000"/>
              </a:srgbClr>
            </a:outerShdw>
          </a:effectLst>
        </p:spPr>
        <p:txBody>
          <a:bodyPr/>
          <a:lstStyle/>
          <a:p>
            <a:endParaRPr lang="es-ES"/>
          </a:p>
        </p:txBody>
      </p:sp>
      <p:sp>
        <p:nvSpPr>
          <p:cNvPr id="6" name="Text 4"/>
          <p:cNvSpPr/>
          <p:nvPr/>
        </p:nvSpPr>
        <p:spPr>
          <a:xfrm>
            <a:off x="566928" y="1389888"/>
            <a:ext cx="457200" cy="457200"/>
          </a:xfrm>
          <a:prstGeom prst="rect">
            <a:avLst/>
          </a:prstGeom>
          <a:noFill/>
          <a:ln/>
        </p:spPr>
        <p:txBody>
          <a:bodyPr wrap="square" lIns="0" tIns="0" rIns="0" bIns="0" rtlCol="0" anchor="ctr"/>
          <a:lstStyle/>
          <a:p>
            <a:pPr marL="0" indent="0">
              <a:buNone/>
            </a:pPr>
            <a:r>
              <a:rPr lang="en-US" sz="1800" b="1" dirty="0">
                <a:solidFill>
                  <a:srgbClr val="F7931A"/>
                </a:solidFill>
              </a:rPr>
              <a:t>01</a:t>
            </a:r>
            <a:endParaRPr lang="en-US" sz="1800" dirty="0"/>
          </a:p>
        </p:txBody>
      </p:sp>
      <p:sp>
        <p:nvSpPr>
          <p:cNvPr id="7" name="Text 5"/>
          <p:cNvSpPr/>
          <p:nvPr/>
        </p:nvSpPr>
        <p:spPr>
          <a:xfrm>
            <a:off x="1024128" y="1476756"/>
            <a:ext cx="2743200" cy="320040"/>
          </a:xfrm>
          <a:prstGeom prst="rect">
            <a:avLst/>
          </a:prstGeom>
          <a:noFill/>
          <a:ln/>
        </p:spPr>
        <p:txBody>
          <a:bodyPr wrap="square" lIns="0" tIns="0" rIns="0" bIns="0" rtlCol="0" anchor="ctr"/>
          <a:lstStyle/>
          <a:p>
            <a:pPr marL="0" indent="0">
              <a:buNone/>
            </a:pPr>
            <a:r>
              <a:rPr lang="en-US" sz="1250" b="1" dirty="0">
                <a:solidFill>
                  <a:srgbClr val="FFFFFF"/>
                </a:solidFill>
              </a:rPr>
              <a:t>Project Goal &amp; Dataset</a:t>
            </a:r>
            <a:endParaRPr lang="en-US" sz="1250" dirty="0"/>
          </a:p>
        </p:txBody>
      </p:sp>
      <p:sp>
        <p:nvSpPr>
          <p:cNvPr id="9" name="Text 7"/>
          <p:cNvSpPr/>
          <p:nvPr/>
        </p:nvSpPr>
        <p:spPr>
          <a:xfrm>
            <a:off x="4114800" y="1481328"/>
            <a:ext cx="320040" cy="320040"/>
          </a:xfrm>
          <a:prstGeom prst="rect">
            <a:avLst/>
          </a:prstGeom>
          <a:noFill/>
          <a:ln/>
        </p:spPr>
        <p:txBody>
          <a:bodyPr wrap="square" lIns="0" tIns="0" rIns="0" bIns="0" rtlCol="0" anchor="ctr"/>
          <a:lstStyle/>
          <a:p>
            <a:pPr marL="0" indent="0" algn="ctr">
              <a:buNone/>
            </a:pPr>
            <a:r>
              <a:rPr lang="en-US" sz="1400" dirty="0">
                <a:solidFill>
                  <a:srgbClr val="F7931A"/>
                </a:solidFill>
              </a:rPr>
              <a:t>→</a:t>
            </a:r>
            <a:endParaRPr lang="en-US" sz="1400" dirty="0"/>
          </a:p>
        </p:txBody>
      </p:sp>
      <p:sp>
        <p:nvSpPr>
          <p:cNvPr id="10" name="Shape 8"/>
          <p:cNvSpPr/>
          <p:nvPr/>
        </p:nvSpPr>
        <p:spPr>
          <a:xfrm>
            <a:off x="457200" y="2148840"/>
            <a:ext cx="4114800" cy="713232"/>
          </a:xfrm>
          <a:prstGeom prst="roundRect">
            <a:avLst>
              <a:gd name="adj" fmla="val 8974"/>
            </a:avLst>
          </a:prstGeom>
          <a:solidFill>
            <a:srgbClr val="1C2B3A"/>
          </a:solidFill>
          <a:ln/>
          <a:effectLst>
            <a:outerShdw blurRad="101600" dist="25400" dir="8100000" algn="bl" rotWithShape="0">
              <a:srgbClr val="000000">
                <a:alpha val="25000"/>
              </a:srgbClr>
            </a:outerShdw>
          </a:effectLst>
        </p:spPr>
        <p:txBody>
          <a:bodyPr/>
          <a:lstStyle/>
          <a:p>
            <a:endParaRPr lang="es-ES"/>
          </a:p>
        </p:txBody>
      </p:sp>
      <p:sp>
        <p:nvSpPr>
          <p:cNvPr id="11" name="Text 9"/>
          <p:cNvSpPr/>
          <p:nvPr/>
        </p:nvSpPr>
        <p:spPr>
          <a:xfrm>
            <a:off x="566928" y="2258568"/>
            <a:ext cx="457200" cy="457200"/>
          </a:xfrm>
          <a:prstGeom prst="rect">
            <a:avLst/>
          </a:prstGeom>
          <a:noFill/>
          <a:ln/>
        </p:spPr>
        <p:txBody>
          <a:bodyPr wrap="square" lIns="0" tIns="0" rIns="0" bIns="0" rtlCol="0" anchor="ctr"/>
          <a:lstStyle/>
          <a:p>
            <a:pPr marL="0" indent="0">
              <a:buNone/>
            </a:pPr>
            <a:r>
              <a:rPr lang="en-US" sz="1800" b="1" dirty="0">
                <a:solidFill>
                  <a:srgbClr val="F7931A"/>
                </a:solidFill>
              </a:rPr>
              <a:t>02</a:t>
            </a:r>
            <a:endParaRPr lang="en-US" sz="1800" dirty="0"/>
          </a:p>
        </p:txBody>
      </p:sp>
      <p:sp>
        <p:nvSpPr>
          <p:cNvPr id="12" name="Text 10"/>
          <p:cNvSpPr/>
          <p:nvPr/>
        </p:nvSpPr>
        <p:spPr>
          <a:xfrm>
            <a:off x="1024128" y="2345436"/>
            <a:ext cx="2743200" cy="320040"/>
          </a:xfrm>
          <a:prstGeom prst="rect">
            <a:avLst/>
          </a:prstGeom>
          <a:noFill/>
          <a:ln/>
        </p:spPr>
        <p:txBody>
          <a:bodyPr wrap="square" lIns="0" tIns="0" rIns="0" bIns="0" rtlCol="0" anchor="ctr"/>
          <a:lstStyle/>
          <a:p>
            <a:pPr marL="0" indent="0">
              <a:buNone/>
            </a:pPr>
            <a:r>
              <a:rPr lang="en-US" sz="1250" b="1" dirty="0">
                <a:solidFill>
                  <a:srgbClr val="FFFFFF"/>
                </a:solidFill>
              </a:rPr>
              <a:t>Solution Architecture</a:t>
            </a:r>
            <a:endParaRPr lang="en-US" sz="1250" dirty="0"/>
          </a:p>
        </p:txBody>
      </p:sp>
      <p:sp>
        <p:nvSpPr>
          <p:cNvPr id="14" name="Text 12"/>
          <p:cNvSpPr/>
          <p:nvPr/>
        </p:nvSpPr>
        <p:spPr>
          <a:xfrm>
            <a:off x="4114800" y="2350008"/>
            <a:ext cx="320040" cy="320040"/>
          </a:xfrm>
          <a:prstGeom prst="rect">
            <a:avLst/>
          </a:prstGeom>
          <a:noFill/>
          <a:ln/>
        </p:spPr>
        <p:txBody>
          <a:bodyPr wrap="square" lIns="0" tIns="0" rIns="0" bIns="0" rtlCol="0" anchor="ctr"/>
          <a:lstStyle/>
          <a:p>
            <a:pPr marL="0" indent="0" algn="ctr">
              <a:buNone/>
            </a:pPr>
            <a:r>
              <a:rPr lang="en-US" sz="1400" dirty="0">
                <a:solidFill>
                  <a:srgbClr val="F7931A"/>
                </a:solidFill>
              </a:rPr>
              <a:t>→</a:t>
            </a:r>
            <a:endParaRPr lang="en-US" sz="1400" dirty="0"/>
          </a:p>
        </p:txBody>
      </p:sp>
      <p:sp>
        <p:nvSpPr>
          <p:cNvPr id="15" name="Shape 13"/>
          <p:cNvSpPr/>
          <p:nvPr/>
        </p:nvSpPr>
        <p:spPr>
          <a:xfrm>
            <a:off x="457200" y="3017520"/>
            <a:ext cx="4114800" cy="713232"/>
          </a:xfrm>
          <a:prstGeom prst="roundRect">
            <a:avLst>
              <a:gd name="adj" fmla="val 8974"/>
            </a:avLst>
          </a:prstGeom>
          <a:solidFill>
            <a:srgbClr val="1C2B3A"/>
          </a:solidFill>
          <a:ln/>
          <a:effectLst>
            <a:outerShdw blurRad="101600" dist="25400" dir="8100000" algn="bl" rotWithShape="0">
              <a:srgbClr val="000000">
                <a:alpha val="25000"/>
              </a:srgbClr>
            </a:outerShdw>
          </a:effectLst>
        </p:spPr>
        <p:txBody>
          <a:bodyPr/>
          <a:lstStyle/>
          <a:p>
            <a:endParaRPr lang="es-ES"/>
          </a:p>
        </p:txBody>
      </p:sp>
      <p:sp>
        <p:nvSpPr>
          <p:cNvPr id="16" name="Text 14"/>
          <p:cNvSpPr/>
          <p:nvPr/>
        </p:nvSpPr>
        <p:spPr>
          <a:xfrm>
            <a:off x="566928" y="3127248"/>
            <a:ext cx="457200" cy="457200"/>
          </a:xfrm>
          <a:prstGeom prst="rect">
            <a:avLst/>
          </a:prstGeom>
          <a:noFill/>
          <a:ln/>
        </p:spPr>
        <p:txBody>
          <a:bodyPr wrap="square" lIns="0" tIns="0" rIns="0" bIns="0" rtlCol="0" anchor="ctr"/>
          <a:lstStyle/>
          <a:p>
            <a:pPr marL="0" indent="0">
              <a:buNone/>
            </a:pPr>
            <a:r>
              <a:rPr lang="en-US" sz="1800" b="1" dirty="0">
                <a:solidFill>
                  <a:srgbClr val="F7931A"/>
                </a:solidFill>
              </a:rPr>
              <a:t>03</a:t>
            </a:r>
            <a:endParaRPr lang="en-US" sz="1800" dirty="0"/>
          </a:p>
        </p:txBody>
      </p:sp>
      <p:sp>
        <p:nvSpPr>
          <p:cNvPr id="17" name="Text 15"/>
          <p:cNvSpPr/>
          <p:nvPr/>
        </p:nvSpPr>
        <p:spPr>
          <a:xfrm>
            <a:off x="1024128" y="3214116"/>
            <a:ext cx="2743200" cy="320040"/>
          </a:xfrm>
          <a:prstGeom prst="rect">
            <a:avLst/>
          </a:prstGeom>
          <a:noFill/>
          <a:ln/>
        </p:spPr>
        <p:txBody>
          <a:bodyPr wrap="square" lIns="0" tIns="0" rIns="0" bIns="0" rtlCol="0" anchor="ctr"/>
          <a:lstStyle/>
          <a:p>
            <a:pPr marL="0" indent="0">
              <a:buNone/>
            </a:pPr>
            <a:r>
              <a:rPr lang="en-US" sz="1250" b="1" dirty="0">
                <a:solidFill>
                  <a:srgbClr val="FFFFFF"/>
                </a:solidFill>
              </a:rPr>
              <a:t>ETL Process Design</a:t>
            </a:r>
            <a:endParaRPr lang="en-US" sz="1250" dirty="0"/>
          </a:p>
        </p:txBody>
      </p:sp>
      <p:sp>
        <p:nvSpPr>
          <p:cNvPr id="19" name="Text 17"/>
          <p:cNvSpPr/>
          <p:nvPr/>
        </p:nvSpPr>
        <p:spPr>
          <a:xfrm>
            <a:off x="4114800" y="3218688"/>
            <a:ext cx="320040" cy="320040"/>
          </a:xfrm>
          <a:prstGeom prst="rect">
            <a:avLst/>
          </a:prstGeom>
          <a:noFill/>
          <a:ln/>
        </p:spPr>
        <p:txBody>
          <a:bodyPr wrap="square" lIns="0" tIns="0" rIns="0" bIns="0" rtlCol="0" anchor="ctr"/>
          <a:lstStyle/>
          <a:p>
            <a:pPr marL="0" indent="0" algn="ctr">
              <a:buNone/>
            </a:pPr>
            <a:r>
              <a:rPr lang="en-US" sz="1400" dirty="0">
                <a:solidFill>
                  <a:srgbClr val="F7931A"/>
                </a:solidFill>
              </a:rPr>
              <a:t>→</a:t>
            </a:r>
            <a:endParaRPr lang="en-US" sz="1400" dirty="0"/>
          </a:p>
        </p:txBody>
      </p:sp>
      <p:sp>
        <p:nvSpPr>
          <p:cNvPr id="20" name="Shape 18"/>
          <p:cNvSpPr/>
          <p:nvPr/>
        </p:nvSpPr>
        <p:spPr>
          <a:xfrm>
            <a:off x="457200" y="3886200"/>
            <a:ext cx="4114800" cy="713232"/>
          </a:xfrm>
          <a:prstGeom prst="roundRect">
            <a:avLst>
              <a:gd name="adj" fmla="val 8974"/>
            </a:avLst>
          </a:prstGeom>
          <a:solidFill>
            <a:srgbClr val="1C2B3A"/>
          </a:solidFill>
          <a:ln/>
          <a:effectLst>
            <a:outerShdw blurRad="101600" dist="25400" dir="8100000" algn="bl" rotWithShape="0">
              <a:srgbClr val="000000">
                <a:alpha val="25000"/>
              </a:srgbClr>
            </a:outerShdw>
          </a:effectLst>
        </p:spPr>
        <p:txBody>
          <a:bodyPr/>
          <a:lstStyle/>
          <a:p>
            <a:endParaRPr lang="es-ES"/>
          </a:p>
        </p:txBody>
      </p:sp>
      <p:sp>
        <p:nvSpPr>
          <p:cNvPr id="21" name="Text 19"/>
          <p:cNvSpPr/>
          <p:nvPr/>
        </p:nvSpPr>
        <p:spPr>
          <a:xfrm>
            <a:off x="566928" y="3995928"/>
            <a:ext cx="457200" cy="457200"/>
          </a:xfrm>
          <a:prstGeom prst="rect">
            <a:avLst/>
          </a:prstGeom>
          <a:noFill/>
          <a:ln/>
        </p:spPr>
        <p:txBody>
          <a:bodyPr wrap="square" lIns="0" tIns="0" rIns="0" bIns="0" rtlCol="0" anchor="ctr"/>
          <a:lstStyle/>
          <a:p>
            <a:pPr marL="0" indent="0">
              <a:buNone/>
            </a:pPr>
            <a:r>
              <a:rPr lang="en-US" sz="1800" b="1" dirty="0">
                <a:solidFill>
                  <a:srgbClr val="F7931A"/>
                </a:solidFill>
              </a:rPr>
              <a:t>04</a:t>
            </a:r>
            <a:endParaRPr lang="en-US" sz="1800" dirty="0"/>
          </a:p>
        </p:txBody>
      </p:sp>
      <p:sp>
        <p:nvSpPr>
          <p:cNvPr id="22" name="Text 20"/>
          <p:cNvSpPr/>
          <p:nvPr/>
        </p:nvSpPr>
        <p:spPr>
          <a:xfrm>
            <a:off x="1024128" y="4082796"/>
            <a:ext cx="2743200" cy="320040"/>
          </a:xfrm>
          <a:prstGeom prst="rect">
            <a:avLst/>
          </a:prstGeom>
          <a:noFill/>
          <a:ln/>
        </p:spPr>
        <p:txBody>
          <a:bodyPr wrap="square" lIns="0" tIns="0" rIns="0" bIns="0" rtlCol="0" anchor="ctr"/>
          <a:lstStyle/>
          <a:p>
            <a:pPr marL="0" indent="0">
              <a:buNone/>
            </a:pPr>
            <a:r>
              <a:rPr lang="en-US" sz="1250" b="1" dirty="0">
                <a:solidFill>
                  <a:srgbClr val="FFFFFF"/>
                </a:solidFill>
              </a:rPr>
              <a:t>ETL Implementation</a:t>
            </a:r>
            <a:endParaRPr lang="en-US" sz="1250" dirty="0"/>
          </a:p>
        </p:txBody>
      </p:sp>
      <p:sp>
        <p:nvSpPr>
          <p:cNvPr id="24" name="Text 22"/>
          <p:cNvSpPr/>
          <p:nvPr/>
        </p:nvSpPr>
        <p:spPr>
          <a:xfrm>
            <a:off x="4114800" y="4087368"/>
            <a:ext cx="320040" cy="320040"/>
          </a:xfrm>
          <a:prstGeom prst="rect">
            <a:avLst/>
          </a:prstGeom>
          <a:noFill/>
          <a:ln/>
        </p:spPr>
        <p:txBody>
          <a:bodyPr wrap="square" lIns="0" tIns="0" rIns="0" bIns="0" rtlCol="0" anchor="ctr"/>
          <a:lstStyle/>
          <a:p>
            <a:pPr marL="0" indent="0" algn="ctr">
              <a:buNone/>
            </a:pPr>
            <a:r>
              <a:rPr lang="en-US" sz="1400" dirty="0">
                <a:solidFill>
                  <a:srgbClr val="F7931A"/>
                </a:solidFill>
              </a:rPr>
              <a:t>→</a:t>
            </a:r>
            <a:endParaRPr lang="en-US" sz="1400" dirty="0"/>
          </a:p>
        </p:txBody>
      </p:sp>
      <p:sp>
        <p:nvSpPr>
          <p:cNvPr id="25" name="Shape 23"/>
          <p:cNvSpPr/>
          <p:nvPr/>
        </p:nvSpPr>
        <p:spPr>
          <a:xfrm>
            <a:off x="4800600" y="1280160"/>
            <a:ext cx="4114800" cy="713232"/>
          </a:xfrm>
          <a:prstGeom prst="roundRect">
            <a:avLst>
              <a:gd name="adj" fmla="val 8974"/>
            </a:avLst>
          </a:prstGeom>
          <a:solidFill>
            <a:srgbClr val="1C2B3A"/>
          </a:solidFill>
          <a:ln/>
          <a:effectLst>
            <a:outerShdw blurRad="101600" dist="25400" dir="8100000" algn="bl" rotWithShape="0">
              <a:srgbClr val="000000">
                <a:alpha val="25000"/>
              </a:srgbClr>
            </a:outerShdw>
          </a:effectLst>
        </p:spPr>
        <p:txBody>
          <a:bodyPr/>
          <a:lstStyle/>
          <a:p>
            <a:endParaRPr lang="es-ES"/>
          </a:p>
        </p:txBody>
      </p:sp>
      <p:sp>
        <p:nvSpPr>
          <p:cNvPr id="26" name="Text 24"/>
          <p:cNvSpPr/>
          <p:nvPr/>
        </p:nvSpPr>
        <p:spPr>
          <a:xfrm>
            <a:off x="4910328" y="1389888"/>
            <a:ext cx="457200" cy="457200"/>
          </a:xfrm>
          <a:prstGeom prst="rect">
            <a:avLst/>
          </a:prstGeom>
          <a:noFill/>
          <a:ln/>
        </p:spPr>
        <p:txBody>
          <a:bodyPr wrap="square" lIns="0" tIns="0" rIns="0" bIns="0" rtlCol="0" anchor="ctr"/>
          <a:lstStyle/>
          <a:p>
            <a:pPr marL="0" indent="0">
              <a:buNone/>
            </a:pPr>
            <a:r>
              <a:rPr lang="en-US" sz="1800" b="1" dirty="0">
                <a:solidFill>
                  <a:srgbClr val="F7931A"/>
                </a:solidFill>
              </a:rPr>
              <a:t>05</a:t>
            </a:r>
            <a:endParaRPr lang="en-US" sz="1800" dirty="0"/>
          </a:p>
        </p:txBody>
      </p:sp>
      <p:sp>
        <p:nvSpPr>
          <p:cNvPr id="27" name="Text 25"/>
          <p:cNvSpPr/>
          <p:nvPr/>
        </p:nvSpPr>
        <p:spPr>
          <a:xfrm>
            <a:off x="5367528" y="1476756"/>
            <a:ext cx="2743200" cy="320040"/>
          </a:xfrm>
          <a:prstGeom prst="rect">
            <a:avLst/>
          </a:prstGeom>
          <a:noFill/>
          <a:ln/>
        </p:spPr>
        <p:txBody>
          <a:bodyPr wrap="square" lIns="0" tIns="0" rIns="0" bIns="0" rtlCol="0" anchor="ctr"/>
          <a:lstStyle/>
          <a:p>
            <a:pPr marL="0" indent="0">
              <a:buNone/>
            </a:pPr>
            <a:r>
              <a:rPr lang="en-US" sz="1250" b="1" dirty="0">
                <a:solidFill>
                  <a:srgbClr val="FFFFFF"/>
                </a:solidFill>
              </a:rPr>
              <a:t>Dimensional Model</a:t>
            </a:r>
            <a:endParaRPr lang="en-US" sz="1250" dirty="0"/>
          </a:p>
        </p:txBody>
      </p:sp>
      <p:sp>
        <p:nvSpPr>
          <p:cNvPr id="29" name="Text 27"/>
          <p:cNvSpPr/>
          <p:nvPr/>
        </p:nvSpPr>
        <p:spPr>
          <a:xfrm>
            <a:off x="8458200" y="1481328"/>
            <a:ext cx="320040" cy="320040"/>
          </a:xfrm>
          <a:prstGeom prst="rect">
            <a:avLst/>
          </a:prstGeom>
          <a:noFill/>
          <a:ln/>
        </p:spPr>
        <p:txBody>
          <a:bodyPr wrap="square" lIns="0" tIns="0" rIns="0" bIns="0" rtlCol="0" anchor="ctr"/>
          <a:lstStyle/>
          <a:p>
            <a:pPr marL="0" indent="0" algn="ctr">
              <a:buNone/>
            </a:pPr>
            <a:r>
              <a:rPr lang="en-US" sz="1400" dirty="0">
                <a:solidFill>
                  <a:srgbClr val="F7931A"/>
                </a:solidFill>
              </a:rPr>
              <a:t>→</a:t>
            </a:r>
            <a:endParaRPr lang="en-US" sz="1400" dirty="0"/>
          </a:p>
        </p:txBody>
      </p:sp>
      <p:sp>
        <p:nvSpPr>
          <p:cNvPr id="30" name="Shape 28"/>
          <p:cNvSpPr/>
          <p:nvPr/>
        </p:nvSpPr>
        <p:spPr>
          <a:xfrm>
            <a:off x="4800600" y="2148840"/>
            <a:ext cx="4114800" cy="713232"/>
          </a:xfrm>
          <a:prstGeom prst="roundRect">
            <a:avLst>
              <a:gd name="adj" fmla="val 8974"/>
            </a:avLst>
          </a:prstGeom>
          <a:solidFill>
            <a:srgbClr val="1C2B3A"/>
          </a:solidFill>
          <a:ln/>
          <a:effectLst>
            <a:outerShdw blurRad="101600" dist="25400" dir="8100000" algn="bl" rotWithShape="0">
              <a:srgbClr val="000000">
                <a:alpha val="25000"/>
              </a:srgbClr>
            </a:outerShdw>
          </a:effectLst>
        </p:spPr>
        <p:txBody>
          <a:bodyPr/>
          <a:lstStyle/>
          <a:p>
            <a:endParaRPr lang="es-ES"/>
          </a:p>
        </p:txBody>
      </p:sp>
      <p:sp>
        <p:nvSpPr>
          <p:cNvPr id="31" name="Text 29"/>
          <p:cNvSpPr/>
          <p:nvPr/>
        </p:nvSpPr>
        <p:spPr>
          <a:xfrm>
            <a:off x="4910328" y="2258568"/>
            <a:ext cx="457200" cy="457200"/>
          </a:xfrm>
          <a:prstGeom prst="rect">
            <a:avLst/>
          </a:prstGeom>
          <a:noFill/>
          <a:ln/>
        </p:spPr>
        <p:txBody>
          <a:bodyPr wrap="square" lIns="0" tIns="0" rIns="0" bIns="0" rtlCol="0" anchor="ctr"/>
          <a:lstStyle/>
          <a:p>
            <a:pPr marL="0" indent="0">
              <a:buNone/>
            </a:pPr>
            <a:r>
              <a:rPr lang="en-US" sz="1800" b="1" dirty="0">
                <a:solidFill>
                  <a:srgbClr val="F7931A"/>
                </a:solidFill>
              </a:rPr>
              <a:t>06</a:t>
            </a:r>
            <a:endParaRPr lang="en-US" sz="1800" dirty="0"/>
          </a:p>
        </p:txBody>
      </p:sp>
      <p:sp>
        <p:nvSpPr>
          <p:cNvPr id="32" name="Text 30"/>
          <p:cNvSpPr/>
          <p:nvPr/>
        </p:nvSpPr>
        <p:spPr>
          <a:xfrm>
            <a:off x="5367528" y="2345436"/>
            <a:ext cx="2743200" cy="320040"/>
          </a:xfrm>
          <a:prstGeom prst="rect">
            <a:avLst/>
          </a:prstGeom>
          <a:noFill/>
          <a:ln/>
        </p:spPr>
        <p:txBody>
          <a:bodyPr wrap="square" lIns="0" tIns="0" rIns="0" bIns="0" rtlCol="0" anchor="ctr"/>
          <a:lstStyle/>
          <a:p>
            <a:pPr marL="0" indent="0">
              <a:buNone/>
            </a:pPr>
            <a:r>
              <a:rPr lang="en-US" sz="1250" b="1" dirty="0">
                <a:solidFill>
                  <a:srgbClr val="FFFFFF"/>
                </a:solidFill>
              </a:rPr>
              <a:t>OLAP Analysis (10 Queries)</a:t>
            </a:r>
            <a:endParaRPr lang="en-US" sz="1250" dirty="0"/>
          </a:p>
        </p:txBody>
      </p:sp>
      <p:sp>
        <p:nvSpPr>
          <p:cNvPr id="34" name="Text 32"/>
          <p:cNvSpPr/>
          <p:nvPr/>
        </p:nvSpPr>
        <p:spPr>
          <a:xfrm>
            <a:off x="8458200" y="2350008"/>
            <a:ext cx="320040" cy="320040"/>
          </a:xfrm>
          <a:prstGeom prst="rect">
            <a:avLst/>
          </a:prstGeom>
          <a:noFill/>
          <a:ln/>
        </p:spPr>
        <p:txBody>
          <a:bodyPr wrap="square" lIns="0" tIns="0" rIns="0" bIns="0" rtlCol="0" anchor="ctr"/>
          <a:lstStyle/>
          <a:p>
            <a:pPr marL="0" indent="0" algn="ctr">
              <a:buNone/>
            </a:pPr>
            <a:r>
              <a:rPr lang="en-US" sz="1400" dirty="0">
                <a:solidFill>
                  <a:srgbClr val="F7931A"/>
                </a:solidFill>
              </a:rPr>
              <a:t>→</a:t>
            </a:r>
            <a:endParaRPr lang="en-US" sz="1400" dirty="0"/>
          </a:p>
        </p:txBody>
      </p:sp>
      <p:sp>
        <p:nvSpPr>
          <p:cNvPr id="35" name="Shape 33"/>
          <p:cNvSpPr/>
          <p:nvPr/>
        </p:nvSpPr>
        <p:spPr>
          <a:xfrm>
            <a:off x="4800600" y="3017520"/>
            <a:ext cx="4114800" cy="713232"/>
          </a:xfrm>
          <a:prstGeom prst="roundRect">
            <a:avLst>
              <a:gd name="adj" fmla="val 8974"/>
            </a:avLst>
          </a:prstGeom>
          <a:solidFill>
            <a:srgbClr val="1C2B3A"/>
          </a:solidFill>
          <a:ln/>
          <a:effectLst>
            <a:outerShdw blurRad="101600" dist="25400" dir="8100000" algn="bl" rotWithShape="0">
              <a:srgbClr val="000000">
                <a:alpha val="25000"/>
              </a:srgbClr>
            </a:outerShdw>
          </a:effectLst>
        </p:spPr>
        <p:txBody>
          <a:bodyPr/>
          <a:lstStyle/>
          <a:p>
            <a:endParaRPr lang="es-ES"/>
          </a:p>
        </p:txBody>
      </p:sp>
      <p:sp>
        <p:nvSpPr>
          <p:cNvPr id="36" name="Text 34"/>
          <p:cNvSpPr/>
          <p:nvPr/>
        </p:nvSpPr>
        <p:spPr>
          <a:xfrm>
            <a:off x="4910328" y="3127248"/>
            <a:ext cx="457200" cy="457200"/>
          </a:xfrm>
          <a:prstGeom prst="rect">
            <a:avLst/>
          </a:prstGeom>
          <a:noFill/>
          <a:ln/>
        </p:spPr>
        <p:txBody>
          <a:bodyPr wrap="square" lIns="0" tIns="0" rIns="0" bIns="0" rtlCol="0" anchor="ctr"/>
          <a:lstStyle/>
          <a:p>
            <a:pPr marL="0" indent="0">
              <a:buNone/>
            </a:pPr>
            <a:r>
              <a:rPr lang="en-US" sz="1800" b="1" dirty="0">
                <a:solidFill>
                  <a:srgbClr val="F7931A"/>
                </a:solidFill>
              </a:rPr>
              <a:t>07</a:t>
            </a:r>
            <a:endParaRPr lang="en-US" sz="1800" dirty="0"/>
          </a:p>
        </p:txBody>
      </p:sp>
      <p:sp>
        <p:nvSpPr>
          <p:cNvPr id="37" name="Text 35"/>
          <p:cNvSpPr/>
          <p:nvPr/>
        </p:nvSpPr>
        <p:spPr>
          <a:xfrm>
            <a:off x="5367528" y="3214116"/>
            <a:ext cx="2743200" cy="320040"/>
          </a:xfrm>
          <a:prstGeom prst="rect">
            <a:avLst/>
          </a:prstGeom>
          <a:noFill/>
          <a:ln/>
        </p:spPr>
        <p:txBody>
          <a:bodyPr wrap="square" lIns="0" tIns="0" rIns="0" bIns="0" rtlCol="0" anchor="ctr"/>
          <a:lstStyle/>
          <a:p>
            <a:pPr marL="0" indent="0">
              <a:buNone/>
            </a:pPr>
            <a:r>
              <a:rPr lang="en-US" sz="1250" b="1" dirty="0">
                <a:solidFill>
                  <a:srgbClr val="FFFFFF"/>
                </a:solidFill>
              </a:rPr>
              <a:t>Management Dashboard</a:t>
            </a:r>
            <a:endParaRPr lang="en-US" sz="1250" dirty="0"/>
          </a:p>
        </p:txBody>
      </p:sp>
      <p:sp>
        <p:nvSpPr>
          <p:cNvPr id="39" name="Text 37"/>
          <p:cNvSpPr/>
          <p:nvPr/>
        </p:nvSpPr>
        <p:spPr>
          <a:xfrm>
            <a:off x="8458200" y="3218688"/>
            <a:ext cx="320040" cy="320040"/>
          </a:xfrm>
          <a:prstGeom prst="rect">
            <a:avLst/>
          </a:prstGeom>
          <a:noFill/>
          <a:ln/>
        </p:spPr>
        <p:txBody>
          <a:bodyPr wrap="square" lIns="0" tIns="0" rIns="0" bIns="0" rtlCol="0" anchor="ctr"/>
          <a:lstStyle/>
          <a:p>
            <a:pPr marL="0" indent="0" algn="ctr">
              <a:buNone/>
            </a:pPr>
            <a:r>
              <a:rPr lang="en-US" sz="1400" dirty="0">
                <a:solidFill>
                  <a:srgbClr val="F7931A"/>
                </a:solidFill>
              </a:rPr>
              <a:t>→</a:t>
            </a:r>
            <a:endParaRPr lang="en-US" sz="1400" dirty="0"/>
          </a:p>
        </p:txBody>
      </p:sp>
      <p:sp>
        <p:nvSpPr>
          <p:cNvPr id="40" name="Shape 38"/>
          <p:cNvSpPr/>
          <p:nvPr/>
        </p:nvSpPr>
        <p:spPr>
          <a:xfrm>
            <a:off x="4800600" y="3886200"/>
            <a:ext cx="4114800" cy="713232"/>
          </a:xfrm>
          <a:prstGeom prst="roundRect">
            <a:avLst>
              <a:gd name="adj" fmla="val 8974"/>
            </a:avLst>
          </a:prstGeom>
          <a:solidFill>
            <a:srgbClr val="1C2B3A"/>
          </a:solidFill>
          <a:ln/>
          <a:effectLst>
            <a:outerShdw blurRad="101600" dist="25400" dir="8100000" algn="bl" rotWithShape="0">
              <a:srgbClr val="000000">
                <a:alpha val="25000"/>
              </a:srgbClr>
            </a:outerShdw>
          </a:effectLst>
        </p:spPr>
        <p:txBody>
          <a:bodyPr/>
          <a:lstStyle/>
          <a:p>
            <a:endParaRPr lang="es-ES"/>
          </a:p>
        </p:txBody>
      </p:sp>
      <p:sp>
        <p:nvSpPr>
          <p:cNvPr id="41" name="Text 39"/>
          <p:cNvSpPr/>
          <p:nvPr/>
        </p:nvSpPr>
        <p:spPr>
          <a:xfrm>
            <a:off x="4910328" y="3995928"/>
            <a:ext cx="457200" cy="457200"/>
          </a:xfrm>
          <a:prstGeom prst="rect">
            <a:avLst/>
          </a:prstGeom>
          <a:noFill/>
          <a:ln/>
        </p:spPr>
        <p:txBody>
          <a:bodyPr wrap="square" lIns="0" tIns="0" rIns="0" bIns="0" rtlCol="0" anchor="ctr"/>
          <a:lstStyle/>
          <a:p>
            <a:pPr marL="0" indent="0">
              <a:buNone/>
            </a:pPr>
            <a:r>
              <a:rPr lang="en-US" sz="1800" b="1" dirty="0">
                <a:solidFill>
                  <a:srgbClr val="F7931A"/>
                </a:solidFill>
              </a:rPr>
              <a:t>08</a:t>
            </a:r>
            <a:endParaRPr lang="en-US" sz="1800" dirty="0"/>
          </a:p>
        </p:txBody>
      </p:sp>
      <p:sp>
        <p:nvSpPr>
          <p:cNvPr id="42" name="Text 40"/>
          <p:cNvSpPr/>
          <p:nvPr/>
        </p:nvSpPr>
        <p:spPr>
          <a:xfrm>
            <a:off x="5367528" y="4082796"/>
            <a:ext cx="2743200" cy="320040"/>
          </a:xfrm>
          <a:prstGeom prst="rect">
            <a:avLst/>
          </a:prstGeom>
          <a:noFill/>
          <a:ln/>
        </p:spPr>
        <p:txBody>
          <a:bodyPr wrap="square" lIns="0" tIns="0" rIns="0" bIns="0" rtlCol="0" anchor="ctr"/>
          <a:lstStyle/>
          <a:p>
            <a:pPr marL="0" indent="0">
              <a:buNone/>
            </a:pPr>
            <a:r>
              <a:rPr lang="en-US" sz="1250" b="1" dirty="0">
                <a:solidFill>
                  <a:srgbClr val="FFFFFF"/>
                </a:solidFill>
              </a:rPr>
              <a:t>Summary</a:t>
            </a:r>
            <a:endParaRPr lang="en-US" sz="1250" dirty="0"/>
          </a:p>
        </p:txBody>
      </p:sp>
      <p:sp>
        <p:nvSpPr>
          <p:cNvPr id="44" name="Text 42"/>
          <p:cNvSpPr/>
          <p:nvPr/>
        </p:nvSpPr>
        <p:spPr>
          <a:xfrm>
            <a:off x="8458200" y="4087368"/>
            <a:ext cx="320040" cy="320040"/>
          </a:xfrm>
          <a:prstGeom prst="rect">
            <a:avLst/>
          </a:prstGeom>
          <a:noFill/>
          <a:ln/>
        </p:spPr>
        <p:txBody>
          <a:bodyPr wrap="square" lIns="0" tIns="0" rIns="0" bIns="0" rtlCol="0" anchor="ctr"/>
          <a:lstStyle/>
          <a:p>
            <a:pPr marL="0" indent="0" algn="ctr">
              <a:buNone/>
            </a:pPr>
            <a:r>
              <a:rPr lang="en-US" sz="1400" dirty="0">
                <a:solidFill>
                  <a:srgbClr val="F7931A"/>
                </a:solidFill>
              </a:rPr>
              <a: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457200" y="256032"/>
            <a:ext cx="3159252" cy="256032"/>
          </a:xfrm>
          <a:prstGeom prst="roundRect">
            <a:avLst>
              <a:gd name="adj" fmla="val 14286"/>
            </a:avLst>
          </a:prstGeom>
          <a:solidFill>
            <a:srgbClr val="F7931A"/>
          </a:solidFill>
          <a:ln w="12700">
            <a:solidFill>
              <a:srgbClr val="F7931A"/>
            </a:solidFill>
            <a:prstDash val="solid"/>
          </a:ln>
        </p:spPr>
        <p:txBody>
          <a:bodyPr/>
          <a:lstStyle/>
          <a:p>
            <a:endParaRPr lang="es-ES" dirty="0"/>
          </a:p>
        </p:txBody>
      </p:sp>
      <p:sp>
        <p:nvSpPr>
          <p:cNvPr id="3" name="Text 1"/>
          <p:cNvSpPr/>
          <p:nvPr/>
        </p:nvSpPr>
        <p:spPr>
          <a:xfrm>
            <a:off x="457200" y="256032"/>
            <a:ext cx="3159252" cy="256032"/>
          </a:xfrm>
          <a:prstGeom prst="rect">
            <a:avLst/>
          </a:prstGeom>
          <a:noFill/>
          <a:ln/>
        </p:spPr>
        <p:txBody>
          <a:bodyPr wrap="square" lIns="0" tIns="0" rIns="0" bIns="0" rtlCol="0" anchor="ctr"/>
          <a:lstStyle/>
          <a:p>
            <a:pPr marL="0" indent="0" algn="ctr">
              <a:buNone/>
            </a:pPr>
            <a:r>
              <a:rPr lang="en-US" sz="1100" b="1" dirty="0">
                <a:solidFill>
                  <a:srgbClr val="FFFFFF"/>
                </a:solidFill>
              </a:rPr>
              <a:t>01 · PROJECT GOAL &amp; DATASET</a:t>
            </a:r>
            <a:endParaRPr lang="en-US" sz="1100" dirty="0"/>
          </a:p>
        </p:txBody>
      </p:sp>
      <p:sp>
        <p:nvSpPr>
          <p:cNvPr id="4" name="Text 2"/>
          <p:cNvSpPr/>
          <p:nvPr/>
        </p:nvSpPr>
        <p:spPr>
          <a:xfrm>
            <a:off x="457200" y="566928"/>
            <a:ext cx="8229600" cy="502920"/>
          </a:xfrm>
          <a:prstGeom prst="rect">
            <a:avLst/>
          </a:prstGeom>
          <a:noFill/>
          <a:ln/>
        </p:spPr>
        <p:txBody>
          <a:bodyPr wrap="square" lIns="0" tIns="0" rIns="0" bIns="0" rtlCol="0" anchor="ctr"/>
          <a:lstStyle/>
          <a:p>
            <a:pPr marL="0" indent="0">
              <a:buNone/>
            </a:pPr>
            <a:r>
              <a:rPr lang="en-US" sz="2800" b="1" dirty="0">
                <a:solidFill>
                  <a:srgbClr val="1A2332"/>
                </a:solidFill>
              </a:rPr>
              <a:t>What We're Building - and Why</a:t>
            </a:r>
            <a:endParaRPr lang="en-US" sz="2800" dirty="0"/>
          </a:p>
        </p:txBody>
      </p:sp>
      <p:sp>
        <p:nvSpPr>
          <p:cNvPr id="5" name="Shape 3"/>
          <p:cNvSpPr/>
          <p:nvPr/>
        </p:nvSpPr>
        <p:spPr>
          <a:xfrm>
            <a:off x="457200" y="1170432"/>
            <a:ext cx="8229600" cy="749808"/>
          </a:xfrm>
          <a:prstGeom prst="roundRect">
            <a:avLst>
              <a:gd name="adj" fmla="val 9756"/>
            </a:avLst>
          </a:prstGeom>
          <a:solidFill>
            <a:srgbClr val="0D1B2A"/>
          </a:solidFill>
          <a:ln/>
          <a:effectLst>
            <a:outerShdw blurRad="101600" dist="25400" dir="8100000" algn="bl" rotWithShape="0">
              <a:srgbClr val="000000">
                <a:alpha val="12000"/>
              </a:srgbClr>
            </a:outerShdw>
          </a:effectLst>
        </p:spPr>
        <p:txBody>
          <a:bodyPr/>
          <a:lstStyle/>
          <a:p>
            <a:endParaRPr lang="es-ES"/>
          </a:p>
        </p:txBody>
      </p:sp>
      <p:sp>
        <p:nvSpPr>
          <p:cNvPr id="6" name="Text 4"/>
          <p:cNvSpPr/>
          <p:nvPr/>
        </p:nvSpPr>
        <p:spPr>
          <a:xfrm>
            <a:off x="685800" y="1216152"/>
            <a:ext cx="2743200" cy="256032"/>
          </a:xfrm>
          <a:prstGeom prst="rect">
            <a:avLst/>
          </a:prstGeom>
          <a:noFill/>
          <a:ln/>
        </p:spPr>
        <p:txBody>
          <a:bodyPr wrap="square" lIns="0" tIns="0" rIns="0" bIns="0" rtlCol="0" anchor="ctr"/>
          <a:lstStyle/>
          <a:p>
            <a:pPr marL="0" indent="0">
              <a:buNone/>
            </a:pPr>
            <a:r>
              <a:rPr lang="en-US" sz="1200" b="1" dirty="0">
                <a:solidFill>
                  <a:srgbClr val="F7931A"/>
                </a:solidFill>
              </a:rPr>
              <a:t>Core Research Question</a:t>
            </a:r>
            <a:endParaRPr lang="en-US" sz="1200" dirty="0"/>
          </a:p>
        </p:txBody>
      </p:sp>
      <p:sp>
        <p:nvSpPr>
          <p:cNvPr id="7" name="Text 5"/>
          <p:cNvSpPr/>
          <p:nvPr/>
        </p:nvSpPr>
        <p:spPr>
          <a:xfrm>
            <a:off x="685800" y="1472184"/>
            <a:ext cx="7772400" cy="384048"/>
          </a:xfrm>
          <a:prstGeom prst="rect">
            <a:avLst/>
          </a:prstGeom>
          <a:noFill/>
          <a:ln/>
        </p:spPr>
        <p:txBody>
          <a:bodyPr wrap="square" lIns="0" tIns="0" rIns="0" bIns="0" rtlCol="0" anchor="ctr"/>
          <a:lstStyle/>
          <a:p>
            <a:pPr marL="0" indent="0">
              <a:buNone/>
            </a:pPr>
            <a:r>
              <a:rPr lang="en-US" sz="1100" dirty="0">
                <a:solidFill>
                  <a:srgbClr val="B0BEC5"/>
                </a:solidFill>
              </a:rPr>
              <a:t>"Has Bitcoin successfully evolved from a low-fee experimental payment system into a </a:t>
            </a:r>
            <a:r>
              <a:rPr lang="en-US" sz="1100" b="1" dirty="0">
                <a:solidFill>
                  <a:srgbClr val="F7931A"/>
                </a:solidFill>
              </a:rPr>
              <a:t>high-value settlement layer</a:t>
            </a:r>
            <a:r>
              <a:rPr lang="en-US" sz="1100" dirty="0">
                <a:solidFill>
                  <a:srgbClr val="B0BEC5"/>
                </a:solidFill>
              </a:rPr>
              <a:t> driven by market sentiment and protocol upgrades?"</a:t>
            </a:r>
            <a:endParaRPr lang="en-US" sz="1100" dirty="0"/>
          </a:p>
        </p:txBody>
      </p:sp>
      <p:sp>
        <p:nvSpPr>
          <p:cNvPr id="8" name="Shape 6"/>
          <p:cNvSpPr/>
          <p:nvPr/>
        </p:nvSpPr>
        <p:spPr>
          <a:xfrm>
            <a:off x="457200" y="2084832"/>
            <a:ext cx="1920240" cy="1325880"/>
          </a:xfrm>
          <a:prstGeom prst="roundRect">
            <a:avLst>
              <a:gd name="adj" fmla="val 5517"/>
            </a:avLst>
          </a:prstGeom>
          <a:solidFill>
            <a:srgbClr val="FFFFFF"/>
          </a:solidFill>
          <a:ln/>
          <a:effectLst>
            <a:outerShdw blurRad="76200" dist="25400" dir="8100000" algn="bl" rotWithShape="0">
              <a:srgbClr val="000000">
                <a:alpha val="9000"/>
              </a:srgbClr>
            </a:outerShdw>
          </a:effectLst>
        </p:spPr>
        <p:txBody>
          <a:bodyPr/>
          <a:lstStyle/>
          <a:p>
            <a:endParaRPr lang="es-ES"/>
          </a:p>
        </p:txBody>
      </p:sp>
      <p:sp>
        <p:nvSpPr>
          <p:cNvPr id="9" name="Shape 7"/>
          <p:cNvSpPr/>
          <p:nvPr/>
        </p:nvSpPr>
        <p:spPr>
          <a:xfrm>
            <a:off x="566928" y="2157984"/>
            <a:ext cx="1700784" cy="237744"/>
          </a:xfrm>
          <a:prstGeom prst="roundRect">
            <a:avLst>
              <a:gd name="adj" fmla="val 15385"/>
            </a:avLst>
          </a:prstGeom>
          <a:solidFill>
            <a:srgbClr val="F7931A">
              <a:alpha val="85000"/>
            </a:srgbClr>
          </a:solidFill>
          <a:ln w="12700">
            <a:solidFill>
              <a:srgbClr val="F7931A">
                <a:alpha val="85000"/>
              </a:srgbClr>
            </a:solidFill>
            <a:prstDash val="solid"/>
          </a:ln>
        </p:spPr>
        <p:txBody>
          <a:bodyPr/>
          <a:lstStyle/>
          <a:p>
            <a:endParaRPr lang="es-ES"/>
          </a:p>
        </p:txBody>
      </p:sp>
      <p:sp>
        <p:nvSpPr>
          <p:cNvPr id="10" name="Text 8"/>
          <p:cNvSpPr/>
          <p:nvPr/>
        </p:nvSpPr>
        <p:spPr>
          <a:xfrm>
            <a:off x="566928" y="2157984"/>
            <a:ext cx="1700784" cy="237744"/>
          </a:xfrm>
          <a:prstGeom prst="rect">
            <a:avLst/>
          </a:prstGeom>
          <a:noFill/>
          <a:ln/>
        </p:spPr>
        <p:txBody>
          <a:bodyPr wrap="square" lIns="0" tIns="0" rIns="0" bIns="0" rtlCol="0" anchor="ctr"/>
          <a:lstStyle/>
          <a:p>
            <a:pPr marL="0" indent="0" algn="ctr">
              <a:buNone/>
            </a:pPr>
            <a:r>
              <a:rPr lang="en-US" sz="1100" b="1" dirty="0">
                <a:solidFill>
                  <a:srgbClr val="FFFFFF"/>
                </a:solidFill>
              </a:rPr>
              <a:t>ON-CHAIN</a:t>
            </a:r>
            <a:endParaRPr lang="en-US" sz="1100" dirty="0"/>
          </a:p>
        </p:txBody>
      </p:sp>
      <p:sp>
        <p:nvSpPr>
          <p:cNvPr id="11" name="Text 9"/>
          <p:cNvSpPr/>
          <p:nvPr/>
        </p:nvSpPr>
        <p:spPr>
          <a:xfrm>
            <a:off x="566928" y="2432304"/>
            <a:ext cx="1700784" cy="274320"/>
          </a:xfrm>
          <a:prstGeom prst="rect">
            <a:avLst/>
          </a:prstGeom>
          <a:noFill/>
          <a:ln/>
        </p:spPr>
        <p:txBody>
          <a:bodyPr wrap="square" lIns="0" tIns="0" rIns="0" bIns="0" rtlCol="0" anchor="ctr"/>
          <a:lstStyle/>
          <a:p>
            <a:pPr marL="0" indent="0">
              <a:buNone/>
            </a:pPr>
            <a:r>
              <a:rPr lang="en-US" sz="1050" b="1" dirty="0">
                <a:solidFill>
                  <a:srgbClr val="1A2332"/>
                </a:solidFill>
              </a:rPr>
              <a:t>mempool.space API</a:t>
            </a:r>
            <a:endParaRPr lang="en-US" sz="1050" dirty="0"/>
          </a:p>
        </p:txBody>
      </p:sp>
      <p:sp>
        <p:nvSpPr>
          <p:cNvPr id="12" name="Text 10"/>
          <p:cNvSpPr/>
          <p:nvPr/>
        </p:nvSpPr>
        <p:spPr>
          <a:xfrm>
            <a:off x="566928" y="2724912"/>
            <a:ext cx="1700784" cy="621792"/>
          </a:xfrm>
          <a:prstGeom prst="rect">
            <a:avLst/>
          </a:prstGeom>
          <a:noFill/>
          <a:ln/>
        </p:spPr>
        <p:txBody>
          <a:bodyPr wrap="square" lIns="0" tIns="0" rIns="0" bIns="0" rtlCol="0" anchor="ctr"/>
          <a:lstStyle/>
          <a:p>
            <a:pPr marL="0" indent="0">
              <a:buNone/>
            </a:pPr>
            <a:r>
              <a:rPr lang="en-US" sz="1100" dirty="0">
                <a:solidFill>
                  <a:srgbClr val="455A64"/>
                </a:solidFill>
              </a:rPr>
              <a:t>Blocks: height, miner pool, weight, fees</a:t>
            </a:r>
            <a:endParaRPr lang="en-US" sz="1100" dirty="0"/>
          </a:p>
          <a:p>
            <a:pPr marL="0" indent="0">
              <a:buNone/>
            </a:pPr>
            <a:r>
              <a:rPr lang="en-US" sz="1100" dirty="0">
                <a:solidFill>
                  <a:srgbClr val="455A64"/>
                </a:solidFill>
              </a:rPr>
              <a:t>Txs: inputs/outputs, SegWit, RBF, locktime</a:t>
            </a:r>
            <a:endParaRPr lang="en-US" sz="1100" dirty="0"/>
          </a:p>
        </p:txBody>
      </p:sp>
      <p:sp>
        <p:nvSpPr>
          <p:cNvPr id="13" name="Shape 11"/>
          <p:cNvSpPr/>
          <p:nvPr/>
        </p:nvSpPr>
        <p:spPr>
          <a:xfrm>
            <a:off x="2560320" y="2084832"/>
            <a:ext cx="1920240" cy="1325880"/>
          </a:xfrm>
          <a:prstGeom prst="roundRect">
            <a:avLst>
              <a:gd name="adj" fmla="val 5517"/>
            </a:avLst>
          </a:prstGeom>
          <a:solidFill>
            <a:srgbClr val="FFFFFF"/>
          </a:solidFill>
          <a:ln/>
          <a:effectLst>
            <a:outerShdw blurRad="76200" dist="25400" dir="8100000" algn="bl" rotWithShape="0">
              <a:srgbClr val="000000">
                <a:alpha val="9000"/>
              </a:srgbClr>
            </a:outerShdw>
          </a:effectLst>
        </p:spPr>
        <p:txBody>
          <a:bodyPr/>
          <a:lstStyle/>
          <a:p>
            <a:endParaRPr lang="es-ES"/>
          </a:p>
        </p:txBody>
      </p:sp>
      <p:sp>
        <p:nvSpPr>
          <p:cNvPr id="14" name="Shape 12"/>
          <p:cNvSpPr/>
          <p:nvPr/>
        </p:nvSpPr>
        <p:spPr>
          <a:xfrm>
            <a:off x="2670048" y="2157984"/>
            <a:ext cx="1700784" cy="237744"/>
          </a:xfrm>
          <a:prstGeom prst="roundRect">
            <a:avLst>
              <a:gd name="adj" fmla="val 15385"/>
            </a:avLst>
          </a:prstGeom>
          <a:solidFill>
            <a:srgbClr val="1E88E5">
              <a:alpha val="85000"/>
            </a:srgbClr>
          </a:solidFill>
          <a:ln w="12700">
            <a:solidFill>
              <a:srgbClr val="1E88E5">
                <a:alpha val="85000"/>
              </a:srgbClr>
            </a:solidFill>
            <a:prstDash val="solid"/>
          </a:ln>
        </p:spPr>
        <p:txBody>
          <a:bodyPr/>
          <a:lstStyle/>
          <a:p>
            <a:endParaRPr lang="es-ES"/>
          </a:p>
        </p:txBody>
      </p:sp>
      <p:sp>
        <p:nvSpPr>
          <p:cNvPr id="15" name="Text 13"/>
          <p:cNvSpPr/>
          <p:nvPr/>
        </p:nvSpPr>
        <p:spPr>
          <a:xfrm>
            <a:off x="2670048" y="2157984"/>
            <a:ext cx="1700784" cy="237744"/>
          </a:xfrm>
          <a:prstGeom prst="rect">
            <a:avLst/>
          </a:prstGeom>
          <a:noFill/>
          <a:ln/>
        </p:spPr>
        <p:txBody>
          <a:bodyPr wrap="square" lIns="0" tIns="0" rIns="0" bIns="0" rtlCol="0" anchor="ctr"/>
          <a:lstStyle/>
          <a:p>
            <a:pPr marL="0" indent="0" algn="ctr">
              <a:buNone/>
            </a:pPr>
            <a:r>
              <a:rPr lang="en-US" sz="1100" b="1" dirty="0">
                <a:solidFill>
                  <a:srgbClr val="FFFFFF"/>
                </a:solidFill>
              </a:rPr>
              <a:t>MARKET PRICE</a:t>
            </a:r>
            <a:endParaRPr lang="en-US" sz="1100" dirty="0"/>
          </a:p>
        </p:txBody>
      </p:sp>
      <p:sp>
        <p:nvSpPr>
          <p:cNvPr id="16" name="Text 14"/>
          <p:cNvSpPr/>
          <p:nvPr/>
        </p:nvSpPr>
        <p:spPr>
          <a:xfrm>
            <a:off x="2670048" y="2432304"/>
            <a:ext cx="1700784" cy="274320"/>
          </a:xfrm>
          <a:prstGeom prst="rect">
            <a:avLst/>
          </a:prstGeom>
          <a:noFill/>
          <a:ln/>
        </p:spPr>
        <p:txBody>
          <a:bodyPr wrap="square" lIns="0" tIns="0" rIns="0" bIns="0" rtlCol="0" anchor="ctr"/>
          <a:lstStyle/>
          <a:p>
            <a:pPr marL="0" indent="0">
              <a:buNone/>
            </a:pPr>
            <a:r>
              <a:rPr lang="en-US" sz="1050" b="1" dirty="0">
                <a:solidFill>
                  <a:srgbClr val="1A2332"/>
                </a:solidFill>
              </a:rPr>
              <a:t>Yahoo Finance API</a:t>
            </a:r>
            <a:endParaRPr lang="en-US" sz="1050" dirty="0"/>
          </a:p>
        </p:txBody>
      </p:sp>
      <p:sp>
        <p:nvSpPr>
          <p:cNvPr id="17" name="Text 15"/>
          <p:cNvSpPr/>
          <p:nvPr/>
        </p:nvSpPr>
        <p:spPr>
          <a:xfrm>
            <a:off x="2670048" y="2724912"/>
            <a:ext cx="1700784" cy="621792"/>
          </a:xfrm>
          <a:prstGeom prst="rect">
            <a:avLst/>
          </a:prstGeom>
          <a:noFill/>
          <a:ln/>
        </p:spPr>
        <p:txBody>
          <a:bodyPr wrap="square" lIns="0" tIns="0" rIns="0" bIns="0" rtlCol="0" anchor="ctr"/>
          <a:lstStyle/>
          <a:p>
            <a:pPr marL="0" indent="0">
              <a:buNone/>
            </a:pPr>
            <a:r>
              <a:rPr lang="en-US" sz="1100" dirty="0">
                <a:solidFill>
                  <a:srgbClr val="455A64"/>
                </a:solidFill>
              </a:rPr>
              <a:t>Daily BTC-USD OHLCV</a:t>
            </a:r>
            <a:endParaRPr lang="en-US" sz="1100" dirty="0"/>
          </a:p>
          <a:p>
            <a:pPr marL="0" indent="0">
              <a:buNone/>
            </a:pPr>
            <a:r>
              <a:rPr lang="en-US" sz="1100" dirty="0">
                <a:solidFill>
                  <a:srgbClr val="455A64"/>
                </a:solidFill>
              </a:rPr>
              <a:t>(Open / High / Low / Close / Volume)</a:t>
            </a:r>
            <a:endParaRPr lang="en-US" sz="1100" dirty="0"/>
          </a:p>
        </p:txBody>
      </p:sp>
      <p:sp>
        <p:nvSpPr>
          <p:cNvPr id="18" name="Shape 16"/>
          <p:cNvSpPr/>
          <p:nvPr/>
        </p:nvSpPr>
        <p:spPr>
          <a:xfrm>
            <a:off x="4663440" y="2084832"/>
            <a:ext cx="1920240" cy="1325880"/>
          </a:xfrm>
          <a:prstGeom prst="roundRect">
            <a:avLst>
              <a:gd name="adj" fmla="val 5517"/>
            </a:avLst>
          </a:prstGeom>
          <a:solidFill>
            <a:srgbClr val="FFFFFF"/>
          </a:solidFill>
          <a:ln/>
          <a:effectLst>
            <a:outerShdw blurRad="76200" dist="25400" dir="8100000" algn="bl" rotWithShape="0">
              <a:srgbClr val="000000">
                <a:alpha val="9000"/>
              </a:srgbClr>
            </a:outerShdw>
          </a:effectLst>
        </p:spPr>
        <p:txBody>
          <a:bodyPr/>
          <a:lstStyle/>
          <a:p>
            <a:endParaRPr lang="es-ES"/>
          </a:p>
        </p:txBody>
      </p:sp>
      <p:sp>
        <p:nvSpPr>
          <p:cNvPr id="19" name="Shape 17"/>
          <p:cNvSpPr/>
          <p:nvPr/>
        </p:nvSpPr>
        <p:spPr>
          <a:xfrm>
            <a:off x="4773168" y="2157984"/>
            <a:ext cx="1700784" cy="237744"/>
          </a:xfrm>
          <a:prstGeom prst="roundRect">
            <a:avLst>
              <a:gd name="adj" fmla="val 15385"/>
            </a:avLst>
          </a:prstGeom>
          <a:solidFill>
            <a:srgbClr val="26C6A2">
              <a:alpha val="85000"/>
            </a:srgbClr>
          </a:solidFill>
          <a:ln w="12700">
            <a:solidFill>
              <a:srgbClr val="26C6A2">
                <a:alpha val="85000"/>
              </a:srgbClr>
            </a:solidFill>
            <a:prstDash val="solid"/>
          </a:ln>
        </p:spPr>
        <p:txBody>
          <a:bodyPr/>
          <a:lstStyle/>
          <a:p>
            <a:endParaRPr lang="es-ES"/>
          </a:p>
        </p:txBody>
      </p:sp>
      <p:sp>
        <p:nvSpPr>
          <p:cNvPr id="20" name="Text 18"/>
          <p:cNvSpPr/>
          <p:nvPr/>
        </p:nvSpPr>
        <p:spPr>
          <a:xfrm>
            <a:off x="4773168" y="2157984"/>
            <a:ext cx="1700784" cy="237744"/>
          </a:xfrm>
          <a:prstGeom prst="rect">
            <a:avLst/>
          </a:prstGeom>
          <a:noFill/>
          <a:ln/>
        </p:spPr>
        <p:txBody>
          <a:bodyPr wrap="square" lIns="0" tIns="0" rIns="0" bIns="0" rtlCol="0" anchor="ctr"/>
          <a:lstStyle/>
          <a:p>
            <a:pPr marL="0" indent="0" algn="ctr">
              <a:buNone/>
            </a:pPr>
            <a:r>
              <a:rPr lang="en-US" sz="1100" b="1" dirty="0">
                <a:solidFill>
                  <a:srgbClr val="FFFFFF"/>
                </a:solidFill>
              </a:rPr>
              <a:t>SENTIMENT</a:t>
            </a:r>
            <a:endParaRPr lang="en-US" sz="850" dirty="0"/>
          </a:p>
        </p:txBody>
      </p:sp>
      <p:sp>
        <p:nvSpPr>
          <p:cNvPr id="21" name="Text 19"/>
          <p:cNvSpPr/>
          <p:nvPr/>
        </p:nvSpPr>
        <p:spPr>
          <a:xfrm>
            <a:off x="4773168" y="2432304"/>
            <a:ext cx="1700784" cy="274320"/>
          </a:xfrm>
          <a:prstGeom prst="rect">
            <a:avLst/>
          </a:prstGeom>
          <a:noFill/>
          <a:ln/>
        </p:spPr>
        <p:txBody>
          <a:bodyPr wrap="square" lIns="0" tIns="0" rIns="0" bIns="0" rtlCol="0" anchor="ctr"/>
          <a:lstStyle/>
          <a:p>
            <a:pPr marL="0" indent="0">
              <a:buNone/>
            </a:pPr>
            <a:r>
              <a:rPr lang="en-US" sz="1050" b="1" dirty="0">
                <a:solidFill>
                  <a:srgbClr val="1A2332"/>
                </a:solidFill>
              </a:rPr>
              <a:t>Alternative.me API</a:t>
            </a:r>
            <a:endParaRPr lang="en-US" sz="1050" dirty="0"/>
          </a:p>
        </p:txBody>
      </p:sp>
      <p:sp>
        <p:nvSpPr>
          <p:cNvPr id="22" name="Text 20"/>
          <p:cNvSpPr/>
          <p:nvPr/>
        </p:nvSpPr>
        <p:spPr>
          <a:xfrm>
            <a:off x="4773168" y="2724912"/>
            <a:ext cx="1700784" cy="621792"/>
          </a:xfrm>
          <a:prstGeom prst="rect">
            <a:avLst/>
          </a:prstGeom>
          <a:noFill/>
          <a:ln/>
        </p:spPr>
        <p:txBody>
          <a:bodyPr wrap="square" lIns="0" tIns="0" rIns="0" bIns="0" rtlCol="0" anchor="ctr"/>
          <a:lstStyle/>
          <a:p>
            <a:pPr marL="0" indent="0">
              <a:buNone/>
            </a:pPr>
            <a:r>
              <a:rPr lang="en-US" sz="1100" dirty="0">
                <a:solidFill>
                  <a:srgbClr val="455A64"/>
                </a:solidFill>
              </a:rPr>
              <a:t>Fear &amp; Greed Index (0–100)</a:t>
            </a:r>
            <a:endParaRPr lang="en-US" sz="1100" dirty="0"/>
          </a:p>
          <a:p>
            <a:pPr marL="0" indent="0">
              <a:buNone/>
            </a:pPr>
            <a:r>
              <a:rPr lang="en-US" sz="1100" dirty="0">
                <a:solidFill>
                  <a:srgbClr val="455A64"/>
                </a:solidFill>
              </a:rPr>
              <a:t>Available from 2018-02-01</a:t>
            </a:r>
            <a:endParaRPr lang="en-US" sz="1100" dirty="0"/>
          </a:p>
        </p:txBody>
      </p:sp>
      <p:sp>
        <p:nvSpPr>
          <p:cNvPr id="23" name="Shape 21"/>
          <p:cNvSpPr/>
          <p:nvPr/>
        </p:nvSpPr>
        <p:spPr>
          <a:xfrm>
            <a:off x="6766560" y="2084832"/>
            <a:ext cx="1920240" cy="1325880"/>
          </a:xfrm>
          <a:prstGeom prst="roundRect">
            <a:avLst>
              <a:gd name="adj" fmla="val 5517"/>
            </a:avLst>
          </a:prstGeom>
          <a:solidFill>
            <a:srgbClr val="FFFFFF"/>
          </a:solidFill>
          <a:ln/>
          <a:effectLst>
            <a:outerShdw blurRad="76200" dist="25400" dir="8100000" algn="bl" rotWithShape="0">
              <a:srgbClr val="000000">
                <a:alpha val="9000"/>
              </a:srgbClr>
            </a:outerShdw>
          </a:effectLst>
        </p:spPr>
        <p:txBody>
          <a:bodyPr/>
          <a:lstStyle/>
          <a:p>
            <a:endParaRPr lang="es-ES"/>
          </a:p>
        </p:txBody>
      </p:sp>
      <p:sp>
        <p:nvSpPr>
          <p:cNvPr id="24" name="Shape 22"/>
          <p:cNvSpPr/>
          <p:nvPr/>
        </p:nvSpPr>
        <p:spPr>
          <a:xfrm>
            <a:off x="6876288" y="2157984"/>
            <a:ext cx="1700784" cy="237744"/>
          </a:xfrm>
          <a:prstGeom prst="roundRect">
            <a:avLst>
              <a:gd name="adj" fmla="val 15385"/>
            </a:avLst>
          </a:prstGeom>
          <a:solidFill>
            <a:srgbClr val="AB47BC">
              <a:alpha val="85000"/>
            </a:srgbClr>
          </a:solidFill>
          <a:ln w="12700">
            <a:solidFill>
              <a:srgbClr val="AB47BC">
                <a:alpha val="85000"/>
              </a:srgbClr>
            </a:solidFill>
            <a:prstDash val="solid"/>
          </a:ln>
        </p:spPr>
        <p:txBody>
          <a:bodyPr/>
          <a:lstStyle/>
          <a:p>
            <a:endParaRPr lang="es-ES"/>
          </a:p>
        </p:txBody>
      </p:sp>
      <p:sp>
        <p:nvSpPr>
          <p:cNvPr id="25" name="Text 23"/>
          <p:cNvSpPr/>
          <p:nvPr/>
        </p:nvSpPr>
        <p:spPr>
          <a:xfrm>
            <a:off x="6876288" y="2157984"/>
            <a:ext cx="1700784" cy="237744"/>
          </a:xfrm>
          <a:prstGeom prst="rect">
            <a:avLst/>
          </a:prstGeom>
          <a:noFill/>
          <a:ln/>
        </p:spPr>
        <p:txBody>
          <a:bodyPr wrap="square" lIns="0" tIns="0" rIns="0" bIns="0" rtlCol="0" anchor="ctr"/>
          <a:lstStyle/>
          <a:p>
            <a:pPr marL="0" indent="0" algn="ctr">
              <a:buNone/>
            </a:pPr>
            <a:r>
              <a:rPr lang="en-US" sz="1100" b="1" dirty="0">
                <a:solidFill>
                  <a:srgbClr val="FFFFFF"/>
                </a:solidFill>
              </a:rPr>
              <a:t>DOMINANCE</a:t>
            </a:r>
            <a:endParaRPr lang="en-US" sz="850" dirty="0"/>
          </a:p>
        </p:txBody>
      </p:sp>
      <p:sp>
        <p:nvSpPr>
          <p:cNvPr id="26" name="Text 24"/>
          <p:cNvSpPr/>
          <p:nvPr/>
        </p:nvSpPr>
        <p:spPr>
          <a:xfrm>
            <a:off x="6876288" y="2432304"/>
            <a:ext cx="1700784" cy="274320"/>
          </a:xfrm>
          <a:prstGeom prst="rect">
            <a:avLst/>
          </a:prstGeom>
          <a:noFill/>
          <a:ln/>
        </p:spPr>
        <p:txBody>
          <a:bodyPr wrap="square" lIns="0" tIns="0" rIns="0" bIns="0" rtlCol="0" anchor="ctr"/>
          <a:lstStyle/>
          <a:p>
            <a:pPr marL="0" indent="0">
              <a:buNone/>
            </a:pPr>
            <a:r>
              <a:rPr lang="en-US" sz="1050" b="1" dirty="0">
                <a:solidFill>
                  <a:srgbClr val="1A2332"/>
                </a:solidFill>
              </a:rPr>
              <a:t>CoinLore API</a:t>
            </a:r>
            <a:endParaRPr lang="en-US" sz="1050" dirty="0"/>
          </a:p>
        </p:txBody>
      </p:sp>
      <p:sp>
        <p:nvSpPr>
          <p:cNvPr id="27" name="Text 25"/>
          <p:cNvSpPr/>
          <p:nvPr/>
        </p:nvSpPr>
        <p:spPr>
          <a:xfrm>
            <a:off x="6876288" y="2724912"/>
            <a:ext cx="1700784" cy="621792"/>
          </a:xfrm>
          <a:prstGeom prst="rect">
            <a:avLst/>
          </a:prstGeom>
          <a:noFill/>
          <a:ln/>
        </p:spPr>
        <p:txBody>
          <a:bodyPr wrap="square" lIns="0" tIns="0" rIns="0" bIns="0" rtlCol="0" anchor="ctr"/>
          <a:lstStyle/>
          <a:p>
            <a:pPr marL="0" indent="0">
              <a:buNone/>
            </a:pPr>
            <a:r>
              <a:rPr lang="en-US" sz="1100" dirty="0">
                <a:solidFill>
                  <a:srgbClr val="455A64"/>
                </a:solidFill>
              </a:rPr>
              <a:t>BTC market cap dominance %</a:t>
            </a:r>
            <a:endParaRPr lang="en-US" sz="1100" dirty="0"/>
          </a:p>
          <a:p>
            <a:pPr marL="0" indent="0">
              <a:buNone/>
            </a:pPr>
            <a:r>
              <a:rPr lang="en-US" sz="1100" dirty="0">
                <a:solidFill>
                  <a:srgbClr val="455A64"/>
                </a:solidFill>
              </a:rPr>
              <a:t>vs total crypto market</a:t>
            </a:r>
            <a:endParaRPr lang="en-US" sz="1100" dirty="0"/>
          </a:p>
        </p:txBody>
      </p:sp>
      <p:sp>
        <p:nvSpPr>
          <p:cNvPr id="28" name="Shape 26"/>
          <p:cNvSpPr/>
          <p:nvPr/>
        </p:nvSpPr>
        <p:spPr>
          <a:xfrm>
            <a:off x="457200" y="3520440"/>
            <a:ext cx="3931920" cy="1417320"/>
          </a:xfrm>
          <a:prstGeom prst="roundRect">
            <a:avLst>
              <a:gd name="adj" fmla="val 5161"/>
            </a:avLst>
          </a:prstGeom>
          <a:solidFill>
            <a:srgbClr val="FFFFFF"/>
          </a:solidFill>
          <a:ln/>
          <a:effectLst>
            <a:outerShdw blurRad="76200" dist="25400" dir="8100000" algn="bl" rotWithShape="0">
              <a:srgbClr val="000000">
                <a:alpha val="9000"/>
              </a:srgbClr>
            </a:outerShdw>
          </a:effectLst>
        </p:spPr>
        <p:txBody>
          <a:bodyPr/>
          <a:lstStyle/>
          <a:p>
            <a:endParaRPr lang="es-ES"/>
          </a:p>
        </p:txBody>
      </p:sp>
      <p:sp>
        <p:nvSpPr>
          <p:cNvPr id="29" name="Text 27"/>
          <p:cNvSpPr/>
          <p:nvPr/>
        </p:nvSpPr>
        <p:spPr>
          <a:xfrm>
            <a:off x="594360" y="3593592"/>
            <a:ext cx="3657600" cy="228600"/>
          </a:xfrm>
          <a:prstGeom prst="rect">
            <a:avLst/>
          </a:prstGeom>
          <a:noFill/>
          <a:ln/>
        </p:spPr>
        <p:txBody>
          <a:bodyPr wrap="square" lIns="0" tIns="0" rIns="0" bIns="0" rtlCol="0" anchor="ctr"/>
          <a:lstStyle/>
          <a:p>
            <a:pPr marL="0" indent="0">
              <a:buNone/>
            </a:pPr>
            <a:r>
              <a:rPr lang="en-US" sz="1200" b="1" dirty="0">
                <a:solidFill>
                  <a:srgbClr val="F7931A"/>
                </a:solidFill>
              </a:rPr>
              <a:t>TARGET USER</a:t>
            </a:r>
            <a:endParaRPr lang="en-US" sz="1200" dirty="0"/>
          </a:p>
        </p:txBody>
      </p:sp>
      <p:sp>
        <p:nvSpPr>
          <p:cNvPr id="30" name="Text 28"/>
          <p:cNvSpPr/>
          <p:nvPr/>
        </p:nvSpPr>
        <p:spPr>
          <a:xfrm>
            <a:off x="594360" y="3822192"/>
            <a:ext cx="3657600" cy="274320"/>
          </a:xfrm>
          <a:prstGeom prst="rect">
            <a:avLst/>
          </a:prstGeom>
          <a:noFill/>
          <a:ln/>
        </p:spPr>
        <p:txBody>
          <a:bodyPr wrap="square" lIns="0" tIns="0" rIns="0" bIns="0" rtlCol="0" anchor="ctr"/>
          <a:lstStyle/>
          <a:p>
            <a:pPr marL="0" indent="0">
              <a:buNone/>
            </a:pPr>
            <a:r>
              <a:rPr lang="en-US" sz="1300" b="1" dirty="0">
                <a:solidFill>
                  <a:srgbClr val="1A2332"/>
                </a:solidFill>
              </a:rPr>
              <a:t>Blockchain Analyst / Researcher</a:t>
            </a:r>
            <a:endParaRPr lang="en-US" sz="1300" dirty="0"/>
          </a:p>
        </p:txBody>
      </p:sp>
      <p:sp>
        <p:nvSpPr>
          <p:cNvPr id="31" name="Text 29"/>
          <p:cNvSpPr/>
          <p:nvPr/>
        </p:nvSpPr>
        <p:spPr>
          <a:xfrm>
            <a:off x="594360" y="4114800"/>
            <a:ext cx="3657600" cy="713232"/>
          </a:xfrm>
          <a:prstGeom prst="rect">
            <a:avLst/>
          </a:prstGeom>
          <a:noFill/>
          <a:ln/>
        </p:spPr>
        <p:txBody>
          <a:bodyPr wrap="square" lIns="0" tIns="0" rIns="0" bIns="0" rtlCol="0" anchor="ctr"/>
          <a:lstStyle/>
          <a:p>
            <a:pPr marL="0" indent="0">
              <a:buNone/>
            </a:pPr>
            <a:r>
              <a:rPr lang="en-US" sz="1100" dirty="0">
                <a:solidFill>
                  <a:srgbClr val="455A64"/>
                </a:solidFill>
              </a:rPr>
              <a:t>Monitors on-chain settlement dynamics, fee pressure, and market-sentiment correlations to evaluate Bitcoin network capacity, protocol adoption, and macro-level valuation.</a:t>
            </a:r>
            <a:endParaRPr lang="en-US" sz="1100" dirty="0"/>
          </a:p>
        </p:txBody>
      </p:sp>
      <p:sp>
        <p:nvSpPr>
          <p:cNvPr id="32" name="Shape 30"/>
          <p:cNvSpPr/>
          <p:nvPr/>
        </p:nvSpPr>
        <p:spPr>
          <a:xfrm>
            <a:off x="4572000" y="3520440"/>
            <a:ext cx="4114800" cy="1417320"/>
          </a:xfrm>
          <a:prstGeom prst="roundRect">
            <a:avLst>
              <a:gd name="adj" fmla="val 5161"/>
            </a:avLst>
          </a:prstGeom>
          <a:solidFill>
            <a:srgbClr val="FFFFFF"/>
          </a:solidFill>
          <a:ln/>
          <a:effectLst>
            <a:outerShdw blurRad="76200" dist="25400" dir="8100000" algn="bl" rotWithShape="0">
              <a:srgbClr val="000000">
                <a:alpha val="9000"/>
              </a:srgbClr>
            </a:outerShdw>
          </a:effectLst>
        </p:spPr>
        <p:txBody>
          <a:bodyPr/>
          <a:lstStyle/>
          <a:p>
            <a:endParaRPr lang="es-ES"/>
          </a:p>
        </p:txBody>
      </p:sp>
      <p:sp>
        <p:nvSpPr>
          <p:cNvPr id="33" name="Text 31"/>
          <p:cNvSpPr/>
          <p:nvPr/>
        </p:nvSpPr>
        <p:spPr>
          <a:xfrm>
            <a:off x="4709160" y="3593592"/>
            <a:ext cx="3840480" cy="228600"/>
          </a:xfrm>
          <a:prstGeom prst="rect">
            <a:avLst/>
          </a:prstGeom>
          <a:noFill/>
          <a:ln/>
        </p:spPr>
        <p:txBody>
          <a:bodyPr wrap="square" lIns="0" tIns="0" rIns="0" bIns="0" rtlCol="0" anchor="ctr"/>
          <a:lstStyle/>
          <a:p>
            <a:pPr marL="0" indent="0">
              <a:buNone/>
            </a:pPr>
            <a:r>
              <a:rPr lang="en-US" sz="1200" b="1" dirty="0">
                <a:solidFill>
                  <a:srgbClr val="F7931A"/>
                </a:solidFill>
              </a:rPr>
              <a:t>KEY QUESTIONS THIS DW ANSWERS</a:t>
            </a:r>
            <a:endParaRPr lang="en-US" sz="1200" dirty="0"/>
          </a:p>
        </p:txBody>
      </p:sp>
      <p:sp>
        <p:nvSpPr>
          <p:cNvPr id="34" name="Text 32"/>
          <p:cNvSpPr/>
          <p:nvPr/>
        </p:nvSpPr>
        <p:spPr>
          <a:xfrm>
            <a:off x="4709160" y="3840480"/>
            <a:ext cx="3840480" cy="1005840"/>
          </a:xfrm>
          <a:prstGeom prst="rect">
            <a:avLst/>
          </a:prstGeom>
          <a:noFill/>
          <a:ln/>
        </p:spPr>
        <p:txBody>
          <a:bodyPr wrap="square" lIns="0" tIns="0" rIns="0" bIns="0" rtlCol="0" anchor="t"/>
          <a:lstStyle/>
          <a:p>
            <a:pPr marL="342900" indent="-342900">
              <a:buSzPct val="100000"/>
              <a:buChar char="•"/>
            </a:pPr>
            <a:r>
              <a:rPr lang="en-US" sz="1100" dirty="0">
                <a:solidFill>
                  <a:srgbClr val="1A2332"/>
                </a:solidFill>
              </a:rPr>
              <a:t>Do people overpay fees when the market is gripped by fear?</a:t>
            </a:r>
            <a:endParaRPr lang="en-US" sz="1100" dirty="0"/>
          </a:p>
          <a:p>
            <a:pPr marL="342900" indent="-342900">
              <a:buSzPct val="100000"/>
              <a:buChar char="•"/>
            </a:pPr>
            <a:r>
              <a:rPr lang="en-US" sz="1100" dirty="0">
                <a:solidFill>
                  <a:srgbClr val="1A2332"/>
                </a:solidFill>
              </a:rPr>
              <a:t>Is Tuesday genuinely the most expensive day to send Bitcoin?</a:t>
            </a:r>
            <a:endParaRPr lang="en-US" sz="1100" dirty="0"/>
          </a:p>
          <a:p>
            <a:pPr marL="342900" indent="-342900">
              <a:buSzPct val="100000"/>
              <a:buChar char="•"/>
            </a:pPr>
            <a:r>
              <a:rPr lang="en-US" sz="1100" dirty="0">
                <a:solidFill>
                  <a:srgbClr val="1A2332"/>
                </a:solidFill>
              </a:rPr>
              <a:t>Has SegWit adoption changed how efficiently the network processes value?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57200" y="256032"/>
            <a:ext cx="3054096" cy="256032"/>
          </a:xfrm>
          <a:prstGeom prst="roundRect">
            <a:avLst>
              <a:gd name="adj" fmla="val 14286"/>
            </a:avLst>
          </a:prstGeom>
          <a:solidFill>
            <a:srgbClr val="F7931A"/>
          </a:solidFill>
          <a:ln w="12700">
            <a:solidFill>
              <a:srgbClr val="F7931A"/>
            </a:solidFill>
            <a:prstDash val="solid"/>
          </a:ln>
        </p:spPr>
        <p:txBody>
          <a:bodyPr/>
          <a:lstStyle/>
          <a:p>
            <a:endParaRPr lang="es-ES"/>
          </a:p>
        </p:txBody>
      </p:sp>
      <p:sp>
        <p:nvSpPr>
          <p:cNvPr id="3" name="Text 1"/>
          <p:cNvSpPr/>
          <p:nvPr/>
        </p:nvSpPr>
        <p:spPr>
          <a:xfrm>
            <a:off x="457200" y="256032"/>
            <a:ext cx="3054096" cy="256032"/>
          </a:xfrm>
          <a:prstGeom prst="rect">
            <a:avLst/>
          </a:prstGeom>
          <a:noFill/>
          <a:ln/>
        </p:spPr>
        <p:txBody>
          <a:bodyPr wrap="square" lIns="0" tIns="0" rIns="0" bIns="0" rtlCol="0" anchor="ctr"/>
          <a:lstStyle/>
          <a:p>
            <a:pPr marL="0" indent="0" algn="ctr">
              <a:buNone/>
            </a:pPr>
            <a:r>
              <a:rPr lang="en-US" sz="1100" b="1" dirty="0">
                <a:solidFill>
                  <a:srgbClr val="FFFFFF"/>
                </a:solidFill>
              </a:rPr>
              <a:t>02 · SOLUTION ARCHITECTURE</a:t>
            </a:r>
            <a:endParaRPr lang="en-US" sz="1100" dirty="0"/>
          </a:p>
        </p:txBody>
      </p:sp>
      <p:sp>
        <p:nvSpPr>
          <p:cNvPr id="4" name="Text 2"/>
          <p:cNvSpPr/>
          <p:nvPr/>
        </p:nvSpPr>
        <p:spPr>
          <a:xfrm>
            <a:off x="457200" y="566928"/>
            <a:ext cx="8229600" cy="502920"/>
          </a:xfrm>
          <a:prstGeom prst="rect">
            <a:avLst/>
          </a:prstGeom>
          <a:noFill/>
          <a:ln/>
        </p:spPr>
        <p:txBody>
          <a:bodyPr wrap="square" lIns="0" tIns="0" rIns="0" bIns="0" rtlCol="0" anchor="ctr"/>
          <a:lstStyle/>
          <a:p>
            <a:pPr marL="0" indent="0">
              <a:buNone/>
            </a:pPr>
            <a:r>
              <a:rPr lang="en-US" sz="2800" b="1" dirty="0">
                <a:solidFill>
                  <a:srgbClr val="FFFFFF"/>
                </a:solidFill>
              </a:rPr>
              <a:t>Full-Stack Architecture</a:t>
            </a:r>
            <a:endParaRPr lang="en-US" sz="2800" dirty="0"/>
          </a:p>
        </p:txBody>
      </p:sp>
      <p:sp>
        <p:nvSpPr>
          <p:cNvPr id="5" name="Shape 3"/>
          <p:cNvSpPr/>
          <p:nvPr/>
        </p:nvSpPr>
        <p:spPr>
          <a:xfrm>
            <a:off x="347472" y="1207008"/>
            <a:ext cx="1298448" cy="1508760"/>
          </a:xfrm>
          <a:prstGeom prst="roundRect">
            <a:avLst>
              <a:gd name="adj" fmla="val 5634"/>
            </a:avLst>
          </a:prstGeom>
          <a:solidFill>
            <a:srgbClr val="1C2B3A"/>
          </a:solidFill>
          <a:ln/>
          <a:effectLst>
            <a:outerShdw blurRad="127000" dist="38100" dir="8100000" algn="bl" rotWithShape="0">
              <a:srgbClr val="000000">
                <a:alpha val="35000"/>
              </a:srgbClr>
            </a:outerShdw>
          </a:effectLst>
        </p:spPr>
        <p:txBody>
          <a:bodyPr/>
          <a:lstStyle/>
          <a:p>
            <a:endParaRPr lang="es-ES"/>
          </a:p>
        </p:txBody>
      </p:sp>
      <p:sp>
        <p:nvSpPr>
          <p:cNvPr id="6" name="Shape 4"/>
          <p:cNvSpPr/>
          <p:nvPr/>
        </p:nvSpPr>
        <p:spPr>
          <a:xfrm>
            <a:off x="411480" y="1261872"/>
            <a:ext cx="1170432" cy="237744"/>
          </a:xfrm>
          <a:prstGeom prst="roundRect">
            <a:avLst>
              <a:gd name="adj" fmla="val 15385"/>
            </a:avLst>
          </a:prstGeom>
          <a:solidFill>
            <a:srgbClr val="F7931A">
              <a:alpha val="90000"/>
            </a:srgbClr>
          </a:solidFill>
          <a:ln w="12700">
            <a:solidFill>
              <a:srgbClr val="F7931A">
                <a:alpha val="90000"/>
              </a:srgbClr>
            </a:solidFill>
            <a:prstDash val="solid"/>
          </a:ln>
        </p:spPr>
        <p:txBody>
          <a:bodyPr/>
          <a:lstStyle/>
          <a:p>
            <a:endParaRPr lang="es-ES"/>
          </a:p>
        </p:txBody>
      </p:sp>
      <p:sp>
        <p:nvSpPr>
          <p:cNvPr id="7" name="Text 5"/>
          <p:cNvSpPr/>
          <p:nvPr/>
        </p:nvSpPr>
        <p:spPr>
          <a:xfrm>
            <a:off x="411480" y="1261872"/>
            <a:ext cx="1170432" cy="237744"/>
          </a:xfrm>
          <a:prstGeom prst="rect">
            <a:avLst/>
          </a:prstGeom>
          <a:noFill/>
          <a:ln/>
        </p:spPr>
        <p:txBody>
          <a:bodyPr wrap="square" lIns="0" tIns="0" rIns="0" bIns="0" rtlCol="0" anchor="ctr"/>
          <a:lstStyle/>
          <a:p>
            <a:pPr marL="0" indent="0" algn="ctr">
              <a:buNone/>
            </a:pPr>
            <a:r>
              <a:rPr lang="en-US" sz="1100" b="1" dirty="0">
                <a:solidFill>
                  <a:srgbClr val="FFFFFF"/>
                </a:solidFill>
              </a:rPr>
              <a:t>DATA SOURCES</a:t>
            </a:r>
            <a:endParaRPr lang="en-US" sz="1100" dirty="0"/>
          </a:p>
        </p:txBody>
      </p:sp>
      <p:sp>
        <p:nvSpPr>
          <p:cNvPr id="8" name="Text 6"/>
          <p:cNvSpPr/>
          <p:nvPr/>
        </p:nvSpPr>
        <p:spPr>
          <a:xfrm>
            <a:off x="438912" y="1536192"/>
            <a:ext cx="1115568" cy="1115568"/>
          </a:xfrm>
          <a:prstGeom prst="rect">
            <a:avLst/>
          </a:prstGeom>
          <a:noFill/>
          <a:ln/>
        </p:spPr>
        <p:txBody>
          <a:bodyPr wrap="square" lIns="0" tIns="0" rIns="0" bIns="0" rtlCol="0" anchor="t"/>
          <a:lstStyle/>
          <a:p>
            <a:pPr marL="0" indent="0">
              <a:buNone/>
            </a:pPr>
            <a:r>
              <a:rPr lang="en-US" sz="1100" dirty="0">
                <a:solidFill>
                  <a:srgbClr val="B0BEC5"/>
                </a:solidFill>
              </a:rPr>
              <a:t>Mempool.space</a:t>
            </a:r>
            <a:endParaRPr lang="en-US" sz="1100" dirty="0"/>
          </a:p>
          <a:p>
            <a:pPr marL="0" indent="0">
              <a:buNone/>
            </a:pPr>
            <a:r>
              <a:rPr lang="en-US" sz="1100" dirty="0">
                <a:solidFill>
                  <a:srgbClr val="B0BEC5"/>
                </a:solidFill>
              </a:rPr>
              <a:t>Yahoo Finance</a:t>
            </a:r>
            <a:endParaRPr lang="en-US" sz="1100" dirty="0"/>
          </a:p>
          <a:p>
            <a:pPr marL="0" indent="0">
              <a:buNone/>
            </a:pPr>
            <a:r>
              <a:rPr lang="en-US" sz="1100" dirty="0">
                <a:solidFill>
                  <a:srgbClr val="B0BEC5"/>
                </a:solidFill>
              </a:rPr>
              <a:t>Alternative.me</a:t>
            </a:r>
            <a:endParaRPr lang="en-US" sz="1100" dirty="0"/>
          </a:p>
          <a:p>
            <a:pPr marL="0" indent="0">
              <a:buNone/>
            </a:pPr>
            <a:r>
              <a:rPr lang="en-US" sz="1100" dirty="0">
                <a:solidFill>
                  <a:srgbClr val="B0BEC5"/>
                </a:solidFill>
              </a:rPr>
              <a:t>CoinLore</a:t>
            </a:r>
            <a:endParaRPr lang="en-US" sz="1100" dirty="0"/>
          </a:p>
        </p:txBody>
      </p:sp>
      <p:sp>
        <p:nvSpPr>
          <p:cNvPr id="9" name="Text 7"/>
          <p:cNvSpPr/>
          <p:nvPr/>
        </p:nvSpPr>
        <p:spPr>
          <a:xfrm>
            <a:off x="1645920" y="1645920"/>
            <a:ext cx="137160" cy="320040"/>
          </a:xfrm>
          <a:prstGeom prst="rect">
            <a:avLst/>
          </a:prstGeom>
          <a:noFill/>
          <a:ln/>
        </p:spPr>
        <p:txBody>
          <a:bodyPr wrap="square" lIns="0" tIns="0" rIns="0" bIns="0" rtlCol="0" anchor="ctr"/>
          <a:lstStyle/>
          <a:p>
            <a:pPr marL="0" indent="0" algn="ctr">
              <a:buNone/>
            </a:pPr>
            <a:r>
              <a:rPr lang="en-US" sz="1300" dirty="0">
                <a:solidFill>
                  <a:srgbClr val="F7931A"/>
                </a:solidFill>
              </a:rPr>
              <a:t>→</a:t>
            </a:r>
            <a:endParaRPr lang="en-US" sz="1300" dirty="0"/>
          </a:p>
        </p:txBody>
      </p:sp>
      <p:sp>
        <p:nvSpPr>
          <p:cNvPr id="10" name="Shape 8"/>
          <p:cNvSpPr/>
          <p:nvPr/>
        </p:nvSpPr>
        <p:spPr>
          <a:xfrm>
            <a:off x="1783080" y="1207008"/>
            <a:ext cx="1298448" cy="1508760"/>
          </a:xfrm>
          <a:prstGeom prst="roundRect">
            <a:avLst>
              <a:gd name="adj" fmla="val 5634"/>
            </a:avLst>
          </a:prstGeom>
          <a:solidFill>
            <a:srgbClr val="1C2B3A"/>
          </a:solidFill>
          <a:ln/>
          <a:effectLst>
            <a:outerShdw blurRad="127000" dist="38100" dir="8100000" algn="bl" rotWithShape="0">
              <a:srgbClr val="000000">
                <a:alpha val="35000"/>
              </a:srgbClr>
            </a:outerShdw>
          </a:effectLst>
        </p:spPr>
        <p:txBody>
          <a:bodyPr/>
          <a:lstStyle/>
          <a:p>
            <a:endParaRPr lang="es-ES"/>
          </a:p>
        </p:txBody>
      </p:sp>
      <p:sp>
        <p:nvSpPr>
          <p:cNvPr id="11" name="Shape 9"/>
          <p:cNvSpPr/>
          <p:nvPr/>
        </p:nvSpPr>
        <p:spPr>
          <a:xfrm>
            <a:off x="1847088" y="1261872"/>
            <a:ext cx="1170432" cy="237744"/>
          </a:xfrm>
          <a:prstGeom prst="roundRect">
            <a:avLst>
              <a:gd name="adj" fmla="val 15385"/>
            </a:avLst>
          </a:prstGeom>
          <a:solidFill>
            <a:srgbClr val="1E88E5">
              <a:alpha val="90000"/>
            </a:srgbClr>
          </a:solidFill>
          <a:ln w="12700">
            <a:solidFill>
              <a:srgbClr val="1E88E5">
                <a:alpha val="90000"/>
              </a:srgbClr>
            </a:solidFill>
            <a:prstDash val="solid"/>
          </a:ln>
        </p:spPr>
        <p:txBody>
          <a:bodyPr/>
          <a:lstStyle/>
          <a:p>
            <a:endParaRPr lang="es-ES"/>
          </a:p>
        </p:txBody>
      </p:sp>
      <p:sp>
        <p:nvSpPr>
          <p:cNvPr id="12" name="Text 10"/>
          <p:cNvSpPr/>
          <p:nvPr/>
        </p:nvSpPr>
        <p:spPr>
          <a:xfrm>
            <a:off x="1847088" y="1261872"/>
            <a:ext cx="1170432" cy="237744"/>
          </a:xfrm>
          <a:prstGeom prst="rect">
            <a:avLst/>
          </a:prstGeom>
          <a:noFill/>
          <a:ln/>
        </p:spPr>
        <p:txBody>
          <a:bodyPr wrap="square" lIns="0" tIns="0" rIns="0" bIns="0" rtlCol="0" anchor="ctr"/>
          <a:lstStyle/>
          <a:p>
            <a:pPr marL="0" indent="0" algn="ctr">
              <a:buNone/>
            </a:pPr>
            <a:r>
              <a:rPr lang="en-US" sz="1100" b="1" dirty="0">
                <a:solidFill>
                  <a:srgbClr val="FFFFFF"/>
                </a:solidFill>
              </a:rPr>
              <a:t>PYTHON ETL</a:t>
            </a:r>
            <a:endParaRPr lang="en-US" sz="1100" dirty="0"/>
          </a:p>
        </p:txBody>
      </p:sp>
      <p:sp>
        <p:nvSpPr>
          <p:cNvPr id="13" name="Text 11"/>
          <p:cNvSpPr/>
          <p:nvPr/>
        </p:nvSpPr>
        <p:spPr>
          <a:xfrm>
            <a:off x="1874520" y="1536192"/>
            <a:ext cx="1115568" cy="1115568"/>
          </a:xfrm>
          <a:prstGeom prst="rect">
            <a:avLst/>
          </a:prstGeom>
          <a:noFill/>
          <a:ln/>
        </p:spPr>
        <p:txBody>
          <a:bodyPr wrap="square" lIns="0" tIns="0" rIns="0" bIns="0" rtlCol="0" anchor="t"/>
          <a:lstStyle/>
          <a:p>
            <a:pPr marL="0" indent="0">
              <a:buNone/>
            </a:pPr>
            <a:r>
              <a:rPr lang="en-US" sz="1100" dirty="0">
                <a:solidFill>
                  <a:srgbClr val="B0BEC5"/>
                </a:solidFill>
              </a:rPr>
              <a:t>btc_pipeline.py</a:t>
            </a:r>
            <a:endParaRPr lang="en-US" sz="1100" dirty="0"/>
          </a:p>
          <a:p>
            <a:pPr marL="0" indent="0">
              <a:buNone/>
            </a:pPr>
            <a:r>
              <a:rPr lang="en-US" sz="1100" dirty="0">
                <a:solidFill>
                  <a:srgbClr val="B0BEC5"/>
                </a:solidFill>
              </a:rPr>
              <a:t>btc_pipeline_backwards.py</a:t>
            </a:r>
            <a:endParaRPr lang="en-US" sz="1100" dirty="0"/>
          </a:p>
        </p:txBody>
      </p:sp>
      <p:sp>
        <p:nvSpPr>
          <p:cNvPr id="14" name="Text 12"/>
          <p:cNvSpPr/>
          <p:nvPr/>
        </p:nvSpPr>
        <p:spPr>
          <a:xfrm>
            <a:off x="3081528" y="1645920"/>
            <a:ext cx="137160" cy="320040"/>
          </a:xfrm>
          <a:prstGeom prst="rect">
            <a:avLst/>
          </a:prstGeom>
          <a:noFill/>
          <a:ln/>
        </p:spPr>
        <p:txBody>
          <a:bodyPr wrap="square" lIns="0" tIns="0" rIns="0" bIns="0" rtlCol="0" anchor="ctr"/>
          <a:lstStyle/>
          <a:p>
            <a:pPr marL="0" indent="0" algn="ctr">
              <a:buNone/>
            </a:pPr>
            <a:r>
              <a:rPr lang="en-US" sz="1300" dirty="0">
                <a:solidFill>
                  <a:srgbClr val="F7931A"/>
                </a:solidFill>
              </a:rPr>
              <a:t>→</a:t>
            </a:r>
            <a:endParaRPr lang="en-US" sz="1300" dirty="0"/>
          </a:p>
        </p:txBody>
      </p:sp>
      <p:sp>
        <p:nvSpPr>
          <p:cNvPr id="15" name="Shape 13"/>
          <p:cNvSpPr/>
          <p:nvPr/>
        </p:nvSpPr>
        <p:spPr>
          <a:xfrm>
            <a:off x="3218688" y="1207008"/>
            <a:ext cx="1298448" cy="1508760"/>
          </a:xfrm>
          <a:prstGeom prst="roundRect">
            <a:avLst>
              <a:gd name="adj" fmla="val 5634"/>
            </a:avLst>
          </a:prstGeom>
          <a:solidFill>
            <a:srgbClr val="1C2B3A"/>
          </a:solidFill>
          <a:ln/>
          <a:effectLst>
            <a:outerShdw blurRad="127000" dist="38100" dir="8100000" algn="bl" rotWithShape="0">
              <a:srgbClr val="000000">
                <a:alpha val="35000"/>
              </a:srgbClr>
            </a:outerShdw>
          </a:effectLst>
        </p:spPr>
        <p:txBody>
          <a:bodyPr/>
          <a:lstStyle/>
          <a:p>
            <a:endParaRPr lang="es-ES"/>
          </a:p>
        </p:txBody>
      </p:sp>
      <p:sp>
        <p:nvSpPr>
          <p:cNvPr id="16" name="Shape 14"/>
          <p:cNvSpPr/>
          <p:nvPr/>
        </p:nvSpPr>
        <p:spPr>
          <a:xfrm>
            <a:off x="3282696" y="1261872"/>
            <a:ext cx="1170432" cy="237744"/>
          </a:xfrm>
          <a:prstGeom prst="roundRect">
            <a:avLst>
              <a:gd name="adj" fmla="val 15385"/>
            </a:avLst>
          </a:prstGeom>
          <a:solidFill>
            <a:srgbClr val="78909C">
              <a:alpha val="90000"/>
            </a:srgbClr>
          </a:solidFill>
          <a:ln w="12700">
            <a:solidFill>
              <a:srgbClr val="78909C">
                <a:alpha val="90000"/>
              </a:srgbClr>
            </a:solidFill>
            <a:prstDash val="solid"/>
          </a:ln>
        </p:spPr>
        <p:txBody>
          <a:bodyPr/>
          <a:lstStyle/>
          <a:p>
            <a:endParaRPr lang="es-ES"/>
          </a:p>
        </p:txBody>
      </p:sp>
      <p:sp>
        <p:nvSpPr>
          <p:cNvPr id="17" name="Text 15"/>
          <p:cNvSpPr/>
          <p:nvPr/>
        </p:nvSpPr>
        <p:spPr>
          <a:xfrm>
            <a:off x="3282696" y="1261872"/>
            <a:ext cx="1170432" cy="237744"/>
          </a:xfrm>
          <a:prstGeom prst="rect">
            <a:avLst/>
          </a:prstGeom>
          <a:noFill/>
          <a:ln/>
        </p:spPr>
        <p:txBody>
          <a:bodyPr wrap="square" lIns="0" tIns="0" rIns="0" bIns="0" rtlCol="0" anchor="ctr"/>
          <a:lstStyle/>
          <a:p>
            <a:pPr marL="0" indent="0" algn="ctr">
              <a:buNone/>
            </a:pPr>
            <a:r>
              <a:rPr lang="en-US" sz="1100" b="1" dirty="0">
                <a:solidFill>
                  <a:srgbClr val="FFFFFF"/>
                </a:solidFill>
              </a:rPr>
              <a:t>BTC_STAGING DB</a:t>
            </a:r>
            <a:endParaRPr lang="en-US" sz="1100" dirty="0"/>
          </a:p>
        </p:txBody>
      </p:sp>
      <p:sp>
        <p:nvSpPr>
          <p:cNvPr id="18" name="Text 16"/>
          <p:cNvSpPr/>
          <p:nvPr/>
        </p:nvSpPr>
        <p:spPr>
          <a:xfrm>
            <a:off x="3310128" y="1536192"/>
            <a:ext cx="1115568" cy="1115568"/>
          </a:xfrm>
          <a:prstGeom prst="rect">
            <a:avLst/>
          </a:prstGeom>
          <a:noFill/>
          <a:ln/>
        </p:spPr>
        <p:txBody>
          <a:bodyPr wrap="square" lIns="0" tIns="0" rIns="0" bIns="0" rtlCol="0" anchor="t"/>
          <a:lstStyle/>
          <a:p>
            <a:pPr marL="0" indent="0">
              <a:buNone/>
            </a:pPr>
            <a:r>
              <a:rPr lang="en-US" sz="1100" dirty="0">
                <a:solidFill>
                  <a:srgbClr val="B0BEC5"/>
                </a:solidFill>
              </a:rPr>
              <a:t>SQL Server</a:t>
            </a:r>
            <a:endParaRPr lang="en-US" sz="1100" dirty="0"/>
          </a:p>
          <a:p>
            <a:pPr marL="0" indent="0">
              <a:buNone/>
            </a:pPr>
            <a:r>
              <a:rPr lang="en-US" sz="1100" dirty="0">
                <a:solidFill>
                  <a:srgbClr val="B0BEC5"/>
                </a:solidFill>
              </a:rPr>
              <a:t>Raw landing zone</a:t>
            </a:r>
            <a:endParaRPr lang="en-US" sz="1100" dirty="0"/>
          </a:p>
          <a:p>
            <a:pPr marL="0" indent="0">
              <a:buNone/>
            </a:pPr>
            <a:r>
              <a:rPr lang="en-US" sz="1100" dirty="0">
                <a:solidFill>
                  <a:srgbClr val="B0BEC5"/>
                </a:solidFill>
              </a:rPr>
              <a:t>6 staging tables</a:t>
            </a:r>
            <a:endParaRPr lang="en-US" sz="1100" dirty="0"/>
          </a:p>
        </p:txBody>
      </p:sp>
      <p:sp>
        <p:nvSpPr>
          <p:cNvPr id="19" name="Text 17"/>
          <p:cNvSpPr/>
          <p:nvPr/>
        </p:nvSpPr>
        <p:spPr>
          <a:xfrm>
            <a:off x="4517136" y="1645920"/>
            <a:ext cx="137160" cy="320040"/>
          </a:xfrm>
          <a:prstGeom prst="rect">
            <a:avLst/>
          </a:prstGeom>
          <a:noFill/>
          <a:ln/>
        </p:spPr>
        <p:txBody>
          <a:bodyPr wrap="square" lIns="0" tIns="0" rIns="0" bIns="0" rtlCol="0" anchor="ctr"/>
          <a:lstStyle/>
          <a:p>
            <a:pPr marL="0" indent="0" algn="ctr">
              <a:buNone/>
            </a:pPr>
            <a:r>
              <a:rPr lang="en-US" sz="1300" dirty="0">
                <a:solidFill>
                  <a:srgbClr val="F7931A"/>
                </a:solidFill>
              </a:rPr>
              <a:t>→</a:t>
            </a:r>
            <a:endParaRPr lang="en-US" sz="1300" dirty="0"/>
          </a:p>
        </p:txBody>
      </p:sp>
      <p:sp>
        <p:nvSpPr>
          <p:cNvPr id="20" name="Shape 18"/>
          <p:cNvSpPr/>
          <p:nvPr/>
        </p:nvSpPr>
        <p:spPr>
          <a:xfrm>
            <a:off x="4654296" y="1207008"/>
            <a:ext cx="1298448" cy="1508760"/>
          </a:xfrm>
          <a:prstGeom prst="roundRect">
            <a:avLst>
              <a:gd name="adj" fmla="val 5634"/>
            </a:avLst>
          </a:prstGeom>
          <a:solidFill>
            <a:srgbClr val="1C2B3A"/>
          </a:solidFill>
          <a:ln/>
          <a:effectLst>
            <a:outerShdw blurRad="127000" dist="38100" dir="8100000" algn="bl" rotWithShape="0">
              <a:srgbClr val="000000">
                <a:alpha val="35000"/>
              </a:srgbClr>
            </a:outerShdw>
          </a:effectLst>
        </p:spPr>
        <p:txBody>
          <a:bodyPr/>
          <a:lstStyle/>
          <a:p>
            <a:endParaRPr lang="es-ES"/>
          </a:p>
        </p:txBody>
      </p:sp>
      <p:sp>
        <p:nvSpPr>
          <p:cNvPr id="21" name="Shape 19"/>
          <p:cNvSpPr/>
          <p:nvPr/>
        </p:nvSpPr>
        <p:spPr>
          <a:xfrm>
            <a:off x="4718304" y="1261872"/>
            <a:ext cx="1170432" cy="237744"/>
          </a:xfrm>
          <a:prstGeom prst="roundRect">
            <a:avLst>
              <a:gd name="adj" fmla="val 15385"/>
            </a:avLst>
          </a:prstGeom>
          <a:solidFill>
            <a:srgbClr val="26C6A2">
              <a:alpha val="90000"/>
            </a:srgbClr>
          </a:solidFill>
          <a:ln w="12700">
            <a:solidFill>
              <a:srgbClr val="26C6A2">
                <a:alpha val="90000"/>
              </a:srgbClr>
            </a:solidFill>
            <a:prstDash val="solid"/>
          </a:ln>
        </p:spPr>
        <p:txBody>
          <a:bodyPr/>
          <a:lstStyle/>
          <a:p>
            <a:endParaRPr lang="es-ES"/>
          </a:p>
        </p:txBody>
      </p:sp>
      <p:sp>
        <p:nvSpPr>
          <p:cNvPr id="22" name="Text 20"/>
          <p:cNvSpPr/>
          <p:nvPr/>
        </p:nvSpPr>
        <p:spPr>
          <a:xfrm>
            <a:off x="4718304" y="1261872"/>
            <a:ext cx="1170432" cy="237744"/>
          </a:xfrm>
          <a:prstGeom prst="rect">
            <a:avLst/>
          </a:prstGeom>
          <a:noFill/>
          <a:ln/>
        </p:spPr>
        <p:txBody>
          <a:bodyPr wrap="square" lIns="0" tIns="0" rIns="0" bIns="0" rtlCol="0" anchor="ctr"/>
          <a:lstStyle/>
          <a:p>
            <a:pPr marL="0" indent="0" algn="ctr">
              <a:buNone/>
            </a:pPr>
            <a:r>
              <a:rPr lang="en-US" sz="1100" b="1" dirty="0">
                <a:solidFill>
                  <a:srgbClr val="FFFFFF"/>
                </a:solidFill>
              </a:rPr>
              <a:t>BTC_DW DB</a:t>
            </a:r>
            <a:endParaRPr lang="en-US" sz="1100" dirty="0"/>
          </a:p>
        </p:txBody>
      </p:sp>
      <p:sp>
        <p:nvSpPr>
          <p:cNvPr id="23" name="Text 21"/>
          <p:cNvSpPr/>
          <p:nvPr/>
        </p:nvSpPr>
        <p:spPr>
          <a:xfrm>
            <a:off x="4745736" y="1536192"/>
            <a:ext cx="1115568" cy="1115568"/>
          </a:xfrm>
          <a:prstGeom prst="rect">
            <a:avLst/>
          </a:prstGeom>
          <a:noFill/>
          <a:ln/>
        </p:spPr>
        <p:txBody>
          <a:bodyPr wrap="square" lIns="0" tIns="0" rIns="0" bIns="0" rtlCol="0" anchor="t"/>
          <a:lstStyle/>
          <a:p>
            <a:pPr marL="0" indent="0">
              <a:buNone/>
            </a:pPr>
            <a:r>
              <a:rPr lang="en-US" sz="1100" dirty="0">
                <a:solidFill>
                  <a:srgbClr val="B0BEC5"/>
                </a:solidFill>
              </a:rPr>
              <a:t>SQL Server</a:t>
            </a:r>
            <a:endParaRPr lang="en-US" sz="1100" dirty="0"/>
          </a:p>
          <a:p>
            <a:pPr marL="0" indent="0">
              <a:buNone/>
            </a:pPr>
            <a:r>
              <a:rPr lang="en-US" sz="1100" dirty="0">
                <a:solidFill>
                  <a:srgbClr val="B0BEC5"/>
                </a:solidFill>
              </a:rPr>
              <a:t>Star Schema</a:t>
            </a:r>
            <a:endParaRPr lang="en-US" sz="1100" dirty="0"/>
          </a:p>
          <a:p>
            <a:pPr marL="0" indent="0">
              <a:buNone/>
            </a:pPr>
            <a:r>
              <a:rPr lang="en-US" sz="1100" dirty="0">
                <a:solidFill>
                  <a:srgbClr val="B0BEC5"/>
                </a:solidFill>
              </a:rPr>
              <a:t>4 dims + 1 fact</a:t>
            </a:r>
            <a:endParaRPr lang="en-US" sz="1100" dirty="0"/>
          </a:p>
        </p:txBody>
      </p:sp>
      <p:sp>
        <p:nvSpPr>
          <p:cNvPr id="24" name="Text 22"/>
          <p:cNvSpPr/>
          <p:nvPr/>
        </p:nvSpPr>
        <p:spPr>
          <a:xfrm>
            <a:off x="5952744" y="1645920"/>
            <a:ext cx="137160" cy="320040"/>
          </a:xfrm>
          <a:prstGeom prst="rect">
            <a:avLst/>
          </a:prstGeom>
          <a:noFill/>
          <a:ln/>
        </p:spPr>
        <p:txBody>
          <a:bodyPr wrap="square" lIns="0" tIns="0" rIns="0" bIns="0" rtlCol="0" anchor="ctr"/>
          <a:lstStyle/>
          <a:p>
            <a:pPr marL="0" indent="0" algn="ctr">
              <a:buNone/>
            </a:pPr>
            <a:r>
              <a:rPr lang="en-US" sz="1300" dirty="0">
                <a:solidFill>
                  <a:srgbClr val="F7931A"/>
                </a:solidFill>
              </a:rPr>
              <a:t>→</a:t>
            </a:r>
            <a:endParaRPr lang="en-US" sz="1300" dirty="0"/>
          </a:p>
        </p:txBody>
      </p:sp>
      <p:sp>
        <p:nvSpPr>
          <p:cNvPr id="25" name="Shape 23"/>
          <p:cNvSpPr/>
          <p:nvPr/>
        </p:nvSpPr>
        <p:spPr>
          <a:xfrm>
            <a:off x="6089904" y="1207008"/>
            <a:ext cx="1298448" cy="1508760"/>
          </a:xfrm>
          <a:prstGeom prst="roundRect">
            <a:avLst>
              <a:gd name="adj" fmla="val 5634"/>
            </a:avLst>
          </a:prstGeom>
          <a:solidFill>
            <a:srgbClr val="1C2B3A"/>
          </a:solidFill>
          <a:ln/>
          <a:effectLst>
            <a:outerShdw blurRad="127000" dist="38100" dir="8100000" algn="bl" rotWithShape="0">
              <a:srgbClr val="000000">
                <a:alpha val="35000"/>
              </a:srgbClr>
            </a:outerShdw>
          </a:effectLst>
        </p:spPr>
        <p:txBody>
          <a:bodyPr/>
          <a:lstStyle/>
          <a:p>
            <a:endParaRPr lang="es-ES"/>
          </a:p>
        </p:txBody>
      </p:sp>
      <p:sp>
        <p:nvSpPr>
          <p:cNvPr id="26" name="Shape 24"/>
          <p:cNvSpPr/>
          <p:nvPr/>
        </p:nvSpPr>
        <p:spPr>
          <a:xfrm>
            <a:off x="6153912" y="1261872"/>
            <a:ext cx="1170432" cy="237744"/>
          </a:xfrm>
          <a:prstGeom prst="roundRect">
            <a:avLst>
              <a:gd name="adj" fmla="val 15385"/>
            </a:avLst>
          </a:prstGeom>
          <a:solidFill>
            <a:srgbClr val="AB47BC">
              <a:alpha val="90000"/>
            </a:srgbClr>
          </a:solidFill>
          <a:ln w="12700">
            <a:solidFill>
              <a:srgbClr val="AB47BC">
                <a:alpha val="90000"/>
              </a:srgbClr>
            </a:solidFill>
            <a:prstDash val="solid"/>
          </a:ln>
        </p:spPr>
        <p:txBody>
          <a:bodyPr/>
          <a:lstStyle/>
          <a:p>
            <a:endParaRPr lang="es-ES"/>
          </a:p>
        </p:txBody>
      </p:sp>
      <p:sp>
        <p:nvSpPr>
          <p:cNvPr id="27" name="Text 25"/>
          <p:cNvSpPr/>
          <p:nvPr/>
        </p:nvSpPr>
        <p:spPr>
          <a:xfrm>
            <a:off x="6153912" y="1261872"/>
            <a:ext cx="1170432" cy="237744"/>
          </a:xfrm>
          <a:prstGeom prst="rect">
            <a:avLst/>
          </a:prstGeom>
          <a:noFill/>
          <a:ln/>
        </p:spPr>
        <p:txBody>
          <a:bodyPr wrap="square" lIns="0" tIns="0" rIns="0" bIns="0" rtlCol="0" anchor="ctr"/>
          <a:lstStyle/>
          <a:p>
            <a:pPr marL="0" indent="0" algn="ctr">
              <a:buNone/>
            </a:pPr>
            <a:r>
              <a:rPr lang="en-US" sz="1100" b="1" dirty="0">
                <a:solidFill>
                  <a:srgbClr val="FFFFFF"/>
                </a:solidFill>
              </a:rPr>
              <a:t>SSAS CUBE</a:t>
            </a:r>
            <a:endParaRPr lang="en-US" sz="1100" dirty="0"/>
          </a:p>
        </p:txBody>
      </p:sp>
      <p:sp>
        <p:nvSpPr>
          <p:cNvPr id="28" name="Text 26"/>
          <p:cNvSpPr/>
          <p:nvPr/>
        </p:nvSpPr>
        <p:spPr>
          <a:xfrm>
            <a:off x="6181344" y="1536192"/>
            <a:ext cx="1115568" cy="1115568"/>
          </a:xfrm>
          <a:prstGeom prst="rect">
            <a:avLst/>
          </a:prstGeom>
          <a:noFill/>
          <a:ln/>
        </p:spPr>
        <p:txBody>
          <a:bodyPr wrap="square" lIns="0" tIns="0" rIns="0" bIns="0" rtlCol="0" anchor="t"/>
          <a:lstStyle/>
          <a:p>
            <a:pPr marL="0" indent="0">
              <a:buNone/>
            </a:pPr>
            <a:r>
              <a:rPr lang="en-US" sz="1050" dirty="0">
                <a:solidFill>
                  <a:srgbClr val="B0BEC5"/>
                </a:solidFill>
              </a:rPr>
              <a:t>BTC_Analytics_Cube</a:t>
            </a:r>
            <a:endParaRPr lang="en-US" sz="1050" dirty="0"/>
          </a:p>
          <a:p>
            <a:pPr marL="0" indent="0">
              <a:buNone/>
            </a:pPr>
            <a:r>
              <a:rPr lang="en-US" sz="1100" dirty="0">
                <a:solidFill>
                  <a:srgbClr val="B0BEC5"/>
                </a:solidFill>
              </a:rPr>
              <a:t>MDX aggregations</a:t>
            </a:r>
            <a:endParaRPr lang="en-US" sz="1100" dirty="0"/>
          </a:p>
          <a:p>
            <a:pPr marL="0" indent="0">
              <a:buNone/>
            </a:pPr>
            <a:r>
              <a:rPr lang="en-US" sz="1100" dirty="0">
                <a:solidFill>
                  <a:srgbClr val="B0BEC5"/>
                </a:solidFill>
              </a:rPr>
              <a:t>Hierarchies &amp; KPIs</a:t>
            </a:r>
            <a:endParaRPr lang="en-US" sz="1100" dirty="0"/>
          </a:p>
        </p:txBody>
      </p:sp>
      <p:sp>
        <p:nvSpPr>
          <p:cNvPr id="29" name="Text 27"/>
          <p:cNvSpPr/>
          <p:nvPr/>
        </p:nvSpPr>
        <p:spPr>
          <a:xfrm>
            <a:off x="7388352" y="1645920"/>
            <a:ext cx="137160" cy="320040"/>
          </a:xfrm>
          <a:prstGeom prst="rect">
            <a:avLst/>
          </a:prstGeom>
          <a:noFill/>
          <a:ln/>
        </p:spPr>
        <p:txBody>
          <a:bodyPr wrap="square" lIns="0" tIns="0" rIns="0" bIns="0" rtlCol="0" anchor="ctr"/>
          <a:lstStyle/>
          <a:p>
            <a:pPr marL="0" indent="0" algn="ctr">
              <a:buNone/>
            </a:pPr>
            <a:r>
              <a:rPr lang="en-US" sz="1300" dirty="0">
                <a:solidFill>
                  <a:srgbClr val="F7931A"/>
                </a:solidFill>
              </a:rPr>
              <a:t>→</a:t>
            </a:r>
            <a:endParaRPr lang="en-US" sz="1300" dirty="0"/>
          </a:p>
        </p:txBody>
      </p:sp>
      <p:sp>
        <p:nvSpPr>
          <p:cNvPr id="30" name="Shape 28"/>
          <p:cNvSpPr/>
          <p:nvPr/>
        </p:nvSpPr>
        <p:spPr>
          <a:xfrm>
            <a:off x="7525512" y="1207008"/>
            <a:ext cx="1298448" cy="1508760"/>
          </a:xfrm>
          <a:prstGeom prst="roundRect">
            <a:avLst>
              <a:gd name="adj" fmla="val 5634"/>
            </a:avLst>
          </a:prstGeom>
          <a:solidFill>
            <a:srgbClr val="1C2B3A"/>
          </a:solidFill>
          <a:ln/>
          <a:effectLst>
            <a:outerShdw blurRad="127000" dist="38100" dir="8100000" algn="bl" rotWithShape="0">
              <a:srgbClr val="000000">
                <a:alpha val="35000"/>
              </a:srgbClr>
            </a:outerShdw>
          </a:effectLst>
        </p:spPr>
        <p:txBody>
          <a:bodyPr/>
          <a:lstStyle/>
          <a:p>
            <a:endParaRPr lang="es-ES"/>
          </a:p>
        </p:txBody>
      </p:sp>
      <p:sp>
        <p:nvSpPr>
          <p:cNvPr id="31" name="Shape 29"/>
          <p:cNvSpPr/>
          <p:nvPr/>
        </p:nvSpPr>
        <p:spPr>
          <a:xfrm>
            <a:off x="7589520" y="1261872"/>
            <a:ext cx="1170432" cy="237744"/>
          </a:xfrm>
          <a:prstGeom prst="roundRect">
            <a:avLst>
              <a:gd name="adj" fmla="val 15385"/>
            </a:avLst>
          </a:prstGeom>
          <a:solidFill>
            <a:srgbClr val="E53935">
              <a:alpha val="90000"/>
            </a:srgbClr>
          </a:solidFill>
          <a:ln w="12700">
            <a:solidFill>
              <a:srgbClr val="E53935">
                <a:alpha val="90000"/>
              </a:srgbClr>
            </a:solidFill>
            <a:prstDash val="solid"/>
          </a:ln>
        </p:spPr>
        <p:txBody>
          <a:bodyPr/>
          <a:lstStyle/>
          <a:p>
            <a:endParaRPr lang="es-ES"/>
          </a:p>
        </p:txBody>
      </p:sp>
      <p:sp>
        <p:nvSpPr>
          <p:cNvPr id="32" name="Text 30"/>
          <p:cNvSpPr/>
          <p:nvPr/>
        </p:nvSpPr>
        <p:spPr>
          <a:xfrm>
            <a:off x="7589520" y="1261872"/>
            <a:ext cx="1170432" cy="237744"/>
          </a:xfrm>
          <a:prstGeom prst="rect">
            <a:avLst/>
          </a:prstGeom>
          <a:noFill/>
          <a:ln/>
        </p:spPr>
        <p:txBody>
          <a:bodyPr wrap="square" lIns="0" tIns="0" rIns="0" bIns="0" rtlCol="0" anchor="ctr"/>
          <a:lstStyle/>
          <a:p>
            <a:pPr marL="0" indent="0" algn="ctr">
              <a:buNone/>
            </a:pPr>
            <a:r>
              <a:rPr lang="en-US" sz="1100" b="1" dirty="0">
                <a:solidFill>
                  <a:srgbClr val="FFFFFF"/>
                </a:solidFill>
              </a:rPr>
              <a:t>POWER BI</a:t>
            </a:r>
            <a:endParaRPr lang="en-US" sz="1100" dirty="0"/>
          </a:p>
        </p:txBody>
      </p:sp>
      <p:sp>
        <p:nvSpPr>
          <p:cNvPr id="33" name="Text 31"/>
          <p:cNvSpPr/>
          <p:nvPr/>
        </p:nvSpPr>
        <p:spPr>
          <a:xfrm>
            <a:off x="7616952" y="1536192"/>
            <a:ext cx="1115568" cy="1115568"/>
          </a:xfrm>
          <a:prstGeom prst="rect">
            <a:avLst/>
          </a:prstGeom>
          <a:noFill/>
          <a:ln/>
        </p:spPr>
        <p:txBody>
          <a:bodyPr wrap="square" lIns="0" tIns="0" rIns="0" bIns="0" rtlCol="0" anchor="t"/>
          <a:lstStyle/>
          <a:p>
            <a:pPr marL="0" indent="0">
              <a:buNone/>
            </a:pPr>
            <a:r>
              <a:rPr lang="en-US" sz="1100" dirty="0">
                <a:solidFill>
                  <a:srgbClr val="B0BEC5"/>
                </a:solidFill>
              </a:rPr>
              <a:t>Live Connection</a:t>
            </a:r>
            <a:endParaRPr lang="en-US" sz="1100" dirty="0"/>
          </a:p>
          <a:p>
            <a:pPr marL="0" indent="0">
              <a:buNone/>
            </a:pPr>
            <a:r>
              <a:rPr lang="en-US" sz="1100" dirty="0">
                <a:solidFill>
                  <a:srgbClr val="B0BEC5"/>
                </a:solidFill>
              </a:rPr>
              <a:t>MDX queries</a:t>
            </a:r>
            <a:endParaRPr lang="en-US" sz="1100" dirty="0"/>
          </a:p>
          <a:p>
            <a:pPr marL="0" indent="0">
              <a:buNone/>
            </a:pPr>
            <a:r>
              <a:rPr lang="en-US" sz="1100" dirty="0">
                <a:solidFill>
                  <a:srgbClr val="B0BEC5"/>
                </a:solidFill>
              </a:rPr>
              <a:t>Management Dashboard</a:t>
            </a:r>
            <a:endParaRPr lang="en-US" sz="1100" dirty="0"/>
          </a:p>
        </p:txBody>
      </p:sp>
      <p:sp>
        <p:nvSpPr>
          <p:cNvPr id="34" name="Text 32"/>
          <p:cNvSpPr/>
          <p:nvPr/>
        </p:nvSpPr>
        <p:spPr>
          <a:xfrm>
            <a:off x="457200" y="2907792"/>
            <a:ext cx="8229600" cy="256032"/>
          </a:xfrm>
          <a:prstGeom prst="rect">
            <a:avLst/>
          </a:prstGeom>
          <a:noFill/>
          <a:ln/>
        </p:spPr>
        <p:txBody>
          <a:bodyPr wrap="square" lIns="0" tIns="0" rIns="0" bIns="0" rtlCol="0" anchor="ctr"/>
          <a:lstStyle/>
          <a:p>
            <a:pPr marL="0" indent="0">
              <a:buNone/>
            </a:pPr>
            <a:r>
              <a:rPr lang="en-US" sz="1200" b="1" kern="0" spc="150" dirty="0">
                <a:solidFill>
                  <a:srgbClr val="F7931A"/>
                </a:solidFill>
              </a:rPr>
              <a:t>TOOL JUSTIFICATIONS</a:t>
            </a:r>
            <a:endParaRPr lang="en-US" sz="1200" dirty="0"/>
          </a:p>
        </p:txBody>
      </p:sp>
      <p:sp>
        <p:nvSpPr>
          <p:cNvPr id="35" name="Shape 33"/>
          <p:cNvSpPr/>
          <p:nvPr/>
        </p:nvSpPr>
        <p:spPr>
          <a:xfrm>
            <a:off x="457200" y="3200400"/>
            <a:ext cx="2697480" cy="1600200"/>
          </a:xfrm>
          <a:prstGeom prst="roundRect">
            <a:avLst>
              <a:gd name="adj" fmla="val 4571"/>
            </a:avLst>
          </a:prstGeom>
          <a:solidFill>
            <a:srgbClr val="1C2B3A"/>
          </a:solidFill>
          <a:ln/>
          <a:effectLst>
            <a:outerShdw blurRad="101600" dist="25400" dir="8100000" algn="bl" rotWithShape="0">
              <a:srgbClr val="000000">
                <a:alpha val="25000"/>
              </a:srgbClr>
            </a:outerShdw>
          </a:effectLst>
        </p:spPr>
        <p:txBody>
          <a:bodyPr/>
          <a:lstStyle/>
          <a:p>
            <a:endParaRPr lang="es-ES"/>
          </a:p>
        </p:txBody>
      </p:sp>
      <p:sp>
        <p:nvSpPr>
          <p:cNvPr id="36" name="Shape 34"/>
          <p:cNvSpPr/>
          <p:nvPr/>
        </p:nvSpPr>
        <p:spPr>
          <a:xfrm>
            <a:off x="566928" y="3273552"/>
            <a:ext cx="228600" cy="228600"/>
          </a:xfrm>
          <a:prstGeom prst="ellipse">
            <a:avLst/>
          </a:prstGeom>
          <a:solidFill>
            <a:srgbClr val="F7931A"/>
          </a:solidFill>
          <a:ln w="12700">
            <a:solidFill>
              <a:srgbClr val="F7931A"/>
            </a:solidFill>
            <a:prstDash val="solid"/>
          </a:ln>
        </p:spPr>
        <p:txBody>
          <a:bodyPr/>
          <a:lstStyle/>
          <a:p>
            <a:endParaRPr lang="es-ES"/>
          </a:p>
        </p:txBody>
      </p:sp>
      <p:sp>
        <p:nvSpPr>
          <p:cNvPr id="37" name="Text 35"/>
          <p:cNvSpPr/>
          <p:nvPr/>
        </p:nvSpPr>
        <p:spPr>
          <a:xfrm>
            <a:off x="868680" y="3255264"/>
            <a:ext cx="2194560" cy="274320"/>
          </a:xfrm>
          <a:prstGeom prst="rect">
            <a:avLst/>
          </a:prstGeom>
          <a:noFill/>
          <a:ln/>
        </p:spPr>
        <p:txBody>
          <a:bodyPr wrap="square" lIns="0" tIns="0" rIns="0" bIns="0" rtlCol="0" anchor="ctr"/>
          <a:lstStyle/>
          <a:p>
            <a:pPr marL="0" indent="0">
              <a:buNone/>
            </a:pPr>
            <a:r>
              <a:rPr lang="en-US" sz="1200" b="1" dirty="0">
                <a:solidFill>
                  <a:srgbClr val="FFFFFF"/>
                </a:solidFill>
              </a:rPr>
              <a:t>Python over SSIS/Talend</a:t>
            </a:r>
            <a:endParaRPr lang="en-US" sz="1200" dirty="0"/>
          </a:p>
        </p:txBody>
      </p:sp>
      <p:sp>
        <p:nvSpPr>
          <p:cNvPr id="38" name="Text 36"/>
          <p:cNvSpPr/>
          <p:nvPr/>
        </p:nvSpPr>
        <p:spPr>
          <a:xfrm>
            <a:off x="594360" y="3566160"/>
            <a:ext cx="2423160" cy="1143000"/>
          </a:xfrm>
          <a:prstGeom prst="rect">
            <a:avLst/>
          </a:prstGeom>
          <a:noFill/>
          <a:ln/>
        </p:spPr>
        <p:txBody>
          <a:bodyPr wrap="square" lIns="0" tIns="0" rIns="0" bIns="0" rtlCol="0" anchor="ctr"/>
          <a:lstStyle/>
          <a:p>
            <a:pPr marL="0" indent="0">
              <a:buNone/>
            </a:pPr>
            <a:r>
              <a:rPr lang="en-US" sz="1100" dirty="0">
                <a:solidFill>
                  <a:srgbClr val="B0BEC5"/>
                </a:solidFill>
              </a:rPr>
              <a:t>Mempool API returns HTTP 404 (not empty list) when a block has exactly 25/50 txs. Python's custom http_get(ignore_404=True) solves this; SSIS cannot handle it gracefully.</a:t>
            </a:r>
          </a:p>
          <a:p>
            <a:pPr marL="0" indent="0">
              <a:buNone/>
            </a:pPr>
            <a:r>
              <a:rPr lang="en-US" sz="1100" dirty="0">
                <a:solidFill>
                  <a:srgbClr val="B0BEC5"/>
                </a:solidFill>
              </a:rPr>
              <a:t>Also, because I love Python.</a:t>
            </a:r>
            <a:endParaRPr lang="en-US" sz="1100" dirty="0"/>
          </a:p>
        </p:txBody>
      </p:sp>
      <p:sp>
        <p:nvSpPr>
          <p:cNvPr id="39" name="Shape 37"/>
          <p:cNvSpPr/>
          <p:nvPr/>
        </p:nvSpPr>
        <p:spPr>
          <a:xfrm>
            <a:off x="3337560" y="3200400"/>
            <a:ext cx="2697480" cy="1600200"/>
          </a:xfrm>
          <a:prstGeom prst="roundRect">
            <a:avLst>
              <a:gd name="adj" fmla="val 4571"/>
            </a:avLst>
          </a:prstGeom>
          <a:solidFill>
            <a:srgbClr val="1C2B3A"/>
          </a:solidFill>
          <a:ln/>
          <a:effectLst>
            <a:outerShdw blurRad="101600" dist="25400" dir="8100000" algn="bl" rotWithShape="0">
              <a:srgbClr val="000000">
                <a:alpha val="25000"/>
              </a:srgbClr>
            </a:outerShdw>
          </a:effectLst>
        </p:spPr>
        <p:txBody>
          <a:bodyPr/>
          <a:lstStyle/>
          <a:p>
            <a:endParaRPr lang="es-ES"/>
          </a:p>
        </p:txBody>
      </p:sp>
      <p:sp>
        <p:nvSpPr>
          <p:cNvPr id="40" name="Shape 38"/>
          <p:cNvSpPr/>
          <p:nvPr/>
        </p:nvSpPr>
        <p:spPr>
          <a:xfrm>
            <a:off x="3447288" y="3273552"/>
            <a:ext cx="228600" cy="228600"/>
          </a:xfrm>
          <a:prstGeom prst="ellipse">
            <a:avLst/>
          </a:prstGeom>
          <a:solidFill>
            <a:srgbClr val="1E88E5"/>
          </a:solidFill>
          <a:ln w="12700">
            <a:solidFill>
              <a:srgbClr val="1E88E5"/>
            </a:solidFill>
            <a:prstDash val="solid"/>
          </a:ln>
        </p:spPr>
        <p:txBody>
          <a:bodyPr/>
          <a:lstStyle/>
          <a:p>
            <a:endParaRPr lang="es-ES"/>
          </a:p>
        </p:txBody>
      </p:sp>
      <p:sp>
        <p:nvSpPr>
          <p:cNvPr id="41" name="Text 39"/>
          <p:cNvSpPr/>
          <p:nvPr/>
        </p:nvSpPr>
        <p:spPr>
          <a:xfrm>
            <a:off x="3749040" y="3255264"/>
            <a:ext cx="2194560" cy="274320"/>
          </a:xfrm>
          <a:prstGeom prst="rect">
            <a:avLst/>
          </a:prstGeom>
          <a:noFill/>
          <a:ln/>
        </p:spPr>
        <p:txBody>
          <a:bodyPr wrap="square" lIns="0" tIns="0" rIns="0" bIns="0" rtlCol="0" anchor="ctr"/>
          <a:lstStyle/>
          <a:p>
            <a:pPr marL="0" indent="0">
              <a:buNone/>
            </a:pPr>
            <a:r>
              <a:rPr lang="en-US" sz="1200" b="1" dirty="0">
                <a:solidFill>
                  <a:srgbClr val="FFFFFF"/>
                </a:solidFill>
              </a:rPr>
              <a:t>Staging + DW Separation</a:t>
            </a:r>
            <a:endParaRPr lang="en-US" sz="1200" dirty="0"/>
          </a:p>
        </p:txBody>
      </p:sp>
      <p:sp>
        <p:nvSpPr>
          <p:cNvPr id="42" name="Text 40"/>
          <p:cNvSpPr/>
          <p:nvPr/>
        </p:nvSpPr>
        <p:spPr>
          <a:xfrm>
            <a:off x="3474720" y="3566160"/>
            <a:ext cx="2423160" cy="1143000"/>
          </a:xfrm>
          <a:prstGeom prst="rect">
            <a:avLst/>
          </a:prstGeom>
          <a:noFill/>
          <a:ln/>
        </p:spPr>
        <p:txBody>
          <a:bodyPr wrap="square" lIns="0" tIns="0" rIns="0" bIns="0" rtlCol="0" anchor="ctr"/>
          <a:lstStyle/>
          <a:p>
            <a:pPr marL="0" indent="0">
              <a:buNone/>
            </a:pPr>
            <a:r>
              <a:rPr lang="en-US" sz="1100" dirty="0">
                <a:solidFill>
                  <a:srgbClr val="B0BEC5"/>
                </a:solidFill>
              </a:rPr>
              <a:t>Staging preserves raw data intact for re-runs. DW contains only clean, conformed data. An ETL bug never corrupts the analytical layer.</a:t>
            </a:r>
            <a:endParaRPr lang="en-US" sz="1100" dirty="0"/>
          </a:p>
        </p:txBody>
      </p:sp>
      <p:sp>
        <p:nvSpPr>
          <p:cNvPr id="43" name="Shape 41"/>
          <p:cNvSpPr/>
          <p:nvPr/>
        </p:nvSpPr>
        <p:spPr>
          <a:xfrm>
            <a:off x="6217920" y="3200400"/>
            <a:ext cx="2697480" cy="1600200"/>
          </a:xfrm>
          <a:prstGeom prst="roundRect">
            <a:avLst>
              <a:gd name="adj" fmla="val 4571"/>
            </a:avLst>
          </a:prstGeom>
          <a:solidFill>
            <a:srgbClr val="1C2B3A"/>
          </a:solidFill>
          <a:ln/>
          <a:effectLst>
            <a:outerShdw blurRad="101600" dist="25400" dir="8100000" algn="bl" rotWithShape="0">
              <a:srgbClr val="000000">
                <a:alpha val="25000"/>
              </a:srgbClr>
            </a:outerShdw>
          </a:effectLst>
        </p:spPr>
        <p:txBody>
          <a:bodyPr/>
          <a:lstStyle/>
          <a:p>
            <a:endParaRPr lang="es-ES"/>
          </a:p>
        </p:txBody>
      </p:sp>
      <p:sp>
        <p:nvSpPr>
          <p:cNvPr id="44" name="Shape 42"/>
          <p:cNvSpPr/>
          <p:nvPr/>
        </p:nvSpPr>
        <p:spPr>
          <a:xfrm>
            <a:off x="6327648" y="3273552"/>
            <a:ext cx="228600" cy="228600"/>
          </a:xfrm>
          <a:prstGeom prst="ellipse">
            <a:avLst/>
          </a:prstGeom>
          <a:solidFill>
            <a:srgbClr val="26C6A2"/>
          </a:solidFill>
          <a:ln w="12700">
            <a:solidFill>
              <a:srgbClr val="26C6A2"/>
            </a:solidFill>
            <a:prstDash val="solid"/>
          </a:ln>
        </p:spPr>
        <p:txBody>
          <a:bodyPr/>
          <a:lstStyle/>
          <a:p>
            <a:endParaRPr lang="es-ES"/>
          </a:p>
        </p:txBody>
      </p:sp>
      <p:sp>
        <p:nvSpPr>
          <p:cNvPr id="45" name="Text 43"/>
          <p:cNvSpPr/>
          <p:nvPr/>
        </p:nvSpPr>
        <p:spPr>
          <a:xfrm>
            <a:off x="6629400" y="3255264"/>
            <a:ext cx="2194560" cy="274320"/>
          </a:xfrm>
          <a:prstGeom prst="rect">
            <a:avLst/>
          </a:prstGeom>
          <a:noFill/>
          <a:ln/>
        </p:spPr>
        <p:txBody>
          <a:bodyPr wrap="square" lIns="0" tIns="0" rIns="0" bIns="0" rtlCol="0" anchor="ctr"/>
          <a:lstStyle/>
          <a:p>
            <a:pPr marL="0" indent="0">
              <a:buNone/>
            </a:pPr>
            <a:r>
              <a:rPr lang="en-US" sz="1200" b="1" dirty="0">
                <a:solidFill>
                  <a:srgbClr val="FFFFFF"/>
                </a:solidFill>
              </a:rPr>
              <a:t>SSAS Live Connection in Power BI</a:t>
            </a:r>
            <a:endParaRPr lang="en-US" sz="1200" dirty="0"/>
          </a:p>
        </p:txBody>
      </p:sp>
      <p:sp>
        <p:nvSpPr>
          <p:cNvPr id="46" name="Text 44"/>
          <p:cNvSpPr/>
          <p:nvPr/>
        </p:nvSpPr>
        <p:spPr>
          <a:xfrm>
            <a:off x="6355080" y="3566160"/>
            <a:ext cx="2423160" cy="1143000"/>
          </a:xfrm>
          <a:prstGeom prst="rect">
            <a:avLst/>
          </a:prstGeom>
          <a:noFill/>
          <a:ln/>
        </p:spPr>
        <p:txBody>
          <a:bodyPr wrap="square" lIns="0" tIns="0" rIns="0" bIns="0" rtlCol="0" anchor="ctr"/>
          <a:lstStyle/>
          <a:p>
            <a:pPr marL="0" indent="0">
              <a:buNone/>
            </a:pPr>
            <a:r>
              <a:rPr lang="en-US" sz="1100" dirty="0">
                <a:solidFill>
                  <a:srgbClr val="B0BEC5"/>
                </a:solidFill>
              </a:rPr>
              <a:t>657,968 rows (growing via backfill).</a:t>
            </a:r>
          </a:p>
          <a:p>
            <a:pPr marL="0" indent="0">
              <a:buNone/>
            </a:pPr>
            <a:r>
              <a:rPr lang="en-US" sz="1100" dirty="0">
                <a:solidFill>
                  <a:srgbClr val="B0BEC5"/>
                </a:solidFill>
              </a:rPr>
              <a:t>Live = Power BI sends MDX queries to pre-aggregated cube, never loading raw rows into RAM → sub-second dashboard response.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457200" y="256032"/>
            <a:ext cx="2948940" cy="256032"/>
          </a:xfrm>
          <a:prstGeom prst="roundRect">
            <a:avLst>
              <a:gd name="adj" fmla="val 14286"/>
            </a:avLst>
          </a:prstGeom>
          <a:solidFill>
            <a:srgbClr val="F7931A"/>
          </a:solidFill>
          <a:ln w="12700">
            <a:solidFill>
              <a:srgbClr val="F7931A"/>
            </a:solidFill>
            <a:prstDash val="solid"/>
          </a:ln>
        </p:spPr>
        <p:txBody>
          <a:bodyPr/>
          <a:lstStyle/>
          <a:p>
            <a:endParaRPr lang="es-ES"/>
          </a:p>
        </p:txBody>
      </p:sp>
      <p:sp>
        <p:nvSpPr>
          <p:cNvPr id="3" name="Text 1"/>
          <p:cNvSpPr/>
          <p:nvPr/>
        </p:nvSpPr>
        <p:spPr>
          <a:xfrm>
            <a:off x="457200" y="256032"/>
            <a:ext cx="2948940" cy="256032"/>
          </a:xfrm>
          <a:prstGeom prst="rect">
            <a:avLst/>
          </a:prstGeom>
          <a:noFill/>
          <a:ln/>
        </p:spPr>
        <p:txBody>
          <a:bodyPr wrap="square" lIns="0" tIns="0" rIns="0" bIns="0" rtlCol="0" anchor="ctr"/>
          <a:lstStyle/>
          <a:p>
            <a:pPr marL="0" indent="0" algn="ctr">
              <a:buNone/>
            </a:pPr>
            <a:r>
              <a:rPr lang="en-US" sz="1100" b="1" dirty="0">
                <a:solidFill>
                  <a:srgbClr val="FFFFFF"/>
                </a:solidFill>
              </a:rPr>
              <a:t>03 · ETL PROCESS - DESIGN</a:t>
            </a:r>
            <a:endParaRPr lang="en-US" sz="1100" dirty="0"/>
          </a:p>
        </p:txBody>
      </p:sp>
      <p:sp>
        <p:nvSpPr>
          <p:cNvPr id="4" name="Text 2"/>
          <p:cNvSpPr/>
          <p:nvPr/>
        </p:nvSpPr>
        <p:spPr>
          <a:xfrm>
            <a:off x="457200" y="566928"/>
            <a:ext cx="8229600" cy="502920"/>
          </a:xfrm>
          <a:prstGeom prst="rect">
            <a:avLst/>
          </a:prstGeom>
          <a:noFill/>
          <a:ln/>
        </p:spPr>
        <p:txBody>
          <a:bodyPr wrap="square" lIns="0" tIns="0" rIns="0" bIns="0" rtlCol="0" anchor="ctr"/>
          <a:lstStyle/>
          <a:p>
            <a:pPr marL="0" indent="0">
              <a:buNone/>
            </a:pPr>
            <a:r>
              <a:rPr lang="en-US" sz="2800" b="1" dirty="0">
                <a:solidFill>
                  <a:srgbClr val="1A2332"/>
                </a:solidFill>
              </a:rPr>
              <a:t>ETL Pipeline: 4-Phase Design</a:t>
            </a:r>
            <a:endParaRPr lang="en-US" sz="2800" dirty="0"/>
          </a:p>
        </p:txBody>
      </p:sp>
      <p:sp>
        <p:nvSpPr>
          <p:cNvPr id="5" name="Shape 3"/>
          <p:cNvSpPr/>
          <p:nvPr/>
        </p:nvSpPr>
        <p:spPr>
          <a:xfrm>
            <a:off x="457200" y="1142999"/>
            <a:ext cx="1920240" cy="2082521"/>
          </a:xfrm>
          <a:prstGeom prst="roundRect">
            <a:avLst>
              <a:gd name="adj" fmla="val 4762"/>
            </a:avLst>
          </a:prstGeom>
          <a:solidFill>
            <a:srgbClr val="FFFFFF"/>
          </a:solidFill>
          <a:ln/>
          <a:effectLst>
            <a:outerShdw blurRad="101600" dist="25400" dir="8100000" algn="bl" rotWithShape="0">
              <a:srgbClr val="000000">
                <a:alpha val="10000"/>
              </a:srgbClr>
            </a:outerShdw>
          </a:effectLst>
        </p:spPr>
        <p:txBody>
          <a:bodyPr/>
          <a:lstStyle/>
          <a:p>
            <a:endParaRPr lang="es-ES"/>
          </a:p>
        </p:txBody>
      </p:sp>
      <p:sp>
        <p:nvSpPr>
          <p:cNvPr id="6" name="Shape 4"/>
          <p:cNvSpPr/>
          <p:nvPr/>
        </p:nvSpPr>
        <p:spPr>
          <a:xfrm>
            <a:off x="1152144" y="1234440"/>
            <a:ext cx="530352" cy="530352"/>
          </a:xfrm>
          <a:prstGeom prst="ellipse">
            <a:avLst/>
          </a:prstGeom>
          <a:solidFill>
            <a:srgbClr val="F7931A"/>
          </a:solidFill>
          <a:ln w="12700">
            <a:solidFill>
              <a:srgbClr val="F7931A"/>
            </a:solidFill>
            <a:prstDash val="solid"/>
          </a:ln>
        </p:spPr>
        <p:txBody>
          <a:bodyPr/>
          <a:lstStyle/>
          <a:p>
            <a:endParaRPr lang="es-ES"/>
          </a:p>
        </p:txBody>
      </p:sp>
      <p:sp>
        <p:nvSpPr>
          <p:cNvPr id="7" name="Text 5"/>
          <p:cNvSpPr/>
          <p:nvPr/>
        </p:nvSpPr>
        <p:spPr>
          <a:xfrm>
            <a:off x="1152144" y="123444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rPr>
              <a:t>01</a:t>
            </a:r>
            <a:endParaRPr lang="en-US" sz="1500" dirty="0"/>
          </a:p>
        </p:txBody>
      </p:sp>
      <p:sp>
        <p:nvSpPr>
          <p:cNvPr id="8" name="Text 6"/>
          <p:cNvSpPr/>
          <p:nvPr/>
        </p:nvSpPr>
        <p:spPr>
          <a:xfrm>
            <a:off x="566928" y="1837944"/>
            <a:ext cx="1700784" cy="256032"/>
          </a:xfrm>
          <a:prstGeom prst="rect">
            <a:avLst/>
          </a:prstGeom>
          <a:noFill/>
          <a:ln/>
        </p:spPr>
        <p:txBody>
          <a:bodyPr wrap="square" lIns="0" tIns="0" rIns="0" bIns="0" rtlCol="0" anchor="ctr"/>
          <a:lstStyle/>
          <a:p>
            <a:pPr marL="0" indent="0" algn="ctr">
              <a:buNone/>
            </a:pPr>
            <a:r>
              <a:rPr lang="en-US" sz="1100" b="1" dirty="0">
                <a:solidFill>
                  <a:srgbClr val="1A2332"/>
                </a:solidFill>
              </a:rPr>
              <a:t>EXTRACT</a:t>
            </a:r>
            <a:endParaRPr lang="en-US" sz="1100" dirty="0"/>
          </a:p>
        </p:txBody>
      </p:sp>
      <p:sp>
        <p:nvSpPr>
          <p:cNvPr id="9" name="Text 7"/>
          <p:cNvSpPr/>
          <p:nvPr/>
        </p:nvSpPr>
        <p:spPr>
          <a:xfrm>
            <a:off x="566928" y="2121408"/>
            <a:ext cx="1700784" cy="1104112"/>
          </a:xfrm>
          <a:prstGeom prst="rect">
            <a:avLst/>
          </a:prstGeom>
          <a:noFill/>
          <a:ln/>
        </p:spPr>
        <p:txBody>
          <a:bodyPr wrap="square" lIns="0" tIns="0" rIns="0" bIns="0" rtlCol="0" anchor="t"/>
          <a:lstStyle/>
          <a:p>
            <a:pPr marL="342900" indent="-342900">
              <a:buSzPct val="100000"/>
              <a:buChar char="•"/>
            </a:pPr>
            <a:r>
              <a:rPr lang="en-US" sz="900" dirty="0">
                <a:solidFill>
                  <a:srgbClr val="455A64"/>
                </a:solidFill>
              </a:rPr>
              <a:t>Watermark = MAX(height) from STG_BLOCKS</a:t>
            </a:r>
            <a:endParaRPr lang="en-US" sz="900" dirty="0"/>
          </a:p>
          <a:p>
            <a:pPr marL="342900" indent="-342900">
              <a:buSzPct val="100000"/>
              <a:buChar char="•"/>
            </a:pPr>
            <a:r>
              <a:rPr lang="en-US" sz="900" dirty="0">
                <a:solidFill>
                  <a:srgbClr val="455A64"/>
                </a:solidFill>
              </a:rPr>
              <a:t>Fetch only newer blocks from Mempool API</a:t>
            </a:r>
            <a:endParaRPr lang="en-US" sz="900" dirty="0"/>
          </a:p>
          <a:p>
            <a:pPr marL="342900" indent="-342900">
              <a:buSzPct val="100000"/>
              <a:buChar char="•"/>
            </a:pPr>
            <a:r>
              <a:rPr lang="en-US" sz="900" dirty="0">
                <a:solidFill>
                  <a:srgbClr val="455A64"/>
                </a:solidFill>
              </a:rPr>
              <a:t>Market data uses date-based watermarks</a:t>
            </a:r>
            <a:endParaRPr lang="en-US" sz="900" dirty="0"/>
          </a:p>
          <a:p>
            <a:pPr marL="342900" indent="-342900">
              <a:buSzPct val="100000"/>
              <a:buChar char="•"/>
            </a:pPr>
            <a:r>
              <a:rPr lang="en-US" sz="900" dirty="0">
                <a:solidFill>
                  <a:srgbClr val="455A64"/>
                </a:solidFill>
              </a:rPr>
              <a:t>Paginated JSON, 10-25 records/page</a:t>
            </a:r>
            <a:endParaRPr lang="en-US" sz="900" dirty="0"/>
          </a:p>
        </p:txBody>
      </p:sp>
      <p:sp>
        <p:nvSpPr>
          <p:cNvPr id="10" name="Text 8"/>
          <p:cNvSpPr/>
          <p:nvPr/>
        </p:nvSpPr>
        <p:spPr>
          <a:xfrm>
            <a:off x="2377440" y="2011680"/>
            <a:ext cx="182880" cy="320040"/>
          </a:xfrm>
          <a:prstGeom prst="rect">
            <a:avLst/>
          </a:prstGeom>
          <a:noFill/>
          <a:ln/>
        </p:spPr>
        <p:txBody>
          <a:bodyPr wrap="square" lIns="0" tIns="0" rIns="0" bIns="0" rtlCol="0" anchor="ctr"/>
          <a:lstStyle/>
          <a:p>
            <a:pPr marL="0" indent="0" algn="ctr">
              <a:buNone/>
            </a:pPr>
            <a:r>
              <a:rPr lang="en-US" sz="1800" dirty="0">
                <a:solidFill>
                  <a:srgbClr val="F7931A"/>
                </a:solidFill>
              </a:rPr>
              <a:t>→</a:t>
            </a:r>
            <a:endParaRPr lang="en-US" sz="1800" dirty="0"/>
          </a:p>
        </p:txBody>
      </p:sp>
      <p:sp>
        <p:nvSpPr>
          <p:cNvPr id="11" name="Shape 9"/>
          <p:cNvSpPr/>
          <p:nvPr/>
        </p:nvSpPr>
        <p:spPr>
          <a:xfrm>
            <a:off x="2560320" y="1142999"/>
            <a:ext cx="1920240" cy="2082521"/>
          </a:xfrm>
          <a:prstGeom prst="roundRect">
            <a:avLst>
              <a:gd name="adj" fmla="val 4762"/>
            </a:avLst>
          </a:prstGeom>
          <a:solidFill>
            <a:srgbClr val="FFFFFF"/>
          </a:solidFill>
          <a:ln/>
          <a:effectLst>
            <a:outerShdw blurRad="101600" dist="25400" dir="8100000" algn="bl" rotWithShape="0">
              <a:srgbClr val="000000">
                <a:alpha val="10000"/>
              </a:srgbClr>
            </a:outerShdw>
          </a:effectLst>
        </p:spPr>
        <p:txBody>
          <a:bodyPr/>
          <a:lstStyle/>
          <a:p>
            <a:endParaRPr lang="es-ES"/>
          </a:p>
        </p:txBody>
      </p:sp>
      <p:sp>
        <p:nvSpPr>
          <p:cNvPr id="12" name="Shape 10"/>
          <p:cNvSpPr/>
          <p:nvPr/>
        </p:nvSpPr>
        <p:spPr>
          <a:xfrm>
            <a:off x="3255264" y="1234440"/>
            <a:ext cx="530352" cy="530352"/>
          </a:xfrm>
          <a:prstGeom prst="ellipse">
            <a:avLst/>
          </a:prstGeom>
          <a:solidFill>
            <a:srgbClr val="1E88E5"/>
          </a:solidFill>
          <a:ln w="12700">
            <a:solidFill>
              <a:srgbClr val="1E88E5"/>
            </a:solidFill>
            <a:prstDash val="solid"/>
          </a:ln>
        </p:spPr>
        <p:txBody>
          <a:bodyPr/>
          <a:lstStyle/>
          <a:p>
            <a:endParaRPr lang="es-ES"/>
          </a:p>
        </p:txBody>
      </p:sp>
      <p:sp>
        <p:nvSpPr>
          <p:cNvPr id="13" name="Text 11"/>
          <p:cNvSpPr/>
          <p:nvPr/>
        </p:nvSpPr>
        <p:spPr>
          <a:xfrm>
            <a:off x="3255264" y="123444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rPr>
              <a:t>02</a:t>
            </a:r>
            <a:endParaRPr lang="en-US" sz="1500" dirty="0"/>
          </a:p>
        </p:txBody>
      </p:sp>
      <p:sp>
        <p:nvSpPr>
          <p:cNvPr id="14" name="Text 12"/>
          <p:cNvSpPr/>
          <p:nvPr/>
        </p:nvSpPr>
        <p:spPr>
          <a:xfrm>
            <a:off x="2670048" y="1837944"/>
            <a:ext cx="1700784" cy="256032"/>
          </a:xfrm>
          <a:prstGeom prst="rect">
            <a:avLst/>
          </a:prstGeom>
          <a:noFill/>
          <a:ln/>
        </p:spPr>
        <p:txBody>
          <a:bodyPr wrap="square" lIns="0" tIns="0" rIns="0" bIns="0" rtlCol="0" anchor="ctr"/>
          <a:lstStyle/>
          <a:p>
            <a:pPr marL="0" indent="0" algn="ctr">
              <a:buNone/>
            </a:pPr>
            <a:r>
              <a:rPr lang="en-US" sz="1100" b="1" dirty="0">
                <a:solidFill>
                  <a:srgbClr val="1A2332"/>
                </a:solidFill>
              </a:rPr>
              <a:t>STAGE</a:t>
            </a:r>
            <a:endParaRPr lang="en-US" sz="1100" dirty="0"/>
          </a:p>
        </p:txBody>
      </p:sp>
      <p:sp>
        <p:nvSpPr>
          <p:cNvPr id="15" name="Text 13"/>
          <p:cNvSpPr/>
          <p:nvPr/>
        </p:nvSpPr>
        <p:spPr>
          <a:xfrm>
            <a:off x="2670048" y="2121408"/>
            <a:ext cx="1700784" cy="969264"/>
          </a:xfrm>
          <a:prstGeom prst="rect">
            <a:avLst/>
          </a:prstGeom>
          <a:noFill/>
          <a:ln/>
        </p:spPr>
        <p:txBody>
          <a:bodyPr wrap="square" lIns="0" tIns="0" rIns="0" bIns="0" rtlCol="0" anchor="t"/>
          <a:lstStyle/>
          <a:p>
            <a:pPr marL="342900" indent="-342900">
              <a:buSzPct val="100000"/>
              <a:buChar char="•"/>
            </a:pPr>
            <a:r>
              <a:rPr lang="en-US" sz="900" dirty="0">
                <a:solidFill>
                  <a:srgbClr val="455A64"/>
                </a:solidFill>
              </a:rPr>
              <a:t>STG_BLOCKS, STG_TRANSACTIONS</a:t>
            </a:r>
            <a:endParaRPr lang="en-US" sz="900" dirty="0"/>
          </a:p>
          <a:p>
            <a:pPr marL="342900" indent="-342900">
              <a:buSzPct val="100000"/>
              <a:buChar char="•"/>
            </a:pPr>
            <a:r>
              <a:rPr lang="en-US" sz="900" dirty="0">
                <a:solidFill>
                  <a:srgbClr val="455A64"/>
                </a:solidFill>
              </a:rPr>
              <a:t>STG_TX_INPUTS, STG_TX_OUTPUTS</a:t>
            </a:r>
            <a:endParaRPr lang="en-US" sz="900" dirty="0"/>
          </a:p>
          <a:p>
            <a:pPr marL="342900" indent="-342900">
              <a:buSzPct val="100000"/>
              <a:buChar char="•"/>
            </a:pPr>
            <a:r>
              <a:rPr lang="en-US" sz="900" dirty="0">
                <a:solidFill>
                  <a:srgbClr val="455A64"/>
                </a:solidFill>
              </a:rPr>
              <a:t>STG_MARKET_DAILY</a:t>
            </a:r>
            <a:endParaRPr lang="en-US" sz="900" dirty="0"/>
          </a:p>
          <a:p>
            <a:pPr marL="342900" indent="-342900">
              <a:buSzPct val="100000"/>
              <a:buChar char="•"/>
            </a:pPr>
            <a:r>
              <a:rPr lang="en-US" sz="900" dirty="0">
                <a:solidFill>
                  <a:srgbClr val="455A64"/>
                </a:solidFill>
              </a:rPr>
              <a:t>STG_FEAR_GREED_RAW</a:t>
            </a:r>
            <a:endParaRPr lang="en-US" sz="900" dirty="0"/>
          </a:p>
        </p:txBody>
      </p:sp>
      <p:sp>
        <p:nvSpPr>
          <p:cNvPr id="16" name="Text 14"/>
          <p:cNvSpPr/>
          <p:nvPr/>
        </p:nvSpPr>
        <p:spPr>
          <a:xfrm>
            <a:off x="4480560" y="2011680"/>
            <a:ext cx="182880" cy="320040"/>
          </a:xfrm>
          <a:prstGeom prst="rect">
            <a:avLst/>
          </a:prstGeom>
          <a:noFill/>
          <a:ln/>
        </p:spPr>
        <p:txBody>
          <a:bodyPr wrap="square" lIns="0" tIns="0" rIns="0" bIns="0" rtlCol="0" anchor="ctr"/>
          <a:lstStyle/>
          <a:p>
            <a:pPr marL="0" indent="0" algn="ctr">
              <a:buNone/>
            </a:pPr>
            <a:r>
              <a:rPr lang="en-US" sz="1800" dirty="0">
                <a:solidFill>
                  <a:srgbClr val="1E88E5"/>
                </a:solidFill>
              </a:rPr>
              <a:t>→</a:t>
            </a:r>
            <a:endParaRPr lang="en-US" sz="1800" dirty="0"/>
          </a:p>
        </p:txBody>
      </p:sp>
      <p:sp>
        <p:nvSpPr>
          <p:cNvPr id="17" name="Shape 15"/>
          <p:cNvSpPr/>
          <p:nvPr/>
        </p:nvSpPr>
        <p:spPr>
          <a:xfrm>
            <a:off x="4663440" y="1142999"/>
            <a:ext cx="1920240" cy="2082521"/>
          </a:xfrm>
          <a:prstGeom prst="roundRect">
            <a:avLst>
              <a:gd name="adj" fmla="val 4762"/>
            </a:avLst>
          </a:prstGeom>
          <a:solidFill>
            <a:srgbClr val="FFFFFF"/>
          </a:solidFill>
          <a:ln/>
          <a:effectLst>
            <a:outerShdw blurRad="101600" dist="25400" dir="8100000" algn="bl" rotWithShape="0">
              <a:srgbClr val="000000">
                <a:alpha val="10000"/>
              </a:srgbClr>
            </a:outerShdw>
          </a:effectLst>
        </p:spPr>
        <p:txBody>
          <a:bodyPr/>
          <a:lstStyle/>
          <a:p>
            <a:endParaRPr lang="es-ES"/>
          </a:p>
        </p:txBody>
      </p:sp>
      <p:sp>
        <p:nvSpPr>
          <p:cNvPr id="18" name="Shape 16"/>
          <p:cNvSpPr/>
          <p:nvPr/>
        </p:nvSpPr>
        <p:spPr>
          <a:xfrm>
            <a:off x="5358384" y="1234440"/>
            <a:ext cx="530352" cy="530352"/>
          </a:xfrm>
          <a:prstGeom prst="ellipse">
            <a:avLst/>
          </a:prstGeom>
          <a:solidFill>
            <a:srgbClr val="26C6A2"/>
          </a:solidFill>
          <a:ln w="12700">
            <a:solidFill>
              <a:srgbClr val="26C6A2"/>
            </a:solidFill>
            <a:prstDash val="solid"/>
          </a:ln>
        </p:spPr>
        <p:txBody>
          <a:bodyPr/>
          <a:lstStyle/>
          <a:p>
            <a:endParaRPr lang="es-ES"/>
          </a:p>
        </p:txBody>
      </p:sp>
      <p:sp>
        <p:nvSpPr>
          <p:cNvPr id="19" name="Text 17"/>
          <p:cNvSpPr/>
          <p:nvPr/>
        </p:nvSpPr>
        <p:spPr>
          <a:xfrm>
            <a:off x="5358384" y="123444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rPr>
              <a:t>03</a:t>
            </a:r>
            <a:endParaRPr lang="en-US" sz="1500" dirty="0"/>
          </a:p>
        </p:txBody>
      </p:sp>
      <p:sp>
        <p:nvSpPr>
          <p:cNvPr id="20" name="Text 18"/>
          <p:cNvSpPr/>
          <p:nvPr/>
        </p:nvSpPr>
        <p:spPr>
          <a:xfrm>
            <a:off x="4773168" y="1837944"/>
            <a:ext cx="1700784" cy="256032"/>
          </a:xfrm>
          <a:prstGeom prst="rect">
            <a:avLst/>
          </a:prstGeom>
          <a:noFill/>
          <a:ln/>
        </p:spPr>
        <p:txBody>
          <a:bodyPr wrap="square" lIns="0" tIns="0" rIns="0" bIns="0" rtlCol="0" anchor="ctr"/>
          <a:lstStyle/>
          <a:p>
            <a:pPr marL="0" indent="0" algn="ctr">
              <a:buNone/>
            </a:pPr>
            <a:r>
              <a:rPr lang="en-US" sz="1100" b="1" dirty="0">
                <a:solidFill>
                  <a:srgbClr val="1A2332"/>
                </a:solidFill>
              </a:rPr>
              <a:t>TRANSFORM + DQ</a:t>
            </a:r>
            <a:endParaRPr lang="en-US" sz="1100" dirty="0"/>
          </a:p>
        </p:txBody>
      </p:sp>
      <p:sp>
        <p:nvSpPr>
          <p:cNvPr id="21" name="Text 19"/>
          <p:cNvSpPr/>
          <p:nvPr/>
        </p:nvSpPr>
        <p:spPr>
          <a:xfrm>
            <a:off x="4773168" y="2121408"/>
            <a:ext cx="1700784" cy="1104112"/>
          </a:xfrm>
          <a:prstGeom prst="rect">
            <a:avLst/>
          </a:prstGeom>
          <a:noFill/>
          <a:ln/>
        </p:spPr>
        <p:txBody>
          <a:bodyPr wrap="square" lIns="0" tIns="0" rIns="0" bIns="0" rtlCol="0" anchor="t"/>
          <a:lstStyle/>
          <a:p>
            <a:pPr marL="342900" indent="-342900">
              <a:buSzPct val="100000"/>
              <a:buChar char="•"/>
            </a:pPr>
            <a:r>
              <a:rPr lang="en-US" sz="900" dirty="0">
                <a:solidFill>
                  <a:srgbClr val="455A64"/>
                </a:solidFill>
              </a:rPr>
              <a:t>Uniqueness: txid = 64-char hex, not in FACT</a:t>
            </a:r>
            <a:endParaRPr lang="en-US" sz="900" dirty="0"/>
          </a:p>
          <a:p>
            <a:pPr marL="342900" indent="-342900">
              <a:buSzPct val="100000"/>
              <a:buChar char="•"/>
            </a:pPr>
            <a:r>
              <a:rPr lang="en-US" sz="900" dirty="0">
                <a:solidFill>
                  <a:srgbClr val="455A64"/>
                </a:solidFill>
              </a:rPr>
              <a:t>Completeness: output_value_sat ≥ 0</a:t>
            </a:r>
            <a:endParaRPr lang="en-US" sz="900" dirty="0"/>
          </a:p>
          <a:p>
            <a:pPr marL="342900" indent="-342900">
              <a:buSzPct val="100000"/>
              <a:buChar char="•"/>
            </a:pPr>
            <a:r>
              <a:rPr lang="en-US" sz="900" dirty="0">
                <a:solidFill>
                  <a:srgbClr val="455A64"/>
                </a:solidFill>
              </a:rPr>
              <a:t>Consistency: script_type whitelist</a:t>
            </a:r>
            <a:endParaRPr lang="en-US" sz="900" dirty="0"/>
          </a:p>
          <a:p>
            <a:pPr marL="342900" indent="-342900">
              <a:buSzPct val="100000"/>
              <a:buChar char="•"/>
            </a:pPr>
            <a:r>
              <a:rPr lang="en-US" sz="900" dirty="0">
                <a:solidFill>
                  <a:srgbClr val="455A64"/>
                </a:solidFill>
              </a:rPr>
              <a:t>Freshness: market date ≤ yesterday</a:t>
            </a:r>
            <a:endParaRPr lang="en-US" sz="900" dirty="0"/>
          </a:p>
        </p:txBody>
      </p:sp>
      <p:sp>
        <p:nvSpPr>
          <p:cNvPr id="22" name="Text 20"/>
          <p:cNvSpPr/>
          <p:nvPr/>
        </p:nvSpPr>
        <p:spPr>
          <a:xfrm>
            <a:off x="6583680" y="2011680"/>
            <a:ext cx="182880" cy="320040"/>
          </a:xfrm>
          <a:prstGeom prst="rect">
            <a:avLst/>
          </a:prstGeom>
          <a:noFill/>
          <a:ln/>
        </p:spPr>
        <p:txBody>
          <a:bodyPr wrap="square" lIns="0" tIns="0" rIns="0" bIns="0" rtlCol="0" anchor="ctr"/>
          <a:lstStyle/>
          <a:p>
            <a:pPr marL="0" indent="0" algn="ctr">
              <a:buNone/>
            </a:pPr>
            <a:r>
              <a:rPr lang="en-US" sz="1800" dirty="0">
                <a:solidFill>
                  <a:srgbClr val="26C6A2"/>
                </a:solidFill>
              </a:rPr>
              <a:t>→</a:t>
            </a:r>
            <a:endParaRPr lang="en-US" sz="1800" dirty="0"/>
          </a:p>
        </p:txBody>
      </p:sp>
      <p:sp>
        <p:nvSpPr>
          <p:cNvPr id="23" name="Shape 21"/>
          <p:cNvSpPr/>
          <p:nvPr/>
        </p:nvSpPr>
        <p:spPr>
          <a:xfrm>
            <a:off x="6766560" y="1142999"/>
            <a:ext cx="1920240" cy="2082521"/>
          </a:xfrm>
          <a:prstGeom prst="roundRect">
            <a:avLst>
              <a:gd name="adj" fmla="val 4762"/>
            </a:avLst>
          </a:prstGeom>
          <a:solidFill>
            <a:srgbClr val="FFFFFF"/>
          </a:solidFill>
          <a:ln/>
          <a:effectLst>
            <a:outerShdw blurRad="101600" dist="25400" dir="8100000" algn="bl" rotWithShape="0">
              <a:srgbClr val="000000">
                <a:alpha val="10000"/>
              </a:srgbClr>
            </a:outerShdw>
          </a:effectLst>
        </p:spPr>
        <p:txBody>
          <a:bodyPr/>
          <a:lstStyle/>
          <a:p>
            <a:endParaRPr lang="es-ES"/>
          </a:p>
        </p:txBody>
      </p:sp>
      <p:sp>
        <p:nvSpPr>
          <p:cNvPr id="24" name="Shape 22"/>
          <p:cNvSpPr/>
          <p:nvPr/>
        </p:nvSpPr>
        <p:spPr>
          <a:xfrm>
            <a:off x="7461504" y="1234440"/>
            <a:ext cx="530352" cy="530352"/>
          </a:xfrm>
          <a:prstGeom prst="ellipse">
            <a:avLst/>
          </a:prstGeom>
          <a:solidFill>
            <a:srgbClr val="AB47BC"/>
          </a:solidFill>
          <a:ln w="12700">
            <a:solidFill>
              <a:srgbClr val="AB47BC"/>
            </a:solidFill>
            <a:prstDash val="solid"/>
          </a:ln>
        </p:spPr>
        <p:txBody>
          <a:bodyPr/>
          <a:lstStyle/>
          <a:p>
            <a:endParaRPr lang="es-ES"/>
          </a:p>
        </p:txBody>
      </p:sp>
      <p:sp>
        <p:nvSpPr>
          <p:cNvPr id="25" name="Text 23"/>
          <p:cNvSpPr/>
          <p:nvPr/>
        </p:nvSpPr>
        <p:spPr>
          <a:xfrm>
            <a:off x="7461504" y="123444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rPr>
              <a:t>04</a:t>
            </a:r>
            <a:endParaRPr lang="en-US" sz="1500" dirty="0"/>
          </a:p>
        </p:txBody>
      </p:sp>
      <p:sp>
        <p:nvSpPr>
          <p:cNvPr id="26" name="Text 24"/>
          <p:cNvSpPr/>
          <p:nvPr/>
        </p:nvSpPr>
        <p:spPr>
          <a:xfrm>
            <a:off x="6876288" y="1837944"/>
            <a:ext cx="1700784" cy="256032"/>
          </a:xfrm>
          <a:prstGeom prst="rect">
            <a:avLst/>
          </a:prstGeom>
          <a:noFill/>
          <a:ln/>
        </p:spPr>
        <p:txBody>
          <a:bodyPr wrap="square" lIns="0" tIns="0" rIns="0" bIns="0" rtlCol="0" anchor="ctr"/>
          <a:lstStyle/>
          <a:p>
            <a:pPr marL="0" indent="0" algn="ctr">
              <a:buNone/>
            </a:pPr>
            <a:r>
              <a:rPr lang="en-US" sz="1100" b="1" dirty="0">
                <a:solidFill>
                  <a:srgbClr val="1A2332"/>
                </a:solidFill>
              </a:rPr>
              <a:t>LOAD</a:t>
            </a:r>
            <a:endParaRPr lang="en-US" sz="1100" dirty="0"/>
          </a:p>
        </p:txBody>
      </p:sp>
      <p:sp>
        <p:nvSpPr>
          <p:cNvPr id="27" name="Text 25"/>
          <p:cNvSpPr/>
          <p:nvPr/>
        </p:nvSpPr>
        <p:spPr>
          <a:xfrm>
            <a:off x="6876288" y="2121408"/>
            <a:ext cx="1700784" cy="969264"/>
          </a:xfrm>
          <a:prstGeom prst="rect">
            <a:avLst/>
          </a:prstGeom>
          <a:noFill/>
          <a:ln/>
        </p:spPr>
        <p:txBody>
          <a:bodyPr wrap="square" lIns="0" tIns="0" rIns="0" bIns="0" rtlCol="0" anchor="t"/>
          <a:lstStyle/>
          <a:p>
            <a:pPr marL="342900" indent="-342900">
              <a:buSzPct val="100000"/>
              <a:buChar char="•"/>
            </a:pPr>
            <a:r>
              <a:rPr lang="en-US" sz="900" dirty="0">
                <a:solidFill>
                  <a:srgbClr val="455A64"/>
                </a:solidFill>
              </a:rPr>
              <a:t>SCD Type 1 (overwrite) for all dimensions</a:t>
            </a:r>
            <a:endParaRPr lang="en-US" sz="900" dirty="0"/>
          </a:p>
          <a:p>
            <a:pPr marL="342900" indent="-342900">
              <a:buSzPct val="100000"/>
              <a:buChar char="•"/>
            </a:pPr>
            <a:r>
              <a:rPr lang="en-US" sz="900" dirty="0">
                <a:solidFill>
                  <a:srgbClr val="455A64"/>
                </a:solidFill>
              </a:rPr>
              <a:t>Bulk INSERT for FACT_TRANSACTION</a:t>
            </a:r>
            <a:endParaRPr lang="en-US" sz="900" dirty="0"/>
          </a:p>
          <a:p>
            <a:pPr marL="342900" indent="-342900">
              <a:buSzPct val="100000"/>
              <a:buChar char="•"/>
            </a:pPr>
            <a:r>
              <a:rPr lang="en-US" sz="900" dirty="0">
                <a:solidFill>
                  <a:srgbClr val="455A64"/>
                </a:solidFill>
              </a:rPr>
              <a:t>Pre-computed columns in SQL (no Python math)</a:t>
            </a:r>
            <a:endParaRPr lang="en-US" sz="900" dirty="0"/>
          </a:p>
          <a:p>
            <a:pPr marL="342900" indent="-342900">
              <a:buSzPct val="100000"/>
              <a:buChar char="•"/>
            </a:pPr>
            <a:r>
              <a:rPr lang="en-US" sz="900" dirty="0">
                <a:solidFill>
                  <a:srgbClr val="455A64"/>
                </a:solidFill>
              </a:rPr>
              <a:t>Upsert into Star Schema</a:t>
            </a:r>
            <a:endParaRPr lang="en-US" sz="900" dirty="0"/>
          </a:p>
        </p:txBody>
      </p:sp>
      <p:sp>
        <p:nvSpPr>
          <p:cNvPr id="28" name="Text 26"/>
          <p:cNvSpPr/>
          <p:nvPr/>
        </p:nvSpPr>
        <p:spPr>
          <a:xfrm>
            <a:off x="457200" y="3273552"/>
            <a:ext cx="8229600" cy="256032"/>
          </a:xfrm>
          <a:prstGeom prst="rect">
            <a:avLst/>
          </a:prstGeom>
          <a:noFill/>
          <a:ln/>
        </p:spPr>
        <p:txBody>
          <a:bodyPr wrap="square" lIns="0" tIns="0" rIns="0" bIns="0" rtlCol="0" anchor="ctr"/>
          <a:lstStyle/>
          <a:p>
            <a:pPr marL="0" indent="0">
              <a:buNone/>
            </a:pPr>
            <a:r>
              <a:rPr lang="en-US" sz="1200" b="1" kern="0" spc="150" dirty="0">
                <a:solidFill>
                  <a:srgbClr val="F7931A"/>
                </a:solidFill>
              </a:rPr>
              <a:t>DATA QUALITY GATES</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3367526847"/>
              </p:ext>
            </p:extLst>
          </p:nvPr>
        </p:nvGraphicFramePr>
        <p:xfrm>
          <a:off x="457200" y="3566160"/>
          <a:ext cx="8229600" cy="1417320"/>
        </p:xfrm>
        <a:graphic>
          <a:graphicData uri="http://schemas.openxmlformats.org/drawingml/2006/table">
            <a:tbl>
              <a:tblPr/>
              <a:tblGrid>
                <a:gridCol w="11887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283464">
                <a:tc>
                  <a:txBody>
                    <a:bodyPr/>
                    <a:lstStyle/>
                    <a:p>
                      <a:pPr marL="0" indent="0" algn="r">
                        <a:buNone/>
                      </a:pPr>
                      <a:r>
                        <a:rPr lang="en-US" sz="1100" b="1" dirty="0">
                          <a:solidFill>
                            <a:srgbClr val="FFFFFF"/>
                          </a:solidFill>
                        </a:rPr>
                        <a:t>Gate</a:t>
                      </a:r>
                      <a:endParaRPr lang="en-US" sz="1100" dirty="0"/>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D1B2A"/>
                    </a:solidFill>
                  </a:tcPr>
                </a:tc>
                <a:tc>
                  <a:txBody>
                    <a:bodyPr/>
                    <a:lstStyle/>
                    <a:p>
                      <a:pPr marL="0" indent="0" algn="l">
                        <a:buNone/>
                      </a:pPr>
                      <a:r>
                        <a:rPr lang="en-US" sz="1100" b="1" dirty="0">
                          <a:solidFill>
                            <a:srgbClr val="FFFFFF"/>
                          </a:solidFill>
                        </a:rPr>
                        <a:t>Rule</a:t>
                      </a:r>
                      <a:endParaRPr lang="en-US" sz="1100" dirty="0"/>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D1B2A"/>
                    </a:solidFill>
                  </a:tcPr>
                </a:tc>
                <a:tc>
                  <a:txBody>
                    <a:bodyPr/>
                    <a:lstStyle/>
                    <a:p>
                      <a:pPr marL="0" indent="0" algn="l">
                        <a:buNone/>
                      </a:pPr>
                      <a:r>
                        <a:rPr lang="en-US" sz="1100" b="1" dirty="0">
                          <a:solidFill>
                            <a:srgbClr val="FFFFFF"/>
                          </a:solidFill>
                        </a:rPr>
                        <a:t>On Failure</a:t>
                      </a:r>
                      <a:endParaRPr lang="en-US" sz="1100" dirty="0"/>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283464">
                <a:tc>
                  <a:txBody>
                    <a:bodyPr/>
                    <a:lstStyle/>
                    <a:p>
                      <a:pPr marL="0" indent="0" algn="r">
                        <a:buNone/>
                      </a:pPr>
                      <a:r>
                        <a:rPr lang="en-US" sz="1100" b="1" dirty="0">
                          <a:solidFill>
                            <a:srgbClr val="1A2332"/>
                          </a:solidFill>
                        </a:rPr>
                        <a:t>Uniqueness</a:t>
                      </a:r>
                      <a:endParaRPr lang="en-US" sz="1100" dirty="0"/>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55A64"/>
                          </a:solidFill>
                        </a:rPr>
                        <a:t>txid = 64-char hex, not already in FACT</a:t>
                      </a:r>
                      <a:endParaRPr lang="en-US" sz="1100" dirty="0"/>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55A64"/>
                          </a:solidFill>
                        </a:rPr>
                        <a:t>Log to ERR_QUALITY_REJECTS, skip row</a:t>
                      </a:r>
                      <a:endParaRPr lang="en-US" sz="1100" dirty="0"/>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3464">
                <a:tc>
                  <a:txBody>
                    <a:bodyPr/>
                    <a:lstStyle/>
                    <a:p>
                      <a:pPr marL="0" indent="0" algn="r">
                        <a:buNone/>
                      </a:pPr>
                      <a:r>
                        <a:rPr lang="en-US" sz="1100" b="1" dirty="0">
                          <a:solidFill>
                            <a:srgbClr val="1A2332"/>
                          </a:solidFill>
                        </a:rPr>
                        <a:t>Completeness</a:t>
                      </a:r>
                      <a:endParaRPr lang="en-US" sz="1100" dirty="0"/>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9FA"/>
                    </a:solidFill>
                  </a:tcPr>
                </a:tc>
                <a:tc>
                  <a:txBody>
                    <a:bodyPr/>
                    <a:lstStyle/>
                    <a:p>
                      <a:pPr marL="0" indent="0" algn="l">
                        <a:buNone/>
                      </a:pPr>
                      <a:r>
                        <a:rPr lang="en-US" sz="1100" dirty="0">
                          <a:solidFill>
                            <a:srgbClr val="455A64"/>
                          </a:solidFill>
                        </a:rPr>
                        <a:t>output_value_sat ≥ 0, block_hash resolves to DIM_BLOCK</a:t>
                      </a:r>
                      <a:endParaRPr lang="en-US" sz="1100" dirty="0"/>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9FA"/>
                    </a:solidFill>
                  </a:tcPr>
                </a:tc>
                <a:tc>
                  <a:txBody>
                    <a:bodyPr/>
                    <a:lstStyle/>
                    <a:p>
                      <a:pPr marL="0" indent="0" algn="l">
                        <a:buNone/>
                      </a:pPr>
                      <a:r>
                        <a:rPr lang="en-US" sz="1100" dirty="0">
                          <a:solidFill>
                            <a:srgbClr val="455A64"/>
                          </a:solidFill>
                        </a:rPr>
                        <a:t>Reject entire block batch</a:t>
                      </a:r>
                      <a:endParaRPr lang="en-US" sz="1100" dirty="0"/>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9FA"/>
                    </a:solidFill>
                  </a:tcPr>
                </a:tc>
                <a:extLst>
                  <a:ext uri="{0D108BD9-81ED-4DB2-BD59-A6C34878D82A}">
                    <a16:rowId xmlns:a16="http://schemas.microsoft.com/office/drawing/2014/main" val="10002"/>
                  </a:ext>
                </a:extLst>
              </a:tr>
              <a:tr h="283464">
                <a:tc>
                  <a:txBody>
                    <a:bodyPr/>
                    <a:lstStyle/>
                    <a:p>
                      <a:pPr marL="0" indent="0" algn="r">
                        <a:buNone/>
                      </a:pPr>
                      <a:r>
                        <a:rPr lang="en-US" sz="1100" b="1" dirty="0">
                          <a:solidFill>
                            <a:srgbClr val="1A2332"/>
                          </a:solidFill>
                        </a:rPr>
                        <a:t>Consistency</a:t>
                      </a:r>
                      <a:endParaRPr lang="en-US" sz="1100" dirty="0"/>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55A64"/>
                          </a:solidFill>
                        </a:rPr>
                        <a:t>script_type ∈ {P2PKH, P2SH, P2WPKH, P2WSH, P2TR, OTHER}</a:t>
                      </a:r>
                      <a:endParaRPr lang="en-US" sz="1100" dirty="0"/>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55A64"/>
                          </a:solidFill>
                        </a:rPr>
                        <a:t>Map to </a:t>
                      </a:r>
                      <a:r>
                        <a:rPr lang="en-US" sz="1100" b="1" i="0" dirty="0">
                          <a:solidFill>
                            <a:srgbClr val="455A64"/>
                          </a:solidFill>
                        </a:rPr>
                        <a:t>'OTHER'</a:t>
                      </a:r>
                      <a:r>
                        <a:rPr lang="en-US" sz="1100" b="0" i="0" dirty="0">
                          <a:solidFill>
                            <a:srgbClr val="455A64"/>
                          </a:solidFill>
                        </a:rPr>
                        <a:t>,</a:t>
                      </a:r>
                      <a:r>
                        <a:rPr lang="en-US" sz="1100" b="1" i="0" dirty="0">
                          <a:solidFill>
                            <a:srgbClr val="455A64"/>
                          </a:solidFill>
                        </a:rPr>
                        <a:t> </a:t>
                      </a:r>
                      <a:r>
                        <a:rPr lang="en-US" sz="1100" dirty="0">
                          <a:solidFill>
                            <a:srgbClr val="455A64"/>
                          </a:solidFill>
                        </a:rPr>
                        <a:t>log</a:t>
                      </a:r>
                      <a:endParaRPr lang="en-US" sz="1100" dirty="0"/>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3464">
                <a:tc>
                  <a:txBody>
                    <a:bodyPr/>
                    <a:lstStyle/>
                    <a:p>
                      <a:pPr marL="0" indent="0" algn="r">
                        <a:buNone/>
                      </a:pPr>
                      <a:r>
                        <a:rPr lang="en-US" sz="1100" b="1" dirty="0">
                          <a:solidFill>
                            <a:srgbClr val="1A2332"/>
                          </a:solidFill>
                        </a:rPr>
                        <a:t>Freshness</a:t>
                      </a:r>
                      <a:endParaRPr lang="en-US" sz="1100" dirty="0"/>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9FA"/>
                    </a:solidFill>
                  </a:tcPr>
                </a:tc>
                <a:tc>
                  <a:txBody>
                    <a:bodyPr/>
                    <a:lstStyle/>
                    <a:p>
                      <a:pPr marL="0" indent="0" algn="l">
                        <a:buNone/>
                      </a:pPr>
                      <a:r>
                        <a:rPr lang="en-US" sz="1100" dirty="0">
                          <a:solidFill>
                            <a:srgbClr val="455A64"/>
                          </a:solidFill>
                        </a:rPr>
                        <a:t>Staging market date must be ≤ yesterday</a:t>
                      </a:r>
                      <a:endParaRPr lang="en-US" sz="1100" dirty="0"/>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9FA"/>
                    </a:solidFill>
                  </a:tcPr>
                </a:tc>
                <a:tc>
                  <a:txBody>
                    <a:bodyPr/>
                    <a:lstStyle/>
                    <a:p>
                      <a:pPr marL="0" indent="0" algn="l">
                        <a:buNone/>
                      </a:pPr>
                      <a:r>
                        <a:rPr lang="en-US" sz="1100" dirty="0">
                          <a:solidFill>
                            <a:srgbClr val="455A64"/>
                          </a:solidFill>
                        </a:rPr>
                        <a:t>Alert logged, load continues</a:t>
                      </a:r>
                      <a:endParaRPr lang="en-US" sz="1100" dirty="0"/>
                    </a:p>
                  </a:txBody>
                  <a:tcPr marL="76200" marR="76200" marT="50800" marB="50800"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8F9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57200" y="256032"/>
            <a:ext cx="3790188" cy="256032"/>
          </a:xfrm>
          <a:prstGeom prst="roundRect">
            <a:avLst>
              <a:gd name="adj" fmla="val 14286"/>
            </a:avLst>
          </a:prstGeom>
          <a:solidFill>
            <a:srgbClr val="F7931A"/>
          </a:solidFill>
          <a:ln w="12700">
            <a:solidFill>
              <a:srgbClr val="F7931A"/>
            </a:solidFill>
            <a:prstDash val="solid"/>
          </a:ln>
        </p:spPr>
        <p:txBody>
          <a:bodyPr/>
          <a:lstStyle/>
          <a:p>
            <a:endParaRPr lang="es-ES"/>
          </a:p>
        </p:txBody>
      </p:sp>
      <p:sp>
        <p:nvSpPr>
          <p:cNvPr id="3" name="Text 1"/>
          <p:cNvSpPr/>
          <p:nvPr/>
        </p:nvSpPr>
        <p:spPr>
          <a:xfrm>
            <a:off x="457200" y="256032"/>
            <a:ext cx="3790188" cy="256032"/>
          </a:xfrm>
          <a:prstGeom prst="rect">
            <a:avLst/>
          </a:prstGeom>
          <a:noFill/>
          <a:ln/>
        </p:spPr>
        <p:txBody>
          <a:bodyPr wrap="square" lIns="0" tIns="0" rIns="0" bIns="0" rtlCol="0" anchor="ctr"/>
          <a:lstStyle/>
          <a:p>
            <a:pPr marL="0" indent="0" algn="ctr">
              <a:buNone/>
            </a:pPr>
            <a:r>
              <a:rPr lang="en-US" sz="1100" b="1" dirty="0">
                <a:solidFill>
                  <a:srgbClr val="FFFFFF"/>
                </a:solidFill>
              </a:rPr>
              <a:t>04 · ETL PROCESS - IMPLEMENTATION</a:t>
            </a:r>
            <a:endParaRPr lang="en-US" sz="1100" dirty="0"/>
          </a:p>
        </p:txBody>
      </p:sp>
      <p:sp>
        <p:nvSpPr>
          <p:cNvPr id="4" name="Text 2"/>
          <p:cNvSpPr/>
          <p:nvPr/>
        </p:nvSpPr>
        <p:spPr>
          <a:xfrm>
            <a:off x="457200" y="566928"/>
            <a:ext cx="8229600" cy="502920"/>
          </a:xfrm>
          <a:prstGeom prst="rect">
            <a:avLst/>
          </a:prstGeom>
          <a:noFill/>
          <a:ln/>
        </p:spPr>
        <p:txBody>
          <a:bodyPr wrap="square" lIns="0" tIns="0" rIns="0" bIns="0" rtlCol="0" anchor="ctr"/>
          <a:lstStyle/>
          <a:p>
            <a:pPr marL="0" indent="0">
              <a:buNone/>
            </a:pPr>
            <a:r>
              <a:rPr lang="en-US" sz="2800" b="1" dirty="0">
                <a:solidFill>
                  <a:srgbClr val="FFFFFF"/>
                </a:solidFill>
              </a:rPr>
              <a:t>Technical Highlights &amp; Bug Fixes</a:t>
            </a:r>
            <a:endParaRPr lang="en-US" sz="2800" dirty="0"/>
          </a:p>
        </p:txBody>
      </p:sp>
      <p:sp>
        <p:nvSpPr>
          <p:cNvPr id="5" name="Shape 3"/>
          <p:cNvSpPr/>
          <p:nvPr/>
        </p:nvSpPr>
        <p:spPr>
          <a:xfrm>
            <a:off x="457200" y="1170432"/>
            <a:ext cx="4114800" cy="1993392"/>
          </a:xfrm>
          <a:prstGeom prst="roundRect">
            <a:avLst>
              <a:gd name="adj" fmla="val 3509"/>
            </a:avLst>
          </a:prstGeom>
          <a:solidFill>
            <a:srgbClr val="1C2B3A"/>
          </a:solidFill>
          <a:ln/>
          <a:effectLst>
            <a:outerShdw blurRad="127000" dist="38100" dir="8100000" algn="bl" rotWithShape="0">
              <a:srgbClr val="000000">
                <a:alpha val="30000"/>
              </a:srgbClr>
            </a:outerShdw>
          </a:effectLst>
        </p:spPr>
        <p:txBody>
          <a:bodyPr/>
          <a:lstStyle/>
          <a:p>
            <a:endParaRPr lang="es-ES"/>
          </a:p>
        </p:txBody>
      </p:sp>
      <p:sp>
        <p:nvSpPr>
          <p:cNvPr id="6" name="Text 4"/>
          <p:cNvSpPr/>
          <p:nvPr/>
        </p:nvSpPr>
        <p:spPr>
          <a:xfrm>
            <a:off x="594360" y="1261872"/>
            <a:ext cx="3840480" cy="256032"/>
          </a:xfrm>
          <a:prstGeom prst="rect">
            <a:avLst/>
          </a:prstGeom>
          <a:noFill/>
          <a:ln/>
        </p:spPr>
        <p:txBody>
          <a:bodyPr wrap="square" lIns="0" tIns="0" rIns="0" bIns="0" rtlCol="0" anchor="ctr"/>
          <a:lstStyle/>
          <a:p>
            <a:pPr marL="0" indent="0">
              <a:buNone/>
            </a:pPr>
            <a:r>
              <a:rPr lang="en-US" sz="1200" b="1" kern="0" spc="100" dirty="0">
                <a:solidFill>
                  <a:srgbClr val="F7931A"/>
                </a:solidFill>
              </a:rPr>
              <a:t>AUTONOMOUS BACKWARD BACKFILL</a:t>
            </a:r>
            <a:endParaRPr lang="en-US" sz="1200" dirty="0"/>
          </a:p>
        </p:txBody>
      </p:sp>
      <p:sp>
        <p:nvSpPr>
          <p:cNvPr id="7" name="Text 5"/>
          <p:cNvSpPr/>
          <p:nvPr/>
        </p:nvSpPr>
        <p:spPr>
          <a:xfrm>
            <a:off x="594360" y="1536192"/>
            <a:ext cx="3840480" cy="292608"/>
          </a:xfrm>
          <a:prstGeom prst="rect">
            <a:avLst/>
          </a:prstGeom>
          <a:noFill/>
          <a:ln/>
        </p:spPr>
        <p:txBody>
          <a:bodyPr wrap="square" lIns="0" tIns="0" rIns="0" bIns="0" rtlCol="0" anchor="ctr"/>
          <a:lstStyle/>
          <a:p>
            <a:pPr marL="0" indent="0">
              <a:buNone/>
            </a:pPr>
            <a:r>
              <a:rPr lang="en-US" sz="1400" b="1" dirty="0">
                <a:solidFill>
                  <a:srgbClr val="FFFFFF"/>
                </a:solidFill>
              </a:rPr>
              <a:t>btc_pipeline_backwards.py</a:t>
            </a:r>
            <a:endParaRPr lang="en-US" sz="1400" dirty="0"/>
          </a:p>
        </p:txBody>
      </p:sp>
      <p:sp>
        <p:nvSpPr>
          <p:cNvPr id="8" name="Text 6"/>
          <p:cNvSpPr/>
          <p:nvPr/>
        </p:nvSpPr>
        <p:spPr>
          <a:xfrm>
            <a:off x="594360" y="1865376"/>
            <a:ext cx="3794760" cy="1225296"/>
          </a:xfrm>
          <a:prstGeom prst="rect">
            <a:avLst/>
          </a:prstGeom>
          <a:noFill/>
          <a:ln/>
        </p:spPr>
        <p:txBody>
          <a:bodyPr wrap="square" lIns="0" tIns="0" rIns="0" bIns="0" rtlCol="0" anchor="t"/>
          <a:lstStyle/>
          <a:p>
            <a:pPr marL="342900" indent="-342900">
              <a:buSzPct val="100000"/>
              <a:buFont typeface="+mj-lt"/>
              <a:buAutoNum type="arabicPeriod"/>
            </a:pPr>
            <a:r>
              <a:rPr lang="en-US" sz="1100" dirty="0">
                <a:solidFill>
                  <a:srgbClr val="B0BEC5"/>
                </a:solidFill>
              </a:rPr>
              <a:t>Queries MIN(height) from staging → finds history gap</a:t>
            </a:r>
            <a:endParaRPr lang="en-US" sz="1100" dirty="0"/>
          </a:p>
          <a:p>
            <a:pPr marL="342900" indent="-342900">
              <a:buSzPct val="100000"/>
              <a:buFont typeface="+mj-lt"/>
              <a:buAutoNum type="arabicPeriod"/>
            </a:pPr>
            <a:r>
              <a:rPr lang="en-US" sz="1100" dirty="0">
                <a:solidFill>
                  <a:srgbClr val="B0BEC5"/>
                </a:solidFill>
              </a:rPr>
              <a:t>Fetches blocks in batches of 200, walking toward block 0</a:t>
            </a:r>
            <a:endParaRPr lang="en-US" sz="1100" dirty="0"/>
          </a:p>
          <a:p>
            <a:pPr marL="342900" indent="-342900">
              <a:buSzPct val="100000"/>
              <a:buFont typeface="+mj-lt"/>
              <a:buAutoNum type="arabicPeriod"/>
            </a:pPr>
            <a:r>
              <a:rPr lang="en-US" sz="1100" dirty="0">
                <a:solidFill>
                  <a:srgbClr val="B0BEC5"/>
                </a:solidFill>
              </a:rPr>
              <a:t>Commits each batch fully before starting the next</a:t>
            </a:r>
            <a:endParaRPr lang="en-US" sz="1100" dirty="0"/>
          </a:p>
          <a:p>
            <a:pPr marL="342900" indent="-342900">
              <a:buSzPct val="100000"/>
              <a:buFont typeface="+mj-lt"/>
              <a:buAutoNum type="arabicPeriod"/>
            </a:pPr>
            <a:r>
              <a:rPr lang="en-US" sz="1100" dirty="0">
                <a:solidFill>
                  <a:srgbClr val="B0BEC5"/>
                </a:solidFill>
              </a:rPr>
              <a:t>Resumable: Ctrl+C stops safely - restart picks up exactly where it left off</a:t>
            </a:r>
            <a:endParaRPr lang="en-US" sz="1100" dirty="0"/>
          </a:p>
          <a:p>
            <a:pPr marL="342900" indent="-342900">
              <a:buSzPct val="100000"/>
              <a:buFont typeface="+mj-lt"/>
              <a:buAutoNum type="arabicPeriod"/>
            </a:pPr>
            <a:r>
              <a:rPr lang="en-US" sz="1100" dirty="0">
                <a:solidFill>
                  <a:srgbClr val="B0BEC5"/>
                </a:solidFill>
              </a:rPr>
              <a:t>Self-healing: 3 consecutive empty batches trigger a safety exit (anti-infinite-loop guard)</a:t>
            </a:r>
            <a:endParaRPr lang="en-US" sz="1100" dirty="0"/>
          </a:p>
        </p:txBody>
      </p:sp>
      <p:sp>
        <p:nvSpPr>
          <p:cNvPr id="9" name="Text 7"/>
          <p:cNvSpPr/>
          <p:nvPr/>
        </p:nvSpPr>
        <p:spPr>
          <a:xfrm>
            <a:off x="4709160" y="1170432"/>
            <a:ext cx="4114800" cy="256032"/>
          </a:xfrm>
          <a:prstGeom prst="rect">
            <a:avLst/>
          </a:prstGeom>
          <a:noFill/>
          <a:ln/>
        </p:spPr>
        <p:txBody>
          <a:bodyPr wrap="square" lIns="0" tIns="0" rIns="0" bIns="0" rtlCol="0" anchor="ctr"/>
          <a:lstStyle/>
          <a:p>
            <a:pPr marL="0" indent="0">
              <a:buNone/>
            </a:pPr>
            <a:r>
              <a:rPr lang="en-US" sz="1200" b="1" kern="0" spc="100" dirty="0">
                <a:solidFill>
                  <a:srgbClr val="F7931A"/>
                </a:solidFill>
              </a:rPr>
              <a:t>HARD BUGS SOLVED</a:t>
            </a:r>
            <a:endParaRPr lang="en-US" sz="1200" dirty="0"/>
          </a:p>
        </p:txBody>
      </p:sp>
      <p:sp>
        <p:nvSpPr>
          <p:cNvPr id="10" name="Shape 8"/>
          <p:cNvSpPr/>
          <p:nvPr/>
        </p:nvSpPr>
        <p:spPr>
          <a:xfrm>
            <a:off x="4709160" y="1481328"/>
            <a:ext cx="4023360" cy="685800"/>
          </a:xfrm>
          <a:prstGeom prst="roundRect">
            <a:avLst>
              <a:gd name="adj" fmla="val 9333"/>
            </a:avLst>
          </a:prstGeom>
          <a:solidFill>
            <a:srgbClr val="1C2B3A"/>
          </a:solidFill>
          <a:ln/>
          <a:effectLst>
            <a:outerShdw blurRad="76200" dist="25400" dir="8100000" algn="bl" rotWithShape="0">
              <a:srgbClr val="000000">
                <a:alpha val="20000"/>
              </a:srgbClr>
            </a:outerShdw>
          </a:effectLst>
        </p:spPr>
        <p:txBody>
          <a:bodyPr/>
          <a:lstStyle/>
          <a:p>
            <a:endParaRPr lang="es-ES"/>
          </a:p>
        </p:txBody>
      </p:sp>
      <p:sp>
        <p:nvSpPr>
          <p:cNvPr id="11" name="Shape 9"/>
          <p:cNvSpPr/>
          <p:nvPr/>
        </p:nvSpPr>
        <p:spPr>
          <a:xfrm>
            <a:off x="4828032" y="1600200"/>
            <a:ext cx="201168" cy="201168"/>
          </a:xfrm>
          <a:prstGeom prst="ellipse">
            <a:avLst/>
          </a:prstGeom>
          <a:solidFill>
            <a:srgbClr val="E53935"/>
          </a:solidFill>
          <a:ln w="12700">
            <a:solidFill>
              <a:srgbClr val="E53935"/>
            </a:solidFill>
            <a:prstDash val="solid"/>
          </a:ln>
        </p:spPr>
        <p:txBody>
          <a:bodyPr/>
          <a:lstStyle/>
          <a:p>
            <a:endParaRPr lang="es-ES"/>
          </a:p>
        </p:txBody>
      </p:sp>
      <p:sp>
        <p:nvSpPr>
          <p:cNvPr id="12" name="Text 10"/>
          <p:cNvSpPr/>
          <p:nvPr/>
        </p:nvSpPr>
        <p:spPr>
          <a:xfrm>
            <a:off x="5102352" y="1554480"/>
            <a:ext cx="3520440" cy="228600"/>
          </a:xfrm>
          <a:prstGeom prst="rect">
            <a:avLst/>
          </a:prstGeom>
          <a:noFill/>
          <a:ln/>
        </p:spPr>
        <p:txBody>
          <a:bodyPr wrap="square" lIns="0" tIns="0" rIns="0" bIns="0" rtlCol="0" anchor="ctr"/>
          <a:lstStyle/>
          <a:p>
            <a:pPr marL="0" indent="0">
              <a:buNone/>
            </a:pPr>
            <a:r>
              <a:rPr lang="en-US" sz="1050" b="1" dirty="0">
                <a:solidFill>
                  <a:srgbClr val="FFFFFF"/>
                </a:solidFill>
              </a:rPr>
              <a:t>Arithmetic Overflow</a:t>
            </a:r>
            <a:endParaRPr lang="en-US" sz="1050" dirty="0"/>
          </a:p>
        </p:txBody>
      </p:sp>
      <p:sp>
        <p:nvSpPr>
          <p:cNvPr id="13" name="Text 11"/>
          <p:cNvSpPr/>
          <p:nvPr/>
        </p:nvSpPr>
        <p:spPr>
          <a:xfrm>
            <a:off x="4828032" y="1801368"/>
            <a:ext cx="3813048" cy="182880"/>
          </a:xfrm>
          <a:prstGeom prst="rect">
            <a:avLst/>
          </a:prstGeom>
          <a:noFill/>
          <a:ln/>
        </p:spPr>
        <p:txBody>
          <a:bodyPr wrap="square" lIns="0" tIns="0" rIns="0" bIns="0" rtlCol="0" anchor="ctr"/>
          <a:lstStyle/>
          <a:p>
            <a:pPr marL="0" indent="0">
              <a:buNone/>
            </a:pPr>
            <a:r>
              <a:rPr lang="en-US" sz="800" dirty="0">
                <a:solidFill>
                  <a:srgbClr val="B0BEC5"/>
                </a:solidFill>
              </a:rPr>
              <a:t>Problem: pyodbc inferred satoshi values as tinyint (max 255 vs 2.1×10¹⁵ sat)</a:t>
            </a:r>
            <a:endParaRPr lang="en-US" sz="800" dirty="0"/>
          </a:p>
        </p:txBody>
      </p:sp>
      <p:sp>
        <p:nvSpPr>
          <p:cNvPr id="14" name="Text 12"/>
          <p:cNvSpPr/>
          <p:nvPr/>
        </p:nvSpPr>
        <p:spPr>
          <a:xfrm>
            <a:off x="4828032" y="1965960"/>
            <a:ext cx="3813048" cy="182880"/>
          </a:xfrm>
          <a:prstGeom prst="rect">
            <a:avLst/>
          </a:prstGeom>
          <a:noFill/>
          <a:ln/>
        </p:spPr>
        <p:txBody>
          <a:bodyPr wrap="square" lIns="0" tIns="0" rIns="0" bIns="0" rtlCol="0" anchor="ctr"/>
          <a:lstStyle/>
          <a:p>
            <a:pPr marL="0" indent="0">
              <a:buNone/>
            </a:pPr>
            <a:r>
              <a:rPr lang="en-US" sz="850" b="1" dirty="0">
                <a:solidFill>
                  <a:srgbClr val="26C6A2"/>
                </a:solidFill>
              </a:rPr>
              <a:t>→ Fix: Added CAST(? AS BIGINT) in every INSERT</a:t>
            </a:r>
            <a:endParaRPr lang="en-US" sz="850" dirty="0"/>
          </a:p>
        </p:txBody>
      </p:sp>
      <p:sp>
        <p:nvSpPr>
          <p:cNvPr id="15" name="Shape 13"/>
          <p:cNvSpPr/>
          <p:nvPr/>
        </p:nvSpPr>
        <p:spPr>
          <a:xfrm>
            <a:off x="4709160" y="2286000"/>
            <a:ext cx="4023360" cy="685800"/>
          </a:xfrm>
          <a:prstGeom prst="roundRect">
            <a:avLst>
              <a:gd name="adj" fmla="val 9333"/>
            </a:avLst>
          </a:prstGeom>
          <a:solidFill>
            <a:srgbClr val="1C2B3A"/>
          </a:solidFill>
          <a:ln/>
          <a:effectLst>
            <a:outerShdw blurRad="76200" dist="25400" dir="8100000" algn="bl" rotWithShape="0">
              <a:srgbClr val="000000">
                <a:alpha val="20000"/>
              </a:srgbClr>
            </a:outerShdw>
          </a:effectLst>
        </p:spPr>
        <p:txBody>
          <a:bodyPr/>
          <a:lstStyle/>
          <a:p>
            <a:endParaRPr lang="es-ES"/>
          </a:p>
        </p:txBody>
      </p:sp>
      <p:sp>
        <p:nvSpPr>
          <p:cNvPr id="16" name="Shape 14"/>
          <p:cNvSpPr/>
          <p:nvPr/>
        </p:nvSpPr>
        <p:spPr>
          <a:xfrm>
            <a:off x="4828032" y="2404872"/>
            <a:ext cx="201168" cy="201168"/>
          </a:xfrm>
          <a:prstGeom prst="ellipse">
            <a:avLst/>
          </a:prstGeom>
          <a:solidFill>
            <a:srgbClr val="E53935"/>
          </a:solidFill>
          <a:ln w="12700">
            <a:solidFill>
              <a:srgbClr val="E53935"/>
            </a:solidFill>
            <a:prstDash val="solid"/>
          </a:ln>
        </p:spPr>
        <p:txBody>
          <a:bodyPr/>
          <a:lstStyle/>
          <a:p>
            <a:endParaRPr lang="es-ES"/>
          </a:p>
        </p:txBody>
      </p:sp>
      <p:sp>
        <p:nvSpPr>
          <p:cNvPr id="17" name="Text 15"/>
          <p:cNvSpPr/>
          <p:nvPr/>
        </p:nvSpPr>
        <p:spPr>
          <a:xfrm>
            <a:off x="5102352" y="2359152"/>
            <a:ext cx="3520440" cy="228600"/>
          </a:xfrm>
          <a:prstGeom prst="rect">
            <a:avLst/>
          </a:prstGeom>
          <a:noFill/>
          <a:ln/>
        </p:spPr>
        <p:txBody>
          <a:bodyPr wrap="square" lIns="0" tIns="0" rIns="0" bIns="0" rtlCol="0" anchor="ctr"/>
          <a:lstStyle/>
          <a:p>
            <a:pPr marL="0" indent="0">
              <a:buNone/>
            </a:pPr>
            <a:r>
              <a:rPr lang="en-US" sz="1050" b="1" dirty="0">
                <a:solidFill>
                  <a:srgbClr val="FFFFFF"/>
                </a:solidFill>
              </a:rPr>
              <a:t>Msg 1934 DDL Error</a:t>
            </a:r>
            <a:endParaRPr lang="en-US" sz="1050" dirty="0"/>
          </a:p>
        </p:txBody>
      </p:sp>
      <p:sp>
        <p:nvSpPr>
          <p:cNvPr id="18" name="Text 16"/>
          <p:cNvSpPr/>
          <p:nvPr/>
        </p:nvSpPr>
        <p:spPr>
          <a:xfrm>
            <a:off x="4828032" y="2606040"/>
            <a:ext cx="3813048" cy="182880"/>
          </a:xfrm>
          <a:prstGeom prst="rect">
            <a:avLst/>
          </a:prstGeom>
          <a:noFill/>
          <a:ln/>
        </p:spPr>
        <p:txBody>
          <a:bodyPr wrap="square" lIns="0" tIns="0" rIns="0" bIns="0" rtlCol="0" anchor="ctr"/>
          <a:lstStyle/>
          <a:p>
            <a:pPr marL="0" indent="0">
              <a:buNone/>
            </a:pPr>
            <a:r>
              <a:rPr lang="en-US" sz="850" dirty="0">
                <a:solidFill>
                  <a:srgbClr val="B0BEC5"/>
                </a:solidFill>
              </a:rPr>
              <a:t>Problem: QUOTED_IDENTIFIER OFF prevents computed column creation</a:t>
            </a:r>
            <a:endParaRPr lang="en-US" sz="850" dirty="0"/>
          </a:p>
        </p:txBody>
      </p:sp>
      <p:sp>
        <p:nvSpPr>
          <p:cNvPr id="19" name="Text 17"/>
          <p:cNvSpPr/>
          <p:nvPr/>
        </p:nvSpPr>
        <p:spPr>
          <a:xfrm>
            <a:off x="4828032" y="2770632"/>
            <a:ext cx="3813048" cy="182880"/>
          </a:xfrm>
          <a:prstGeom prst="rect">
            <a:avLst/>
          </a:prstGeom>
          <a:noFill/>
          <a:ln/>
        </p:spPr>
        <p:txBody>
          <a:bodyPr wrap="square" lIns="0" tIns="0" rIns="0" bIns="0" rtlCol="0" anchor="ctr"/>
          <a:lstStyle/>
          <a:p>
            <a:pPr marL="0" indent="0">
              <a:buNone/>
            </a:pPr>
            <a:r>
              <a:rPr lang="en-US" sz="850" b="1" dirty="0">
                <a:solidFill>
                  <a:srgbClr val="26C6A2"/>
                </a:solidFill>
              </a:rPr>
              <a:t>→ Fix: SET QUOTED_IDENTIFIER ON in all DDL scripts</a:t>
            </a:r>
            <a:endParaRPr lang="en-US" sz="850" dirty="0"/>
          </a:p>
        </p:txBody>
      </p:sp>
      <p:sp>
        <p:nvSpPr>
          <p:cNvPr id="20" name="Shape 18"/>
          <p:cNvSpPr/>
          <p:nvPr/>
        </p:nvSpPr>
        <p:spPr>
          <a:xfrm>
            <a:off x="4709160" y="3090672"/>
            <a:ext cx="4023360" cy="685800"/>
          </a:xfrm>
          <a:prstGeom prst="roundRect">
            <a:avLst>
              <a:gd name="adj" fmla="val 9333"/>
            </a:avLst>
          </a:prstGeom>
          <a:solidFill>
            <a:srgbClr val="1C2B3A"/>
          </a:solidFill>
          <a:ln/>
          <a:effectLst>
            <a:outerShdw blurRad="76200" dist="25400" dir="8100000" algn="bl" rotWithShape="0">
              <a:srgbClr val="000000">
                <a:alpha val="20000"/>
              </a:srgbClr>
            </a:outerShdw>
          </a:effectLst>
        </p:spPr>
        <p:txBody>
          <a:bodyPr/>
          <a:lstStyle/>
          <a:p>
            <a:endParaRPr lang="es-ES"/>
          </a:p>
        </p:txBody>
      </p:sp>
      <p:sp>
        <p:nvSpPr>
          <p:cNvPr id="21" name="Shape 19"/>
          <p:cNvSpPr/>
          <p:nvPr/>
        </p:nvSpPr>
        <p:spPr>
          <a:xfrm>
            <a:off x="4828032" y="3209544"/>
            <a:ext cx="201168" cy="201168"/>
          </a:xfrm>
          <a:prstGeom prst="ellipse">
            <a:avLst/>
          </a:prstGeom>
          <a:solidFill>
            <a:srgbClr val="E53935"/>
          </a:solidFill>
          <a:ln w="12700">
            <a:solidFill>
              <a:srgbClr val="E53935"/>
            </a:solidFill>
            <a:prstDash val="solid"/>
          </a:ln>
        </p:spPr>
        <p:txBody>
          <a:bodyPr/>
          <a:lstStyle/>
          <a:p>
            <a:endParaRPr lang="es-ES"/>
          </a:p>
        </p:txBody>
      </p:sp>
      <p:sp>
        <p:nvSpPr>
          <p:cNvPr id="22" name="Text 20"/>
          <p:cNvSpPr/>
          <p:nvPr/>
        </p:nvSpPr>
        <p:spPr>
          <a:xfrm>
            <a:off x="5102352" y="3163824"/>
            <a:ext cx="3520440" cy="228600"/>
          </a:xfrm>
          <a:prstGeom prst="rect">
            <a:avLst/>
          </a:prstGeom>
          <a:noFill/>
          <a:ln/>
        </p:spPr>
        <p:txBody>
          <a:bodyPr wrap="square" lIns="0" tIns="0" rIns="0" bIns="0" rtlCol="0" anchor="ctr"/>
          <a:lstStyle/>
          <a:p>
            <a:pPr marL="0" indent="0">
              <a:buNone/>
            </a:pPr>
            <a:r>
              <a:rPr lang="en-US" sz="1050" b="1" dirty="0">
                <a:solidFill>
                  <a:srgbClr val="FFFFFF"/>
                </a:solidFill>
              </a:rPr>
              <a:t>404 Pagination Crash</a:t>
            </a:r>
            <a:endParaRPr lang="en-US" sz="1050" dirty="0"/>
          </a:p>
        </p:txBody>
      </p:sp>
      <p:sp>
        <p:nvSpPr>
          <p:cNvPr id="23" name="Text 21"/>
          <p:cNvSpPr/>
          <p:nvPr/>
        </p:nvSpPr>
        <p:spPr>
          <a:xfrm>
            <a:off x="4828032" y="3410712"/>
            <a:ext cx="3813048" cy="182880"/>
          </a:xfrm>
          <a:prstGeom prst="rect">
            <a:avLst/>
          </a:prstGeom>
          <a:noFill/>
          <a:ln/>
        </p:spPr>
        <p:txBody>
          <a:bodyPr wrap="square" lIns="0" tIns="0" rIns="0" bIns="0" rtlCol="0" anchor="ctr"/>
          <a:lstStyle/>
          <a:p>
            <a:pPr marL="0" indent="0">
              <a:buNone/>
            </a:pPr>
            <a:r>
              <a:rPr lang="en-US" sz="850" dirty="0">
                <a:solidFill>
                  <a:srgbClr val="B0BEC5"/>
                </a:solidFill>
              </a:rPr>
              <a:t>Problem: Mempool API returns 404 (not empty list) at page boundary (25/50 txs)</a:t>
            </a:r>
            <a:endParaRPr lang="en-US" sz="850" dirty="0"/>
          </a:p>
        </p:txBody>
      </p:sp>
      <p:sp>
        <p:nvSpPr>
          <p:cNvPr id="24" name="Text 22"/>
          <p:cNvSpPr/>
          <p:nvPr/>
        </p:nvSpPr>
        <p:spPr>
          <a:xfrm>
            <a:off x="4828032" y="3575304"/>
            <a:ext cx="3813048" cy="182880"/>
          </a:xfrm>
          <a:prstGeom prst="rect">
            <a:avLst/>
          </a:prstGeom>
          <a:noFill/>
          <a:ln/>
        </p:spPr>
        <p:txBody>
          <a:bodyPr wrap="square" lIns="0" tIns="0" rIns="0" bIns="0" rtlCol="0" anchor="ctr"/>
          <a:lstStyle/>
          <a:p>
            <a:pPr marL="0" indent="0">
              <a:buNone/>
            </a:pPr>
            <a:r>
              <a:rPr lang="en-US" sz="850" b="1" dirty="0">
                <a:solidFill>
                  <a:srgbClr val="26C6A2"/>
                </a:solidFill>
              </a:rPr>
              <a:t>→ Fix: ignore_404=True param in http_get() returns [] and breaks loop</a:t>
            </a:r>
            <a:endParaRPr lang="en-US" sz="850" dirty="0"/>
          </a:p>
        </p:txBody>
      </p:sp>
      <p:sp>
        <p:nvSpPr>
          <p:cNvPr id="25" name="Shape 23"/>
          <p:cNvSpPr/>
          <p:nvPr/>
        </p:nvSpPr>
        <p:spPr>
          <a:xfrm>
            <a:off x="4709160" y="3895344"/>
            <a:ext cx="4023360" cy="685800"/>
          </a:xfrm>
          <a:prstGeom prst="roundRect">
            <a:avLst>
              <a:gd name="adj" fmla="val 9333"/>
            </a:avLst>
          </a:prstGeom>
          <a:solidFill>
            <a:srgbClr val="1C2B3A"/>
          </a:solidFill>
          <a:ln/>
          <a:effectLst>
            <a:outerShdw blurRad="76200" dist="25400" dir="8100000" algn="bl" rotWithShape="0">
              <a:srgbClr val="000000">
                <a:alpha val="20000"/>
              </a:srgbClr>
            </a:outerShdw>
          </a:effectLst>
        </p:spPr>
        <p:txBody>
          <a:bodyPr/>
          <a:lstStyle/>
          <a:p>
            <a:endParaRPr lang="es-ES"/>
          </a:p>
        </p:txBody>
      </p:sp>
      <p:sp>
        <p:nvSpPr>
          <p:cNvPr id="26" name="Shape 24"/>
          <p:cNvSpPr/>
          <p:nvPr/>
        </p:nvSpPr>
        <p:spPr>
          <a:xfrm>
            <a:off x="4828032" y="4014216"/>
            <a:ext cx="201168" cy="201168"/>
          </a:xfrm>
          <a:prstGeom prst="ellipse">
            <a:avLst/>
          </a:prstGeom>
          <a:solidFill>
            <a:srgbClr val="E53935"/>
          </a:solidFill>
          <a:ln w="12700">
            <a:solidFill>
              <a:srgbClr val="E53935"/>
            </a:solidFill>
            <a:prstDash val="solid"/>
          </a:ln>
        </p:spPr>
        <p:txBody>
          <a:bodyPr/>
          <a:lstStyle/>
          <a:p>
            <a:endParaRPr lang="es-ES"/>
          </a:p>
        </p:txBody>
      </p:sp>
      <p:sp>
        <p:nvSpPr>
          <p:cNvPr id="27" name="Text 25"/>
          <p:cNvSpPr/>
          <p:nvPr/>
        </p:nvSpPr>
        <p:spPr>
          <a:xfrm>
            <a:off x="5102352" y="3968496"/>
            <a:ext cx="3520440" cy="228600"/>
          </a:xfrm>
          <a:prstGeom prst="rect">
            <a:avLst/>
          </a:prstGeom>
          <a:noFill/>
          <a:ln/>
        </p:spPr>
        <p:txBody>
          <a:bodyPr wrap="square" lIns="0" tIns="0" rIns="0" bIns="0" rtlCol="0" anchor="ctr"/>
          <a:lstStyle/>
          <a:p>
            <a:pPr marL="0" indent="0">
              <a:buNone/>
            </a:pPr>
            <a:r>
              <a:rPr lang="en-US" sz="1050" b="1" dirty="0">
                <a:solidFill>
                  <a:srgbClr val="FFFFFF"/>
                </a:solidFill>
              </a:rPr>
              <a:t>NVT/Fear-Greed Not Loading</a:t>
            </a:r>
            <a:endParaRPr lang="en-US" sz="1050" dirty="0"/>
          </a:p>
        </p:txBody>
      </p:sp>
      <p:sp>
        <p:nvSpPr>
          <p:cNvPr id="28" name="Text 26"/>
          <p:cNvSpPr/>
          <p:nvPr/>
        </p:nvSpPr>
        <p:spPr>
          <a:xfrm>
            <a:off x="4828032" y="4215384"/>
            <a:ext cx="3813048" cy="182880"/>
          </a:xfrm>
          <a:prstGeom prst="rect">
            <a:avLst/>
          </a:prstGeom>
          <a:noFill/>
          <a:ln/>
        </p:spPr>
        <p:txBody>
          <a:bodyPr wrap="square" lIns="0" tIns="0" rIns="0" bIns="0" rtlCol="0" anchor="ctr"/>
          <a:lstStyle/>
          <a:p>
            <a:pPr marL="0" indent="0">
              <a:buNone/>
            </a:pPr>
            <a:r>
              <a:rPr lang="en-US" sz="800" dirty="0">
                <a:solidFill>
                  <a:srgbClr val="B0BEC5"/>
                </a:solidFill>
              </a:rPr>
              <a:t>Problem: load_ts not bumped when staging updated → DW thought data unchanged</a:t>
            </a:r>
            <a:endParaRPr lang="en-US" sz="800" dirty="0"/>
          </a:p>
        </p:txBody>
      </p:sp>
      <p:sp>
        <p:nvSpPr>
          <p:cNvPr id="29" name="Text 27"/>
          <p:cNvSpPr/>
          <p:nvPr/>
        </p:nvSpPr>
        <p:spPr>
          <a:xfrm>
            <a:off x="4828032" y="4379976"/>
            <a:ext cx="3813048" cy="182880"/>
          </a:xfrm>
          <a:prstGeom prst="rect">
            <a:avLst/>
          </a:prstGeom>
          <a:noFill/>
          <a:ln/>
        </p:spPr>
        <p:txBody>
          <a:bodyPr wrap="square" lIns="0" tIns="0" rIns="0" bIns="0" rtlCol="0" anchor="ctr"/>
          <a:lstStyle/>
          <a:p>
            <a:pPr marL="0" indent="0">
              <a:buNone/>
            </a:pPr>
            <a:r>
              <a:rPr lang="en-US" sz="850" b="1" dirty="0">
                <a:solidFill>
                  <a:srgbClr val="26C6A2"/>
                </a:solidFill>
              </a:rPr>
              <a:t>→ Fix: Always update load_ts after merge, forcing SCD-1 UPDATE to propagate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457200" y="256032"/>
            <a:ext cx="2633472" cy="256032"/>
          </a:xfrm>
          <a:prstGeom prst="roundRect">
            <a:avLst>
              <a:gd name="adj" fmla="val 14286"/>
            </a:avLst>
          </a:prstGeom>
          <a:solidFill>
            <a:srgbClr val="F7931A"/>
          </a:solidFill>
          <a:ln w="12700">
            <a:solidFill>
              <a:srgbClr val="F7931A"/>
            </a:solidFill>
            <a:prstDash val="solid"/>
          </a:ln>
        </p:spPr>
        <p:txBody>
          <a:bodyPr/>
          <a:lstStyle/>
          <a:p>
            <a:endParaRPr lang="es-ES" dirty="0"/>
          </a:p>
        </p:txBody>
      </p:sp>
      <p:sp>
        <p:nvSpPr>
          <p:cNvPr id="3" name="Text 1"/>
          <p:cNvSpPr/>
          <p:nvPr/>
        </p:nvSpPr>
        <p:spPr>
          <a:xfrm>
            <a:off x="457200" y="256032"/>
            <a:ext cx="2633472" cy="256032"/>
          </a:xfrm>
          <a:prstGeom prst="rect">
            <a:avLst/>
          </a:prstGeom>
          <a:noFill/>
          <a:ln/>
        </p:spPr>
        <p:txBody>
          <a:bodyPr wrap="square" lIns="0" tIns="0" rIns="0" bIns="0" rtlCol="0" anchor="ctr"/>
          <a:lstStyle/>
          <a:p>
            <a:pPr marL="0" indent="0" algn="ctr">
              <a:buNone/>
            </a:pPr>
            <a:r>
              <a:rPr lang="en-US" sz="1100" b="1" dirty="0">
                <a:solidFill>
                  <a:srgbClr val="FFFFFF"/>
                </a:solidFill>
              </a:rPr>
              <a:t>05 · DIMENSIONAL MODEL</a:t>
            </a:r>
            <a:endParaRPr lang="en-US" sz="1100" dirty="0"/>
          </a:p>
        </p:txBody>
      </p:sp>
      <p:sp>
        <p:nvSpPr>
          <p:cNvPr id="4" name="Text 2"/>
          <p:cNvSpPr/>
          <p:nvPr/>
        </p:nvSpPr>
        <p:spPr>
          <a:xfrm>
            <a:off x="457200" y="566928"/>
            <a:ext cx="8229600" cy="502920"/>
          </a:xfrm>
          <a:prstGeom prst="rect">
            <a:avLst/>
          </a:prstGeom>
          <a:noFill/>
          <a:ln/>
        </p:spPr>
        <p:txBody>
          <a:bodyPr wrap="square" lIns="0" tIns="0" rIns="0" bIns="0" rtlCol="0" anchor="ctr"/>
          <a:lstStyle/>
          <a:p>
            <a:pPr marL="0" indent="0">
              <a:buNone/>
            </a:pPr>
            <a:r>
              <a:rPr lang="en-US" sz="2800" b="1" dirty="0">
                <a:solidFill>
                  <a:srgbClr val="1A2332"/>
                </a:solidFill>
              </a:rPr>
              <a:t>Star Schema: FACT_TRANSACTION</a:t>
            </a:r>
            <a:endParaRPr lang="en-US" sz="2800" dirty="0"/>
          </a:p>
        </p:txBody>
      </p:sp>
      <p:sp>
        <p:nvSpPr>
          <p:cNvPr id="5" name="Shape 3"/>
          <p:cNvSpPr/>
          <p:nvPr/>
        </p:nvSpPr>
        <p:spPr>
          <a:xfrm>
            <a:off x="3172968" y="1801368"/>
            <a:ext cx="2743200" cy="1920240"/>
          </a:xfrm>
          <a:prstGeom prst="roundRect">
            <a:avLst>
              <a:gd name="adj" fmla="val 4762"/>
            </a:avLst>
          </a:prstGeom>
          <a:solidFill>
            <a:srgbClr val="0D1B2A"/>
          </a:solidFill>
          <a:ln/>
          <a:effectLst>
            <a:outerShdw blurRad="152400" dist="38100" dir="8100000" algn="bl" rotWithShape="0">
              <a:srgbClr val="000000">
                <a:alpha val="20000"/>
              </a:srgbClr>
            </a:outerShdw>
          </a:effectLst>
        </p:spPr>
        <p:txBody>
          <a:bodyPr/>
          <a:lstStyle/>
          <a:p>
            <a:endParaRPr lang="es-ES"/>
          </a:p>
        </p:txBody>
      </p:sp>
      <p:sp>
        <p:nvSpPr>
          <p:cNvPr id="6" name="Text 4"/>
          <p:cNvSpPr/>
          <p:nvPr/>
        </p:nvSpPr>
        <p:spPr>
          <a:xfrm>
            <a:off x="3172968" y="1865376"/>
            <a:ext cx="2743200" cy="274320"/>
          </a:xfrm>
          <a:prstGeom prst="rect">
            <a:avLst/>
          </a:prstGeom>
          <a:noFill/>
          <a:ln/>
        </p:spPr>
        <p:txBody>
          <a:bodyPr wrap="square" lIns="0" tIns="0" rIns="0" bIns="0" rtlCol="0" anchor="ctr"/>
          <a:lstStyle/>
          <a:p>
            <a:pPr marL="0" indent="0" algn="ctr">
              <a:buNone/>
            </a:pPr>
            <a:r>
              <a:rPr lang="en-US" sz="1200" b="1" dirty="0">
                <a:solidFill>
                  <a:srgbClr val="F7931A"/>
                </a:solidFill>
              </a:rPr>
              <a:t>FACT_TRANSACTION</a:t>
            </a:r>
            <a:endParaRPr lang="en-US" sz="1200" dirty="0"/>
          </a:p>
        </p:txBody>
      </p:sp>
      <p:sp>
        <p:nvSpPr>
          <p:cNvPr id="7" name="Text 5"/>
          <p:cNvSpPr/>
          <p:nvPr/>
        </p:nvSpPr>
        <p:spPr>
          <a:xfrm>
            <a:off x="3218688" y="2139696"/>
            <a:ext cx="2651760" cy="201168"/>
          </a:xfrm>
          <a:prstGeom prst="rect">
            <a:avLst/>
          </a:prstGeom>
          <a:noFill/>
          <a:ln/>
        </p:spPr>
        <p:txBody>
          <a:bodyPr wrap="square" lIns="0" tIns="0" rIns="0" bIns="0" rtlCol="0" anchor="ctr"/>
          <a:lstStyle/>
          <a:p>
            <a:pPr marL="0" indent="0" algn="ctr">
              <a:buNone/>
            </a:pPr>
            <a:r>
              <a:rPr lang="en-US" sz="1100" i="1" dirty="0">
                <a:solidFill>
                  <a:srgbClr val="B0BEC5"/>
                </a:solidFill>
              </a:rPr>
              <a:t>Grain: one row per transaction</a:t>
            </a:r>
            <a:endParaRPr lang="en-US" sz="1100" dirty="0"/>
          </a:p>
        </p:txBody>
      </p:sp>
      <p:sp>
        <p:nvSpPr>
          <p:cNvPr id="8" name="Text 6"/>
          <p:cNvSpPr/>
          <p:nvPr/>
        </p:nvSpPr>
        <p:spPr>
          <a:xfrm>
            <a:off x="3246120" y="2368296"/>
            <a:ext cx="2596896" cy="146304"/>
          </a:xfrm>
          <a:prstGeom prst="rect">
            <a:avLst/>
          </a:prstGeom>
          <a:noFill/>
          <a:ln/>
        </p:spPr>
        <p:txBody>
          <a:bodyPr wrap="square" lIns="0" tIns="0" rIns="0" bIns="0" rtlCol="0" anchor="ctr"/>
          <a:lstStyle/>
          <a:p>
            <a:pPr marL="0" indent="0">
              <a:buNone/>
            </a:pPr>
            <a:r>
              <a:rPr lang="en-US" sz="1100" dirty="0">
                <a:solidFill>
                  <a:srgbClr val="B0BEC5"/>
                </a:solidFill>
              </a:rPr>
              <a:t>· fee Currencies (Sat, </a:t>
            </a:r>
            <a:r>
              <a:rPr lang="en-US" sz="1100" dirty="0" err="1">
                <a:solidFill>
                  <a:srgbClr val="B0BEC5"/>
                </a:solidFill>
              </a:rPr>
              <a:t>Btc</a:t>
            </a:r>
            <a:r>
              <a:rPr lang="en-US" sz="1100" dirty="0">
                <a:solidFill>
                  <a:srgbClr val="B0BEC5"/>
                </a:solidFill>
              </a:rPr>
              <a:t>, </a:t>
            </a:r>
            <a:r>
              <a:rPr lang="en-US" sz="1100" dirty="0" err="1">
                <a:solidFill>
                  <a:srgbClr val="B0BEC5"/>
                </a:solidFill>
              </a:rPr>
              <a:t>Usd</a:t>
            </a:r>
            <a:r>
              <a:rPr lang="en-US" sz="1100" dirty="0">
                <a:solidFill>
                  <a:srgbClr val="B0BEC5"/>
                </a:solidFill>
              </a:rPr>
              <a:t>)</a:t>
            </a:r>
            <a:endParaRPr lang="en-US" sz="1100" dirty="0"/>
          </a:p>
        </p:txBody>
      </p:sp>
      <p:sp>
        <p:nvSpPr>
          <p:cNvPr id="9" name="Text 7"/>
          <p:cNvSpPr/>
          <p:nvPr/>
        </p:nvSpPr>
        <p:spPr>
          <a:xfrm>
            <a:off x="3246120" y="2505456"/>
            <a:ext cx="2596896" cy="146304"/>
          </a:xfrm>
          <a:prstGeom prst="rect">
            <a:avLst/>
          </a:prstGeom>
          <a:noFill/>
          <a:ln/>
        </p:spPr>
        <p:txBody>
          <a:bodyPr wrap="square" lIns="0" tIns="0" rIns="0" bIns="0" rtlCol="0" anchor="ctr"/>
          <a:lstStyle/>
          <a:p>
            <a:pPr marL="0" indent="0">
              <a:buNone/>
            </a:pPr>
            <a:r>
              <a:rPr lang="en-US" sz="1100" dirty="0">
                <a:solidFill>
                  <a:srgbClr val="B0BEC5"/>
                </a:solidFill>
              </a:rPr>
              <a:t>Transaction Count</a:t>
            </a:r>
            <a:endParaRPr lang="en-US" sz="1100" dirty="0"/>
          </a:p>
        </p:txBody>
      </p:sp>
      <p:sp>
        <p:nvSpPr>
          <p:cNvPr id="10" name="Text 8"/>
          <p:cNvSpPr/>
          <p:nvPr/>
        </p:nvSpPr>
        <p:spPr>
          <a:xfrm>
            <a:off x="3246120" y="2642616"/>
            <a:ext cx="2596896" cy="146304"/>
          </a:xfrm>
          <a:prstGeom prst="rect">
            <a:avLst/>
          </a:prstGeom>
          <a:noFill/>
          <a:ln/>
        </p:spPr>
        <p:txBody>
          <a:bodyPr wrap="square" lIns="0" tIns="0" rIns="0" bIns="0" rtlCol="0" anchor="ctr"/>
          <a:lstStyle/>
          <a:p>
            <a:pPr marL="0" indent="0">
              <a:buNone/>
            </a:pPr>
            <a:r>
              <a:rPr lang="en-US" sz="1100" dirty="0">
                <a:solidFill>
                  <a:srgbClr val="B0BEC5"/>
                </a:solidFill>
              </a:rPr>
              <a:t>· input/output value (Sat, </a:t>
            </a:r>
            <a:r>
              <a:rPr lang="en-US" sz="1100" dirty="0" err="1">
                <a:solidFill>
                  <a:srgbClr val="B0BEC5"/>
                </a:solidFill>
              </a:rPr>
              <a:t>Btc</a:t>
            </a:r>
            <a:r>
              <a:rPr lang="en-US" sz="1100" dirty="0">
                <a:solidFill>
                  <a:srgbClr val="B0BEC5"/>
                </a:solidFill>
              </a:rPr>
              <a:t>, </a:t>
            </a:r>
            <a:r>
              <a:rPr lang="en-US" sz="1100" dirty="0" err="1">
                <a:solidFill>
                  <a:srgbClr val="B0BEC5"/>
                </a:solidFill>
              </a:rPr>
              <a:t>Usd</a:t>
            </a:r>
            <a:r>
              <a:rPr lang="en-US" sz="1100" dirty="0">
                <a:solidFill>
                  <a:srgbClr val="B0BEC5"/>
                </a:solidFill>
              </a:rPr>
              <a:t>)</a:t>
            </a:r>
            <a:endParaRPr lang="en-US" sz="1100" dirty="0"/>
          </a:p>
        </p:txBody>
      </p:sp>
      <p:sp>
        <p:nvSpPr>
          <p:cNvPr id="11" name="Text 9"/>
          <p:cNvSpPr/>
          <p:nvPr/>
        </p:nvSpPr>
        <p:spPr>
          <a:xfrm>
            <a:off x="3246120" y="2779776"/>
            <a:ext cx="2596896" cy="146304"/>
          </a:xfrm>
          <a:prstGeom prst="rect">
            <a:avLst/>
          </a:prstGeom>
          <a:noFill/>
          <a:ln/>
        </p:spPr>
        <p:txBody>
          <a:bodyPr wrap="square" lIns="0" tIns="0" rIns="0" bIns="0" rtlCol="0" anchor="ctr"/>
          <a:lstStyle/>
          <a:p>
            <a:pPr marL="0" indent="0">
              <a:buNone/>
            </a:pPr>
            <a:r>
              <a:rPr lang="en-US" sz="1100" dirty="0">
                <a:solidFill>
                  <a:srgbClr val="B0BEC5"/>
                </a:solidFill>
              </a:rPr>
              <a:t>· fee_usd</a:t>
            </a:r>
            <a:endParaRPr lang="en-US" sz="1100" dirty="0"/>
          </a:p>
        </p:txBody>
      </p:sp>
      <p:sp>
        <p:nvSpPr>
          <p:cNvPr id="12" name="Text 10"/>
          <p:cNvSpPr/>
          <p:nvPr/>
        </p:nvSpPr>
        <p:spPr>
          <a:xfrm>
            <a:off x="3246120" y="2916936"/>
            <a:ext cx="2596896" cy="146304"/>
          </a:xfrm>
          <a:prstGeom prst="rect">
            <a:avLst/>
          </a:prstGeom>
          <a:noFill/>
          <a:ln/>
        </p:spPr>
        <p:txBody>
          <a:bodyPr wrap="square" lIns="0" tIns="0" rIns="0" bIns="0" rtlCol="0" anchor="ctr"/>
          <a:lstStyle/>
          <a:p>
            <a:pPr marL="0" indent="0">
              <a:buNone/>
            </a:pPr>
            <a:r>
              <a:rPr lang="en-US" sz="1100" dirty="0">
                <a:solidFill>
                  <a:srgbClr val="B0BEC5"/>
                </a:solidFill>
              </a:rPr>
              <a:t>· fee_burden_pct</a:t>
            </a:r>
            <a:endParaRPr lang="en-US" sz="1100" dirty="0"/>
          </a:p>
        </p:txBody>
      </p:sp>
      <p:sp>
        <p:nvSpPr>
          <p:cNvPr id="13" name="Text 11"/>
          <p:cNvSpPr/>
          <p:nvPr/>
        </p:nvSpPr>
        <p:spPr>
          <a:xfrm>
            <a:off x="3246120" y="3054096"/>
            <a:ext cx="2596896" cy="146304"/>
          </a:xfrm>
          <a:prstGeom prst="rect">
            <a:avLst/>
          </a:prstGeom>
          <a:noFill/>
          <a:ln/>
        </p:spPr>
        <p:txBody>
          <a:bodyPr wrap="square" lIns="0" tIns="0" rIns="0" bIns="0" rtlCol="0" anchor="ctr"/>
          <a:lstStyle/>
          <a:p>
            <a:pPr marL="0" indent="0">
              <a:buNone/>
            </a:pPr>
            <a:r>
              <a:rPr lang="en-US" sz="1100" dirty="0">
                <a:solidFill>
                  <a:srgbClr val="B0BEC5"/>
                </a:solidFill>
              </a:rPr>
              <a:t>Tx Size Bytes</a:t>
            </a:r>
            <a:endParaRPr lang="en-US" sz="1100" dirty="0"/>
          </a:p>
        </p:txBody>
      </p:sp>
      <p:sp>
        <p:nvSpPr>
          <p:cNvPr id="14" name="Text 12"/>
          <p:cNvSpPr/>
          <p:nvPr/>
        </p:nvSpPr>
        <p:spPr>
          <a:xfrm>
            <a:off x="3246120" y="3191256"/>
            <a:ext cx="2596896" cy="146304"/>
          </a:xfrm>
          <a:prstGeom prst="rect">
            <a:avLst/>
          </a:prstGeom>
          <a:noFill/>
          <a:ln/>
        </p:spPr>
        <p:txBody>
          <a:bodyPr wrap="square" lIns="0" tIns="0" rIns="0" bIns="0" rtlCol="0" anchor="ctr"/>
          <a:lstStyle/>
          <a:p>
            <a:pPr marL="0" indent="0">
              <a:buNone/>
            </a:pPr>
            <a:r>
              <a:rPr lang="en-US" sz="1100" dirty="0">
                <a:solidFill>
                  <a:srgbClr val="B0BEC5"/>
                </a:solidFill>
              </a:rPr>
              <a:t>Tx </a:t>
            </a:r>
            <a:r>
              <a:rPr lang="en-US" sz="1100" dirty="0" err="1">
                <a:solidFill>
                  <a:srgbClr val="B0BEC5"/>
                </a:solidFill>
              </a:rPr>
              <a:t>Vsize</a:t>
            </a:r>
            <a:r>
              <a:rPr lang="en-US" sz="1100" dirty="0">
                <a:solidFill>
                  <a:srgbClr val="B0BEC5"/>
                </a:solidFill>
              </a:rPr>
              <a:t> Bytes</a:t>
            </a:r>
            <a:endParaRPr lang="en-US" sz="1100" dirty="0"/>
          </a:p>
        </p:txBody>
      </p:sp>
      <p:sp>
        <p:nvSpPr>
          <p:cNvPr id="17" name="Shape 15"/>
          <p:cNvSpPr/>
          <p:nvPr/>
        </p:nvSpPr>
        <p:spPr>
          <a:xfrm>
            <a:off x="365760" y="1234440"/>
            <a:ext cx="2606040" cy="1737360"/>
          </a:xfrm>
          <a:prstGeom prst="roundRect">
            <a:avLst>
              <a:gd name="adj" fmla="val 4211"/>
            </a:avLst>
          </a:prstGeom>
          <a:solidFill>
            <a:srgbClr val="FFFFFF"/>
          </a:solidFill>
          <a:ln/>
          <a:effectLst>
            <a:outerShdw blurRad="101600" dist="25400" dir="8100000" algn="bl" rotWithShape="0">
              <a:srgbClr val="000000">
                <a:alpha val="10000"/>
              </a:srgbClr>
            </a:outerShdw>
          </a:effectLst>
        </p:spPr>
        <p:txBody>
          <a:bodyPr/>
          <a:lstStyle/>
          <a:p>
            <a:endParaRPr lang="es-ES"/>
          </a:p>
        </p:txBody>
      </p:sp>
      <p:sp>
        <p:nvSpPr>
          <p:cNvPr id="18" name="Text 16"/>
          <p:cNvSpPr/>
          <p:nvPr/>
        </p:nvSpPr>
        <p:spPr>
          <a:xfrm>
            <a:off x="475488" y="1325880"/>
            <a:ext cx="2377440" cy="274320"/>
          </a:xfrm>
          <a:prstGeom prst="rect">
            <a:avLst/>
          </a:prstGeom>
          <a:noFill/>
          <a:ln/>
        </p:spPr>
        <p:txBody>
          <a:bodyPr wrap="square" lIns="0" tIns="0" rIns="0" bIns="0" rtlCol="0" anchor="ctr"/>
          <a:lstStyle/>
          <a:p>
            <a:pPr marL="0" indent="0">
              <a:buNone/>
            </a:pPr>
            <a:r>
              <a:rPr lang="en-US" sz="1200" b="1" dirty="0">
                <a:solidFill>
                  <a:srgbClr val="1A2332"/>
                </a:solidFill>
              </a:rPr>
              <a:t>DIM_DATE</a:t>
            </a:r>
            <a:endParaRPr lang="en-US" sz="1200" dirty="0"/>
          </a:p>
        </p:txBody>
      </p:sp>
      <p:sp>
        <p:nvSpPr>
          <p:cNvPr id="19" name="Text 17"/>
          <p:cNvSpPr/>
          <p:nvPr/>
        </p:nvSpPr>
        <p:spPr>
          <a:xfrm>
            <a:off x="475488" y="1600200"/>
            <a:ext cx="2377440" cy="201168"/>
          </a:xfrm>
          <a:prstGeom prst="rect">
            <a:avLst/>
          </a:prstGeom>
          <a:noFill/>
          <a:ln/>
        </p:spPr>
        <p:txBody>
          <a:bodyPr wrap="square" lIns="0" tIns="0" rIns="0" bIns="0" rtlCol="0" anchor="ctr"/>
          <a:lstStyle/>
          <a:p>
            <a:pPr marL="0" indent="0">
              <a:buNone/>
            </a:pPr>
            <a:r>
              <a:rPr lang="en-US" sz="1100" i="1" dirty="0">
                <a:solidFill>
                  <a:srgbClr val="1E88E5"/>
                </a:solidFill>
              </a:rPr>
              <a:t>SCD Type 1</a:t>
            </a:r>
            <a:endParaRPr lang="en-US" sz="1100" dirty="0"/>
          </a:p>
        </p:txBody>
      </p:sp>
      <p:sp>
        <p:nvSpPr>
          <p:cNvPr id="20" name="Text 18"/>
          <p:cNvSpPr/>
          <p:nvPr/>
        </p:nvSpPr>
        <p:spPr>
          <a:xfrm>
            <a:off x="475488" y="1828800"/>
            <a:ext cx="2377440" cy="1051560"/>
          </a:xfrm>
          <a:prstGeom prst="rect">
            <a:avLst/>
          </a:prstGeom>
          <a:noFill/>
          <a:ln/>
        </p:spPr>
        <p:txBody>
          <a:bodyPr wrap="square" lIns="0" tIns="0" rIns="0" bIns="0" rtlCol="0" anchor="t"/>
          <a:lstStyle/>
          <a:p>
            <a:pPr marL="342900" indent="-342900">
              <a:buSzPct val="100000"/>
              <a:buChar char="•"/>
            </a:pPr>
            <a:r>
              <a:rPr lang="en-US" sz="1100" dirty="0">
                <a:solidFill>
                  <a:srgbClr val="455A64"/>
                </a:solidFill>
              </a:rPr>
              <a:t>Year / Quarter / Month / Day</a:t>
            </a:r>
            <a:endParaRPr lang="en-US" sz="1100" dirty="0"/>
          </a:p>
          <a:p>
            <a:pPr marL="342900" indent="-342900">
              <a:buSzPct val="100000"/>
              <a:buChar char="•"/>
            </a:pPr>
            <a:r>
              <a:rPr lang="en-US" sz="1100" dirty="0">
                <a:solidFill>
                  <a:srgbClr val="455A64"/>
                </a:solidFill>
              </a:rPr>
              <a:t>Day of Week</a:t>
            </a:r>
            <a:endParaRPr lang="en-US" sz="1100" dirty="0"/>
          </a:p>
          <a:p>
            <a:pPr marL="342900" indent="-342900">
              <a:buSzPct val="100000"/>
              <a:buChar char="•"/>
            </a:pPr>
            <a:r>
              <a:rPr lang="en-US" sz="1100" dirty="0">
                <a:solidFill>
                  <a:srgbClr val="455A64"/>
                </a:solidFill>
              </a:rPr>
              <a:t>Halving Era (1–5)</a:t>
            </a:r>
            <a:endParaRPr lang="en-US" sz="1100" dirty="0"/>
          </a:p>
          <a:p>
            <a:pPr marL="342900" indent="-342900">
              <a:buSzPct val="100000"/>
              <a:buChar char="•"/>
            </a:pPr>
            <a:r>
              <a:rPr lang="en-US" sz="1100" dirty="0">
                <a:solidFill>
                  <a:srgbClr val="455A64"/>
                </a:solidFill>
              </a:rPr>
              <a:t>Difficulty Tier</a:t>
            </a:r>
            <a:endParaRPr lang="en-US" sz="1100" dirty="0"/>
          </a:p>
        </p:txBody>
      </p:sp>
      <p:sp>
        <p:nvSpPr>
          <p:cNvPr id="21" name="Shape 19"/>
          <p:cNvSpPr/>
          <p:nvPr/>
        </p:nvSpPr>
        <p:spPr>
          <a:xfrm>
            <a:off x="365760" y="3063240"/>
            <a:ext cx="2606040" cy="1737360"/>
          </a:xfrm>
          <a:prstGeom prst="roundRect">
            <a:avLst>
              <a:gd name="adj" fmla="val 4211"/>
            </a:avLst>
          </a:prstGeom>
          <a:solidFill>
            <a:srgbClr val="FFFFFF"/>
          </a:solidFill>
          <a:ln/>
          <a:effectLst>
            <a:outerShdw blurRad="101600" dist="25400" dir="8100000" algn="bl" rotWithShape="0">
              <a:srgbClr val="000000">
                <a:alpha val="10000"/>
              </a:srgbClr>
            </a:outerShdw>
          </a:effectLst>
        </p:spPr>
        <p:txBody>
          <a:bodyPr/>
          <a:lstStyle/>
          <a:p>
            <a:endParaRPr lang="es-ES"/>
          </a:p>
        </p:txBody>
      </p:sp>
      <p:sp>
        <p:nvSpPr>
          <p:cNvPr id="22" name="Text 20"/>
          <p:cNvSpPr/>
          <p:nvPr/>
        </p:nvSpPr>
        <p:spPr>
          <a:xfrm>
            <a:off x="475488" y="3154680"/>
            <a:ext cx="2377440" cy="274320"/>
          </a:xfrm>
          <a:prstGeom prst="rect">
            <a:avLst/>
          </a:prstGeom>
          <a:noFill/>
          <a:ln/>
        </p:spPr>
        <p:txBody>
          <a:bodyPr wrap="square" lIns="0" tIns="0" rIns="0" bIns="0" rtlCol="0" anchor="ctr"/>
          <a:lstStyle/>
          <a:p>
            <a:pPr marL="0" indent="0">
              <a:buNone/>
            </a:pPr>
            <a:r>
              <a:rPr lang="en-US" sz="1200" b="1" dirty="0">
                <a:solidFill>
                  <a:srgbClr val="1A2332"/>
                </a:solidFill>
              </a:rPr>
              <a:t>DIM_BLOCK</a:t>
            </a:r>
            <a:endParaRPr lang="en-US" sz="1200" dirty="0"/>
          </a:p>
        </p:txBody>
      </p:sp>
      <p:sp>
        <p:nvSpPr>
          <p:cNvPr id="23" name="Text 21"/>
          <p:cNvSpPr/>
          <p:nvPr/>
        </p:nvSpPr>
        <p:spPr>
          <a:xfrm>
            <a:off x="475488" y="3429000"/>
            <a:ext cx="2377440" cy="201168"/>
          </a:xfrm>
          <a:prstGeom prst="rect">
            <a:avLst/>
          </a:prstGeom>
          <a:noFill/>
          <a:ln/>
        </p:spPr>
        <p:txBody>
          <a:bodyPr wrap="square" lIns="0" tIns="0" rIns="0" bIns="0" rtlCol="0" anchor="ctr"/>
          <a:lstStyle/>
          <a:p>
            <a:pPr marL="0" indent="0">
              <a:buNone/>
            </a:pPr>
            <a:r>
              <a:rPr lang="en-US" sz="1100" i="1" dirty="0">
                <a:solidFill>
                  <a:srgbClr val="1E88E5"/>
                </a:solidFill>
              </a:rPr>
              <a:t>SCD Type 0 (Immutable)</a:t>
            </a:r>
            <a:endParaRPr lang="en-US" sz="1100" dirty="0"/>
          </a:p>
        </p:txBody>
      </p:sp>
      <p:sp>
        <p:nvSpPr>
          <p:cNvPr id="24" name="Text 22"/>
          <p:cNvSpPr/>
          <p:nvPr/>
        </p:nvSpPr>
        <p:spPr>
          <a:xfrm>
            <a:off x="475488" y="3657600"/>
            <a:ext cx="2377440" cy="1051560"/>
          </a:xfrm>
          <a:prstGeom prst="rect">
            <a:avLst/>
          </a:prstGeom>
          <a:noFill/>
          <a:ln/>
        </p:spPr>
        <p:txBody>
          <a:bodyPr wrap="square" lIns="0" tIns="0" rIns="0" bIns="0" rtlCol="0" anchor="t"/>
          <a:lstStyle/>
          <a:p>
            <a:pPr marL="342900" indent="-342900">
              <a:buSzPct val="100000"/>
              <a:buChar char="•"/>
            </a:pPr>
            <a:r>
              <a:rPr lang="en-US" sz="1100" dirty="0">
                <a:solidFill>
                  <a:srgbClr val="455A64"/>
                </a:solidFill>
              </a:rPr>
              <a:t>Block Height</a:t>
            </a:r>
            <a:endParaRPr lang="en-US" sz="1100" dirty="0"/>
          </a:p>
          <a:p>
            <a:pPr marL="342900" indent="-342900">
              <a:buSzPct val="100000"/>
              <a:buChar char="•"/>
            </a:pPr>
            <a:r>
              <a:rPr lang="en-US" sz="1100" dirty="0">
                <a:solidFill>
                  <a:srgbClr val="455A64"/>
                </a:solidFill>
              </a:rPr>
              <a:t>Hash</a:t>
            </a:r>
            <a:endParaRPr lang="en-US" sz="1100" dirty="0"/>
          </a:p>
          <a:p>
            <a:pPr marL="342900" indent="-342900">
              <a:buSzPct val="100000"/>
              <a:buChar char="•"/>
            </a:pPr>
            <a:r>
              <a:rPr lang="en-US" sz="1100" dirty="0">
                <a:solidFill>
                  <a:srgbClr val="455A64"/>
                </a:solidFill>
              </a:rPr>
              <a:t>Miner Pool Name &amp; Slug</a:t>
            </a:r>
            <a:endParaRPr lang="en-US" sz="1100" dirty="0"/>
          </a:p>
          <a:p>
            <a:pPr marL="342900" indent="-342900">
              <a:buSzPct val="100000"/>
              <a:buChar char="•"/>
            </a:pPr>
            <a:r>
              <a:rPr lang="en-US" sz="1100" dirty="0">
                <a:solidFill>
                  <a:srgbClr val="455A64"/>
                </a:solidFill>
              </a:rPr>
              <a:t>Total Size, Weight, Tx Count</a:t>
            </a:r>
          </a:p>
          <a:p>
            <a:pPr marL="342900" indent="-342900">
              <a:buSzPct val="100000"/>
              <a:buChar char="•"/>
            </a:pPr>
            <a:r>
              <a:rPr lang="en-US" sz="1100" dirty="0">
                <a:solidFill>
                  <a:srgbClr val="455A64"/>
                </a:solidFill>
              </a:rPr>
              <a:t>Difficulty</a:t>
            </a:r>
            <a:endParaRPr lang="en-US" sz="1100" dirty="0"/>
          </a:p>
        </p:txBody>
      </p:sp>
      <p:sp>
        <p:nvSpPr>
          <p:cNvPr id="25" name="Shape 23"/>
          <p:cNvSpPr/>
          <p:nvPr/>
        </p:nvSpPr>
        <p:spPr>
          <a:xfrm>
            <a:off x="6035040" y="1234440"/>
            <a:ext cx="2606040" cy="1737360"/>
          </a:xfrm>
          <a:prstGeom prst="roundRect">
            <a:avLst>
              <a:gd name="adj" fmla="val 4211"/>
            </a:avLst>
          </a:prstGeom>
          <a:solidFill>
            <a:srgbClr val="FFFFFF"/>
          </a:solidFill>
          <a:ln/>
          <a:effectLst>
            <a:outerShdw blurRad="101600" dist="25400" dir="8100000" algn="bl" rotWithShape="0">
              <a:srgbClr val="000000">
                <a:alpha val="10000"/>
              </a:srgbClr>
            </a:outerShdw>
          </a:effectLst>
        </p:spPr>
        <p:txBody>
          <a:bodyPr/>
          <a:lstStyle/>
          <a:p>
            <a:endParaRPr lang="es-ES"/>
          </a:p>
        </p:txBody>
      </p:sp>
      <p:sp>
        <p:nvSpPr>
          <p:cNvPr id="26" name="Text 24"/>
          <p:cNvSpPr/>
          <p:nvPr/>
        </p:nvSpPr>
        <p:spPr>
          <a:xfrm>
            <a:off x="6144768" y="1325880"/>
            <a:ext cx="2377440" cy="274320"/>
          </a:xfrm>
          <a:prstGeom prst="rect">
            <a:avLst/>
          </a:prstGeom>
          <a:noFill/>
          <a:ln/>
        </p:spPr>
        <p:txBody>
          <a:bodyPr wrap="square" lIns="0" tIns="0" rIns="0" bIns="0" rtlCol="0" anchor="ctr"/>
          <a:lstStyle/>
          <a:p>
            <a:pPr marL="0" indent="0">
              <a:buNone/>
            </a:pPr>
            <a:r>
              <a:rPr lang="en-US" sz="1200" b="1" dirty="0">
                <a:solidFill>
                  <a:srgbClr val="1A2332"/>
                </a:solidFill>
              </a:rPr>
              <a:t>DIM_MARKET</a:t>
            </a:r>
            <a:endParaRPr lang="en-US" sz="1200" dirty="0"/>
          </a:p>
        </p:txBody>
      </p:sp>
      <p:sp>
        <p:nvSpPr>
          <p:cNvPr id="27" name="Text 25"/>
          <p:cNvSpPr/>
          <p:nvPr/>
        </p:nvSpPr>
        <p:spPr>
          <a:xfrm>
            <a:off x="6144768" y="1600200"/>
            <a:ext cx="2377440" cy="201168"/>
          </a:xfrm>
          <a:prstGeom prst="rect">
            <a:avLst/>
          </a:prstGeom>
          <a:noFill/>
          <a:ln/>
        </p:spPr>
        <p:txBody>
          <a:bodyPr wrap="square" lIns="0" tIns="0" rIns="0" bIns="0" rtlCol="0" anchor="ctr"/>
          <a:lstStyle/>
          <a:p>
            <a:pPr marL="0" indent="0">
              <a:buNone/>
            </a:pPr>
            <a:r>
              <a:rPr lang="en-US" sz="1100" i="1" dirty="0">
                <a:solidFill>
                  <a:srgbClr val="1E88E5"/>
                </a:solidFill>
              </a:rPr>
              <a:t>SCD Type 1</a:t>
            </a:r>
            <a:endParaRPr lang="en-US" sz="1100" dirty="0"/>
          </a:p>
        </p:txBody>
      </p:sp>
      <p:sp>
        <p:nvSpPr>
          <p:cNvPr id="28" name="Text 26"/>
          <p:cNvSpPr/>
          <p:nvPr/>
        </p:nvSpPr>
        <p:spPr>
          <a:xfrm>
            <a:off x="6144768" y="1828800"/>
            <a:ext cx="2377440" cy="1051560"/>
          </a:xfrm>
          <a:prstGeom prst="rect">
            <a:avLst/>
          </a:prstGeom>
          <a:noFill/>
          <a:ln/>
        </p:spPr>
        <p:txBody>
          <a:bodyPr wrap="square" lIns="0" tIns="0" rIns="0" bIns="0" rtlCol="0" anchor="t"/>
          <a:lstStyle/>
          <a:p>
            <a:pPr marL="342900" indent="-342900">
              <a:buSzPct val="100000"/>
              <a:buChar char="•"/>
            </a:pPr>
            <a:r>
              <a:rPr lang="en-US" sz="1100" dirty="0">
                <a:solidFill>
                  <a:srgbClr val="455A64"/>
                </a:solidFill>
              </a:rPr>
              <a:t>Price / Market Cap</a:t>
            </a:r>
            <a:endParaRPr lang="en-US" sz="1100" dirty="0"/>
          </a:p>
          <a:p>
            <a:pPr marL="342900" indent="-342900">
              <a:buSzPct val="100000"/>
              <a:buChar char="•"/>
            </a:pPr>
            <a:r>
              <a:rPr lang="en-US" sz="1100" dirty="0">
                <a:solidFill>
                  <a:srgbClr val="455A64"/>
                </a:solidFill>
              </a:rPr>
              <a:t>Fear &amp; Greed Score (0–100)</a:t>
            </a:r>
            <a:endParaRPr lang="en-US" sz="1100" dirty="0"/>
          </a:p>
          <a:p>
            <a:pPr marL="342900" indent="-342900">
              <a:buSzPct val="100000"/>
              <a:buChar char="•"/>
            </a:pPr>
            <a:r>
              <a:rPr lang="en-US" sz="1100" dirty="0">
                <a:solidFill>
                  <a:srgbClr val="455A64"/>
                </a:solidFill>
              </a:rPr>
              <a:t>Fear &amp; Greed Label (text)</a:t>
            </a:r>
            <a:endParaRPr lang="en-US" sz="1100" dirty="0"/>
          </a:p>
          <a:p>
            <a:pPr marL="342900" indent="-342900">
              <a:buSzPct val="100000"/>
              <a:buChar char="•"/>
            </a:pPr>
            <a:r>
              <a:rPr lang="en-US" sz="1100" dirty="0">
                <a:solidFill>
                  <a:srgbClr val="455A64"/>
                </a:solidFill>
              </a:rPr>
              <a:t>BTC Dominance %, NVT Ratio</a:t>
            </a:r>
            <a:endParaRPr lang="en-US" sz="1100" dirty="0"/>
          </a:p>
        </p:txBody>
      </p:sp>
      <p:sp>
        <p:nvSpPr>
          <p:cNvPr id="29" name="Shape 27"/>
          <p:cNvSpPr/>
          <p:nvPr/>
        </p:nvSpPr>
        <p:spPr>
          <a:xfrm>
            <a:off x="6035040" y="3063240"/>
            <a:ext cx="2606040" cy="1737360"/>
          </a:xfrm>
          <a:prstGeom prst="roundRect">
            <a:avLst>
              <a:gd name="adj" fmla="val 4211"/>
            </a:avLst>
          </a:prstGeom>
          <a:solidFill>
            <a:srgbClr val="FFFFFF"/>
          </a:solidFill>
          <a:ln/>
          <a:effectLst>
            <a:outerShdw blurRad="101600" dist="25400" dir="8100000" algn="bl" rotWithShape="0">
              <a:srgbClr val="000000">
                <a:alpha val="10000"/>
              </a:srgbClr>
            </a:outerShdw>
          </a:effectLst>
        </p:spPr>
        <p:txBody>
          <a:bodyPr/>
          <a:lstStyle/>
          <a:p>
            <a:endParaRPr lang="es-ES"/>
          </a:p>
        </p:txBody>
      </p:sp>
      <p:sp>
        <p:nvSpPr>
          <p:cNvPr id="30" name="Text 28"/>
          <p:cNvSpPr/>
          <p:nvPr/>
        </p:nvSpPr>
        <p:spPr>
          <a:xfrm>
            <a:off x="6144768" y="3154680"/>
            <a:ext cx="2377440" cy="274320"/>
          </a:xfrm>
          <a:prstGeom prst="rect">
            <a:avLst/>
          </a:prstGeom>
          <a:noFill/>
          <a:ln/>
        </p:spPr>
        <p:txBody>
          <a:bodyPr wrap="square" lIns="0" tIns="0" rIns="0" bIns="0" rtlCol="0" anchor="ctr"/>
          <a:lstStyle/>
          <a:p>
            <a:pPr marL="0" indent="0">
              <a:buNone/>
            </a:pPr>
            <a:r>
              <a:rPr lang="en-US" sz="1200" b="1" dirty="0">
                <a:solidFill>
                  <a:srgbClr val="1A2332"/>
                </a:solidFill>
              </a:rPr>
              <a:t>DIM_TX_TYPE</a:t>
            </a:r>
            <a:endParaRPr lang="en-US" sz="1200" dirty="0"/>
          </a:p>
        </p:txBody>
      </p:sp>
      <p:sp>
        <p:nvSpPr>
          <p:cNvPr id="31" name="Text 29"/>
          <p:cNvSpPr/>
          <p:nvPr/>
        </p:nvSpPr>
        <p:spPr>
          <a:xfrm>
            <a:off x="6144768" y="3429000"/>
            <a:ext cx="2377440" cy="201168"/>
          </a:xfrm>
          <a:prstGeom prst="rect">
            <a:avLst/>
          </a:prstGeom>
          <a:noFill/>
          <a:ln/>
        </p:spPr>
        <p:txBody>
          <a:bodyPr wrap="square" lIns="0" tIns="0" rIns="0" bIns="0" rtlCol="0" anchor="ctr"/>
          <a:lstStyle/>
          <a:p>
            <a:pPr marL="0" indent="0">
              <a:buNone/>
            </a:pPr>
            <a:r>
              <a:rPr lang="en-US" sz="1100" i="1" dirty="0">
                <a:solidFill>
                  <a:srgbClr val="1E88E5"/>
                </a:solidFill>
              </a:rPr>
              <a:t>Junk Dimension - SCD Type 1</a:t>
            </a:r>
            <a:endParaRPr lang="en-US" sz="1100" dirty="0"/>
          </a:p>
        </p:txBody>
      </p:sp>
      <p:sp>
        <p:nvSpPr>
          <p:cNvPr id="32" name="Text 30"/>
          <p:cNvSpPr/>
          <p:nvPr/>
        </p:nvSpPr>
        <p:spPr>
          <a:xfrm>
            <a:off x="6144768" y="3657600"/>
            <a:ext cx="2377440" cy="1051560"/>
          </a:xfrm>
          <a:prstGeom prst="rect">
            <a:avLst/>
          </a:prstGeom>
          <a:noFill/>
          <a:ln/>
        </p:spPr>
        <p:txBody>
          <a:bodyPr wrap="square" lIns="0" tIns="0" rIns="0" bIns="0" rtlCol="0" anchor="t"/>
          <a:lstStyle/>
          <a:p>
            <a:pPr marL="342900" indent="-342900">
              <a:buSzPct val="100000"/>
              <a:buChar char="•"/>
            </a:pPr>
            <a:r>
              <a:rPr lang="en-US" sz="1100" dirty="0">
                <a:solidFill>
                  <a:srgbClr val="455A64"/>
                </a:solidFill>
              </a:rPr>
              <a:t>script_type_desc</a:t>
            </a:r>
            <a:endParaRPr lang="en-US" sz="1100" dirty="0"/>
          </a:p>
          <a:p>
            <a:pPr marL="342900" indent="-342900">
              <a:buSzPct val="100000"/>
              <a:buChar char="•"/>
            </a:pPr>
            <a:r>
              <a:rPr lang="en-US" sz="1100" dirty="0">
                <a:solidFill>
                  <a:srgbClr val="455A64"/>
                </a:solidFill>
              </a:rPr>
              <a:t>segwit_flag</a:t>
            </a:r>
            <a:endParaRPr lang="en-US" sz="1100" dirty="0"/>
          </a:p>
          <a:p>
            <a:pPr marL="342900" indent="-342900">
              <a:buSzPct val="100000"/>
              <a:buChar char="•"/>
            </a:pPr>
            <a:r>
              <a:rPr lang="en-US" sz="1100" dirty="0">
                <a:solidFill>
                  <a:srgbClr val="455A64"/>
                </a:solidFill>
              </a:rPr>
              <a:t>coinbase_flag</a:t>
            </a:r>
            <a:endParaRPr lang="en-US" sz="1100" dirty="0"/>
          </a:p>
          <a:p>
            <a:pPr marL="342900" indent="-342900">
              <a:buSzPct val="100000"/>
              <a:buChar char="•"/>
            </a:pPr>
            <a:r>
              <a:rPr lang="en-US" sz="1100" dirty="0">
                <a:solidFill>
                  <a:srgbClr val="455A64"/>
                </a:solidFill>
              </a:rPr>
              <a:t>rbf_flag, locktime_flag</a:t>
            </a:r>
            <a:endParaRPr lang="en-US" sz="1100" dirty="0"/>
          </a:p>
        </p:txBody>
      </p:sp>
      <p:sp>
        <p:nvSpPr>
          <p:cNvPr id="33" name="Shape 31"/>
          <p:cNvSpPr/>
          <p:nvPr/>
        </p:nvSpPr>
        <p:spPr>
          <a:xfrm>
            <a:off x="2971800" y="1828800"/>
            <a:ext cx="228600" cy="0"/>
          </a:xfrm>
          <a:prstGeom prst="line">
            <a:avLst/>
          </a:prstGeom>
          <a:noFill/>
          <a:ln w="19050">
            <a:solidFill>
              <a:srgbClr val="B0BEC5"/>
            </a:solidFill>
            <a:prstDash val="dash"/>
          </a:ln>
        </p:spPr>
        <p:txBody>
          <a:bodyPr/>
          <a:lstStyle/>
          <a:p>
            <a:endParaRPr lang="es-ES"/>
          </a:p>
        </p:txBody>
      </p:sp>
      <p:sp>
        <p:nvSpPr>
          <p:cNvPr id="34" name="Shape 32"/>
          <p:cNvSpPr/>
          <p:nvPr/>
        </p:nvSpPr>
        <p:spPr>
          <a:xfrm>
            <a:off x="2971800" y="3657600"/>
            <a:ext cx="228600" cy="0"/>
          </a:xfrm>
          <a:prstGeom prst="line">
            <a:avLst/>
          </a:prstGeom>
          <a:noFill/>
          <a:ln w="19050">
            <a:solidFill>
              <a:srgbClr val="B0BEC5"/>
            </a:solidFill>
            <a:prstDash val="dash"/>
          </a:ln>
        </p:spPr>
        <p:txBody>
          <a:bodyPr/>
          <a:lstStyle/>
          <a:p>
            <a:endParaRPr lang="es-ES"/>
          </a:p>
        </p:txBody>
      </p:sp>
      <p:sp>
        <p:nvSpPr>
          <p:cNvPr id="35" name="Shape 33"/>
          <p:cNvSpPr/>
          <p:nvPr/>
        </p:nvSpPr>
        <p:spPr>
          <a:xfrm>
            <a:off x="5943600" y="1828800"/>
            <a:ext cx="91440" cy="0"/>
          </a:xfrm>
          <a:prstGeom prst="line">
            <a:avLst/>
          </a:prstGeom>
          <a:noFill/>
          <a:ln w="19050">
            <a:solidFill>
              <a:srgbClr val="B0BEC5"/>
            </a:solidFill>
            <a:prstDash val="dash"/>
          </a:ln>
        </p:spPr>
        <p:txBody>
          <a:bodyPr/>
          <a:lstStyle/>
          <a:p>
            <a:endParaRPr lang="es-ES"/>
          </a:p>
        </p:txBody>
      </p:sp>
      <p:sp>
        <p:nvSpPr>
          <p:cNvPr id="36" name="Shape 34"/>
          <p:cNvSpPr/>
          <p:nvPr/>
        </p:nvSpPr>
        <p:spPr>
          <a:xfrm>
            <a:off x="5943600" y="3657600"/>
            <a:ext cx="91440" cy="0"/>
          </a:xfrm>
          <a:prstGeom prst="line">
            <a:avLst/>
          </a:prstGeom>
          <a:noFill/>
          <a:ln w="19050">
            <a:solidFill>
              <a:srgbClr val="B0BEC5"/>
            </a:solidFill>
            <a:prstDash val="dash"/>
          </a:ln>
        </p:spPr>
        <p:txBody>
          <a:bodyPr/>
          <a:lstStyle/>
          <a:p>
            <a:endParaRPr lang="es-ES"/>
          </a:p>
        </p:txBody>
      </p:sp>
      <p:sp>
        <p:nvSpPr>
          <p:cNvPr id="40" name="Text 12">
            <a:extLst>
              <a:ext uri="{FF2B5EF4-FFF2-40B4-BE49-F238E27FC236}">
                <a16:creationId xmlns:a16="http://schemas.microsoft.com/office/drawing/2014/main" id="{2AFF6BE0-1195-381E-4A4C-09B33DBFC30D}"/>
              </a:ext>
            </a:extLst>
          </p:cNvPr>
          <p:cNvSpPr/>
          <p:nvPr/>
        </p:nvSpPr>
        <p:spPr>
          <a:xfrm>
            <a:off x="3246120" y="3328416"/>
            <a:ext cx="2596896" cy="146304"/>
          </a:xfrm>
          <a:prstGeom prst="rect">
            <a:avLst/>
          </a:prstGeom>
          <a:noFill/>
          <a:ln/>
        </p:spPr>
        <p:txBody>
          <a:bodyPr wrap="square" lIns="0" tIns="0" rIns="0" bIns="0" rtlCol="0" anchor="ctr"/>
          <a:lstStyle/>
          <a:p>
            <a:pPr marL="0" indent="0">
              <a:buNone/>
            </a:pPr>
            <a:r>
              <a:rPr lang="en-US" sz="1100" dirty="0">
                <a:solidFill>
                  <a:srgbClr val="B0BEC5"/>
                </a:solidFill>
              </a:rPr>
              <a:t>Tx Weight Units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57200" y="256032"/>
            <a:ext cx="2212848" cy="256032"/>
          </a:xfrm>
          <a:prstGeom prst="roundRect">
            <a:avLst>
              <a:gd name="adj" fmla="val 14286"/>
            </a:avLst>
          </a:prstGeom>
          <a:solidFill>
            <a:srgbClr val="F7931A"/>
          </a:solidFill>
          <a:ln w="12700">
            <a:solidFill>
              <a:srgbClr val="F7931A"/>
            </a:solidFill>
            <a:prstDash val="solid"/>
          </a:ln>
        </p:spPr>
        <p:txBody>
          <a:bodyPr/>
          <a:lstStyle/>
          <a:p>
            <a:endParaRPr lang="es-ES"/>
          </a:p>
        </p:txBody>
      </p:sp>
      <p:sp>
        <p:nvSpPr>
          <p:cNvPr id="3" name="Text 1"/>
          <p:cNvSpPr/>
          <p:nvPr/>
        </p:nvSpPr>
        <p:spPr>
          <a:xfrm>
            <a:off x="457200" y="256032"/>
            <a:ext cx="2212848" cy="256032"/>
          </a:xfrm>
          <a:prstGeom prst="rect">
            <a:avLst/>
          </a:prstGeom>
          <a:noFill/>
          <a:ln/>
        </p:spPr>
        <p:txBody>
          <a:bodyPr wrap="square" lIns="0" tIns="0" rIns="0" bIns="0" rtlCol="0" anchor="ctr"/>
          <a:lstStyle/>
          <a:p>
            <a:pPr marL="0" indent="0" algn="ctr">
              <a:buNone/>
            </a:pPr>
            <a:r>
              <a:rPr lang="en-US" sz="1100" b="1" dirty="0">
                <a:solidFill>
                  <a:srgbClr val="FFFFFF"/>
                </a:solidFill>
              </a:rPr>
              <a:t>06 · OLAP ANALYSIS</a:t>
            </a:r>
            <a:endParaRPr lang="en-US" sz="1100" dirty="0"/>
          </a:p>
        </p:txBody>
      </p:sp>
      <p:sp>
        <p:nvSpPr>
          <p:cNvPr id="4" name="Text 2"/>
          <p:cNvSpPr/>
          <p:nvPr/>
        </p:nvSpPr>
        <p:spPr>
          <a:xfrm>
            <a:off x="457200" y="566928"/>
            <a:ext cx="8229600" cy="502920"/>
          </a:xfrm>
          <a:prstGeom prst="rect">
            <a:avLst/>
          </a:prstGeom>
          <a:noFill/>
          <a:ln/>
        </p:spPr>
        <p:txBody>
          <a:bodyPr wrap="square" lIns="0" tIns="0" rIns="0" bIns="0" rtlCol="0" anchor="ctr"/>
          <a:lstStyle/>
          <a:p>
            <a:pPr marL="0" indent="0">
              <a:buNone/>
            </a:pPr>
            <a:r>
              <a:rPr lang="en-US" sz="2800" b="1" dirty="0">
                <a:solidFill>
                  <a:srgbClr val="FFFFFF"/>
                </a:solidFill>
              </a:rPr>
              <a:t>10 Queries - Status Overview</a:t>
            </a:r>
            <a:endParaRPr lang="en-US" sz="2800" dirty="0"/>
          </a:p>
        </p:txBody>
      </p:sp>
      <p:sp>
        <p:nvSpPr>
          <p:cNvPr id="5" name="Shape 3"/>
          <p:cNvSpPr/>
          <p:nvPr/>
        </p:nvSpPr>
        <p:spPr>
          <a:xfrm>
            <a:off x="457200" y="1207008"/>
            <a:ext cx="1828800" cy="868680"/>
          </a:xfrm>
          <a:prstGeom prst="roundRect">
            <a:avLst>
              <a:gd name="adj" fmla="val 8421"/>
            </a:avLst>
          </a:prstGeom>
          <a:solidFill>
            <a:srgbClr val="1C2B3A"/>
          </a:solidFill>
          <a:ln/>
          <a:effectLst>
            <a:outerShdw blurRad="127000" dist="38100" dir="8100000" algn="bl" rotWithShape="0">
              <a:srgbClr val="000000">
                <a:alpha val="30000"/>
              </a:srgbClr>
            </a:outerShdw>
          </a:effectLst>
        </p:spPr>
        <p:txBody>
          <a:bodyPr/>
          <a:lstStyle/>
          <a:p>
            <a:endParaRPr lang="es-ES"/>
          </a:p>
        </p:txBody>
      </p:sp>
      <p:sp>
        <p:nvSpPr>
          <p:cNvPr id="6" name="Text 4"/>
          <p:cNvSpPr/>
          <p:nvPr/>
        </p:nvSpPr>
        <p:spPr>
          <a:xfrm>
            <a:off x="457200" y="1299134"/>
            <a:ext cx="1828800" cy="477774"/>
          </a:xfrm>
          <a:prstGeom prst="rect">
            <a:avLst/>
          </a:prstGeom>
          <a:noFill/>
          <a:ln/>
        </p:spPr>
        <p:txBody>
          <a:bodyPr wrap="square" lIns="0" tIns="0" rIns="0" bIns="0" rtlCol="0" anchor="b"/>
          <a:lstStyle/>
          <a:p>
            <a:pPr marL="0" indent="0" algn="ctr">
              <a:buNone/>
            </a:pPr>
            <a:r>
              <a:rPr lang="en-US" sz="3000" b="1" dirty="0">
                <a:solidFill>
                  <a:srgbClr val="26C6A2"/>
                </a:solidFill>
              </a:rPr>
              <a:t>7</a:t>
            </a:r>
            <a:endParaRPr lang="en-US" sz="3000" dirty="0"/>
          </a:p>
        </p:txBody>
      </p:sp>
      <p:sp>
        <p:nvSpPr>
          <p:cNvPr id="7" name="Text 5"/>
          <p:cNvSpPr/>
          <p:nvPr/>
        </p:nvSpPr>
        <p:spPr>
          <a:xfrm>
            <a:off x="457200" y="1731188"/>
            <a:ext cx="1828800" cy="330098"/>
          </a:xfrm>
          <a:prstGeom prst="rect">
            <a:avLst/>
          </a:prstGeom>
          <a:noFill/>
          <a:ln/>
        </p:spPr>
        <p:txBody>
          <a:bodyPr wrap="square" lIns="0" tIns="0" rIns="0" bIns="0" rtlCol="0" anchor="t"/>
          <a:lstStyle/>
          <a:p>
            <a:pPr marL="0" indent="0" algn="ctr">
              <a:buNone/>
            </a:pPr>
            <a:r>
              <a:rPr lang="en-US" sz="1100" dirty="0">
                <a:solidFill>
                  <a:srgbClr val="B0BEC5"/>
                </a:solidFill>
              </a:rPr>
              <a:t>Fully Answered</a:t>
            </a:r>
            <a:endParaRPr lang="en-US" sz="1100" dirty="0"/>
          </a:p>
        </p:txBody>
      </p:sp>
      <p:sp>
        <p:nvSpPr>
          <p:cNvPr id="8" name="Shape 6"/>
          <p:cNvSpPr/>
          <p:nvPr/>
        </p:nvSpPr>
        <p:spPr>
          <a:xfrm>
            <a:off x="2468880" y="1207008"/>
            <a:ext cx="1828800" cy="868680"/>
          </a:xfrm>
          <a:prstGeom prst="roundRect">
            <a:avLst>
              <a:gd name="adj" fmla="val 8421"/>
            </a:avLst>
          </a:prstGeom>
          <a:solidFill>
            <a:srgbClr val="1C2B3A"/>
          </a:solidFill>
          <a:ln/>
          <a:effectLst>
            <a:outerShdw blurRad="127000" dist="38100" dir="8100000" algn="bl" rotWithShape="0">
              <a:srgbClr val="000000">
                <a:alpha val="30000"/>
              </a:srgbClr>
            </a:outerShdw>
          </a:effectLst>
        </p:spPr>
        <p:txBody>
          <a:bodyPr/>
          <a:lstStyle/>
          <a:p>
            <a:endParaRPr lang="es-ES"/>
          </a:p>
        </p:txBody>
      </p:sp>
      <p:sp>
        <p:nvSpPr>
          <p:cNvPr id="9" name="Text 7"/>
          <p:cNvSpPr/>
          <p:nvPr/>
        </p:nvSpPr>
        <p:spPr>
          <a:xfrm>
            <a:off x="2468880" y="1299134"/>
            <a:ext cx="1828800" cy="477774"/>
          </a:xfrm>
          <a:prstGeom prst="rect">
            <a:avLst/>
          </a:prstGeom>
          <a:noFill/>
          <a:ln/>
        </p:spPr>
        <p:txBody>
          <a:bodyPr wrap="square" lIns="0" tIns="0" rIns="0" bIns="0" rtlCol="0" anchor="b"/>
          <a:lstStyle/>
          <a:p>
            <a:pPr marL="0" indent="0" algn="ctr">
              <a:buNone/>
            </a:pPr>
            <a:r>
              <a:rPr lang="en-US" sz="3000" b="1" dirty="0">
                <a:solidFill>
                  <a:srgbClr val="FDD835"/>
                </a:solidFill>
              </a:rPr>
              <a:t>2</a:t>
            </a:r>
            <a:endParaRPr lang="en-US" sz="3000" dirty="0"/>
          </a:p>
        </p:txBody>
      </p:sp>
      <p:sp>
        <p:nvSpPr>
          <p:cNvPr id="10" name="Text 8"/>
          <p:cNvSpPr/>
          <p:nvPr/>
        </p:nvSpPr>
        <p:spPr>
          <a:xfrm>
            <a:off x="2468880" y="1731188"/>
            <a:ext cx="1828800" cy="330098"/>
          </a:xfrm>
          <a:prstGeom prst="rect">
            <a:avLst/>
          </a:prstGeom>
          <a:noFill/>
          <a:ln/>
        </p:spPr>
        <p:txBody>
          <a:bodyPr wrap="square" lIns="0" tIns="0" rIns="0" bIns="0" rtlCol="0" anchor="t"/>
          <a:lstStyle/>
          <a:p>
            <a:pPr marL="0" indent="0" algn="ctr">
              <a:buNone/>
            </a:pPr>
            <a:r>
              <a:rPr lang="en-US" sz="1100" dirty="0">
                <a:solidFill>
                  <a:srgbClr val="B0BEC5"/>
                </a:solidFill>
              </a:rPr>
              <a:t>Partially Answered</a:t>
            </a:r>
            <a:endParaRPr lang="en-US" sz="1100" dirty="0"/>
          </a:p>
        </p:txBody>
      </p:sp>
      <p:sp>
        <p:nvSpPr>
          <p:cNvPr id="11" name="Shape 9"/>
          <p:cNvSpPr/>
          <p:nvPr/>
        </p:nvSpPr>
        <p:spPr>
          <a:xfrm>
            <a:off x="4480560" y="1207008"/>
            <a:ext cx="2286000" cy="868680"/>
          </a:xfrm>
          <a:prstGeom prst="roundRect">
            <a:avLst>
              <a:gd name="adj" fmla="val 8421"/>
            </a:avLst>
          </a:prstGeom>
          <a:solidFill>
            <a:srgbClr val="1C2B3A"/>
          </a:solidFill>
          <a:ln/>
          <a:effectLst>
            <a:outerShdw blurRad="127000" dist="38100" dir="8100000" algn="bl" rotWithShape="0">
              <a:srgbClr val="000000">
                <a:alpha val="30000"/>
              </a:srgbClr>
            </a:outerShdw>
          </a:effectLst>
        </p:spPr>
        <p:txBody>
          <a:bodyPr/>
          <a:lstStyle/>
          <a:p>
            <a:endParaRPr lang="es-ES"/>
          </a:p>
        </p:txBody>
      </p:sp>
      <p:sp>
        <p:nvSpPr>
          <p:cNvPr id="12" name="Text 10"/>
          <p:cNvSpPr/>
          <p:nvPr/>
        </p:nvSpPr>
        <p:spPr>
          <a:xfrm>
            <a:off x="4480560" y="1299134"/>
            <a:ext cx="2286000" cy="477774"/>
          </a:xfrm>
          <a:prstGeom prst="rect">
            <a:avLst/>
          </a:prstGeom>
          <a:noFill/>
          <a:ln/>
        </p:spPr>
        <p:txBody>
          <a:bodyPr wrap="square" lIns="0" tIns="0" rIns="0" bIns="0" rtlCol="0" anchor="b"/>
          <a:lstStyle/>
          <a:p>
            <a:pPr marL="0" indent="0" algn="ctr">
              <a:buNone/>
            </a:pPr>
            <a:r>
              <a:rPr lang="en-US" sz="3000" b="1" dirty="0">
                <a:solidFill>
                  <a:srgbClr val="E53935"/>
                </a:solidFill>
              </a:rPr>
              <a:t>3</a:t>
            </a:r>
            <a:endParaRPr lang="en-US" sz="3000" dirty="0"/>
          </a:p>
        </p:txBody>
      </p:sp>
      <p:sp>
        <p:nvSpPr>
          <p:cNvPr id="13" name="Text 11"/>
          <p:cNvSpPr/>
          <p:nvPr/>
        </p:nvSpPr>
        <p:spPr>
          <a:xfrm>
            <a:off x="4480560" y="1731188"/>
            <a:ext cx="2286000" cy="330098"/>
          </a:xfrm>
          <a:prstGeom prst="rect">
            <a:avLst/>
          </a:prstGeom>
          <a:noFill/>
          <a:ln/>
        </p:spPr>
        <p:txBody>
          <a:bodyPr wrap="square" lIns="0" tIns="0" rIns="0" bIns="0" rtlCol="0" anchor="t"/>
          <a:lstStyle/>
          <a:p>
            <a:pPr marL="0" indent="0" algn="ctr">
              <a:buNone/>
            </a:pPr>
            <a:r>
              <a:rPr lang="en-US" sz="1100" dirty="0">
                <a:solidFill>
                  <a:srgbClr val="B0BEC5"/>
                </a:solidFill>
              </a:rPr>
              <a:t>Structurally Impossible</a:t>
            </a:r>
            <a:endParaRPr lang="en-US" sz="1100" dirty="0"/>
          </a:p>
        </p:txBody>
      </p:sp>
      <p:sp>
        <p:nvSpPr>
          <p:cNvPr id="14" name="Shape 12"/>
          <p:cNvSpPr/>
          <p:nvPr/>
        </p:nvSpPr>
        <p:spPr>
          <a:xfrm>
            <a:off x="6949440" y="1207008"/>
            <a:ext cx="1691640" cy="868680"/>
          </a:xfrm>
          <a:prstGeom prst="roundRect">
            <a:avLst>
              <a:gd name="adj" fmla="val 8421"/>
            </a:avLst>
          </a:prstGeom>
          <a:solidFill>
            <a:srgbClr val="1C2B3A"/>
          </a:solidFill>
          <a:ln/>
          <a:effectLst>
            <a:outerShdw blurRad="127000" dist="38100" dir="8100000" algn="bl" rotWithShape="0">
              <a:srgbClr val="000000">
                <a:alpha val="30000"/>
              </a:srgbClr>
            </a:outerShdw>
          </a:effectLst>
        </p:spPr>
        <p:txBody>
          <a:bodyPr/>
          <a:lstStyle/>
          <a:p>
            <a:endParaRPr lang="es-ES"/>
          </a:p>
        </p:txBody>
      </p:sp>
      <p:sp>
        <p:nvSpPr>
          <p:cNvPr id="15" name="Text 13"/>
          <p:cNvSpPr/>
          <p:nvPr/>
        </p:nvSpPr>
        <p:spPr>
          <a:xfrm>
            <a:off x="6949440" y="1299134"/>
            <a:ext cx="1691640" cy="477774"/>
          </a:xfrm>
          <a:prstGeom prst="rect">
            <a:avLst/>
          </a:prstGeom>
          <a:noFill/>
          <a:ln/>
        </p:spPr>
        <p:txBody>
          <a:bodyPr wrap="square" lIns="0" tIns="0" rIns="0" bIns="0" rtlCol="0" anchor="b"/>
          <a:lstStyle/>
          <a:p>
            <a:pPr marL="0" indent="0" algn="ctr">
              <a:buNone/>
            </a:pPr>
            <a:r>
              <a:rPr lang="en-US" sz="3000" b="1" dirty="0">
                <a:solidFill>
                  <a:srgbClr val="1E88E5"/>
                </a:solidFill>
              </a:rPr>
              <a:t>Era 5</a:t>
            </a:r>
            <a:endParaRPr lang="en-US" sz="3000" dirty="0"/>
          </a:p>
        </p:txBody>
      </p:sp>
      <p:sp>
        <p:nvSpPr>
          <p:cNvPr id="16" name="Text 14"/>
          <p:cNvSpPr/>
          <p:nvPr/>
        </p:nvSpPr>
        <p:spPr>
          <a:xfrm>
            <a:off x="6949440" y="1731188"/>
            <a:ext cx="1691640" cy="330098"/>
          </a:xfrm>
          <a:prstGeom prst="rect">
            <a:avLst/>
          </a:prstGeom>
          <a:noFill/>
          <a:ln/>
        </p:spPr>
        <p:txBody>
          <a:bodyPr wrap="square" lIns="0" tIns="0" rIns="0" bIns="0" rtlCol="0" anchor="t"/>
          <a:lstStyle/>
          <a:p>
            <a:pPr marL="0" indent="0" algn="ctr">
              <a:buNone/>
            </a:pPr>
            <a:r>
              <a:rPr lang="en-US" sz="1100" dirty="0">
                <a:solidFill>
                  <a:srgbClr val="B0BEC5"/>
                </a:solidFill>
              </a:rPr>
              <a:t>Data Coverage</a:t>
            </a:r>
            <a:endParaRPr lang="en-US" sz="1100" dirty="0"/>
          </a:p>
        </p:txBody>
      </p:sp>
      <p:sp>
        <p:nvSpPr>
          <p:cNvPr id="17" name="Shape 15"/>
          <p:cNvSpPr/>
          <p:nvPr/>
        </p:nvSpPr>
        <p:spPr>
          <a:xfrm>
            <a:off x="457200" y="2240280"/>
            <a:ext cx="4206240" cy="457200"/>
          </a:xfrm>
          <a:prstGeom prst="roundRect">
            <a:avLst>
              <a:gd name="adj" fmla="val 12000"/>
            </a:avLst>
          </a:prstGeom>
          <a:solidFill>
            <a:srgbClr val="1C2B3A"/>
          </a:solidFill>
          <a:ln/>
          <a:effectLst>
            <a:outerShdw blurRad="63500" dist="12700" dir="8100000" algn="bl" rotWithShape="0">
              <a:srgbClr val="000000">
                <a:alpha val="20000"/>
              </a:srgbClr>
            </a:outerShdw>
          </a:effectLst>
        </p:spPr>
        <p:txBody>
          <a:bodyPr/>
          <a:lstStyle/>
          <a:p>
            <a:endParaRPr lang="es-ES"/>
          </a:p>
        </p:txBody>
      </p:sp>
      <p:sp>
        <p:nvSpPr>
          <p:cNvPr id="18" name="Shape 16"/>
          <p:cNvSpPr/>
          <p:nvPr/>
        </p:nvSpPr>
        <p:spPr>
          <a:xfrm>
            <a:off x="530352" y="2313432"/>
            <a:ext cx="804672" cy="201168"/>
          </a:xfrm>
          <a:prstGeom prst="roundRect">
            <a:avLst>
              <a:gd name="adj" fmla="val 18182"/>
            </a:avLst>
          </a:prstGeom>
          <a:solidFill>
            <a:srgbClr val="26C6A2">
              <a:alpha val="80000"/>
            </a:srgbClr>
          </a:solidFill>
          <a:ln w="12700">
            <a:solidFill>
              <a:srgbClr val="26C6A2">
                <a:alpha val="80000"/>
              </a:srgbClr>
            </a:solidFill>
            <a:prstDash val="solid"/>
          </a:ln>
        </p:spPr>
        <p:txBody>
          <a:bodyPr/>
          <a:lstStyle/>
          <a:p>
            <a:endParaRPr lang="es-ES"/>
          </a:p>
        </p:txBody>
      </p:sp>
      <p:sp>
        <p:nvSpPr>
          <p:cNvPr id="19" name="Text 17"/>
          <p:cNvSpPr/>
          <p:nvPr/>
        </p:nvSpPr>
        <p:spPr>
          <a:xfrm>
            <a:off x="530352" y="2313432"/>
            <a:ext cx="804672" cy="201168"/>
          </a:xfrm>
          <a:prstGeom prst="rect">
            <a:avLst/>
          </a:prstGeom>
          <a:noFill/>
          <a:ln/>
        </p:spPr>
        <p:txBody>
          <a:bodyPr wrap="square" lIns="0" tIns="0" rIns="0" bIns="0" rtlCol="0" anchor="ctr"/>
          <a:lstStyle/>
          <a:p>
            <a:pPr marL="0" indent="0" algn="ctr">
              <a:buNone/>
            </a:pPr>
            <a:r>
              <a:rPr lang="en-US" sz="700" b="1" dirty="0">
                <a:solidFill>
                  <a:srgbClr val="FFFFFF"/>
                </a:solidFill>
              </a:rPr>
              <a:t>✓ SOLVED</a:t>
            </a:r>
            <a:endParaRPr lang="en-US" sz="700" dirty="0"/>
          </a:p>
        </p:txBody>
      </p:sp>
      <p:sp>
        <p:nvSpPr>
          <p:cNvPr id="20" name="Text 18"/>
          <p:cNvSpPr/>
          <p:nvPr/>
        </p:nvSpPr>
        <p:spPr>
          <a:xfrm>
            <a:off x="1389888" y="2276856"/>
            <a:ext cx="3154680" cy="201168"/>
          </a:xfrm>
          <a:prstGeom prst="rect">
            <a:avLst/>
          </a:prstGeom>
          <a:noFill/>
          <a:ln/>
        </p:spPr>
        <p:txBody>
          <a:bodyPr wrap="square" lIns="0" tIns="0" rIns="0" bIns="0" rtlCol="0" anchor="ctr"/>
          <a:lstStyle/>
          <a:p>
            <a:pPr marL="0" indent="0">
              <a:buNone/>
            </a:pPr>
            <a:r>
              <a:rPr lang="en-US" sz="1050" b="1" dirty="0">
                <a:solidFill>
                  <a:srgbClr val="FFFFFF"/>
                </a:solidFill>
              </a:rPr>
              <a:t>Q1.1 - SegWit Adoption Rate by Quarter</a:t>
            </a:r>
            <a:endParaRPr lang="en-US" sz="1050" dirty="0"/>
          </a:p>
        </p:txBody>
      </p:sp>
      <p:sp>
        <p:nvSpPr>
          <p:cNvPr id="21" name="Text 19"/>
          <p:cNvSpPr/>
          <p:nvPr/>
        </p:nvSpPr>
        <p:spPr>
          <a:xfrm>
            <a:off x="1389888" y="2487168"/>
            <a:ext cx="3154680" cy="164592"/>
          </a:xfrm>
          <a:prstGeom prst="rect">
            <a:avLst/>
          </a:prstGeom>
          <a:noFill/>
          <a:ln/>
        </p:spPr>
        <p:txBody>
          <a:bodyPr wrap="square" lIns="0" tIns="0" rIns="0" bIns="0" rtlCol="0" anchor="ctr"/>
          <a:lstStyle/>
          <a:p>
            <a:pPr marL="0" indent="0">
              <a:buNone/>
            </a:pPr>
            <a:r>
              <a:rPr lang="en-US" sz="900" dirty="0">
                <a:solidFill>
                  <a:srgbClr val="B0BEC5"/>
                </a:solidFill>
              </a:rPr>
              <a:t>89.62% SegWit-native in 2026 Q2</a:t>
            </a:r>
            <a:endParaRPr lang="en-US" sz="900" dirty="0"/>
          </a:p>
        </p:txBody>
      </p:sp>
      <p:sp>
        <p:nvSpPr>
          <p:cNvPr id="22" name="Shape 20"/>
          <p:cNvSpPr/>
          <p:nvPr/>
        </p:nvSpPr>
        <p:spPr>
          <a:xfrm>
            <a:off x="4846320" y="2240280"/>
            <a:ext cx="4206240" cy="457200"/>
          </a:xfrm>
          <a:prstGeom prst="roundRect">
            <a:avLst>
              <a:gd name="adj" fmla="val 12000"/>
            </a:avLst>
          </a:prstGeom>
          <a:solidFill>
            <a:srgbClr val="1C2B3A"/>
          </a:solidFill>
          <a:ln/>
          <a:effectLst>
            <a:outerShdw blurRad="63500" dist="12700" dir="8100000" algn="bl" rotWithShape="0">
              <a:srgbClr val="000000">
                <a:alpha val="20000"/>
              </a:srgbClr>
            </a:outerShdw>
          </a:effectLst>
        </p:spPr>
        <p:txBody>
          <a:bodyPr/>
          <a:lstStyle/>
          <a:p>
            <a:endParaRPr lang="es-ES"/>
          </a:p>
        </p:txBody>
      </p:sp>
      <p:sp>
        <p:nvSpPr>
          <p:cNvPr id="23" name="Shape 21"/>
          <p:cNvSpPr/>
          <p:nvPr/>
        </p:nvSpPr>
        <p:spPr>
          <a:xfrm>
            <a:off x="4919472" y="2313432"/>
            <a:ext cx="804672" cy="201168"/>
          </a:xfrm>
          <a:prstGeom prst="roundRect">
            <a:avLst>
              <a:gd name="adj" fmla="val 18182"/>
            </a:avLst>
          </a:prstGeom>
          <a:solidFill>
            <a:srgbClr val="26C6A2">
              <a:alpha val="80000"/>
            </a:srgbClr>
          </a:solidFill>
          <a:ln w="12700">
            <a:solidFill>
              <a:srgbClr val="26C6A2">
                <a:alpha val="80000"/>
              </a:srgbClr>
            </a:solidFill>
            <a:prstDash val="solid"/>
          </a:ln>
        </p:spPr>
        <p:txBody>
          <a:bodyPr/>
          <a:lstStyle/>
          <a:p>
            <a:endParaRPr lang="es-ES"/>
          </a:p>
        </p:txBody>
      </p:sp>
      <p:sp>
        <p:nvSpPr>
          <p:cNvPr id="24" name="Text 22"/>
          <p:cNvSpPr/>
          <p:nvPr/>
        </p:nvSpPr>
        <p:spPr>
          <a:xfrm>
            <a:off x="4919472" y="2313432"/>
            <a:ext cx="804672" cy="201168"/>
          </a:xfrm>
          <a:prstGeom prst="rect">
            <a:avLst/>
          </a:prstGeom>
          <a:noFill/>
          <a:ln/>
        </p:spPr>
        <p:txBody>
          <a:bodyPr wrap="square" lIns="0" tIns="0" rIns="0" bIns="0" rtlCol="0" anchor="ctr"/>
          <a:lstStyle/>
          <a:p>
            <a:pPr marL="0" indent="0" algn="ctr">
              <a:buNone/>
            </a:pPr>
            <a:r>
              <a:rPr lang="en-US" sz="700" b="1" dirty="0">
                <a:solidFill>
                  <a:srgbClr val="FFFFFF"/>
                </a:solidFill>
              </a:rPr>
              <a:t>✓ SOLVED</a:t>
            </a:r>
            <a:endParaRPr lang="en-US" sz="700" dirty="0"/>
          </a:p>
        </p:txBody>
      </p:sp>
      <p:sp>
        <p:nvSpPr>
          <p:cNvPr id="25" name="Text 23"/>
          <p:cNvSpPr/>
          <p:nvPr/>
        </p:nvSpPr>
        <p:spPr>
          <a:xfrm>
            <a:off x="5779008" y="2276856"/>
            <a:ext cx="3154680" cy="201168"/>
          </a:xfrm>
          <a:prstGeom prst="rect">
            <a:avLst/>
          </a:prstGeom>
          <a:noFill/>
          <a:ln/>
        </p:spPr>
        <p:txBody>
          <a:bodyPr wrap="square" lIns="0" tIns="0" rIns="0" bIns="0" rtlCol="0" anchor="ctr"/>
          <a:lstStyle/>
          <a:p>
            <a:pPr marL="0" indent="0">
              <a:buNone/>
            </a:pPr>
            <a:r>
              <a:rPr lang="en-US" sz="1050" b="1" dirty="0">
                <a:solidFill>
                  <a:srgbClr val="FFFFFF"/>
                </a:solidFill>
              </a:rPr>
              <a:t>Q1.2 - Fee-Rate Spikes Under Network Congestion</a:t>
            </a:r>
            <a:endParaRPr lang="en-US" sz="1050" dirty="0"/>
          </a:p>
        </p:txBody>
      </p:sp>
      <p:sp>
        <p:nvSpPr>
          <p:cNvPr id="26" name="Text 24"/>
          <p:cNvSpPr/>
          <p:nvPr/>
        </p:nvSpPr>
        <p:spPr>
          <a:xfrm>
            <a:off x="5779008" y="2487168"/>
            <a:ext cx="3154680" cy="164592"/>
          </a:xfrm>
          <a:prstGeom prst="rect">
            <a:avLst/>
          </a:prstGeom>
          <a:noFill/>
          <a:ln/>
        </p:spPr>
        <p:txBody>
          <a:bodyPr wrap="square" lIns="0" tIns="0" rIns="0" bIns="0" rtlCol="0" anchor="ctr"/>
          <a:lstStyle/>
          <a:p>
            <a:pPr marL="0" indent="0">
              <a:buNone/>
            </a:pPr>
            <a:r>
              <a:rPr lang="en-US" sz="900" dirty="0">
                <a:solidFill>
                  <a:srgbClr val="B0BEC5"/>
                </a:solidFill>
              </a:rPr>
              <a:t>June: higher fee rate (18.97) but lower fee burden (6.14%)</a:t>
            </a:r>
            <a:endParaRPr lang="en-US" sz="900" dirty="0"/>
          </a:p>
        </p:txBody>
      </p:sp>
      <p:sp>
        <p:nvSpPr>
          <p:cNvPr id="27" name="Shape 25"/>
          <p:cNvSpPr/>
          <p:nvPr/>
        </p:nvSpPr>
        <p:spPr>
          <a:xfrm>
            <a:off x="457200" y="2770632"/>
            <a:ext cx="4206240" cy="457200"/>
          </a:xfrm>
          <a:prstGeom prst="roundRect">
            <a:avLst>
              <a:gd name="adj" fmla="val 12000"/>
            </a:avLst>
          </a:prstGeom>
          <a:solidFill>
            <a:srgbClr val="1C2B3A"/>
          </a:solidFill>
          <a:ln/>
          <a:effectLst>
            <a:outerShdw blurRad="63500" dist="12700" dir="8100000" algn="bl" rotWithShape="0">
              <a:srgbClr val="000000">
                <a:alpha val="20000"/>
              </a:srgbClr>
            </a:outerShdw>
          </a:effectLst>
        </p:spPr>
        <p:txBody>
          <a:bodyPr/>
          <a:lstStyle/>
          <a:p>
            <a:endParaRPr lang="es-ES"/>
          </a:p>
        </p:txBody>
      </p:sp>
      <p:sp>
        <p:nvSpPr>
          <p:cNvPr id="28" name="Shape 26"/>
          <p:cNvSpPr/>
          <p:nvPr/>
        </p:nvSpPr>
        <p:spPr>
          <a:xfrm>
            <a:off x="530352" y="2843784"/>
            <a:ext cx="804672" cy="201168"/>
          </a:xfrm>
          <a:prstGeom prst="roundRect">
            <a:avLst>
              <a:gd name="adj" fmla="val 18182"/>
            </a:avLst>
          </a:prstGeom>
          <a:solidFill>
            <a:srgbClr val="E53935">
              <a:alpha val="80000"/>
            </a:srgbClr>
          </a:solidFill>
          <a:ln w="12700">
            <a:solidFill>
              <a:srgbClr val="E53935">
                <a:alpha val="80000"/>
              </a:srgbClr>
            </a:solidFill>
            <a:prstDash val="solid"/>
          </a:ln>
        </p:spPr>
        <p:txBody>
          <a:bodyPr/>
          <a:lstStyle/>
          <a:p>
            <a:endParaRPr lang="es-ES"/>
          </a:p>
        </p:txBody>
      </p:sp>
      <p:sp>
        <p:nvSpPr>
          <p:cNvPr id="29" name="Text 27"/>
          <p:cNvSpPr/>
          <p:nvPr/>
        </p:nvSpPr>
        <p:spPr>
          <a:xfrm>
            <a:off x="530352" y="2843784"/>
            <a:ext cx="804672" cy="201168"/>
          </a:xfrm>
          <a:prstGeom prst="rect">
            <a:avLst/>
          </a:prstGeom>
          <a:noFill/>
          <a:ln/>
        </p:spPr>
        <p:txBody>
          <a:bodyPr wrap="square" lIns="0" tIns="0" rIns="0" bIns="0" rtlCol="0" anchor="ctr"/>
          <a:lstStyle/>
          <a:p>
            <a:pPr marL="0" indent="0" algn="ctr">
              <a:buNone/>
            </a:pPr>
            <a:r>
              <a:rPr lang="en-US" sz="700" b="1" dirty="0">
                <a:solidFill>
                  <a:srgbClr val="FFFFFF"/>
                </a:solidFill>
              </a:rPr>
              <a:t>✗ N/A</a:t>
            </a:r>
            <a:endParaRPr lang="en-US" sz="700" dirty="0"/>
          </a:p>
        </p:txBody>
      </p:sp>
      <p:sp>
        <p:nvSpPr>
          <p:cNvPr id="30" name="Text 28"/>
          <p:cNvSpPr/>
          <p:nvPr/>
        </p:nvSpPr>
        <p:spPr>
          <a:xfrm>
            <a:off x="1389888" y="2807208"/>
            <a:ext cx="3154680" cy="201168"/>
          </a:xfrm>
          <a:prstGeom prst="rect">
            <a:avLst/>
          </a:prstGeom>
          <a:noFill/>
          <a:ln/>
        </p:spPr>
        <p:txBody>
          <a:bodyPr wrap="square" lIns="0" tIns="0" rIns="0" bIns="0" rtlCol="0" anchor="ctr"/>
          <a:lstStyle/>
          <a:p>
            <a:pPr marL="0" indent="0">
              <a:buNone/>
            </a:pPr>
            <a:r>
              <a:rPr lang="en-US" sz="1050" b="1" dirty="0">
                <a:solidFill>
                  <a:srgbClr val="FFFFFF"/>
                </a:solidFill>
              </a:rPr>
              <a:t>Q1.3 - Fee Burden by Transaction Size Tier</a:t>
            </a:r>
            <a:endParaRPr lang="en-US" sz="1050" dirty="0"/>
          </a:p>
        </p:txBody>
      </p:sp>
      <p:sp>
        <p:nvSpPr>
          <p:cNvPr id="31" name="Text 29"/>
          <p:cNvSpPr/>
          <p:nvPr/>
        </p:nvSpPr>
        <p:spPr>
          <a:xfrm>
            <a:off x="1389888" y="3017520"/>
            <a:ext cx="3154680" cy="164592"/>
          </a:xfrm>
          <a:prstGeom prst="rect">
            <a:avLst/>
          </a:prstGeom>
          <a:noFill/>
          <a:ln/>
        </p:spPr>
        <p:txBody>
          <a:bodyPr wrap="square" lIns="0" tIns="0" rIns="0" bIns="0" rtlCol="0" anchor="ctr"/>
          <a:lstStyle/>
          <a:p>
            <a:pPr marL="0" indent="0">
              <a:buNone/>
            </a:pPr>
            <a:r>
              <a:rPr lang="en-US" sz="900" dirty="0">
                <a:solidFill>
                  <a:srgbClr val="B0BEC5"/>
                </a:solidFill>
              </a:rPr>
              <a:t>No DIM_SIZE_TIER dimension → impossible without DAX bucket</a:t>
            </a:r>
            <a:endParaRPr lang="en-US" sz="900" dirty="0"/>
          </a:p>
        </p:txBody>
      </p:sp>
      <p:sp>
        <p:nvSpPr>
          <p:cNvPr id="32" name="Shape 30"/>
          <p:cNvSpPr/>
          <p:nvPr/>
        </p:nvSpPr>
        <p:spPr>
          <a:xfrm>
            <a:off x="4846320" y="2770632"/>
            <a:ext cx="4206240" cy="457200"/>
          </a:xfrm>
          <a:prstGeom prst="roundRect">
            <a:avLst>
              <a:gd name="adj" fmla="val 12000"/>
            </a:avLst>
          </a:prstGeom>
          <a:solidFill>
            <a:srgbClr val="1C2B3A"/>
          </a:solidFill>
          <a:ln/>
          <a:effectLst>
            <a:outerShdw blurRad="63500" dist="12700" dir="8100000" algn="bl" rotWithShape="0">
              <a:srgbClr val="000000">
                <a:alpha val="20000"/>
              </a:srgbClr>
            </a:outerShdw>
          </a:effectLst>
        </p:spPr>
        <p:txBody>
          <a:bodyPr/>
          <a:lstStyle/>
          <a:p>
            <a:endParaRPr lang="es-ES"/>
          </a:p>
        </p:txBody>
      </p:sp>
      <p:sp>
        <p:nvSpPr>
          <p:cNvPr id="33" name="Shape 31"/>
          <p:cNvSpPr/>
          <p:nvPr/>
        </p:nvSpPr>
        <p:spPr>
          <a:xfrm>
            <a:off x="4919472" y="2843784"/>
            <a:ext cx="804672" cy="201168"/>
          </a:xfrm>
          <a:prstGeom prst="roundRect">
            <a:avLst>
              <a:gd name="adj" fmla="val 18182"/>
            </a:avLst>
          </a:prstGeom>
          <a:solidFill>
            <a:srgbClr val="26C6A2">
              <a:alpha val="80000"/>
            </a:srgbClr>
          </a:solidFill>
          <a:ln w="12700">
            <a:solidFill>
              <a:srgbClr val="26C6A2">
                <a:alpha val="80000"/>
              </a:srgbClr>
            </a:solidFill>
            <a:prstDash val="solid"/>
          </a:ln>
        </p:spPr>
        <p:txBody>
          <a:bodyPr/>
          <a:lstStyle/>
          <a:p>
            <a:endParaRPr lang="es-ES"/>
          </a:p>
        </p:txBody>
      </p:sp>
      <p:sp>
        <p:nvSpPr>
          <p:cNvPr id="34" name="Text 32"/>
          <p:cNvSpPr/>
          <p:nvPr/>
        </p:nvSpPr>
        <p:spPr>
          <a:xfrm>
            <a:off x="4919472" y="2843784"/>
            <a:ext cx="804672" cy="201168"/>
          </a:xfrm>
          <a:prstGeom prst="rect">
            <a:avLst/>
          </a:prstGeom>
          <a:noFill/>
          <a:ln/>
        </p:spPr>
        <p:txBody>
          <a:bodyPr wrap="square" lIns="0" tIns="0" rIns="0" bIns="0" rtlCol="0" anchor="ctr"/>
          <a:lstStyle/>
          <a:p>
            <a:pPr marL="0" indent="0" algn="ctr">
              <a:buNone/>
            </a:pPr>
            <a:r>
              <a:rPr lang="en-US" sz="700" b="1" dirty="0">
                <a:solidFill>
                  <a:srgbClr val="FFFFFF"/>
                </a:solidFill>
              </a:rPr>
              <a:t>✓ SOLVED</a:t>
            </a:r>
            <a:endParaRPr lang="en-US" sz="700" dirty="0"/>
          </a:p>
        </p:txBody>
      </p:sp>
      <p:sp>
        <p:nvSpPr>
          <p:cNvPr id="35" name="Text 33"/>
          <p:cNvSpPr/>
          <p:nvPr/>
        </p:nvSpPr>
        <p:spPr>
          <a:xfrm>
            <a:off x="5779008" y="2807208"/>
            <a:ext cx="3154680" cy="201168"/>
          </a:xfrm>
          <a:prstGeom prst="rect">
            <a:avLst/>
          </a:prstGeom>
          <a:noFill/>
          <a:ln/>
        </p:spPr>
        <p:txBody>
          <a:bodyPr wrap="square" lIns="0" tIns="0" rIns="0" bIns="0" rtlCol="0" anchor="ctr"/>
          <a:lstStyle/>
          <a:p>
            <a:pPr marL="0" indent="0">
              <a:buNone/>
            </a:pPr>
            <a:r>
              <a:rPr lang="en-US" sz="1050" b="1" dirty="0">
                <a:solidFill>
                  <a:srgbClr val="FFFFFF"/>
                </a:solidFill>
              </a:rPr>
              <a:t>Q1.4 - Tx Volume vs. Fear &amp; Greed Index</a:t>
            </a:r>
            <a:endParaRPr lang="en-US" sz="1050" dirty="0"/>
          </a:p>
        </p:txBody>
      </p:sp>
      <p:sp>
        <p:nvSpPr>
          <p:cNvPr id="36" name="Text 34"/>
          <p:cNvSpPr/>
          <p:nvPr/>
        </p:nvSpPr>
        <p:spPr>
          <a:xfrm>
            <a:off x="5779008" y="3017520"/>
            <a:ext cx="3154680" cy="164592"/>
          </a:xfrm>
          <a:prstGeom prst="rect">
            <a:avLst/>
          </a:prstGeom>
          <a:noFill/>
          <a:ln/>
        </p:spPr>
        <p:txBody>
          <a:bodyPr wrap="square" lIns="0" tIns="0" rIns="0" bIns="0" rtlCol="0" anchor="ctr"/>
          <a:lstStyle/>
          <a:p>
            <a:pPr marL="0" indent="0">
              <a:buNone/>
            </a:pPr>
            <a:r>
              <a:rPr lang="en-US" sz="900" dirty="0">
                <a:solidFill>
                  <a:srgbClr val="B0BEC5"/>
                </a:solidFill>
              </a:rPr>
              <a:t>Extreme Fear dominates: 370K txs, $205.5B output value</a:t>
            </a:r>
            <a:endParaRPr lang="en-US" sz="900" dirty="0"/>
          </a:p>
        </p:txBody>
      </p:sp>
      <p:sp>
        <p:nvSpPr>
          <p:cNvPr id="37" name="Shape 35"/>
          <p:cNvSpPr/>
          <p:nvPr/>
        </p:nvSpPr>
        <p:spPr>
          <a:xfrm>
            <a:off x="457200" y="3300984"/>
            <a:ext cx="4206240" cy="457200"/>
          </a:xfrm>
          <a:prstGeom prst="roundRect">
            <a:avLst>
              <a:gd name="adj" fmla="val 12000"/>
            </a:avLst>
          </a:prstGeom>
          <a:solidFill>
            <a:srgbClr val="1C2B3A"/>
          </a:solidFill>
          <a:ln/>
          <a:effectLst>
            <a:outerShdw blurRad="63500" dist="12700" dir="8100000" algn="bl" rotWithShape="0">
              <a:srgbClr val="000000">
                <a:alpha val="20000"/>
              </a:srgbClr>
            </a:outerShdw>
          </a:effectLst>
        </p:spPr>
        <p:txBody>
          <a:bodyPr/>
          <a:lstStyle/>
          <a:p>
            <a:endParaRPr lang="es-ES"/>
          </a:p>
        </p:txBody>
      </p:sp>
      <p:sp>
        <p:nvSpPr>
          <p:cNvPr id="38" name="Shape 36"/>
          <p:cNvSpPr/>
          <p:nvPr/>
        </p:nvSpPr>
        <p:spPr>
          <a:xfrm>
            <a:off x="530352" y="3374136"/>
            <a:ext cx="804672" cy="201168"/>
          </a:xfrm>
          <a:prstGeom prst="roundRect">
            <a:avLst>
              <a:gd name="adj" fmla="val 18182"/>
            </a:avLst>
          </a:prstGeom>
          <a:solidFill>
            <a:srgbClr val="E53935">
              <a:alpha val="80000"/>
            </a:srgbClr>
          </a:solidFill>
          <a:ln w="12700">
            <a:solidFill>
              <a:srgbClr val="E53935">
                <a:alpha val="80000"/>
              </a:srgbClr>
            </a:solidFill>
            <a:prstDash val="solid"/>
          </a:ln>
        </p:spPr>
        <p:txBody>
          <a:bodyPr/>
          <a:lstStyle/>
          <a:p>
            <a:endParaRPr lang="es-ES"/>
          </a:p>
        </p:txBody>
      </p:sp>
      <p:sp>
        <p:nvSpPr>
          <p:cNvPr id="39" name="Text 37"/>
          <p:cNvSpPr/>
          <p:nvPr/>
        </p:nvSpPr>
        <p:spPr>
          <a:xfrm>
            <a:off x="530352" y="3374136"/>
            <a:ext cx="804672" cy="201168"/>
          </a:xfrm>
          <a:prstGeom prst="rect">
            <a:avLst/>
          </a:prstGeom>
          <a:noFill/>
          <a:ln/>
        </p:spPr>
        <p:txBody>
          <a:bodyPr wrap="square" lIns="0" tIns="0" rIns="0" bIns="0" rtlCol="0" anchor="ctr"/>
          <a:lstStyle/>
          <a:p>
            <a:pPr marL="0" indent="0" algn="ctr">
              <a:buNone/>
            </a:pPr>
            <a:r>
              <a:rPr lang="en-US" sz="700" b="1" dirty="0">
                <a:solidFill>
                  <a:srgbClr val="FFFFFF"/>
                </a:solidFill>
              </a:rPr>
              <a:t>✗ N/A</a:t>
            </a:r>
            <a:endParaRPr lang="en-US" sz="700" dirty="0"/>
          </a:p>
        </p:txBody>
      </p:sp>
      <p:sp>
        <p:nvSpPr>
          <p:cNvPr id="40" name="Text 38"/>
          <p:cNvSpPr/>
          <p:nvPr/>
        </p:nvSpPr>
        <p:spPr>
          <a:xfrm>
            <a:off x="1389888" y="3337560"/>
            <a:ext cx="3154680" cy="201168"/>
          </a:xfrm>
          <a:prstGeom prst="rect">
            <a:avLst/>
          </a:prstGeom>
          <a:noFill/>
          <a:ln/>
        </p:spPr>
        <p:txBody>
          <a:bodyPr wrap="square" lIns="0" tIns="0" rIns="0" bIns="0" rtlCol="0" anchor="ctr"/>
          <a:lstStyle/>
          <a:p>
            <a:pPr marL="0" indent="0">
              <a:buNone/>
            </a:pPr>
            <a:r>
              <a:rPr lang="en-US" sz="1050" b="1" dirty="0">
                <a:solidFill>
                  <a:srgbClr val="FFFFFF"/>
                </a:solidFill>
              </a:rPr>
              <a:t>Q1.5 - Multi-Input vs. Single-Input Structure</a:t>
            </a:r>
            <a:endParaRPr lang="en-US" sz="1050" dirty="0"/>
          </a:p>
        </p:txBody>
      </p:sp>
      <p:sp>
        <p:nvSpPr>
          <p:cNvPr id="41" name="Text 39"/>
          <p:cNvSpPr/>
          <p:nvPr/>
        </p:nvSpPr>
        <p:spPr>
          <a:xfrm>
            <a:off x="1389888" y="3547872"/>
            <a:ext cx="3154680" cy="164592"/>
          </a:xfrm>
          <a:prstGeom prst="rect">
            <a:avLst/>
          </a:prstGeom>
          <a:noFill/>
          <a:ln/>
        </p:spPr>
        <p:txBody>
          <a:bodyPr wrap="square" lIns="0" tIns="0" rIns="0" bIns="0" rtlCol="0" anchor="ctr"/>
          <a:lstStyle/>
          <a:p>
            <a:pPr marL="0" indent="0">
              <a:buNone/>
            </a:pPr>
            <a:r>
              <a:rPr lang="en-US" sz="900" dirty="0">
                <a:solidFill>
                  <a:srgbClr val="B0BEC5"/>
                </a:solidFill>
              </a:rPr>
              <a:t>input_count exists in staging but not promoted to FACT</a:t>
            </a:r>
            <a:endParaRPr lang="en-US" sz="900" dirty="0"/>
          </a:p>
        </p:txBody>
      </p:sp>
      <p:sp>
        <p:nvSpPr>
          <p:cNvPr id="42" name="Shape 40"/>
          <p:cNvSpPr/>
          <p:nvPr/>
        </p:nvSpPr>
        <p:spPr>
          <a:xfrm>
            <a:off x="4846320" y="3300984"/>
            <a:ext cx="4206240" cy="457200"/>
          </a:xfrm>
          <a:prstGeom prst="roundRect">
            <a:avLst>
              <a:gd name="adj" fmla="val 12000"/>
            </a:avLst>
          </a:prstGeom>
          <a:solidFill>
            <a:srgbClr val="1C2B3A"/>
          </a:solidFill>
          <a:ln/>
          <a:effectLst>
            <a:outerShdw blurRad="63500" dist="12700" dir="8100000" algn="bl" rotWithShape="0">
              <a:srgbClr val="000000">
                <a:alpha val="20000"/>
              </a:srgbClr>
            </a:outerShdw>
          </a:effectLst>
        </p:spPr>
        <p:txBody>
          <a:bodyPr/>
          <a:lstStyle/>
          <a:p>
            <a:endParaRPr lang="es-ES"/>
          </a:p>
        </p:txBody>
      </p:sp>
      <p:sp>
        <p:nvSpPr>
          <p:cNvPr id="43" name="Shape 41"/>
          <p:cNvSpPr/>
          <p:nvPr/>
        </p:nvSpPr>
        <p:spPr>
          <a:xfrm>
            <a:off x="4919472" y="3374136"/>
            <a:ext cx="804672" cy="201168"/>
          </a:xfrm>
          <a:prstGeom prst="roundRect">
            <a:avLst>
              <a:gd name="adj" fmla="val 18182"/>
            </a:avLst>
          </a:prstGeom>
          <a:solidFill>
            <a:srgbClr val="FDD835">
              <a:alpha val="80000"/>
            </a:srgbClr>
          </a:solidFill>
          <a:ln w="12700">
            <a:solidFill>
              <a:srgbClr val="FDD835">
                <a:alpha val="80000"/>
              </a:srgbClr>
            </a:solidFill>
            <a:prstDash val="solid"/>
          </a:ln>
        </p:spPr>
        <p:txBody>
          <a:bodyPr/>
          <a:lstStyle/>
          <a:p>
            <a:endParaRPr lang="es-ES"/>
          </a:p>
        </p:txBody>
      </p:sp>
      <p:sp>
        <p:nvSpPr>
          <p:cNvPr id="44" name="Text 42"/>
          <p:cNvSpPr/>
          <p:nvPr/>
        </p:nvSpPr>
        <p:spPr>
          <a:xfrm>
            <a:off x="4919472" y="3374136"/>
            <a:ext cx="804672" cy="201168"/>
          </a:xfrm>
          <a:prstGeom prst="rect">
            <a:avLst/>
          </a:prstGeom>
          <a:noFill/>
          <a:ln/>
        </p:spPr>
        <p:txBody>
          <a:bodyPr wrap="square" lIns="0" tIns="0" rIns="0" bIns="0" rtlCol="0" anchor="ctr"/>
          <a:lstStyle/>
          <a:p>
            <a:pPr marL="0" indent="0" algn="ctr">
              <a:buNone/>
            </a:pPr>
            <a:r>
              <a:rPr lang="en-US" sz="700" b="1" dirty="0">
                <a:solidFill>
                  <a:srgbClr val="FFFFFF"/>
                </a:solidFill>
              </a:rPr>
              <a:t>~ PARTIAL</a:t>
            </a:r>
            <a:endParaRPr lang="en-US" sz="700" dirty="0"/>
          </a:p>
        </p:txBody>
      </p:sp>
      <p:sp>
        <p:nvSpPr>
          <p:cNvPr id="45" name="Text 43"/>
          <p:cNvSpPr/>
          <p:nvPr/>
        </p:nvSpPr>
        <p:spPr>
          <a:xfrm>
            <a:off x="5779008" y="3337560"/>
            <a:ext cx="3154680" cy="201168"/>
          </a:xfrm>
          <a:prstGeom prst="rect">
            <a:avLst/>
          </a:prstGeom>
          <a:noFill/>
          <a:ln/>
        </p:spPr>
        <p:txBody>
          <a:bodyPr wrap="square" lIns="0" tIns="0" rIns="0" bIns="0" rtlCol="0" anchor="ctr"/>
          <a:lstStyle/>
          <a:p>
            <a:pPr marL="0" indent="0">
              <a:buNone/>
            </a:pPr>
            <a:r>
              <a:rPr lang="en-US" sz="1050" b="1" dirty="0">
                <a:solidFill>
                  <a:srgbClr val="FFFFFF"/>
                </a:solidFill>
              </a:rPr>
              <a:t>Q1.6 - Transaction Evolution Across Halving Eras</a:t>
            </a:r>
            <a:endParaRPr lang="en-US" sz="1050" dirty="0"/>
          </a:p>
        </p:txBody>
      </p:sp>
      <p:sp>
        <p:nvSpPr>
          <p:cNvPr id="46" name="Text 44"/>
          <p:cNvSpPr/>
          <p:nvPr/>
        </p:nvSpPr>
        <p:spPr>
          <a:xfrm>
            <a:off x="5779008" y="3547872"/>
            <a:ext cx="3154680" cy="164592"/>
          </a:xfrm>
          <a:prstGeom prst="rect">
            <a:avLst/>
          </a:prstGeom>
          <a:noFill/>
          <a:ln/>
        </p:spPr>
        <p:txBody>
          <a:bodyPr wrap="square" lIns="0" tIns="0" rIns="0" bIns="0" rtlCol="0" anchor="ctr"/>
          <a:lstStyle/>
          <a:p>
            <a:pPr marL="0" indent="0">
              <a:buNone/>
            </a:pPr>
            <a:r>
              <a:rPr lang="en-US" sz="900" dirty="0">
                <a:solidFill>
                  <a:srgbClr val="B0BEC5"/>
                </a:solidFill>
              </a:rPr>
              <a:t>Only Era 5 populated; backfill in progress</a:t>
            </a:r>
            <a:endParaRPr lang="en-US" sz="900" dirty="0"/>
          </a:p>
        </p:txBody>
      </p:sp>
      <p:sp>
        <p:nvSpPr>
          <p:cNvPr id="47" name="Shape 45"/>
          <p:cNvSpPr/>
          <p:nvPr/>
        </p:nvSpPr>
        <p:spPr>
          <a:xfrm>
            <a:off x="457200" y="3831336"/>
            <a:ext cx="4206240" cy="457200"/>
          </a:xfrm>
          <a:prstGeom prst="roundRect">
            <a:avLst>
              <a:gd name="adj" fmla="val 12000"/>
            </a:avLst>
          </a:prstGeom>
          <a:solidFill>
            <a:srgbClr val="1C2B3A"/>
          </a:solidFill>
          <a:ln/>
          <a:effectLst>
            <a:outerShdw blurRad="63500" dist="12700" dir="8100000" algn="bl" rotWithShape="0">
              <a:srgbClr val="000000">
                <a:alpha val="20000"/>
              </a:srgbClr>
            </a:outerShdw>
          </a:effectLst>
        </p:spPr>
        <p:txBody>
          <a:bodyPr/>
          <a:lstStyle/>
          <a:p>
            <a:endParaRPr lang="es-ES"/>
          </a:p>
        </p:txBody>
      </p:sp>
      <p:sp>
        <p:nvSpPr>
          <p:cNvPr id="48" name="Shape 46"/>
          <p:cNvSpPr/>
          <p:nvPr/>
        </p:nvSpPr>
        <p:spPr>
          <a:xfrm>
            <a:off x="530352" y="3904488"/>
            <a:ext cx="804672" cy="201168"/>
          </a:xfrm>
          <a:prstGeom prst="roundRect">
            <a:avLst>
              <a:gd name="adj" fmla="val 18182"/>
            </a:avLst>
          </a:prstGeom>
          <a:solidFill>
            <a:srgbClr val="26C6A2">
              <a:alpha val="80000"/>
            </a:srgbClr>
          </a:solidFill>
          <a:ln w="12700">
            <a:solidFill>
              <a:srgbClr val="26C6A2">
                <a:alpha val="80000"/>
              </a:srgbClr>
            </a:solidFill>
            <a:prstDash val="solid"/>
          </a:ln>
        </p:spPr>
        <p:txBody>
          <a:bodyPr/>
          <a:lstStyle/>
          <a:p>
            <a:endParaRPr lang="es-ES"/>
          </a:p>
        </p:txBody>
      </p:sp>
      <p:sp>
        <p:nvSpPr>
          <p:cNvPr id="49" name="Text 47"/>
          <p:cNvSpPr/>
          <p:nvPr/>
        </p:nvSpPr>
        <p:spPr>
          <a:xfrm>
            <a:off x="530352" y="3904488"/>
            <a:ext cx="804672" cy="201168"/>
          </a:xfrm>
          <a:prstGeom prst="rect">
            <a:avLst/>
          </a:prstGeom>
          <a:noFill/>
          <a:ln/>
        </p:spPr>
        <p:txBody>
          <a:bodyPr wrap="square" lIns="0" tIns="0" rIns="0" bIns="0" rtlCol="0" anchor="ctr"/>
          <a:lstStyle/>
          <a:p>
            <a:pPr marL="0" indent="0" algn="ctr">
              <a:buNone/>
            </a:pPr>
            <a:r>
              <a:rPr lang="en-US" sz="700" b="1" dirty="0">
                <a:solidFill>
                  <a:srgbClr val="FFFFFF"/>
                </a:solidFill>
              </a:rPr>
              <a:t>✓ SOLVED</a:t>
            </a:r>
            <a:endParaRPr lang="en-US" sz="700" dirty="0"/>
          </a:p>
        </p:txBody>
      </p:sp>
      <p:sp>
        <p:nvSpPr>
          <p:cNvPr id="50" name="Text 48"/>
          <p:cNvSpPr/>
          <p:nvPr/>
        </p:nvSpPr>
        <p:spPr>
          <a:xfrm>
            <a:off x="1389888" y="3867912"/>
            <a:ext cx="3154680" cy="201168"/>
          </a:xfrm>
          <a:prstGeom prst="rect">
            <a:avLst/>
          </a:prstGeom>
          <a:noFill/>
          <a:ln/>
        </p:spPr>
        <p:txBody>
          <a:bodyPr wrap="square" lIns="0" tIns="0" rIns="0" bIns="0" rtlCol="0" anchor="ctr"/>
          <a:lstStyle/>
          <a:p>
            <a:pPr marL="0" indent="0">
              <a:buNone/>
            </a:pPr>
            <a:r>
              <a:rPr lang="en-US" sz="1050" b="1" dirty="0">
                <a:solidFill>
                  <a:srgbClr val="FFFFFF"/>
                </a:solidFill>
              </a:rPr>
              <a:t>Q1.7 - Coinbase vs. Standard Composition</a:t>
            </a:r>
            <a:endParaRPr lang="en-US" sz="1050" dirty="0"/>
          </a:p>
        </p:txBody>
      </p:sp>
      <p:sp>
        <p:nvSpPr>
          <p:cNvPr id="51" name="Text 49"/>
          <p:cNvSpPr/>
          <p:nvPr/>
        </p:nvSpPr>
        <p:spPr>
          <a:xfrm>
            <a:off x="1389888" y="4078224"/>
            <a:ext cx="3154680" cy="164592"/>
          </a:xfrm>
          <a:prstGeom prst="rect">
            <a:avLst/>
          </a:prstGeom>
          <a:noFill/>
          <a:ln/>
        </p:spPr>
        <p:txBody>
          <a:bodyPr wrap="square" lIns="0" tIns="0" rIns="0" bIns="0" rtlCol="0" anchor="ctr"/>
          <a:lstStyle/>
          <a:p>
            <a:pPr marL="0" indent="0">
              <a:buNone/>
            </a:pPr>
            <a:r>
              <a:rPr lang="en-US" sz="900" dirty="0">
                <a:solidFill>
                  <a:srgbClr val="B0BEC5"/>
                </a:solidFill>
              </a:rPr>
              <a:t>Coinbase = 1% by count, 0.40% by BTC value - subsidy minimal in Era 5</a:t>
            </a:r>
            <a:endParaRPr lang="en-US" sz="900" dirty="0"/>
          </a:p>
        </p:txBody>
      </p:sp>
      <p:sp>
        <p:nvSpPr>
          <p:cNvPr id="52" name="Shape 50"/>
          <p:cNvSpPr/>
          <p:nvPr/>
        </p:nvSpPr>
        <p:spPr>
          <a:xfrm>
            <a:off x="4846320" y="3831336"/>
            <a:ext cx="4206240" cy="457200"/>
          </a:xfrm>
          <a:prstGeom prst="roundRect">
            <a:avLst>
              <a:gd name="adj" fmla="val 12000"/>
            </a:avLst>
          </a:prstGeom>
          <a:solidFill>
            <a:srgbClr val="1C2B3A"/>
          </a:solidFill>
          <a:ln/>
          <a:effectLst>
            <a:outerShdw blurRad="63500" dist="12700" dir="8100000" algn="bl" rotWithShape="0">
              <a:srgbClr val="000000">
                <a:alpha val="20000"/>
              </a:srgbClr>
            </a:outerShdw>
          </a:effectLst>
        </p:spPr>
        <p:txBody>
          <a:bodyPr/>
          <a:lstStyle/>
          <a:p>
            <a:endParaRPr lang="es-ES"/>
          </a:p>
        </p:txBody>
      </p:sp>
      <p:sp>
        <p:nvSpPr>
          <p:cNvPr id="53" name="Shape 51"/>
          <p:cNvSpPr/>
          <p:nvPr/>
        </p:nvSpPr>
        <p:spPr>
          <a:xfrm>
            <a:off x="4919472" y="3904488"/>
            <a:ext cx="804672" cy="201168"/>
          </a:xfrm>
          <a:prstGeom prst="roundRect">
            <a:avLst>
              <a:gd name="adj" fmla="val 18182"/>
            </a:avLst>
          </a:prstGeom>
          <a:solidFill>
            <a:srgbClr val="E53935">
              <a:alpha val="80000"/>
            </a:srgbClr>
          </a:solidFill>
          <a:ln w="12700">
            <a:solidFill>
              <a:srgbClr val="E53935">
                <a:alpha val="80000"/>
              </a:srgbClr>
            </a:solidFill>
            <a:prstDash val="solid"/>
          </a:ln>
        </p:spPr>
        <p:txBody>
          <a:bodyPr/>
          <a:lstStyle/>
          <a:p>
            <a:endParaRPr lang="es-ES"/>
          </a:p>
        </p:txBody>
      </p:sp>
      <p:sp>
        <p:nvSpPr>
          <p:cNvPr id="54" name="Text 52"/>
          <p:cNvSpPr/>
          <p:nvPr/>
        </p:nvSpPr>
        <p:spPr>
          <a:xfrm>
            <a:off x="4919472" y="3904488"/>
            <a:ext cx="804672" cy="201168"/>
          </a:xfrm>
          <a:prstGeom prst="rect">
            <a:avLst/>
          </a:prstGeom>
          <a:noFill/>
          <a:ln/>
        </p:spPr>
        <p:txBody>
          <a:bodyPr wrap="square" lIns="0" tIns="0" rIns="0" bIns="0" rtlCol="0" anchor="ctr"/>
          <a:lstStyle/>
          <a:p>
            <a:pPr marL="0" indent="0" algn="ctr">
              <a:buNone/>
            </a:pPr>
            <a:r>
              <a:rPr lang="en-US" sz="700" b="1" dirty="0">
                <a:solidFill>
                  <a:srgbClr val="FFFFFF"/>
                </a:solidFill>
              </a:rPr>
              <a:t>✗ N/A</a:t>
            </a:r>
            <a:endParaRPr lang="en-US" sz="700" dirty="0"/>
          </a:p>
        </p:txBody>
      </p:sp>
      <p:sp>
        <p:nvSpPr>
          <p:cNvPr id="55" name="Text 53"/>
          <p:cNvSpPr/>
          <p:nvPr/>
        </p:nvSpPr>
        <p:spPr>
          <a:xfrm>
            <a:off x="5779008" y="3867912"/>
            <a:ext cx="3154680" cy="201168"/>
          </a:xfrm>
          <a:prstGeom prst="rect">
            <a:avLst/>
          </a:prstGeom>
          <a:noFill/>
          <a:ln/>
        </p:spPr>
        <p:txBody>
          <a:bodyPr wrap="square" lIns="0" tIns="0" rIns="0" bIns="0" rtlCol="0" anchor="ctr"/>
          <a:lstStyle/>
          <a:p>
            <a:pPr marL="0" indent="0">
              <a:buNone/>
            </a:pPr>
            <a:r>
              <a:rPr lang="en-US" sz="1050" b="1" dirty="0">
                <a:solidFill>
                  <a:srgbClr val="FFFFFF"/>
                </a:solidFill>
              </a:rPr>
              <a:t>Q1.8 - NVT Ratio Under Sentiment Regimes</a:t>
            </a:r>
            <a:endParaRPr lang="en-US" sz="1050" dirty="0"/>
          </a:p>
        </p:txBody>
      </p:sp>
      <p:sp>
        <p:nvSpPr>
          <p:cNvPr id="56" name="Text 54"/>
          <p:cNvSpPr/>
          <p:nvPr/>
        </p:nvSpPr>
        <p:spPr>
          <a:xfrm>
            <a:off x="5779008" y="4078224"/>
            <a:ext cx="3154680" cy="164592"/>
          </a:xfrm>
          <a:prstGeom prst="rect">
            <a:avLst/>
          </a:prstGeom>
          <a:noFill/>
          <a:ln/>
        </p:spPr>
        <p:txBody>
          <a:bodyPr wrap="square" lIns="0" tIns="0" rIns="0" bIns="0" rtlCol="0" anchor="ctr"/>
          <a:lstStyle/>
          <a:p>
            <a:pPr marL="0" indent="0">
              <a:buNone/>
            </a:pPr>
            <a:r>
              <a:rPr lang="en-US" sz="900" dirty="0">
                <a:solidFill>
                  <a:srgbClr val="B0BEC5"/>
                </a:solidFill>
              </a:rPr>
              <a:t>Market cap approximated + only 47 days of data → insufficient</a:t>
            </a:r>
            <a:endParaRPr lang="en-US" sz="900" dirty="0"/>
          </a:p>
        </p:txBody>
      </p:sp>
      <p:sp>
        <p:nvSpPr>
          <p:cNvPr id="57" name="Shape 55"/>
          <p:cNvSpPr/>
          <p:nvPr/>
        </p:nvSpPr>
        <p:spPr>
          <a:xfrm>
            <a:off x="457200" y="4361688"/>
            <a:ext cx="4206240" cy="457200"/>
          </a:xfrm>
          <a:prstGeom prst="roundRect">
            <a:avLst>
              <a:gd name="adj" fmla="val 12000"/>
            </a:avLst>
          </a:prstGeom>
          <a:solidFill>
            <a:srgbClr val="1C2B3A"/>
          </a:solidFill>
          <a:ln/>
          <a:effectLst>
            <a:outerShdw blurRad="63500" dist="12700" dir="8100000" algn="bl" rotWithShape="0">
              <a:srgbClr val="000000">
                <a:alpha val="20000"/>
              </a:srgbClr>
            </a:outerShdw>
          </a:effectLst>
        </p:spPr>
        <p:txBody>
          <a:bodyPr/>
          <a:lstStyle/>
          <a:p>
            <a:endParaRPr lang="es-ES"/>
          </a:p>
        </p:txBody>
      </p:sp>
      <p:sp>
        <p:nvSpPr>
          <p:cNvPr id="58" name="Shape 56"/>
          <p:cNvSpPr/>
          <p:nvPr/>
        </p:nvSpPr>
        <p:spPr>
          <a:xfrm>
            <a:off x="530352" y="4434840"/>
            <a:ext cx="804672" cy="201168"/>
          </a:xfrm>
          <a:prstGeom prst="roundRect">
            <a:avLst>
              <a:gd name="adj" fmla="val 18182"/>
            </a:avLst>
          </a:prstGeom>
          <a:solidFill>
            <a:srgbClr val="FDD835">
              <a:alpha val="80000"/>
            </a:srgbClr>
          </a:solidFill>
          <a:ln w="12700">
            <a:solidFill>
              <a:srgbClr val="FDD835">
                <a:alpha val="80000"/>
              </a:srgbClr>
            </a:solidFill>
            <a:prstDash val="solid"/>
          </a:ln>
        </p:spPr>
        <p:txBody>
          <a:bodyPr/>
          <a:lstStyle/>
          <a:p>
            <a:endParaRPr lang="es-ES"/>
          </a:p>
        </p:txBody>
      </p:sp>
      <p:sp>
        <p:nvSpPr>
          <p:cNvPr id="59" name="Text 57"/>
          <p:cNvSpPr/>
          <p:nvPr/>
        </p:nvSpPr>
        <p:spPr>
          <a:xfrm>
            <a:off x="530352" y="4434840"/>
            <a:ext cx="804672" cy="201168"/>
          </a:xfrm>
          <a:prstGeom prst="rect">
            <a:avLst/>
          </a:prstGeom>
          <a:noFill/>
          <a:ln/>
        </p:spPr>
        <p:txBody>
          <a:bodyPr wrap="square" lIns="0" tIns="0" rIns="0" bIns="0" rtlCol="0" anchor="ctr"/>
          <a:lstStyle/>
          <a:p>
            <a:pPr marL="0" indent="0" algn="ctr">
              <a:buNone/>
            </a:pPr>
            <a:r>
              <a:rPr lang="en-US" sz="700" b="1" dirty="0">
                <a:solidFill>
                  <a:srgbClr val="FFFFFF"/>
                </a:solidFill>
              </a:rPr>
              <a:t>~ PARTIAL</a:t>
            </a:r>
            <a:endParaRPr lang="en-US" sz="700" dirty="0"/>
          </a:p>
        </p:txBody>
      </p:sp>
      <p:sp>
        <p:nvSpPr>
          <p:cNvPr id="60" name="Text 58"/>
          <p:cNvSpPr/>
          <p:nvPr/>
        </p:nvSpPr>
        <p:spPr>
          <a:xfrm>
            <a:off x="1389888" y="4398264"/>
            <a:ext cx="3154680" cy="201168"/>
          </a:xfrm>
          <a:prstGeom prst="rect">
            <a:avLst/>
          </a:prstGeom>
          <a:noFill/>
          <a:ln/>
        </p:spPr>
        <p:txBody>
          <a:bodyPr wrap="square" lIns="0" tIns="0" rIns="0" bIns="0" rtlCol="0" anchor="ctr"/>
          <a:lstStyle/>
          <a:p>
            <a:pPr marL="0" indent="0">
              <a:buNone/>
            </a:pPr>
            <a:r>
              <a:rPr lang="en-US" sz="1050" b="1" dirty="0">
                <a:solidFill>
                  <a:srgbClr val="FFFFFF"/>
                </a:solidFill>
              </a:rPr>
              <a:t>Q1.9 - Block Space Efficiency by Difficulty Tier</a:t>
            </a:r>
            <a:endParaRPr lang="en-US" sz="1050" dirty="0"/>
          </a:p>
        </p:txBody>
      </p:sp>
      <p:sp>
        <p:nvSpPr>
          <p:cNvPr id="61" name="Text 59"/>
          <p:cNvSpPr/>
          <p:nvPr/>
        </p:nvSpPr>
        <p:spPr>
          <a:xfrm>
            <a:off x="1389888" y="4608576"/>
            <a:ext cx="3154680" cy="164592"/>
          </a:xfrm>
          <a:prstGeom prst="rect">
            <a:avLst/>
          </a:prstGeom>
          <a:noFill/>
          <a:ln/>
        </p:spPr>
        <p:txBody>
          <a:bodyPr wrap="square" lIns="0" tIns="0" rIns="0" bIns="0" rtlCol="0" anchor="ctr"/>
          <a:lstStyle/>
          <a:p>
            <a:pPr marL="0" indent="0">
              <a:buNone/>
            </a:pPr>
            <a:r>
              <a:rPr lang="en-US" sz="900" dirty="0">
                <a:solidFill>
                  <a:srgbClr val="B0BEC5"/>
                </a:solidFill>
              </a:rPr>
              <a:t>All txs in single 'Extreme' tier - cross-tier comparison impossible now</a:t>
            </a:r>
            <a:endParaRPr lang="en-US" sz="900" dirty="0"/>
          </a:p>
        </p:txBody>
      </p:sp>
      <p:sp>
        <p:nvSpPr>
          <p:cNvPr id="62" name="Shape 60"/>
          <p:cNvSpPr/>
          <p:nvPr/>
        </p:nvSpPr>
        <p:spPr>
          <a:xfrm>
            <a:off x="4846320" y="4361688"/>
            <a:ext cx="4206240" cy="457200"/>
          </a:xfrm>
          <a:prstGeom prst="roundRect">
            <a:avLst>
              <a:gd name="adj" fmla="val 12000"/>
            </a:avLst>
          </a:prstGeom>
          <a:solidFill>
            <a:srgbClr val="1C2B3A"/>
          </a:solidFill>
          <a:ln/>
          <a:effectLst>
            <a:outerShdw blurRad="63500" dist="12700" dir="8100000" algn="bl" rotWithShape="0">
              <a:srgbClr val="000000">
                <a:alpha val="20000"/>
              </a:srgbClr>
            </a:outerShdw>
          </a:effectLst>
        </p:spPr>
        <p:txBody>
          <a:bodyPr/>
          <a:lstStyle/>
          <a:p>
            <a:endParaRPr lang="es-ES"/>
          </a:p>
        </p:txBody>
      </p:sp>
      <p:sp>
        <p:nvSpPr>
          <p:cNvPr id="63" name="Shape 61"/>
          <p:cNvSpPr/>
          <p:nvPr/>
        </p:nvSpPr>
        <p:spPr>
          <a:xfrm>
            <a:off x="4919472" y="4434840"/>
            <a:ext cx="804672" cy="201168"/>
          </a:xfrm>
          <a:prstGeom prst="roundRect">
            <a:avLst>
              <a:gd name="adj" fmla="val 18182"/>
            </a:avLst>
          </a:prstGeom>
          <a:solidFill>
            <a:srgbClr val="26C6A2">
              <a:alpha val="80000"/>
            </a:srgbClr>
          </a:solidFill>
          <a:ln w="12700">
            <a:solidFill>
              <a:srgbClr val="26C6A2">
                <a:alpha val="80000"/>
              </a:srgbClr>
            </a:solidFill>
            <a:prstDash val="solid"/>
          </a:ln>
        </p:spPr>
        <p:txBody>
          <a:bodyPr/>
          <a:lstStyle/>
          <a:p>
            <a:endParaRPr lang="es-ES"/>
          </a:p>
        </p:txBody>
      </p:sp>
      <p:sp>
        <p:nvSpPr>
          <p:cNvPr id="64" name="Text 62"/>
          <p:cNvSpPr/>
          <p:nvPr/>
        </p:nvSpPr>
        <p:spPr>
          <a:xfrm>
            <a:off x="4919472" y="4434840"/>
            <a:ext cx="804672" cy="201168"/>
          </a:xfrm>
          <a:prstGeom prst="rect">
            <a:avLst/>
          </a:prstGeom>
          <a:noFill/>
          <a:ln/>
        </p:spPr>
        <p:txBody>
          <a:bodyPr wrap="square" lIns="0" tIns="0" rIns="0" bIns="0" rtlCol="0" anchor="ctr"/>
          <a:lstStyle/>
          <a:p>
            <a:pPr marL="0" indent="0" algn="ctr">
              <a:buNone/>
            </a:pPr>
            <a:r>
              <a:rPr lang="en-US" sz="700" b="1" dirty="0">
                <a:solidFill>
                  <a:srgbClr val="FFFFFF"/>
                </a:solidFill>
              </a:rPr>
              <a:t>✓ SOLVED</a:t>
            </a:r>
            <a:endParaRPr lang="en-US" sz="700" dirty="0"/>
          </a:p>
        </p:txBody>
      </p:sp>
      <p:sp>
        <p:nvSpPr>
          <p:cNvPr id="65" name="Text 63"/>
          <p:cNvSpPr/>
          <p:nvPr/>
        </p:nvSpPr>
        <p:spPr>
          <a:xfrm>
            <a:off x="5779008" y="4398264"/>
            <a:ext cx="3154680" cy="201168"/>
          </a:xfrm>
          <a:prstGeom prst="rect">
            <a:avLst/>
          </a:prstGeom>
          <a:noFill/>
          <a:ln/>
        </p:spPr>
        <p:txBody>
          <a:bodyPr wrap="square" lIns="0" tIns="0" rIns="0" bIns="0" rtlCol="0" anchor="ctr"/>
          <a:lstStyle/>
          <a:p>
            <a:pPr marL="0" indent="0">
              <a:buNone/>
            </a:pPr>
            <a:r>
              <a:rPr lang="en-US" sz="1050" b="1" dirty="0">
                <a:solidFill>
                  <a:srgbClr val="FFFFFF"/>
                </a:solidFill>
              </a:rPr>
              <a:t>Q1.10 - Weekend vs. Weekday Fee Patterns</a:t>
            </a:r>
            <a:endParaRPr lang="en-US" sz="1050" dirty="0"/>
          </a:p>
        </p:txBody>
      </p:sp>
      <p:sp>
        <p:nvSpPr>
          <p:cNvPr id="66" name="Text 64"/>
          <p:cNvSpPr/>
          <p:nvPr/>
        </p:nvSpPr>
        <p:spPr>
          <a:xfrm>
            <a:off x="5779008" y="4608576"/>
            <a:ext cx="3154680" cy="164592"/>
          </a:xfrm>
          <a:prstGeom prst="rect">
            <a:avLst/>
          </a:prstGeom>
          <a:noFill/>
          <a:ln/>
        </p:spPr>
        <p:txBody>
          <a:bodyPr wrap="square" lIns="0" tIns="0" rIns="0" bIns="0" rtlCol="0" anchor="ctr"/>
          <a:lstStyle/>
          <a:p>
            <a:pPr marL="0" indent="0">
              <a:buNone/>
            </a:pPr>
            <a:r>
              <a:rPr lang="en-US" sz="900" dirty="0">
                <a:solidFill>
                  <a:srgbClr val="B0BEC5"/>
                </a:solidFill>
              </a:rPr>
              <a:t>Sunday = cheapest (14.57 sat/vB) · Tuesday = peak (24.07 sat/vB)</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208FDCB4-FB8B-4BAB-598D-BB78D9B767F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0F82C61-A21B-F32B-63F1-498EC09098B8}"/>
              </a:ext>
            </a:extLst>
          </p:cNvPr>
          <p:cNvSpPr/>
          <p:nvPr/>
        </p:nvSpPr>
        <p:spPr>
          <a:xfrm>
            <a:off x="457200" y="256032"/>
            <a:ext cx="2212848" cy="256032"/>
          </a:xfrm>
          <a:prstGeom prst="roundRect">
            <a:avLst>
              <a:gd name="adj" fmla="val 14286"/>
            </a:avLst>
          </a:prstGeom>
          <a:solidFill>
            <a:srgbClr val="F7931A"/>
          </a:solidFill>
          <a:ln w="12700">
            <a:solidFill>
              <a:srgbClr val="F7931A"/>
            </a:solidFill>
            <a:prstDash val="solid"/>
          </a:ln>
        </p:spPr>
        <p:txBody>
          <a:bodyPr/>
          <a:lstStyle/>
          <a:p>
            <a:endParaRPr lang="es-ES"/>
          </a:p>
        </p:txBody>
      </p:sp>
      <p:sp>
        <p:nvSpPr>
          <p:cNvPr id="3" name="Text 1">
            <a:extLst>
              <a:ext uri="{FF2B5EF4-FFF2-40B4-BE49-F238E27FC236}">
                <a16:creationId xmlns:a16="http://schemas.microsoft.com/office/drawing/2014/main" id="{3310CA8F-8DD8-263E-1885-8551B8C55673}"/>
              </a:ext>
            </a:extLst>
          </p:cNvPr>
          <p:cNvSpPr/>
          <p:nvPr/>
        </p:nvSpPr>
        <p:spPr>
          <a:xfrm>
            <a:off x="457200" y="256032"/>
            <a:ext cx="2212848" cy="256032"/>
          </a:xfrm>
          <a:prstGeom prst="rect">
            <a:avLst/>
          </a:prstGeom>
          <a:noFill/>
          <a:ln/>
        </p:spPr>
        <p:txBody>
          <a:bodyPr wrap="square" lIns="0" tIns="0" rIns="0" bIns="0" rtlCol="0" anchor="ctr"/>
          <a:lstStyle/>
          <a:p>
            <a:pPr marL="0" indent="0" algn="ctr">
              <a:buNone/>
            </a:pPr>
            <a:r>
              <a:rPr lang="en-US" sz="1100" b="1" dirty="0">
                <a:solidFill>
                  <a:srgbClr val="FFFFFF"/>
                </a:solidFill>
              </a:rPr>
              <a:t>06 · OLAP ANALYSIS</a:t>
            </a:r>
            <a:endParaRPr lang="en-US" sz="1100" dirty="0"/>
          </a:p>
        </p:txBody>
      </p:sp>
      <p:sp>
        <p:nvSpPr>
          <p:cNvPr id="57" name="Shape 55">
            <a:extLst>
              <a:ext uri="{FF2B5EF4-FFF2-40B4-BE49-F238E27FC236}">
                <a16:creationId xmlns:a16="http://schemas.microsoft.com/office/drawing/2014/main" id="{310F995D-7EB6-CA4D-28C8-51E9EA4C59DF}"/>
              </a:ext>
            </a:extLst>
          </p:cNvPr>
          <p:cNvSpPr/>
          <p:nvPr/>
        </p:nvSpPr>
        <p:spPr>
          <a:xfrm>
            <a:off x="457200" y="643095"/>
            <a:ext cx="8345156" cy="4244373"/>
          </a:xfrm>
          <a:prstGeom prst="roundRect">
            <a:avLst>
              <a:gd name="adj" fmla="val 5200"/>
            </a:avLst>
          </a:prstGeom>
          <a:solidFill>
            <a:srgbClr val="1C2B3A"/>
          </a:solidFill>
          <a:ln/>
          <a:effectLst>
            <a:outerShdw blurRad="63500" dist="12700" dir="8100000" algn="bl" rotWithShape="0">
              <a:srgbClr val="000000">
                <a:alpha val="20000"/>
              </a:srgbClr>
            </a:outerShdw>
          </a:effectLst>
        </p:spPr>
        <p:txBody>
          <a:bodyPr/>
          <a:lstStyle/>
          <a:p>
            <a:endParaRPr lang="es-ES"/>
          </a:p>
        </p:txBody>
      </p:sp>
      <p:pic>
        <p:nvPicPr>
          <p:cNvPr id="68" name="Imagen 67">
            <a:extLst>
              <a:ext uri="{FF2B5EF4-FFF2-40B4-BE49-F238E27FC236}">
                <a16:creationId xmlns:a16="http://schemas.microsoft.com/office/drawing/2014/main" id="{89C94ED5-55BA-EC2E-95CA-BE97FEDD1571}"/>
              </a:ext>
            </a:extLst>
          </p:cNvPr>
          <p:cNvPicPr>
            <a:picLocks noChangeAspect="1"/>
          </p:cNvPicPr>
          <p:nvPr/>
        </p:nvPicPr>
        <p:blipFill>
          <a:blip r:embed="rId3"/>
          <a:stretch>
            <a:fillRect/>
          </a:stretch>
        </p:blipFill>
        <p:spPr>
          <a:xfrm>
            <a:off x="1078976" y="755887"/>
            <a:ext cx="7101604" cy="4018788"/>
          </a:xfrm>
          <a:prstGeom prst="rect">
            <a:avLst/>
          </a:prstGeom>
        </p:spPr>
      </p:pic>
    </p:spTree>
    <p:extLst>
      <p:ext uri="{BB962C8B-B14F-4D97-AF65-F5344CB8AC3E}">
        <p14:creationId xmlns:p14="http://schemas.microsoft.com/office/powerpoint/2010/main" val="2500528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457200" y="256032"/>
            <a:ext cx="3790188" cy="256032"/>
          </a:xfrm>
          <a:prstGeom prst="roundRect">
            <a:avLst>
              <a:gd name="adj" fmla="val 14286"/>
            </a:avLst>
          </a:prstGeom>
          <a:solidFill>
            <a:srgbClr val="F7931A"/>
          </a:solidFill>
          <a:ln w="12700">
            <a:solidFill>
              <a:srgbClr val="F7931A"/>
            </a:solidFill>
            <a:prstDash val="solid"/>
          </a:ln>
        </p:spPr>
        <p:txBody>
          <a:bodyPr/>
          <a:lstStyle/>
          <a:p>
            <a:endParaRPr lang="es-ES"/>
          </a:p>
        </p:txBody>
      </p:sp>
      <p:sp>
        <p:nvSpPr>
          <p:cNvPr id="3" name="Text 1"/>
          <p:cNvSpPr/>
          <p:nvPr/>
        </p:nvSpPr>
        <p:spPr>
          <a:xfrm>
            <a:off x="457200" y="256032"/>
            <a:ext cx="3790188" cy="256032"/>
          </a:xfrm>
          <a:prstGeom prst="rect">
            <a:avLst/>
          </a:prstGeom>
          <a:noFill/>
          <a:ln/>
        </p:spPr>
        <p:txBody>
          <a:bodyPr wrap="square" lIns="0" tIns="0" rIns="0" bIns="0" rtlCol="0" anchor="ctr"/>
          <a:lstStyle/>
          <a:p>
            <a:pPr marL="0" indent="0" algn="ctr">
              <a:buNone/>
            </a:pPr>
            <a:r>
              <a:rPr lang="en-US" sz="1100" b="1" dirty="0">
                <a:solidFill>
                  <a:srgbClr val="FFFFFF"/>
                </a:solidFill>
              </a:rPr>
              <a:t>06 · OLAP ANALYSIS - KEY FINDINGS</a:t>
            </a:r>
            <a:endParaRPr lang="en-US" sz="1100" dirty="0"/>
          </a:p>
        </p:txBody>
      </p:sp>
      <p:sp>
        <p:nvSpPr>
          <p:cNvPr id="4" name="Text 2"/>
          <p:cNvSpPr/>
          <p:nvPr/>
        </p:nvSpPr>
        <p:spPr>
          <a:xfrm>
            <a:off x="457200" y="566928"/>
            <a:ext cx="8229600" cy="502920"/>
          </a:xfrm>
          <a:prstGeom prst="rect">
            <a:avLst/>
          </a:prstGeom>
          <a:noFill/>
          <a:ln/>
        </p:spPr>
        <p:txBody>
          <a:bodyPr wrap="square" lIns="0" tIns="0" rIns="0" bIns="0" rtlCol="0" anchor="ctr"/>
          <a:lstStyle/>
          <a:p>
            <a:pPr marL="0" indent="0">
              <a:buNone/>
            </a:pPr>
            <a:r>
              <a:rPr lang="en-US" sz="2800" b="1" dirty="0">
                <a:solidFill>
                  <a:srgbClr val="1A2332"/>
                </a:solidFill>
              </a:rPr>
              <a:t>5 Standout Results from Live SSAS Cube</a:t>
            </a:r>
            <a:endParaRPr lang="en-US" sz="2800" dirty="0"/>
          </a:p>
        </p:txBody>
      </p:sp>
      <p:sp>
        <p:nvSpPr>
          <p:cNvPr id="5" name="Shape 3"/>
          <p:cNvSpPr/>
          <p:nvPr/>
        </p:nvSpPr>
        <p:spPr>
          <a:xfrm>
            <a:off x="457200" y="1069446"/>
            <a:ext cx="4206240" cy="1325880"/>
          </a:xfrm>
          <a:prstGeom prst="roundRect">
            <a:avLst>
              <a:gd name="adj" fmla="val 6897"/>
            </a:avLst>
          </a:prstGeom>
          <a:solidFill>
            <a:srgbClr val="FFFFFF"/>
          </a:solidFill>
          <a:ln/>
          <a:effectLst>
            <a:outerShdw blurRad="101600" dist="25400" dir="8100000" algn="bl" rotWithShape="0">
              <a:srgbClr val="000000">
                <a:alpha val="10000"/>
              </a:srgbClr>
            </a:outerShdw>
          </a:effectLst>
        </p:spPr>
        <p:txBody>
          <a:bodyPr/>
          <a:lstStyle/>
          <a:p>
            <a:endParaRPr lang="es-ES"/>
          </a:p>
        </p:txBody>
      </p:sp>
      <p:sp>
        <p:nvSpPr>
          <p:cNvPr id="6" name="Shape 4"/>
          <p:cNvSpPr/>
          <p:nvPr/>
        </p:nvSpPr>
        <p:spPr>
          <a:xfrm>
            <a:off x="566928" y="1160886"/>
            <a:ext cx="566928" cy="219456"/>
          </a:xfrm>
          <a:prstGeom prst="roundRect">
            <a:avLst>
              <a:gd name="adj" fmla="val 16667"/>
            </a:avLst>
          </a:prstGeom>
          <a:solidFill>
            <a:srgbClr val="F7931A">
              <a:alpha val="90000"/>
            </a:srgbClr>
          </a:solidFill>
          <a:ln w="12700">
            <a:solidFill>
              <a:srgbClr val="F7931A">
                <a:alpha val="90000"/>
              </a:srgbClr>
            </a:solidFill>
            <a:prstDash val="solid"/>
          </a:ln>
        </p:spPr>
        <p:txBody>
          <a:bodyPr/>
          <a:lstStyle/>
          <a:p>
            <a:endParaRPr lang="es-ES"/>
          </a:p>
        </p:txBody>
      </p:sp>
      <p:sp>
        <p:nvSpPr>
          <p:cNvPr id="7" name="Text 5"/>
          <p:cNvSpPr/>
          <p:nvPr/>
        </p:nvSpPr>
        <p:spPr>
          <a:xfrm>
            <a:off x="566928" y="1160886"/>
            <a:ext cx="566928" cy="219456"/>
          </a:xfrm>
          <a:prstGeom prst="rect">
            <a:avLst/>
          </a:prstGeom>
          <a:noFill/>
          <a:ln/>
        </p:spPr>
        <p:txBody>
          <a:bodyPr wrap="square" lIns="0" tIns="0" rIns="0" bIns="0" rtlCol="0" anchor="ctr"/>
          <a:lstStyle/>
          <a:p>
            <a:pPr marL="0" indent="0" algn="ctr">
              <a:buNone/>
            </a:pPr>
            <a:r>
              <a:rPr lang="en-US" sz="800" b="1" dirty="0">
                <a:solidFill>
                  <a:srgbClr val="FFFFFF"/>
                </a:solidFill>
              </a:rPr>
              <a:t>Q1.4</a:t>
            </a:r>
            <a:endParaRPr lang="en-US" sz="800" dirty="0"/>
          </a:p>
        </p:txBody>
      </p:sp>
      <p:sp>
        <p:nvSpPr>
          <p:cNvPr id="8" name="Text 6"/>
          <p:cNvSpPr/>
          <p:nvPr/>
        </p:nvSpPr>
        <p:spPr>
          <a:xfrm>
            <a:off x="1234440" y="1160886"/>
            <a:ext cx="3291840" cy="256032"/>
          </a:xfrm>
          <a:prstGeom prst="rect">
            <a:avLst/>
          </a:prstGeom>
          <a:noFill/>
          <a:ln/>
        </p:spPr>
        <p:txBody>
          <a:bodyPr wrap="square" lIns="0" tIns="0" rIns="0" bIns="0" rtlCol="0" anchor="ctr"/>
          <a:lstStyle/>
          <a:p>
            <a:pPr marL="0" indent="0">
              <a:buNone/>
            </a:pPr>
            <a:r>
              <a:rPr lang="en-US" sz="1250" b="1" dirty="0">
                <a:solidFill>
                  <a:srgbClr val="1A2332"/>
                </a:solidFill>
              </a:rPr>
              <a:t>Fear = More Activity</a:t>
            </a:r>
            <a:endParaRPr lang="en-US" sz="1250" dirty="0"/>
          </a:p>
        </p:txBody>
      </p:sp>
      <p:sp>
        <p:nvSpPr>
          <p:cNvPr id="9" name="Text 7"/>
          <p:cNvSpPr/>
          <p:nvPr/>
        </p:nvSpPr>
        <p:spPr>
          <a:xfrm>
            <a:off x="594360" y="1508358"/>
            <a:ext cx="3931920" cy="804672"/>
          </a:xfrm>
          <a:prstGeom prst="rect">
            <a:avLst/>
          </a:prstGeom>
          <a:noFill/>
          <a:ln/>
        </p:spPr>
        <p:txBody>
          <a:bodyPr wrap="square" lIns="0" tIns="0" rIns="0" bIns="0" rtlCol="0" anchor="ctr"/>
          <a:lstStyle/>
          <a:p>
            <a:pPr marL="0" indent="0">
              <a:buNone/>
            </a:pPr>
            <a:r>
              <a:rPr lang="en-US" sz="1100" dirty="0">
                <a:solidFill>
                  <a:srgbClr val="455A64"/>
                </a:solidFill>
              </a:rPr>
              <a:t>Counter-intuitive: Extreme Fear days account for 370,501 txs ($205.5B output). No Greed/Extreme Greed observed - market was in persistent fear throughout Era 5 Q2 2026. Consistent with panic-selling or accumulation during downturns.</a:t>
            </a:r>
            <a:endParaRPr lang="en-US" sz="1100" dirty="0"/>
          </a:p>
        </p:txBody>
      </p:sp>
      <p:sp>
        <p:nvSpPr>
          <p:cNvPr id="10" name="Shape 8"/>
          <p:cNvSpPr/>
          <p:nvPr/>
        </p:nvSpPr>
        <p:spPr>
          <a:xfrm>
            <a:off x="4846320" y="1069446"/>
            <a:ext cx="4206240" cy="1325880"/>
          </a:xfrm>
          <a:prstGeom prst="roundRect">
            <a:avLst>
              <a:gd name="adj" fmla="val 6897"/>
            </a:avLst>
          </a:prstGeom>
          <a:solidFill>
            <a:srgbClr val="FFFFFF"/>
          </a:solidFill>
          <a:ln/>
          <a:effectLst>
            <a:outerShdw blurRad="101600" dist="25400" dir="8100000" algn="bl" rotWithShape="0">
              <a:srgbClr val="000000">
                <a:alpha val="10000"/>
              </a:srgbClr>
            </a:outerShdw>
          </a:effectLst>
        </p:spPr>
        <p:txBody>
          <a:bodyPr/>
          <a:lstStyle/>
          <a:p>
            <a:endParaRPr lang="es-ES"/>
          </a:p>
        </p:txBody>
      </p:sp>
      <p:sp>
        <p:nvSpPr>
          <p:cNvPr id="11" name="Shape 9"/>
          <p:cNvSpPr/>
          <p:nvPr/>
        </p:nvSpPr>
        <p:spPr>
          <a:xfrm>
            <a:off x="4956048" y="1160886"/>
            <a:ext cx="566928" cy="219456"/>
          </a:xfrm>
          <a:prstGeom prst="roundRect">
            <a:avLst>
              <a:gd name="adj" fmla="val 16667"/>
            </a:avLst>
          </a:prstGeom>
          <a:solidFill>
            <a:srgbClr val="1E88E5">
              <a:alpha val="90000"/>
            </a:srgbClr>
          </a:solidFill>
          <a:ln w="12700">
            <a:solidFill>
              <a:srgbClr val="1E88E5">
                <a:alpha val="90000"/>
              </a:srgbClr>
            </a:solidFill>
            <a:prstDash val="solid"/>
          </a:ln>
        </p:spPr>
        <p:txBody>
          <a:bodyPr/>
          <a:lstStyle/>
          <a:p>
            <a:endParaRPr lang="es-ES"/>
          </a:p>
        </p:txBody>
      </p:sp>
      <p:sp>
        <p:nvSpPr>
          <p:cNvPr id="12" name="Text 10"/>
          <p:cNvSpPr/>
          <p:nvPr/>
        </p:nvSpPr>
        <p:spPr>
          <a:xfrm>
            <a:off x="4956048" y="1160886"/>
            <a:ext cx="566928" cy="219456"/>
          </a:xfrm>
          <a:prstGeom prst="rect">
            <a:avLst/>
          </a:prstGeom>
          <a:noFill/>
          <a:ln/>
        </p:spPr>
        <p:txBody>
          <a:bodyPr wrap="square" lIns="0" tIns="0" rIns="0" bIns="0" rtlCol="0" anchor="ctr"/>
          <a:lstStyle/>
          <a:p>
            <a:pPr marL="0" indent="0" algn="ctr">
              <a:buNone/>
            </a:pPr>
            <a:r>
              <a:rPr lang="en-US" sz="800" b="1" dirty="0">
                <a:solidFill>
                  <a:srgbClr val="FFFFFF"/>
                </a:solidFill>
              </a:rPr>
              <a:t>Q1.10</a:t>
            </a:r>
            <a:endParaRPr lang="en-US" sz="800" dirty="0"/>
          </a:p>
        </p:txBody>
      </p:sp>
      <p:sp>
        <p:nvSpPr>
          <p:cNvPr id="13" name="Text 11"/>
          <p:cNvSpPr/>
          <p:nvPr/>
        </p:nvSpPr>
        <p:spPr>
          <a:xfrm>
            <a:off x="5623560" y="1160886"/>
            <a:ext cx="3291840" cy="256032"/>
          </a:xfrm>
          <a:prstGeom prst="rect">
            <a:avLst/>
          </a:prstGeom>
          <a:noFill/>
          <a:ln/>
        </p:spPr>
        <p:txBody>
          <a:bodyPr wrap="square" lIns="0" tIns="0" rIns="0" bIns="0" rtlCol="0" anchor="ctr"/>
          <a:lstStyle/>
          <a:p>
            <a:pPr marL="0" indent="0">
              <a:buNone/>
            </a:pPr>
            <a:r>
              <a:rPr lang="en-US" sz="1250" b="1" dirty="0">
                <a:solidFill>
                  <a:srgbClr val="1A2332"/>
                </a:solidFill>
              </a:rPr>
              <a:t>Tuesday = Most Expensive Day</a:t>
            </a:r>
            <a:endParaRPr lang="en-US" sz="1250" dirty="0"/>
          </a:p>
        </p:txBody>
      </p:sp>
      <p:sp>
        <p:nvSpPr>
          <p:cNvPr id="14" name="Text 12"/>
          <p:cNvSpPr/>
          <p:nvPr/>
        </p:nvSpPr>
        <p:spPr>
          <a:xfrm>
            <a:off x="4983480" y="1508358"/>
            <a:ext cx="3931920" cy="804672"/>
          </a:xfrm>
          <a:prstGeom prst="rect">
            <a:avLst/>
          </a:prstGeom>
          <a:noFill/>
          <a:ln/>
        </p:spPr>
        <p:txBody>
          <a:bodyPr wrap="square" lIns="0" tIns="0" rIns="0" bIns="0" rtlCol="0" anchor="ctr"/>
          <a:lstStyle/>
          <a:p>
            <a:pPr marL="0" indent="0">
              <a:buNone/>
            </a:pPr>
            <a:r>
              <a:rPr lang="en-US" sz="1100" dirty="0">
                <a:solidFill>
                  <a:srgbClr val="455A64"/>
                </a:solidFill>
              </a:rPr>
              <a:t>Avg fee rate: Tuesday 24.07 sat/vByte · Sunday 14.57 · Saturday 15.17. Institutional settlement concentrated on business days creates a 30–40% weekend fee discount. Volume peaks Saturday (102,654 txs) and Monday (102,221).</a:t>
            </a:r>
            <a:endParaRPr lang="en-US" sz="1100" dirty="0"/>
          </a:p>
        </p:txBody>
      </p:sp>
      <p:sp>
        <p:nvSpPr>
          <p:cNvPr id="15" name="Shape 13"/>
          <p:cNvSpPr/>
          <p:nvPr/>
        </p:nvSpPr>
        <p:spPr>
          <a:xfrm>
            <a:off x="457200" y="2460640"/>
            <a:ext cx="4206240" cy="1325880"/>
          </a:xfrm>
          <a:prstGeom prst="roundRect">
            <a:avLst>
              <a:gd name="adj" fmla="val 6897"/>
            </a:avLst>
          </a:prstGeom>
          <a:solidFill>
            <a:srgbClr val="FFFFFF"/>
          </a:solidFill>
          <a:ln/>
          <a:effectLst>
            <a:outerShdw blurRad="101600" dist="25400" dir="8100000" algn="bl" rotWithShape="0">
              <a:srgbClr val="000000">
                <a:alpha val="10000"/>
              </a:srgbClr>
            </a:outerShdw>
          </a:effectLst>
        </p:spPr>
        <p:txBody>
          <a:bodyPr/>
          <a:lstStyle/>
          <a:p>
            <a:endParaRPr lang="es-ES"/>
          </a:p>
        </p:txBody>
      </p:sp>
      <p:sp>
        <p:nvSpPr>
          <p:cNvPr id="16" name="Shape 14"/>
          <p:cNvSpPr/>
          <p:nvPr/>
        </p:nvSpPr>
        <p:spPr>
          <a:xfrm>
            <a:off x="566928" y="2552080"/>
            <a:ext cx="566928" cy="219456"/>
          </a:xfrm>
          <a:prstGeom prst="roundRect">
            <a:avLst>
              <a:gd name="adj" fmla="val 16667"/>
            </a:avLst>
          </a:prstGeom>
          <a:solidFill>
            <a:srgbClr val="26C6A2">
              <a:alpha val="90000"/>
            </a:srgbClr>
          </a:solidFill>
          <a:ln w="12700">
            <a:solidFill>
              <a:srgbClr val="26C6A2">
                <a:alpha val="90000"/>
              </a:srgbClr>
            </a:solidFill>
            <a:prstDash val="solid"/>
          </a:ln>
        </p:spPr>
        <p:txBody>
          <a:bodyPr/>
          <a:lstStyle/>
          <a:p>
            <a:endParaRPr lang="es-ES"/>
          </a:p>
        </p:txBody>
      </p:sp>
      <p:sp>
        <p:nvSpPr>
          <p:cNvPr id="17" name="Text 15"/>
          <p:cNvSpPr/>
          <p:nvPr/>
        </p:nvSpPr>
        <p:spPr>
          <a:xfrm>
            <a:off x="566928" y="2552080"/>
            <a:ext cx="566928" cy="219456"/>
          </a:xfrm>
          <a:prstGeom prst="rect">
            <a:avLst/>
          </a:prstGeom>
          <a:noFill/>
          <a:ln/>
        </p:spPr>
        <p:txBody>
          <a:bodyPr wrap="square" lIns="0" tIns="0" rIns="0" bIns="0" rtlCol="0" anchor="ctr"/>
          <a:lstStyle/>
          <a:p>
            <a:pPr marL="0" indent="0" algn="ctr">
              <a:buNone/>
            </a:pPr>
            <a:r>
              <a:rPr lang="en-US" sz="800" b="1" dirty="0">
                <a:solidFill>
                  <a:srgbClr val="FFFFFF"/>
                </a:solidFill>
              </a:rPr>
              <a:t>Q1.1</a:t>
            </a:r>
            <a:endParaRPr lang="en-US" sz="800" dirty="0"/>
          </a:p>
        </p:txBody>
      </p:sp>
      <p:sp>
        <p:nvSpPr>
          <p:cNvPr id="18" name="Text 16"/>
          <p:cNvSpPr/>
          <p:nvPr/>
        </p:nvSpPr>
        <p:spPr>
          <a:xfrm>
            <a:off x="1234440" y="2552080"/>
            <a:ext cx="3291840" cy="256032"/>
          </a:xfrm>
          <a:prstGeom prst="rect">
            <a:avLst/>
          </a:prstGeom>
          <a:noFill/>
          <a:ln/>
        </p:spPr>
        <p:txBody>
          <a:bodyPr wrap="square" lIns="0" tIns="0" rIns="0" bIns="0" rtlCol="0" anchor="ctr"/>
          <a:lstStyle/>
          <a:p>
            <a:pPr marL="0" indent="0">
              <a:buNone/>
            </a:pPr>
            <a:r>
              <a:rPr lang="en-US" sz="1250" b="1" dirty="0">
                <a:solidFill>
                  <a:srgbClr val="1A2332"/>
                </a:solidFill>
              </a:rPr>
              <a:t>SegWit Already Won</a:t>
            </a:r>
            <a:endParaRPr lang="en-US" sz="1250" dirty="0"/>
          </a:p>
        </p:txBody>
      </p:sp>
      <p:sp>
        <p:nvSpPr>
          <p:cNvPr id="19" name="Text 17"/>
          <p:cNvSpPr/>
          <p:nvPr/>
        </p:nvSpPr>
        <p:spPr>
          <a:xfrm>
            <a:off x="594360" y="2899552"/>
            <a:ext cx="3931920" cy="804672"/>
          </a:xfrm>
          <a:prstGeom prst="rect">
            <a:avLst/>
          </a:prstGeom>
          <a:noFill/>
          <a:ln/>
        </p:spPr>
        <p:txBody>
          <a:bodyPr wrap="square" lIns="0" tIns="0" rIns="0" bIns="0" rtlCol="0" anchor="ctr"/>
          <a:lstStyle/>
          <a:p>
            <a:pPr marL="0" indent="0">
              <a:buNone/>
            </a:pPr>
            <a:r>
              <a:rPr lang="en-US" sz="1100" dirty="0">
                <a:solidFill>
                  <a:srgbClr val="455A64"/>
                </a:solidFill>
              </a:rPr>
              <a:t>89.62% of 651,368 non-coinbase transactions in Q2 2026 are SegWit-native. P2PKH (legacy) is now the minority segment with 67,883 txs. Full S-curve trajectory not yet visible (only Era 5 loaded).</a:t>
            </a:r>
            <a:endParaRPr lang="en-US" sz="1100" dirty="0"/>
          </a:p>
        </p:txBody>
      </p:sp>
      <p:sp>
        <p:nvSpPr>
          <p:cNvPr id="20" name="Shape 18"/>
          <p:cNvSpPr/>
          <p:nvPr/>
        </p:nvSpPr>
        <p:spPr>
          <a:xfrm>
            <a:off x="4846320" y="2460640"/>
            <a:ext cx="4206240" cy="1325880"/>
          </a:xfrm>
          <a:prstGeom prst="roundRect">
            <a:avLst>
              <a:gd name="adj" fmla="val 6897"/>
            </a:avLst>
          </a:prstGeom>
          <a:solidFill>
            <a:srgbClr val="FFFFFF"/>
          </a:solidFill>
          <a:ln/>
          <a:effectLst>
            <a:outerShdw blurRad="101600" dist="25400" dir="8100000" algn="bl" rotWithShape="0">
              <a:srgbClr val="000000">
                <a:alpha val="10000"/>
              </a:srgbClr>
            </a:outerShdw>
          </a:effectLst>
        </p:spPr>
        <p:txBody>
          <a:bodyPr/>
          <a:lstStyle/>
          <a:p>
            <a:endParaRPr lang="es-ES"/>
          </a:p>
        </p:txBody>
      </p:sp>
      <p:sp>
        <p:nvSpPr>
          <p:cNvPr id="21" name="Shape 19"/>
          <p:cNvSpPr/>
          <p:nvPr/>
        </p:nvSpPr>
        <p:spPr>
          <a:xfrm>
            <a:off x="4956048" y="2552080"/>
            <a:ext cx="566928" cy="219456"/>
          </a:xfrm>
          <a:prstGeom prst="roundRect">
            <a:avLst>
              <a:gd name="adj" fmla="val 16667"/>
            </a:avLst>
          </a:prstGeom>
          <a:solidFill>
            <a:srgbClr val="AB47BC">
              <a:alpha val="90000"/>
            </a:srgbClr>
          </a:solidFill>
          <a:ln w="12700">
            <a:solidFill>
              <a:srgbClr val="AB47BC">
                <a:alpha val="90000"/>
              </a:srgbClr>
            </a:solidFill>
            <a:prstDash val="solid"/>
          </a:ln>
        </p:spPr>
        <p:txBody>
          <a:bodyPr/>
          <a:lstStyle/>
          <a:p>
            <a:endParaRPr lang="es-ES"/>
          </a:p>
        </p:txBody>
      </p:sp>
      <p:sp>
        <p:nvSpPr>
          <p:cNvPr id="22" name="Text 20"/>
          <p:cNvSpPr/>
          <p:nvPr/>
        </p:nvSpPr>
        <p:spPr>
          <a:xfrm>
            <a:off x="4956048" y="2552080"/>
            <a:ext cx="566928" cy="219456"/>
          </a:xfrm>
          <a:prstGeom prst="rect">
            <a:avLst/>
          </a:prstGeom>
          <a:noFill/>
          <a:ln/>
        </p:spPr>
        <p:txBody>
          <a:bodyPr wrap="square" lIns="0" tIns="0" rIns="0" bIns="0" rtlCol="0" anchor="ctr"/>
          <a:lstStyle/>
          <a:p>
            <a:pPr marL="0" indent="0" algn="ctr">
              <a:buNone/>
            </a:pPr>
            <a:r>
              <a:rPr lang="en-US" sz="800" b="1" dirty="0">
                <a:solidFill>
                  <a:srgbClr val="FFFFFF"/>
                </a:solidFill>
              </a:rPr>
              <a:t>Q1.2</a:t>
            </a:r>
            <a:endParaRPr lang="en-US" sz="800" dirty="0"/>
          </a:p>
        </p:txBody>
      </p:sp>
      <p:sp>
        <p:nvSpPr>
          <p:cNvPr id="23" name="Text 21"/>
          <p:cNvSpPr/>
          <p:nvPr/>
        </p:nvSpPr>
        <p:spPr>
          <a:xfrm>
            <a:off x="5623560" y="2552080"/>
            <a:ext cx="3291840" cy="256032"/>
          </a:xfrm>
          <a:prstGeom prst="rect">
            <a:avLst/>
          </a:prstGeom>
          <a:noFill/>
          <a:ln/>
        </p:spPr>
        <p:txBody>
          <a:bodyPr wrap="square" lIns="0" tIns="0" rIns="0" bIns="0" rtlCol="0" anchor="ctr"/>
          <a:lstStyle/>
          <a:p>
            <a:pPr marL="0" indent="0">
              <a:buNone/>
            </a:pPr>
            <a:r>
              <a:rPr lang="en-US" sz="1250" b="1" dirty="0">
                <a:solidFill>
                  <a:srgbClr val="1A2332"/>
                </a:solidFill>
              </a:rPr>
              <a:t>Fewer Txs = Efficient Fee Absorption</a:t>
            </a:r>
            <a:endParaRPr lang="en-US" sz="1250" dirty="0"/>
          </a:p>
        </p:txBody>
      </p:sp>
      <p:sp>
        <p:nvSpPr>
          <p:cNvPr id="24" name="Text 22"/>
          <p:cNvSpPr/>
          <p:nvPr/>
        </p:nvSpPr>
        <p:spPr>
          <a:xfrm>
            <a:off x="4983480" y="2899552"/>
            <a:ext cx="3931920" cy="804672"/>
          </a:xfrm>
          <a:prstGeom prst="rect">
            <a:avLst/>
          </a:prstGeom>
          <a:noFill/>
          <a:ln/>
        </p:spPr>
        <p:txBody>
          <a:bodyPr wrap="square" lIns="0" tIns="0" rIns="0" bIns="0" rtlCol="0" anchor="ctr"/>
          <a:lstStyle/>
          <a:p>
            <a:pPr marL="0" indent="0">
              <a:buNone/>
            </a:pPr>
            <a:r>
              <a:rPr lang="en-US" sz="1100" dirty="0">
                <a:solidFill>
                  <a:srgbClr val="455A64"/>
                </a:solidFill>
              </a:rPr>
              <a:t>May 2026: 10.55% avg fee burden. June 2026: fee rate rose to 18.97 sat/vByte but fee burden fell to 6.14%. Fewer but higher-value txs in June absorbed fees more efficiently. IO Value Ratio ≈ 1.05–1.10 both months.</a:t>
            </a:r>
            <a:endParaRPr lang="en-US" sz="1100" dirty="0"/>
          </a:p>
        </p:txBody>
      </p:sp>
      <p:sp>
        <p:nvSpPr>
          <p:cNvPr id="25" name="Shape 23"/>
          <p:cNvSpPr/>
          <p:nvPr/>
        </p:nvSpPr>
        <p:spPr>
          <a:xfrm>
            <a:off x="2286000" y="3941968"/>
            <a:ext cx="4572000" cy="1102305"/>
          </a:xfrm>
          <a:prstGeom prst="roundRect">
            <a:avLst>
              <a:gd name="adj" fmla="val 6897"/>
            </a:avLst>
          </a:prstGeom>
          <a:solidFill>
            <a:srgbClr val="FFFFFF"/>
          </a:solidFill>
          <a:ln/>
          <a:effectLst>
            <a:outerShdw blurRad="101600" dist="25400" dir="8100000" algn="bl" rotWithShape="0">
              <a:srgbClr val="000000">
                <a:alpha val="10000"/>
              </a:srgbClr>
            </a:outerShdw>
          </a:effectLst>
        </p:spPr>
        <p:txBody>
          <a:bodyPr/>
          <a:lstStyle/>
          <a:p>
            <a:endParaRPr lang="es-ES"/>
          </a:p>
        </p:txBody>
      </p:sp>
      <p:sp>
        <p:nvSpPr>
          <p:cNvPr id="26" name="Shape 24"/>
          <p:cNvSpPr/>
          <p:nvPr/>
        </p:nvSpPr>
        <p:spPr>
          <a:xfrm>
            <a:off x="2395728" y="4033408"/>
            <a:ext cx="566928" cy="219456"/>
          </a:xfrm>
          <a:prstGeom prst="roundRect">
            <a:avLst>
              <a:gd name="adj" fmla="val 16667"/>
            </a:avLst>
          </a:prstGeom>
          <a:solidFill>
            <a:srgbClr val="FDD835">
              <a:alpha val="90000"/>
            </a:srgbClr>
          </a:solidFill>
          <a:ln w="12700">
            <a:solidFill>
              <a:srgbClr val="FDD835">
                <a:alpha val="90000"/>
              </a:srgbClr>
            </a:solidFill>
            <a:prstDash val="solid"/>
          </a:ln>
        </p:spPr>
        <p:txBody>
          <a:bodyPr/>
          <a:lstStyle/>
          <a:p>
            <a:endParaRPr lang="es-ES"/>
          </a:p>
        </p:txBody>
      </p:sp>
      <p:sp>
        <p:nvSpPr>
          <p:cNvPr id="27" name="Text 25"/>
          <p:cNvSpPr/>
          <p:nvPr/>
        </p:nvSpPr>
        <p:spPr>
          <a:xfrm>
            <a:off x="2395728" y="4033408"/>
            <a:ext cx="566928" cy="219456"/>
          </a:xfrm>
          <a:prstGeom prst="rect">
            <a:avLst/>
          </a:prstGeom>
          <a:noFill/>
          <a:ln/>
        </p:spPr>
        <p:txBody>
          <a:bodyPr wrap="square" lIns="0" tIns="0" rIns="0" bIns="0" rtlCol="0" anchor="ctr"/>
          <a:lstStyle/>
          <a:p>
            <a:pPr marL="0" indent="0" algn="ctr">
              <a:buNone/>
            </a:pPr>
            <a:r>
              <a:rPr lang="en-US" sz="800" b="1" dirty="0">
                <a:solidFill>
                  <a:srgbClr val="FFFFFF"/>
                </a:solidFill>
              </a:rPr>
              <a:t>Q1.7</a:t>
            </a:r>
            <a:endParaRPr lang="en-US" sz="800" dirty="0"/>
          </a:p>
        </p:txBody>
      </p:sp>
      <p:sp>
        <p:nvSpPr>
          <p:cNvPr id="28" name="Text 26"/>
          <p:cNvSpPr/>
          <p:nvPr/>
        </p:nvSpPr>
        <p:spPr>
          <a:xfrm>
            <a:off x="3063240" y="4033408"/>
            <a:ext cx="3657600" cy="256032"/>
          </a:xfrm>
          <a:prstGeom prst="rect">
            <a:avLst/>
          </a:prstGeom>
          <a:noFill/>
          <a:ln/>
        </p:spPr>
        <p:txBody>
          <a:bodyPr wrap="square" lIns="0" tIns="0" rIns="0" bIns="0" rtlCol="0" anchor="ctr"/>
          <a:lstStyle/>
          <a:p>
            <a:pPr marL="0" indent="0">
              <a:buNone/>
            </a:pPr>
            <a:r>
              <a:rPr lang="en-US" sz="1250" b="1" dirty="0">
                <a:solidFill>
                  <a:srgbClr val="1A2332"/>
                </a:solidFill>
              </a:rPr>
              <a:t>Coinbase Share is Minimal in Era 5</a:t>
            </a:r>
            <a:endParaRPr lang="en-US" sz="1250" dirty="0"/>
          </a:p>
        </p:txBody>
      </p:sp>
      <p:sp>
        <p:nvSpPr>
          <p:cNvPr id="29" name="Text 27"/>
          <p:cNvSpPr/>
          <p:nvPr/>
        </p:nvSpPr>
        <p:spPr>
          <a:xfrm>
            <a:off x="2514600" y="4214481"/>
            <a:ext cx="4297680" cy="804672"/>
          </a:xfrm>
          <a:prstGeom prst="rect">
            <a:avLst/>
          </a:prstGeom>
          <a:noFill/>
          <a:ln/>
        </p:spPr>
        <p:txBody>
          <a:bodyPr wrap="square" lIns="0" tIns="0" rIns="0" bIns="0" rtlCol="0" anchor="ctr"/>
          <a:lstStyle/>
          <a:p>
            <a:pPr marL="0" indent="0">
              <a:buNone/>
            </a:pPr>
            <a:r>
              <a:rPr lang="en-US" sz="1100" dirty="0">
                <a:solidFill>
                  <a:srgbClr val="455A64"/>
                </a:solidFill>
              </a:rPr>
              <a:t>6,600 coinbase txs out of 657,968 total (1.00% by count). Output value: coinbase = 20,769 BTC vs standard = 5.12M BTC (0.40% share). Confirms block subsidy is now economically marginal - fee revenue is the emerging security model.</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57200" y="256032"/>
            <a:ext cx="2948940" cy="256032"/>
          </a:xfrm>
          <a:prstGeom prst="roundRect">
            <a:avLst>
              <a:gd name="adj" fmla="val 14286"/>
            </a:avLst>
          </a:prstGeom>
          <a:solidFill>
            <a:srgbClr val="F7931A"/>
          </a:solidFill>
          <a:ln w="12700">
            <a:solidFill>
              <a:srgbClr val="F7931A"/>
            </a:solidFill>
            <a:prstDash val="solid"/>
          </a:ln>
        </p:spPr>
        <p:txBody>
          <a:bodyPr/>
          <a:lstStyle/>
          <a:p>
            <a:endParaRPr lang="es-ES"/>
          </a:p>
        </p:txBody>
      </p:sp>
      <p:sp>
        <p:nvSpPr>
          <p:cNvPr id="3" name="Text 1"/>
          <p:cNvSpPr/>
          <p:nvPr/>
        </p:nvSpPr>
        <p:spPr>
          <a:xfrm>
            <a:off x="457200" y="256032"/>
            <a:ext cx="2948940" cy="256032"/>
          </a:xfrm>
          <a:prstGeom prst="rect">
            <a:avLst/>
          </a:prstGeom>
          <a:noFill/>
          <a:ln/>
        </p:spPr>
        <p:txBody>
          <a:bodyPr wrap="square" lIns="0" tIns="0" rIns="0" bIns="0" rtlCol="0" anchor="ctr"/>
          <a:lstStyle/>
          <a:p>
            <a:pPr marL="0" indent="0" algn="ctr">
              <a:buNone/>
            </a:pPr>
            <a:r>
              <a:rPr lang="en-US" sz="1100" b="1" dirty="0">
                <a:solidFill>
                  <a:srgbClr val="FFFFFF"/>
                </a:solidFill>
              </a:rPr>
              <a:t>07 · MANAGEMENT DASHBOARD</a:t>
            </a:r>
            <a:endParaRPr lang="en-US" sz="1100" dirty="0"/>
          </a:p>
        </p:txBody>
      </p:sp>
      <p:sp>
        <p:nvSpPr>
          <p:cNvPr id="4" name="Text 2"/>
          <p:cNvSpPr/>
          <p:nvPr/>
        </p:nvSpPr>
        <p:spPr>
          <a:xfrm>
            <a:off x="457200" y="566928"/>
            <a:ext cx="8229600" cy="502920"/>
          </a:xfrm>
          <a:prstGeom prst="rect">
            <a:avLst/>
          </a:prstGeom>
          <a:noFill/>
          <a:ln/>
        </p:spPr>
        <p:txBody>
          <a:bodyPr wrap="square" lIns="0" tIns="0" rIns="0" bIns="0" rtlCol="0" anchor="ctr"/>
          <a:lstStyle/>
          <a:p>
            <a:pPr marL="0" indent="0">
              <a:buNone/>
            </a:pPr>
            <a:r>
              <a:rPr lang="en-US" sz="2600" b="1" dirty="0">
                <a:solidFill>
                  <a:srgbClr val="FFFFFF"/>
                </a:solidFill>
              </a:rPr>
              <a:t>Power BI Dashboard - Live SSAS Connection</a:t>
            </a:r>
            <a:endParaRPr lang="en-US" sz="2600" dirty="0"/>
          </a:p>
        </p:txBody>
      </p:sp>
      <p:sp>
        <p:nvSpPr>
          <p:cNvPr id="5" name="Shape 3"/>
          <p:cNvSpPr/>
          <p:nvPr/>
        </p:nvSpPr>
        <p:spPr>
          <a:xfrm>
            <a:off x="457200" y="1207008"/>
            <a:ext cx="2697480" cy="1234440"/>
          </a:xfrm>
          <a:prstGeom prst="roundRect">
            <a:avLst>
              <a:gd name="adj" fmla="val 7407"/>
            </a:avLst>
          </a:prstGeom>
          <a:solidFill>
            <a:srgbClr val="1C2B3A"/>
          </a:solidFill>
          <a:ln/>
          <a:effectLst>
            <a:outerShdw blurRad="127000" dist="38100" dir="8100000" algn="bl" rotWithShape="0">
              <a:srgbClr val="000000">
                <a:alpha val="30000"/>
              </a:srgbClr>
            </a:outerShdw>
          </a:effectLst>
        </p:spPr>
        <p:txBody>
          <a:bodyPr/>
          <a:lstStyle/>
          <a:p>
            <a:endParaRPr lang="es-ES"/>
          </a:p>
        </p:txBody>
      </p:sp>
      <p:sp>
        <p:nvSpPr>
          <p:cNvPr id="6" name="Shape 4"/>
          <p:cNvSpPr/>
          <p:nvPr/>
        </p:nvSpPr>
        <p:spPr>
          <a:xfrm>
            <a:off x="566928" y="1280160"/>
            <a:ext cx="475488" cy="475488"/>
          </a:xfrm>
          <a:prstGeom prst="ellipse">
            <a:avLst/>
          </a:prstGeom>
          <a:solidFill>
            <a:srgbClr val="F7931A"/>
          </a:solidFill>
          <a:ln w="12700">
            <a:solidFill>
              <a:srgbClr val="F7931A"/>
            </a:solidFill>
            <a:prstDash val="solid"/>
          </a:ln>
        </p:spPr>
        <p:txBody>
          <a:bodyPr/>
          <a:lstStyle/>
          <a:p>
            <a:endParaRPr lang="es-ES"/>
          </a:p>
        </p:txBody>
      </p:sp>
      <p:sp>
        <p:nvSpPr>
          <p:cNvPr id="7" name="Text 5"/>
          <p:cNvSpPr/>
          <p:nvPr/>
        </p:nvSpPr>
        <p:spPr>
          <a:xfrm>
            <a:off x="566928" y="128016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rPr>
              <a:t>01</a:t>
            </a:r>
            <a:endParaRPr lang="en-US" sz="1400" dirty="0"/>
          </a:p>
        </p:txBody>
      </p:sp>
      <p:sp>
        <p:nvSpPr>
          <p:cNvPr id="8" name="Text 6"/>
          <p:cNvSpPr/>
          <p:nvPr/>
        </p:nvSpPr>
        <p:spPr>
          <a:xfrm>
            <a:off x="1143000" y="1280160"/>
            <a:ext cx="1892808" cy="292608"/>
          </a:xfrm>
          <a:prstGeom prst="rect">
            <a:avLst/>
          </a:prstGeom>
          <a:noFill/>
          <a:ln/>
        </p:spPr>
        <p:txBody>
          <a:bodyPr wrap="square" lIns="0" tIns="0" rIns="0" bIns="0" rtlCol="0" anchor="ctr"/>
          <a:lstStyle/>
          <a:p>
            <a:pPr marL="0" indent="0">
              <a:buNone/>
            </a:pPr>
            <a:r>
              <a:rPr lang="en-US" sz="1200" b="1" dirty="0">
                <a:solidFill>
                  <a:srgbClr val="FFFFFF"/>
                </a:solidFill>
              </a:rPr>
              <a:t>Strategic Anchor</a:t>
            </a:r>
            <a:endParaRPr lang="en-US" sz="1200" dirty="0"/>
          </a:p>
        </p:txBody>
      </p:sp>
      <p:sp>
        <p:nvSpPr>
          <p:cNvPr id="9" name="Text 7"/>
          <p:cNvSpPr/>
          <p:nvPr/>
        </p:nvSpPr>
        <p:spPr>
          <a:xfrm>
            <a:off x="594360" y="1753387"/>
            <a:ext cx="2423160" cy="640080"/>
          </a:xfrm>
          <a:prstGeom prst="rect">
            <a:avLst/>
          </a:prstGeom>
          <a:noFill/>
          <a:ln/>
        </p:spPr>
        <p:txBody>
          <a:bodyPr wrap="square" lIns="0" tIns="0" rIns="0" bIns="0" rtlCol="0" anchor="ctr"/>
          <a:lstStyle/>
          <a:p>
            <a:pPr marL="0" indent="0">
              <a:buNone/>
            </a:pPr>
            <a:r>
              <a:rPr lang="en-US" sz="1050" dirty="0">
                <a:solidFill>
                  <a:srgbClr val="B0BEC5"/>
                </a:solidFill>
              </a:rPr>
              <a:t>Network Fee Sustainability KPI Card</a:t>
            </a:r>
            <a:endParaRPr lang="en-US" sz="1050" dirty="0"/>
          </a:p>
          <a:p>
            <a:pPr marL="0" indent="0">
              <a:buNone/>
            </a:pPr>
            <a:r>
              <a:rPr lang="en-US" sz="1050" dirty="0">
                <a:solidFill>
                  <a:srgbClr val="B0BEC5"/>
                </a:solidFill>
              </a:rPr>
              <a:t>(traffic-light: Red/Yellow/Green)</a:t>
            </a:r>
            <a:endParaRPr lang="en-US" sz="1050" dirty="0"/>
          </a:p>
        </p:txBody>
      </p:sp>
      <p:sp>
        <p:nvSpPr>
          <p:cNvPr id="10" name="Shape 8"/>
          <p:cNvSpPr/>
          <p:nvPr/>
        </p:nvSpPr>
        <p:spPr>
          <a:xfrm>
            <a:off x="3337560" y="1207008"/>
            <a:ext cx="2697480" cy="1234440"/>
          </a:xfrm>
          <a:prstGeom prst="roundRect">
            <a:avLst>
              <a:gd name="adj" fmla="val 7407"/>
            </a:avLst>
          </a:prstGeom>
          <a:solidFill>
            <a:srgbClr val="1C2B3A"/>
          </a:solidFill>
          <a:ln/>
          <a:effectLst>
            <a:outerShdw blurRad="127000" dist="38100" dir="8100000" algn="bl" rotWithShape="0">
              <a:srgbClr val="000000">
                <a:alpha val="30000"/>
              </a:srgbClr>
            </a:outerShdw>
          </a:effectLst>
        </p:spPr>
        <p:txBody>
          <a:bodyPr/>
          <a:lstStyle/>
          <a:p>
            <a:endParaRPr lang="es-ES"/>
          </a:p>
        </p:txBody>
      </p:sp>
      <p:sp>
        <p:nvSpPr>
          <p:cNvPr id="11" name="Shape 9"/>
          <p:cNvSpPr/>
          <p:nvPr/>
        </p:nvSpPr>
        <p:spPr>
          <a:xfrm>
            <a:off x="3447288" y="1280160"/>
            <a:ext cx="475488" cy="475488"/>
          </a:xfrm>
          <a:prstGeom prst="ellipse">
            <a:avLst/>
          </a:prstGeom>
          <a:solidFill>
            <a:srgbClr val="1E88E5"/>
          </a:solidFill>
          <a:ln w="12700">
            <a:solidFill>
              <a:srgbClr val="1E88E5"/>
            </a:solidFill>
            <a:prstDash val="solid"/>
          </a:ln>
        </p:spPr>
        <p:txBody>
          <a:bodyPr/>
          <a:lstStyle/>
          <a:p>
            <a:endParaRPr lang="es-ES"/>
          </a:p>
        </p:txBody>
      </p:sp>
      <p:sp>
        <p:nvSpPr>
          <p:cNvPr id="12" name="Text 10"/>
          <p:cNvSpPr/>
          <p:nvPr/>
        </p:nvSpPr>
        <p:spPr>
          <a:xfrm>
            <a:off x="3447288" y="128016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rPr>
              <a:t>02</a:t>
            </a:r>
            <a:endParaRPr lang="en-US" sz="1400" dirty="0"/>
          </a:p>
        </p:txBody>
      </p:sp>
      <p:sp>
        <p:nvSpPr>
          <p:cNvPr id="13" name="Text 11"/>
          <p:cNvSpPr/>
          <p:nvPr/>
        </p:nvSpPr>
        <p:spPr>
          <a:xfrm>
            <a:off x="4023360" y="1280160"/>
            <a:ext cx="1892808" cy="292608"/>
          </a:xfrm>
          <a:prstGeom prst="rect">
            <a:avLst/>
          </a:prstGeom>
          <a:noFill/>
          <a:ln/>
        </p:spPr>
        <p:txBody>
          <a:bodyPr wrap="square" lIns="0" tIns="0" rIns="0" bIns="0" rtlCol="0" anchor="ctr"/>
          <a:lstStyle/>
          <a:p>
            <a:pPr marL="0" indent="0">
              <a:buNone/>
            </a:pPr>
            <a:r>
              <a:rPr lang="en-US" sz="1200" b="1" dirty="0">
                <a:solidFill>
                  <a:srgbClr val="FFFFFF"/>
                </a:solidFill>
              </a:rPr>
              <a:t>Historical Evidence</a:t>
            </a:r>
            <a:endParaRPr lang="en-US" sz="1200" dirty="0"/>
          </a:p>
        </p:txBody>
      </p:sp>
      <p:sp>
        <p:nvSpPr>
          <p:cNvPr id="14" name="Text 12"/>
          <p:cNvSpPr/>
          <p:nvPr/>
        </p:nvSpPr>
        <p:spPr>
          <a:xfrm>
            <a:off x="3474720" y="1753387"/>
            <a:ext cx="2423160" cy="640080"/>
          </a:xfrm>
          <a:prstGeom prst="rect">
            <a:avLst/>
          </a:prstGeom>
          <a:noFill/>
          <a:ln/>
        </p:spPr>
        <p:txBody>
          <a:bodyPr wrap="square" lIns="0" tIns="0" rIns="0" bIns="0" rtlCol="0" anchor="ctr"/>
          <a:lstStyle/>
          <a:p>
            <a:pPr marL="0" indent="0">
              <a:buNone/>
            </a:pPr>
            <a:r>
              <a:rPr lang="en-US" sz="1050" dirty="0">
                <a:solidFill>
                  <a:srgbClr val="B0BEC5"/>
                </a:solidFill>
              </a:rPr>
              <a:t>Settlement vol + Fee rate over time</a:t>
            </a:r>
            <a:endParaRPr lang="en-US" sz="1050" dirty="0"/>
          </a:p>
          <a:p>
            <a:pPr marL="0" indent="0">
              <a:buNone/>
            </a:pPr>
            <a:r>
              <a:rPr lang="en-US" sz="1050" dirty="0">
                <a:solidFill>
                  <a:srgbClr val="B0BEC5"/>
                </a:solidFill>
              </a:rPr>
              <a:t>SegWit adoption trajectory (100% stacked bar)</a:t>
            </a:r>
            <a:endParaRPr lang="en-US" sz="1050" dirty="0"/>
          </a:p>
        </p:txBody>
      </p:sp>
      <p:sp>
        <p:nvSpPr>
          <p:cNvPr id="15" name="Shape 13"/>
          <p:cNvSpPr/>
          <p:nvPr/>
        </p:nvSpPr>
        <p:spPr>
          <a:xfrm>
            <a:off x="6217920" y="1207008"/>
            <a:ext cx="2697480" cy="1234440"/>
          </a:xfrm>
          <a:prstGeom prst="roundRect">
            <a:avLst>
              <a:gd name="adj" fmla="val 7407"/>
            </a:avLst>
          </a:prstGeom>
          <a:solidFill>
            <a:srgbClr val="1C2B3A"/>
          </a:solidFill>
          <a:ln/>
          <a:effectLst>
            <a:outerShdw blurRad="127000" dist="38100" dir="8100000" algn="bl" rotWithShape="0">
              <a:srgbClr val="000000">
                <a:alpha val="30000"/>
              </a:srgbClr>
            </a:outerShdw>
          </a:effectLst>
        </p:spPr>
        <p:txBody>
          <a:bodyPr/>
          <a:lstStyle/>
          <a:p>
            <a:endParaRPr lang="es-ES"/>
          </a:p>
        </p:txBody>
      </p:sp>
      <p:sp>
        <p:nvSpPr>
          <p:cNvPr id="16" name="Shape 14"/>
          <p:cNvSpPr/>
          <p:nvPr/>
        </p:nvSpPr>
        <p:spPr>
          <a:xfrm>
            <a:off x="6327648" y="1280160"/>
            <a:ext cx="475488" cy="475488"/>
          </a:xfrm>
          <a:prstGeom prst="ellipse">
            <a:avLst/>
          </a:prstGeom>
          <a:solidFill>
            <a:srgbClr val="26C6A2"/>
          </a:solidFill>
          <a:ln w="12700">
            <a:solidFill>
              <a:srgbClr val="26C6A2"/>
            </a:solidFill>
            <a:prstDash val="solid"/>
          </a:ln>
        </p:spPr>
        <p:txBody>
          <a:bodyPr/>
          <a:lstStyle/>
          <a:p>
            <a:endParaRPr lang="es-ES"/>
          </a:p>
        </p:txBody>
      </p:sp>
      <p:sp>
        <p:nvSpPr>
          <p:cNvPr id="17" name="Text 15"/>
          <p:cNvSpPr/>
          <p:nvPr/>
        </p:nvSpPr>
        <p:spPr>
          <a:xfrm>
            <a:off x="6327648" y="1280160"/>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rPr>
              <a:t>03</a:t>
            </a:r>
            <a:endParaRPr lang="en-US" sz="1400" dirty="0"/>
          </a:p>
        </p:txBody>
      </p:sp>
      <p:sp>
        <p:nvSpPr>
          <p:cNvPr id="18" name="Text 16"/>
          <p:cNvSpPr/>
          <p:nvPr/>
        </p:nvSpPr>
        <p:spPr>
          <a:xfrm>
            <a:off x="6903720" y="1280160"/>
            <a:ext cx="1892808" cy="292608"/>
          </a:xfrm>
          <a:prstGeom prst="rect">
            <a:avLst/>
          </a:prstGeom>
          <a:noFill/>
          <a:ln/>
        </p:spPr>
        <p:txBody>
          <a:bodyPr wrap="square" lIns="0" tIns="0" rIns="0" bIns="0" rtlCol="0" anchor="ctr"/>
          <a:lstStyle/>
          <a:p>
            <a:pPr marL="0" indent="0">
              <a:buNone/>
            </a:pPr>
            <a:r>
              <a:rPr lang="en-US" sz="1200" b="1" dirty="0">
                <a:solidFill>
                  <a:srgbClr val="FFFFFF"/>
                </a:solidFill>
              </a:rPr>
              <a:t>Structural Drivers</a:t>
            </a:r>
            <a:endParaRPr lang="en-US" sz="1200" dirty="0"/>
          </a:p>
        </p:txBody>
      </p:sp>
      <p:sp>
        <p:nvSpPr>
          <p:cNvPr id="19" name="Text 17"/>
          <p:cNvSpPr/>
          <p:nvPr/>
        </p:nvSpPr>
        <p:spPr>
          <a:xfrm>
            <a:off x="6355080" y="1753387"/>
            <a:ext cx="2423160" cy="640080"/>
          </a:xfrm>
          <a:prstGeom prst="rect">
            <a:avLst/>
          </a:prstGeom>
          <a:noFill/>
          <a:ln/>
        </p:spPr>
        <p:txBody>
          <a:bodyPr wrap="square" lIns="0" tIns="0" rIns="0" bIns="0" rtlCol="0" anchor="ctr"/>
          <a:lstStyle/>
          <a:p>
            <a:pPr marL="0" indent="0">
              <a:buNone/>
            </a:pPr>
            <a:r>
              <a:rPr lang="en-US" sz="1050" dirty="0">
                <a:solidFill>
                  <a:srgbClr val="B0BEC5"/>
                </a:solidFill>
              </a:rPr>
              <a:t>Sentiment-volume scatter · Difficulty tier bar</a:t>
            </a:r>
            <a:endParaRPr lang="en-US" sz="1050" dirty="0"/>
          </a:p>
          <a:p>
            <a:pPr marL="0" indent="0">
              <a:buNone/>
            </a:pPr>
            <a:r>
              <a:rPr lang="en-US" sz="1050" dirty="0">
                <a:solidFill>
                  <a:srgbClr val="B0BEC5"/>
                </a:solidFill>
              </a:rPr>
              <a:t>Miner revenue donut · Day-of-week heatmap</a:t>
            </a:r>
            <a:endParaRPr lang="en-US" sz="1050" dirty="0"/>
          </a:p>
        </p:txBody>
      </p:sp>
      <p:sp>
        <p:nvSpPr>
          <p:cNvPr id="20" name="Text 18"/>
          <p:cNvSpPr/>
          <p:nvPr/>
        </p:nvSpPr>
        <p:spPr>
          <a:xfrm>
            <a:off x="457200" y="2606040"/>
            <a:ext cx="8229600" cy="256032"/>
          </a:xfrm>
          <a:prstGeom prst="rect">
            <a:avLst/>
          </a:prstGeom>
          <a:noFill/>
          <a:ln/>
        </p:spPr>
        <p:txBody>
          <a:bodyPr wrap="square" lIns="0" tIns="0" rIns="0" bIns="0" rtlCol="0" anchor="ctr"/>
          <a:lstStyle/>
          <a:p>
            <a:pPr marL="0" indent="0">
              <a:buNone/>
            </a:pPr>
            <a:r>
              <a:rPr lang="en-US" sz="1200" b="1" kern="0" spc="150" dirty="0">
                <a:solidFill>
                  <a:srgbClr val="F7931A"/>
                </a:solidFill>
              </a:rPr>
              <a:t>7 DASHBOARD VISUALS</a:t>
            </a:r>
            <a:endParaRPr lang="en-US" sz="1200" dirty="0"/>
          </a:p>
        </p:txBody>
      </p:sp>
      <p:sp>
        <p:nvSpPr>
          <p:cNvPr id="21" name="Shape 19"/>
          <p:cNvSpPr/>
          <p:nvPr/>
        </p:nvSpPr>
        <p:spPr>
          <a:xfrm>
            <a:off x="457200" y="2944368"/>
            <a:ext cx="4206240" cy="402336"/>
          </a:xfrm>
          <a:prstGeom prst="roundRect">
            <a:avLst>
              <a:gd name="adj" fmla="val 13636"/>
            </a:avLst>
          </a:prstGeom>
          <a:solidFill>
            <a:srgbClr val="1C2B3A"/>
          </a:solidFill>
          <a:ln/>
          <a:effectLst>
            <a:outerShdw blurRad="50800" dist="12700" dir="8100000" algn="bl" rotWithShape="0">
              <a:srgbClr val="000000">
                <a:alpha val="18000"/>
              </a:srgbClr>
            </a:outerShdw>
          </a:effectLst>
        </p:spPr>
        <p:txBody>
          <a:bodyPr/>
          <a:lstStyle/>
          <a:p>
            <a:endParaRPr lang="es-ES"/>
          </a:p>
        </p:txBody>
      </p:sp>
      <p:sp>
        <p:nvSpPr>
          <p:cNvPr id="22" name="Shape 20"/>
          <p:cNvSpPr/>
          <p:nvPr/>
        </p:nvSpPr>
        <p:spPr>
          <a:xfrm>
            <a:off x="548640" y="3017520"/>
            <a:ext cx="237744" cy="237744"/>
          </a:xfrm>
          <a:prstGeom prst="ellipse">
            <a:avLst/>
          </a:prstGeom>
          <a:solidFill>
            <a:srgbClr val="F7931A"/>
          </a:solidFill>
          <a:ln w="12700">
            <a:solidFill>
              <a:srgbClr val="F7931A"/>
            </a:solidFill>
            <a:prstDash val="solid"/>
          </a:ln>
        </p:spPr>
        <p:txBody>
          <a:bodyPr/>
          <a:lstStyle/>
          <a:p>
            <a:endParaRPr lang="es-ES"/>
          </a:p>
        </p:txBody>
      </p:sp>
      <p:sp>
        <p:nvSpPr>
          <p:cNvPr id="23" name="Text 21"/>
          <p:cNvSpPr/>
          <p:nvPr/>
        </p:nvSpPr>
        <p:spPr>
          <a:xfrm>
            <a:off x="548640" y="3017520"/>
            <a:ext cx="237744" cy="237744"/>
          </a:xfrm>
          <a:prstGeom prst="rect">
            <a:avLst/>
          </a:prstGeom>
          <a:noFill/>
          <a:ln/>
        </p:spPr>
        <p:txBody>
          <a:bodyPr wrap="square" lIns="0" tIns="0" rIns="0" bIns="0" rtlCol="0" anchor="ctr"/>
          <a:lstStyle/>
          <a:p>
            <a:pPr marL="0" indent="0" algn="ctr">
              <a:buNone/>
            </a:pPr>
            <a:r>
              <a:rPr lang="en-US" sz="800" b="1" dirty="0">
                <a:solidFill>
                  <a:srgbClr val="FFFFFF"/>
                </a:solidFill>
              </a:rPr>
              <a:t>1</a:t>
            </a:r>
            <a:endParaRPr lang="en-US" sz="800" dirty="0"/>
          </a:p>
        </p:txBody>
      </p:sp>
      <p:sp>
        <p:nvSpPr>
          <p:cNvPr id="24" name="Text 22"/>
          <p:cNvSpPr/>
          <p:nvPr/>
        </p:nvSpPr>
        <p:spPr>
          <a:xfrm>
            <a:off x="868680" y="2999232"/>
            <a:ext cx="1371600" cy="155448"/>
          </a:xfrm>
          <a:prstGeom prst="rect">
            <a:avLst/>
          </a:prstGeom>
          <a:noFill/>
          <a:ln/>
        </p:spPr>
        <p:txBody>
          <a:bodyPr wrap="square" lIns="0" tIns="0" rIns="0" bIns="0" rtlCol="0" anchor="ctr"/>
          <a:lstStyle/>
          <a:p>
            <a:pPr marL="0" indent="0">
              <a:buNone/>
            </a:pPr>
            <a:r>
              <a:rPr lang="en-US" sz="1050" b="1" dirty="0">
                <a:solidFill>
                  <a:srgbClr val="F7931A"/>
                </a:solidFill>
              </a:rPr>
              <a:t>Card</a:t>
            </a:r>
            <a:endParaRPr lang="en-US" sz="1050" dirty="0"/>
          </a:p>
        </p:txBody>
      </p:sp>
      <p:sp>
        <p:nvSpPr>
          <p:cNvPr id="25" name="Text 23"/>
          <p:cNvSpPr/>
          <p:nvPr/>
        </p:nvSpPr>
        <p:spPr>
          <a:xfrm>
            <a:off x="868680" y="3154680"/>
            <a:ext cx="2313432" cy="155448"/>
          </a:xfrm>
          <a:prstGeom prst="rect">
            <a:avLst/>
          </a:prstGeom>
          <a:noFill/>
          <a:ln/>
        </p:spPr>
        <p:txBody>
          <a:bodyPr wrap="square" lIns="0" tIns="0" rIns="0" bIns="0" rtlCol="0" anchor="ctr"/>
          <a:lstStyle/>
          <a:p>
            <a:pPr marL="0" indent="0">
              <a:buNone/>
            </a:pPr>
            <a:r>
              <a:rPr lang="en-US" sz="800" dirty="0">
                <a:solidFill>
                  <a:srgbClr val="FFFFFF"/>
                </a:solidFill>
              </a:rPr>
              <a:t>Network Fee Sustainability Score</a:t>
            </a:r>
            <a:endParaRPr lang="en-US" sz="800" dirty="0"/>
          </a:p>
        </p:txBody>
      </p:sp>
      <p:sp>
        <p:nvSpPr>
          <p:cNvPr id="26" name="Text 24"/>
          <p:cNvSpPr/>
          <p:nvPr/>
        </p:nvSpPr>
        <p:spPr>
          <a:xfrm>
            <a:off x="2606040" y="2999232"/>
            <a:ext cx="2018995" cy="292608"/>
          </a:xfrm>
          <a:prstGeom prst="rect">
            <a:avLst/>
          </a:prstGeom>
          <a:noFill/>
          <a:ln/>
        </p:spPr>
        <p:txBody>
          <a:bodyPr wrap="square" lIns="0" tIns="0" rIns="0" bIns="0" rtlCol="0" anchor="ctr"/>
          <a:lstStyle/>
          <a:p>
            <a:pPr marL="0" indent="0">
              <a:buNone/>
            </a:pPr>
            <a:r>
              <a:rPr lang="en-US" sz="800" i="1" dirty="0">
                <a:solidFill>
                  <a:srgbClr val="B0BEC5"/>
                </a:solidFill>
              </a:rPr>
              <a:t>→ Red (0.00) - subsidy still dominant in Era 5</a:t>
            </a:r>
            <a:endParaRPr lang="en-US" sz="800" dirty="0"/>
          </a:p>
        </p:txBody>
      </p:sp>
      <p:sp>
        <p:nvSpPr>
          <p:cNvPr id="27" name="Shape 25"/>
          <p:cNvSpPr/>
          <p:nvPr/>
        </p:nvSpPr>
        <p:spPr>
          <a:xfrm>
            <a:off x="4846320" y="2944368"/>
            <a:ext cx="4206240" cy="402336"/>
          </a:xfrm>
          <a:prstGeom prst="roundRect">
            <a:avLst>
              <a:gd name="adj" fmla="val 13636"/>
            </a:avLst>
          </a:prstGeom>
          <a:solidFill>
            <a:srgbClr val="1C2B3A"/>
          </a:solidFill>
          <a:ln/>
          <a:effectLst>
            <a:outerShdw blurRad="50800" dist="12700" dir="8100000" algn="bl" rotWithShape="0">
              <a:srgbClr val="000000">
                <a:alpha val="18000"/>
              </a:srgbClr>
            </a:outerShdw>
          </a:effectLst>
        </p:spPr>
        <p:txBody>
          <a:bodyPr/>
          <a:lstStyle/>
          <a:p>
            <a:endParaRPr lang="es-ES"/>
          </a:p>
        </p:txBody>
      </p:sp>
      <p:sp>
        <p:nvSpPr>
          <p:cNvPr id="28" name="Shape 26"/>
          <p:cNvSpPr/>
          <p:nvPr/>
        </p:nvSpPr>
        <p:spPr>
          <a:xfrm>
            <a:off x="4937760" y="3017520"/>
            <a:ext cx="237744" cy="237744"/>
          </a:xfrm>
          <a:prstGeom prst="ellipse">
            <a:avLst/>
          </a:prstGeom>
          <a:solidFill>
            <a:srgbClr val="F7931A"/>
          </a:solidFill>
          <a:ln w="12700">
            <a:solidFill>
              <a:srgbClr val="F7931A"/>
            </a:solidFill>
            <a:prstDash val="solid"/>
          </a:ln>
        </p:spPr>
        <p:txBody>
          <a:bodyPr/>
          <a:lstStyle/>
          <a:p>
            <a:endParaRPr lang="es-ES"/>
          </a:p>
        </p:txBody>
      </p:sp>
      <p:sp>
        <p:nvSpPr>
          <p:cNvPr id="29" name="Text 27"/>
          <p:cNvSpPr/>
          <p:nvPr/>
        </p:nvSpPr>
        <p:spPr>
          <a:xfrm>
            <a:off x="4937760" y="3017520"/>
            <a:ext cx="237744" cy="237744"/>
          </a:xfrm>
          <a:prstGeom prst="rect">
            <a:avLst/>
          </a:prstGeom>
          <a:noFill/>
          <a:ln/>
        </p:spPr>
        <p:txBody>
          <a:bodyPr wrap="square" lIns="0" tIns="0" rIns="0" bIns="0" rtlCol="0" anchor="ctr"/>
          <a:lstStyle/>
          <a:p>
            <a:pPr marL="0" indent="0" algn="ctr">
              <a:buNone/>
            </a:pPr>
            <a:r>
              <a:rPr lang="en-US" sz="800" b="1" dirty="0">
                <a:solidFill>
                  <a:srgbClr val="FFFFFF"/>
                </a:solidFill>
              </a:rPr>
              <a:t>2</a:t>
            </a:r>
            <a:endParaRPr lang="en-US" sz="800" dirty="0"/>
          </a:p>
        </p:txBody>
      </p:sp>
      <p:sp>
        <p:nvSpPr>
          <p:cNvPr id="30" name="Text 28"/>
          <p:cNvSpPr/>
          <p:nvPr/>
        </p:nvSpPr>
        <p:spPr>
          <a:xfrm>
            <a:off x="5257800" y="2999232"/>
            <a:ext cx="1371600" cy="155448"/>
          </a:xfrm>
          <a:prstGeom prst="rect">
            <a:avLst/>
          </a:prstGeom>
          <a:noFill/>
          <a:ln/>
        </p:spPr>
        <p:txBody>
          <a:bodyPr wrap="square" lIns="0" tIns="0" rIns="0" bIns="0" rtlCol="0" anchor="ctr"/>
          <a:lstStyle/>
          <a:p>
            <a:pPr marL="0" indent="0">
              <a:buNone/>
            </a:pPr>
            <a:r>
              <a:rPr lang="en-US" sz="1050" b="1" dirty="0">
                <a:solidFill>
                  <a:srgbClr val="F7931A"/>
                </a:solidFill>
              </a:rPr>
              <a:t>Dual-Axis Line</a:t>
            </a:r>
            <a:endParaRPr lang="en-US" sz="1050" dirty="0"/>
          </a:p>
        </p:txBody>
      </p:sp>
      <p:sp>
        <p:nvSpPr>
          <p:cNvPr id="31" name="Text 29"/>
          <p:cNvSpPr/>
          <p:nvPr/>
        </p:nvSpPr>
        <p:spPr>
          <a:xfrm>
            <a:off x="5257800" y="3154680"/>
            <a:ext cx="2313432" cy="155448"/>
          </a:xfrm>
          <a:prstGeom prst="rect">
            <a:avLst/>
          </a:prstGeom>
          <a:noFill/>
          <a:ln/>
        </p:spPr>
        <p:txBody>
          <a:bodyPr wrap="square" lIns="0" tIns="0" rIns="0" bIns="0" rtlCol="0" anchor="ctr"/>
          <a:lstStyle/>
          <a:p>
            <a:pPr marL="0" indent="0">
              <a:buNone/>
            </a:pPr>
            <a:r>
              <a:rPr lang="en-US" sz="800" dirty="0">
                <a:solidFill>
                  <a:srgbClr val="FFFFFF"/>
                </a:solidFill>
              </a:rPr>
              <a:t>Settlement Volume vs. Avg Fee Rate over Time</a:t>
            </a:r>
            <a:endParaRPr lang="en-US" sz="800" dirty="0"/>
          </a:p>
        </p:txBody>
      </p:sp>
      <p:sp>
        <p:nvSpPr>
          <p:cNvPr id="32" name="Text 30"/>
          <p:cNvSpPr/>
          <p:nvPr/>
        </p:nvSpPr>
        <p:spPr>
          <a:xfrm>
            <a:off x="7284720" y="2999232"/>
            <a:ext cx="1729435" cy="292608"/>
          </a:xfrm>
          <a:prstGeom prst="rect">
            <a:avLst/>
          </a:prstGeom>
          <a:noFill/>
          <a:ln/>
        </p:spPr>
        <p:txBody>
          <a:bodyPr wrap="square" lIns="0" tIns="0" rIns="0" bIns="0" rtlCol="0" anchor="ctr"/>
          <a:lstStyle/>
          <a:p>
            <a:pPr marL="0" indent="0">
              <a:buNone/>
            </a:pPr>
            <a:r>
              <a:rPr lang="en-US" sz="800" i="1" dirty="0">
                <a:solidFill>
                  <a:srgbClr val="B0BEC5"/>
                </a:solidFill>
              </a:rPr>
              <a:t>→ May→June: output fell, fee rate rose (divergence pattern)</a:t>
            </a:r>
            <a:endParaRPr lang="en-US" sz="800" dirty="0"/>
          </a:p>
        </p:txBody>
      </p:sp>
      <p:sp>
        <p:nvSpPr>
          <p:cNvPr id="33" name="Shape 31"/>
          <p:cNvSpPr/>
          <p:nvPr/>
        </p:nvSpPr>
        <p:spPr>
          <a:xfrm>
            <a:off x="457200" y="3419856"/>
            <a:ext cx="4206240" cy="402336"/>
          </a:xfrm>
          <a:prstGeom prst="roundRect">
            <a:avLst>
              <a:gd name="adj" fmla="val 13636"/>
            </a:avLst>
          </a:prstGeom>
          <a:solidFill>
            <a:srgbClr val="1C2B3A"/>
          </a:solidFill>
          <a:ln/>
          <a:effectLst>
            <a:outerShdw blurRad="50800" dist="12700" dir="8100000" algn="bl" rotWithShape="0">
              <a:srgbClr val="000000">
                <a:alpha val="18000"/>
              </a:srgbClr>
            </a:outerShdw>
          </a:effectLst>
        </p:spPr>
        <p:txBody>
          <a:bodyPr/>
          <a:lstStyle/>
          <a:p>
            <a:endParaRPr lang="es-ES"/>
          </a:p>
        </p:txBody>
      </p:sp>
      <p:sp>
        <p:nvSpPr>
          <p:cNvPr id="34" name="Shape 32"/>
          <p:cNvSpPr/>
          <p:nvPr/>
        </p:nvSpPr>
        <p:spPr>
          <a:xfrm>
            <a:off x="548640" y="3493008"/>
            <a:ext cx="237744" cy="237744"/>
          </a:xfrm>
          <a:prstGeom prst="ellipse">
            <a:avLst/>
          </a:prstGeom>
          <a:solidFill>
            <a:srgbClr val="F7931A"/>
          </a:solidFill>
          <a:ln w="12700">
            <a:solidFill>
              <a:srgbClr val="F7931A"/>
            </a:solidFill>
            <a:prstDash val="solid"/>
          </a:ln>
        </p:spPr>
        <p:txBody>
          <a:bodyPr/>
          <a:lstStyle/>
          <a:p>
            <a:endParaRPr lang="es-ES"/>
          </a:p>
        </p:txBody>
      </p:sp>
      <p:sp>
        <p:nvSpPr>
          <p:cNvPr id="35" name="Text 33"/>
          <p:cNvSpPr/>
          <p:nvPr/>
        </p:nvSpPr>
        <p:spPr>
          <a:xfrm>
            <a:off x="548640" y="3493008"/>
            <a:ext cx="237744" cy="237744"/>
          </a:xfrm>
          <a:prstGeom prst="rect">
            <a:avLst/>
          </a:prstGeom>
          <a:noFill/>
          <a:ln/>
        </p:spPr>
        <p:txBody>
          <a:bodyPr wrap="square" lIns="0" tIns="0" rIns="0" bIns="0" rtlCol="0" anchor="ctr"/>
          <a:lstStyle/>
          <a:p>
            <a:pPr marL="0" indent="0" algn="ctr">
              <a:buNone/>
            </a:pPr>
            <a:r>
              <a:rPr lang="en-US" sz="800" b="1" dirty="0">
                <a:solidFill>
                  <a:srgbClr val="FFFFFF"/>
                </a:solidFill>
              </a:rPr>
              <a:t>3</a:t>
            </a:r>
            <a:endParaRPr lang="en-US" sz="800" dirty="0"/>
          </a:p>
        </p:txBody>
      </p:sp>
      <p:sp>
        <p:nvSpPr>
          <p:cNvPr id="36" name="Text 34"/>
          <p:cNvSpPr/>
          <p:nvPr/>
        </p:nvSpPr>
        <p:spPr>
          <a:xfrm>
            <a:off x="868680" y="3474720"/>
            <a:ext cx="1371600" cy="155448"/>
          </a:xfrm>
          <a:prstGeom prst="rect">
            <a:avLst/>
          </a:prstGeom>
          <a:noFill/>
          <a:ln/>
        </p:spPr>
        <p:txBody>
          <a:bodyPr wrap="square" lIns="0" tIns="0" rIns="0" bIns="0" rtlCol="0" anchor="ctr"/>
          <a:lstStyle/>
          <a:p>
            <a:pPr marL="0" indent="0">
              <a:buNone/>
            </a:pPr>
            <a:r>
              <a:rPr lang="en-US" sz="1050" b="1" dirty="0">
                <a:solidFill>
                  <a:srgbClr val="F7931A"/>
                </a:solidFill>
              </a:rPr>
              <a:t>100% Stacked Bar</a:t>
            </a:r>
            <a:endParaRPr lang="en-US" sz="1050" dirty="0"/>
          </a:p>
        </p:txBody>
      </p:sp>
      <p:sp>
        <p:nvSpPr>
          <p:cNvPr id="37" name="Text 35"/>
          <p:cNvSpPr/>
          <p:nvPr/>
        </p:nvSpPr>
        <p:spPr>
          <a:xfrm>
            <a:off x="868680" y="3630168"/>
            <a:ext cx="2313432" cy="155448"/>
          </a:xfrm>
          <a:prstGeom prst="rect">
            <a:avLst/>
          </a:prstGeom>
          <a:noFill/>
          <a:ln/>
        </p:spPr>
        <p:txBody>
          <a:bodyPr wrap="square" lIns="0" tIns="0" rIns="0" bIns="0" rtlCol="0" anchor="ctr"/>
          <a:lstStyle/>
          <a:p>
            <a:pPr marL="0" indent="0">
              <a:buNone/>
            </a:pPr>
            <a:r>
              <a:rPr lang="en-US" sz="800" dirty="0">
                <a:solidFill>
                  <a:srgbClr val="FFFFFF"/>
                </a:solidFill>
              </a:rPr>
              <a:t>SegWit vs. Legacy Script Adoption by Quarter</a:t>
            </a:r>
            <a:endParaRPr lang="en-US" sz="800" dirty="0"/>
          </a:p>
        </p:txBody>
      </p:sp>
      <p:sp>
        <p:nvSpPr>
          <p:cNvPr id="38" name="Text 36"/>
          <p:cNvSpPr/>
          <p:nvPr/>
        </p:nvSpPr>
        <p:spPr>
          <a:xfrm>
            <a:off x="2834640" y="3474720"/>
            <a:ext cx="1790395" cy="292608"/>
          </a:xfrm>
          <a:prstGeom prst="rect">
            <a:avLst/>
          </a:prstGeom>
          <a:noFill/>
          <a:ln/>
        </p:spPr>
        <p:txBody>
          <a:bodyPr wrap="square" lIns="0" tIns="0" rIns="0" bIns="0" rtlCol="0" anchor="ctr"/>
          <a:lstStyle/>
          <a:p>
            <a:pPr marL="0" indent="0">
              <a:buNone/>
            </a:pPr>
            <a:r>
              <a:rPr lang="en-US" sz="800" i="1" dirty="0">
                <a:solidFill>
                  <a:srgbClr val="B0BEC5"/>
                </a:solidFill>
              </a:rPr>
              <a:t>→ 89.6% SegWit-native in Q2 2026</a:t>
            </a:r>
            <a:endParaRPr lang="en-US" sz="800" dirty="0"/>
          </a:p>
        </p:txBody>
      </p:sp>
      <p:sp>
        <p:nvSpPr>
          <p:cNvPr id="39" name="Shape 37"/>
          <p:cNvSpPr/>
          <p:nvPr/>
        </p:nvSpPr>
        <p:spPr>
          <a:xfrm>
            <a:off x="4846320" y="3419856"/>
            <a:ext cx="4206240" cy="402336"/>
          </a:xfrm>
          <a:prstGeom prst="roundRect">
            <a:avLst>
              <a:gd name="adj" fmla="val 13636"/>
            </a:avLst>
          </a:prstGeom>
          <a:solidFill>
            <a:srgbClr val="1C2B3A"/>
          </a:solidFill>
          <a:ln/>
          <a:effectLst>
            <a:outerShdw blurRad="50800" dist="12700" dir="8100000" algn="bl" rotWithShape="0">
              <a:srgbClr val="000000">
                <a:alpha val="18000"/>
              </a:srgbClr>
            </a:outerShdw>
          </a:effectLst>
        </p:spPr>
        <p:txBody>
          <a:bodyPr/>
          <a:lstStyle/>
          <a:p>
            <a:endParaRPr lang="es-ES"/>
          </a:p>
        </p:txBody>
      </p:sp>
      <p:sp>
        <p:nvSpPr>
          <p:cNvPr id="40" name="Shape 38"/>
          <p:cNvSpPr/>
          <p:nvPr/>
        </p:nvSpPr>
        <p:spPr>
          <a:xfrm>
            <a:off x="4937760" y="3493008"/>
            <a:ext cx="237744" cy="237744"/>
          </a:xfrm>
          <a:prstGeom prst="ellipse">
            <a:avLst/>
          </a:prstGeom>
          <a:solidFill>
            <a:srgbClr val="F7931A"/>
          </a:solidFill>
          <a:ln w="12700">
            <a:solidFill>
              <a:srgbClr val="F7931A"/>
            </a:solidFill>
            <a:prstDash val="solid"/>
          </a:ln>
        </p:spPr>
        <p:txBody>
          <a:bodyPr/>
          <a:lstStyle/>
          <a:p>
            <a:endParaRPr lang="es-ES"/>
          </a:p>
        </p:txBody>
      </p:sp>
      <p:sp>
        <p:nvSpPr>
          <p:cNvPr id="41" name="Text 39"/>
          <p:cNvSpPr/>
          <p:nvPr/>
        </p:nvSpPr>
        <p:spPr>
          <a:xfrm>
            <a:off x="4937760" y="3493008"/>
            <a:ext cx="237744" cy="237744"/>
          </a:xfrm>
          <a:prstGeom prst="rect">
            <a:avLst/>
          </a:prstGeom>
          <a:noFill/>
          <a:ln/>
        </p:spPr>
        <p:txBody>
          <a:bodyPr wrap="square" lIns="0" tIns="0" rIns="0" bIns="0" rtlCol="0" anchor="ctr"/>
          <a:lstStyle/>
          <a:p>
            <a:pPr marL="0" indent="0" algn="ctr">
              <a:buNone/>
            </a:pPr>
            <a:r>
              <a:rPr lang="en-US" sz="800" b="1" dirty="0">
                <a:solidFill>
                  <a:srgbClr val="FFFFFF"/>
                </a:solidFill>
              </a:rPr>
              <a:t>4</a:t>
            </a:r>
            <a:endParaRPr lang="en-US" sz="800" dirty="0"/>
          </a:p>
        </p:txBody>
      </p:sp>
      <p:sp>
        <p:nvSpPr>
          <p:cNvPr id="42" name="Text 40"/>
          <p:cNvSpPr/>
          <p:nvPr/>
        </p:nvSpPr>
        <p:spPr>
          <a:xfrm>
            <a:off x="5257800" y="3474720"/>
            <a:ext cx="1371600" cy="155448"/>
          </a:xfrm>
          <a:prstGeom prst="rect">
            <a:avLst/>
          </a:prstGeom>
          <a:noFill/>
          <a:ln/>
        </p:spPr>
        <p:txBody>
          <a:bodyPr wrap="square" lIns="0" tIns="0" rIns="0" bIns="0" rtlCol="0" anchor="ctr"/>
          <a:lstStyle/>
          <a:p>
            <a:pPr marL="0" indent="0">
              <a:buNone/>
            </a:pPr>
            <a:r>
              <a:rPr lang="en-US" sz="1050" b="1" dirty="0">
                <a:solidFill>
                  <a:srgbClr val="F7931A"/>
                </a:solidFill>
              </a:rPr>
              <a:t>Scatter Plot</a:t>
            </a:r>
            <a:endParaRPr lang="en-US" sz="1050" dirty="0"/>
          </a:p>
        </p:txBody>
      </p:sp>
      <p:sp>
        <p:nvSpPr>
          <p:cNvPr id="43" name="Text 41"/>
          <p:cNvSpPr/>
          <p:nvPr/>
        </p:nvSpPr>
        <p:spPr>
          <a:xfrm>
            <a:off x="5257800" y="3630168"/>
            <a:ext cx="1678940" cy="155448"/>
          </a:xfrm>
          <a:prstGeom prst="rect">
            <a:avLst/>
          </a:prstGeom>
          <a:noFill/>
          <a:ln/>
        </p:spPr>
        <p:txBody>
          <a:bodyPr wrap="square" lIns="0" tIns="0" rIns="0" bIns="0" rtlCol="0" anchor="ctr"/>
          <a:lstStyle/>
          <a:p>
            <a:pPr marL="0" indent="0">
              <a:buNone/>
            </a:pPr>
            <a:r>
              <a:rPr lang="en-US" sz="800" dirty="0">
                <a:solidFill>
                  <a:srgbClr val="FFFFFF"/>
                </a:solidFill>
              </a:rPr>
              <a:t>F&amp;G Score vs. Daily Settlement Volume</a:t>
            </a:r>
            <a:endParaRPr lang="en-US" sz="800" dirty="0"/>
          </a:p>
        </p:txBody>
      </p:sp>
      <p:sp>
        <p:nvSpPr>
          <p:cNvPr id="44" name="Text 42"/>
          <p:cNvSpPr/>
          <p:nvPr/>
        </p:nvSpPr>
        <p:spPr>
          <a:xfrm>
            <a:off x="6995160" y="3474720"/>
            <a:ext cx="2018995" cy="292608"/>
          </a:xfrm>
          <a:prstGeom prst="rect">
            <a:avLst/>
          </a:prstGeom>
          <a:noFill/>
          <a:ln/>
        </p:spPr>
        <p:txBody>
          <a:bodyPr wrap="square" lIns="0" tIns="0" rIns="0" bIns="0" rtlCol="0" anchor="ctr"/>
          <a:lstStyle/>
          <a:p>
            <a:pPr marL="0" indent="0">
              <a:buNone/>
            </a:pPr>
            <a:r>
              <a:rPr lang="en-US" sz="800" i="1" dirty="0">
                <a:solidFill>
                  <a:srgbClr val="B0BEC5"/>
                </a:solidFill>
              </a:rPr>
              <a:t>→ Extreme Fear days cluster highest output values</a:t>
            </a:r>
            <a:endParaRPr lang="en-US" sz="800" dirty="0"/>
          </a:p>
        </p:txBody>
      </p:sp>
      <p:sp>
        <p:nvSpPr>
          <p:cNvPr id="45" name="Shape 43"/>
          <p:cNvSpPr/>
          <p:nvPr/>
        </p:nvSpPr>
        <p:spPr>
          <a:xfrm>
            <a:off x="457200" y="3895344"/>
            <a:ext cx="4206240" cy="402336"/>
          </a:xfrm>
          <a:prstGeom prst="roundRect">
            <a:avLst>
              <a:gd name="adj" fmla="val 13636"/>
            </a:avLst>
          </a:prstGeom>
          <a:solidFill>
            <a:srgbClr val="1C2B3A"/>
          </a:solidFill>
          <a:ln/>
          <a:effectLst>
            <a:outerShdw blurRad="50800" dist="12700" dir="8100000" algn="bl" rotWithShape="0">
              <a:srgbClr val="000000">
                <a:alpha val="18000"/>
              </a:srgbClr>
            </a:outerShdw>
          </a:effectLst>
        </p:spPr>
        <p:txBody>
          <a:bodyPr/>
          <a:lstStyle/>
          <a:p>
            <a:endParaRPr lang="es-ES"/>
          </a:p>
        </p:txBody>
      </p:sp>
      <p:sp>
        <p:nvSpPr>
          <p:cNvPr id="46" name="Shape 44"/>
          <p:cNvSpPr/>
          <p:nvPr/>
        </p:nvSpPr>
        <p:spPr>
          <a:xfrm>
            <a:off x="548640" y="3968496"/>
            <a:ext cx="237744" cy="237744"/>
          </a:xfrm>
          <a:prstGeom prst="ellipse">
            <a:avLst/>
          </a:prstGeom>
          <a:solidFill>
            <a:srgbClr val="F7931A"/>
          </a:solidFill>
          <a:ln w="12700">
            <a:solidFill>
              <a:srgbClr val="F7931A"/>
            </a:solidFill>
            <a:prstDash val="solid"/>
          </a:ln>
        </p:spPr>
        <p:txBody>
          <a:bodyPr/>
          <a:lstStyle/>
          <a:p>
            <a:endParaRPr lang="es-ES"/>
          </a:p>
        </p:txBody>
      </p:sp>
      <p:sp>
        <p:nvSpPr>
          <p:cNvPr id="47" name="Text 45"/>
          <p:cNvSpPr/>
          <p:nvPr/>
        </p:nvSpPr>
        <p:spPr>
          <a:xfrm>
            <a:off x="548640" y="3968496"/>
            <a:ext cx="237744" cy="237744"/>
          </a:xfrm>
          <a:prstGeom prst="rect">
            <a:avLst/>
          </a:prstGeom>
          <a:noFill/>
          <a:ln/>
        </p:spPr>
        <p:txBody>
          <a:bodyPr wrap="square" lIns="0" tIns="0" rIns="0" bIns="0" rtlCol="0" anchor="ctr"/>
          <a:lstStyle/>
          <a:p>
            <a:pPr marL="0" indent="0" algn="ctr">
              <a:buNone/>
            </a:pPr>
            <a:r>
              <a:rPr lang="en-US" sz="800" b="1" dirty="0">
                <a:solidFill>
                  <a:srgbClr val="FFFFFF"/>
                </a:solidFill>
              </a:rPr>
              <a:t>5</a:t>
            </a:r>
            <a:endParaRPr lang="en-US" sz="800" dirty="0"/>
          </a:p>
        </p:txBody>
      </p:sp>
      <p:sp>
        <p:nvSpPr>
          <p:cNvPr id="48" name="Text 46"/>
          <p:cNvSpPr/>
          <p:nvPr/>
        </p:nvSpPr>
        <p:spPr>
          <a:xfrm>
            <a:off x="868680" y="3950208"/>
            <a:ext cx="1371600" cy="155448"/>
          </a:xfrm>
          <a:prstGeom prst="rect">
            <a:avLst/>
          </a:prstGeom>
          <a:noFill/>
          <a:ln/>
        </p:spPr>
        <p:txBody>
          <a:bodyPr wrap="square" lIns="0" tIns="0" rIns="0" bIns="0" rtlCol="0" anchor="ctr"/>
          <a:lstStyle/>
          <a:p>
            <a:pPr marL="0" indent="0">
              <a:buNone/>
            </a:pPr>
            <a:r>
              <a:rPr lang="en-US" sz="1050" b="1" dirty="0">
                <a:solidFill>
                  <a:srgbClr val="F7931A"/>
                </a:solidFill>
              </a:rPr>
              <a:t>Horizontal Bar</a:t>
            </a:r>
            <a:endParaRPr lang="en-US" sz="1050" dirty="0"/>
          </a:p>
        </p:txBody>
      </p:sp>
      <p:sp>
        <p:nvSpPr>
          <p:cNvPr id="49" name="Text 47"/>
          <p:cNvSpPr/>
          <p:nvPr/>
        </p:nvSpPr>
        <p:spPr>
          <a:xfrm>
            <a:off x="868680" y="4105656"/>
            <a:ext cx="2313432" cy="155448"/>
          </a:xfrm>
          <a:prstGeom prst="rect">
            <a:avLst/>
          </a:prstGeom>
          <a:noFill/>
          <a:ln/>
        </p:spPr>
        <p:txBody>
          <a:bodyPr wrap="square" lIns="0" tIns="0" rIns="0" bIns="0" rtlCol="0" anchor="ctr"/>
          <a:lstStyle/>
          <a:p>
            <a:pPr marL="0" indent="0">
              <a:buNone/>
            </a:pPr>
            <a:r>
              <a:rPr lang="en-US" sz="800" dirty="0">
                <a:solidFill>
                  <a:srgbClr val="FFFFFF"/>
                </a:solidFill>
              </a:rPr>
              <a:t>Avg Fee Burden (%) by Difficulty Tier</a:t>
            </a:r>
            <a:endParaRPr lang="en-US" sz="800" dirty="0"/>
          </a:p>
        </p:txBody>
      </p:sp>
      <p:sp>
        <p:nvSpPr>
          <p:cNvPr id="50" name="Text 48"/>
          <p:cNvSpPr/>
          <p:nvPr/>
        </p:nvSpPr>
        <p:spPr>
          <a:xfrm>
            <a:off x="2606040" y="3950208"/>
            <a:ext cx="2018995" cy="292608"/>
          </a:xfrm>
          <a:prstGeom prst="rect">
            <a:avLst/>
          </a:prstGeom>
          <a:noFill/>
          <a:ln/>
        </p:spPr>
        <p:txBody>
          <a:bodyPr wrap="square" lIns="0" tIns="0" rIns="0" bIns="0" rtlCol="0" anchor="ctr"/>
          <a:lstStyle/>
          <a:p>
            <a:pPr marL="0" indent="0">
              <a:buNone/>
            </a:pPr>
            <a:r>
              <a:rPr lang="en-US" sz="800" i="1" dirty="0">
                <a:solidFill>
                  <a:srgbClr val="B0BEC5"/>
                </a:solidFill>
              </a:rPr>
              <a:t>→ 8.55% for sole 'Extreme' tier (single-tier dataset)</a:t>
            </a:r>
            <a:endParaRPr lang="en-US" sz="800" dirty="0"/>
          </a:p>
        </p:txBody>
      </p:sp>
      <p:sp>
        <p:nvSpPr>
          <p:cNvPr id="51" name="Shape 49"/>
          <p:cNvSpPr/>
          <p:nvPr/>
        </p:nvSpPr>
        <p:spPr>
          <a:xfrm>
            <a:off x="4846320" y="3895344"/>
            <a:ext cx="4206240" cy="402336"/>
          </a:xfrm>
          <a:prstGeom prst="roundRect">
            <a:avLst>
              <a:gd name="adj" fmla="val 13636"/>
            </a:avLst>
          </a:prstGeom>
          <a:solidFill>
            <a:srgbClr val="1C2B3A"/>
          </a:solidFill>
          <a:ln/>
          <a:effectLst>
            <a:outerShdw blurRad="50800" dist="12700" dir="8100000" algn="bl" rotWithShape="0">
              <a:srgbClr val="000000">
                <a:alpha val="18000"/>
              </a:srgbClr>
            </a:outerShdw>
          </a:effectLst>
        </p:spPr>
        <p:txBody>
          <a:bodyPr/>
          <a:lstStyle/>
          <a:p>
            <a:endParaRPr lang="es-ES"/>
          </a:p>
        </p:txBody>
      </p:sp>
      <p:sp>
        <p:nvSpPr>
          <p:cNvPr id="52" name="Shape 50"/>
          <p:cNvSpPr/>
          <p:nvPr/>
        </p:nvSpPr>
        <p:spPr>
          <a:xfrm>
            <a:off x="4937760" y="3968496"/>
            <a:ext cx="237744" cy="237744"/>
          </a:xfrm>
          <a:prstGeom prst="ellipse">
            <a:avLst/>
          </a:prstGeom>
          <a:solidFill>
            <a:srgbClr val="F7931A"/>
          </a:solidFill>
          <a:ln w="12700">
            <a:solidFill>
              <a:srgbClr val="F7931A"/>
            </a:solidFill>
            <a:prstDash val="solid"/>
          </a:ln>
        </p:spPr>
        <p:txBody>
          <a:bodyPr/>
          <a:lstStyle/>
          <a:p>
            <a:endParaRPr lang="es-ES"/>
          </a:p>
        </p:txBody>
      </p:sp>
      <p:sp>
        <p:nvSpPr>
          <p:cNvPr id="53" name="Text 51"/>
          <p:cNvSpPr/>
          <p:nvPr/>
        </p:nvSpPr>
        <p:spPr>
          <a:xfrm>
            <a:off x="4937760" y="3968496"/>
            <a:ext cx="237744" cy="237744"/>
          </a:xfrm>
          <a:prstGeom prst="rect">
            <a:avLst/>
          </a:prstGeom>
          <a:noFill/>
          <a:ln/>
        </p:spPr>
        <p:txBody>
          <a:bodyPr wrap="square" lIns="0" tIns="0" rIns="0" bIns="0" rtlCol="0" anchor="ctr"/>
          <a:lstStyle/>
          <a:p>
            <a:pPr marL="0" indent="0" algn="ctr">
              <a:buNone/>
            </a:pPr>
            <a:r>
              <a:rPr lang="en-US" sz="800" b="1" dirty="0">
                <a:solidFill>
                  <a:srgbClr val="FFFFFF"/>
                </a:solidFill>
              </a:rPr>
              <a:t>6</a:t>
            </a:r>
            <a:endParaRPr lang="en-US" sz="800" dirty="0"/>
          </a:p>
        </p:txBody>
      </p:sp>
      <p:sp>
        <p:nvSpPr>
          <p:cNvPr id="54" name="Text 52"/>
          <p:cNvSpPr/>
          <p:nvPr/>
        </p:nvSpPr>
        <p:spPr>
          <a:xfrm>
            <a:off x="5257800" y="3950208"/>
            <a:ext cx="1371600" cy="155448"/>
          </a:xfrm>
          <a:prstGeom prst="rect">
            <a:avLst/>
          </a:prstGeom>
          <a:noFill/>
          <a:ln/>
        </p:spPr>
        <p:txBody>
          <a:bodyPr wrap="square" lIns="0" tIns="0" rIns="0" bIns="0" rtlCol="0" anchor="ctr"/>
          <a:lstStyle/>
          <a:p>
            <a:pPr marL="0" indent="0">
              <a:buNone/>
            </a:pPr>
            <a:r>
              <a:rPr lang="en-US" sz="1050" b="1" dirty="0">
                <a:solidFill>
                  <a:srgbClr val="F7931A"/>
                </a:solidFill>
              </a:rPr>
              <a:t>Donut Chart + Filter Era</a:t>
            </a:r>
            <a:endParaRPr lang="en-US" sz="1050" dirty="0"/>
          </a:p>
        </p:txBody>
      </p:sp>
      <p:sp>
        <p:nvSpPr>
          <p:cNvPr id="55" name="Text 53"/>
          <p:cNvSpPr/>
          <p:nvPr/>
        </p:nvSpPr>
        <p:spPr>
          <a:xfrm>
            <a:off x="5257800" y="4105656"/>
            <a:ext cx="2313432" cy="155448"/>
          </a:xfrm>
          <a:prstGeom prst="rect">
            <a:avLst/>
          </a:prstGeom>
          <a:noFill/>
          <a:ln/>
        </p:spPr>
        <p:txBody>
          <a:bodyPr wrap="square" lIns="0" tIns="0" rIns="0" bIns="0" rtlCol="0" anchor="ctr"/>
          <a:lstStyle/>
          <a:p>
            <a:pPr marL="0" indent="0">
              <a:buNone/>
            </a:pPr>
            <a:r>
              <a:rPr lang="en-US" sz="800" dirty="0">
                <a:solidFill>
                  <a:srgbClr val="FFFFFF"/>
                </a:solidFill>
              </a:rPr>
              <a:t>Output Value BTC by Script Type</a:t>
            </a:r>
            <a:endParaRPr lang="en-US" sz="800" dirty="0"/>
          </a:p>
        </p:txBody>
      </p:sp>
      <p:sp>
        <p:nvSpPr>
          <p:cNvPr id="56" name="Text 54"/>
          <p:cNvSpPr/>
          <p:nvPr/>
        </p:nvSpPr>
        <p:spPr>
          <a:xfrm>
            <a:off x="6995160" y="3950208"/>
            <a:ext cx="2018995" cy="292608"/>
          </a:xfrm>
          <a:prstGeom prst="rect">
            <a:avLst/>
          </a:prstGeom>
          <a:noFill/>
          <a:ln/>
        </p:spPr>
        <p:txBody>
          <a:bodyPr wrap="square" lIns="0" tIns="0" rIns="0" bIns="0" rtlCol="0" anchor="ctr"/>
          <a:lstStyle/>
          <a:p>
            <a:pPr marL="0" indent="0">
              <a:buNone/>
            </a:pPr>
            <a:r>
              <a:rPr lang="en-US" sz="800" i="1" dirty="0">
                <a:solidFill>
                  <a:srgbClr val="B0BEC5"/>
                </a:solidFill>
              </a:rPr>
              <a:t>→ P2PKH = 84.1% of BTC value (4.32M BTC)</a:t>
            </a:r>
            <a:endParaRPr lang="en-US" sz="800" dirty="0"/>
          </a:p>
        </p:txBody>
      </p:sp>
      <p:sp>
        <p:nvSpPr>
          <p:cNvPr id="57" name="Shape 55"/>
          <p:cNvSpPr/>
          <p:nvPr/>
        </p:nvSpPr>
        <p:spPr>
          <a:xfrm>
            <a:off x="2286000" y="4370832"/>
            <a:ext cx="4572000" cy="402336"/>
          </a:xfrm>
          <a:prstGeom prst="roundRect">
            <a:avLst>
              <a:gd name="adj" fmla="val 13636"/>
            </a:avLst>
          </a:prstGeom>
          <a:solidFill>
            <a:srgbClr val="1C2B3A"/>
          </a:solidFill>
          <a:ln/>
          <a:effectLst>
            <a:outerShdw blurRad="50800" dist="12700" dir="8100000" algn="bl" rotWithShape="0">
              <a:srgbClr val="000000">
                <a:alpha val="18000"/>
              </a:srgbClr>
            </a:outerShdw>
          </a:effectLst>
        </p:spPr>
        <p:txBody>
          <a:bodyPr/>
          <a:lstStyle/>
          <a:p>
            <a:endParaRPr lang="es-ES"/>
          </a:p>
        </p:txBody>
      </p:sp>
      <p:sp>
        <p:nvSpPr>
          <p:cNvPr id="58" name="Shape 56"/>
          <p:cNvSpPr/>
          <p:nvPr/>
        </p:nvSpPr>
        <p:spPr>
          <a:xfrm>
            <a:off x="2377440" y="4443984"/>
            <a:ext cx="237744" cy="237744"/>
          </a:xfrm>
          <a:prstGeom prst="ellipse">
            <a:avLst/>
          </a:prstGeom>
          <a:solidFill>
            <a:srgbClr val="F7931A"/>
          </a:solidFill>
          <a:ln w="12700">
            <a:solidFill>
              <a:srgbClr val="F7931A"/>
            </a:solidFill>
            <a:prstDash val="solid"/>
          </a:ln>
        </p:spPr>
        <p:txBody>
          <a:bodyPr/>
          <a:lstStyle/>
          <a:p>
            <a:endParaRPr lang="es-ES"/>
          </a:p>
        </p:txBody>
      </p:sp>
      <p:sp>
        <p:nvSpPr>
          <p:cNvPr id="59" name="Text 57"/>
          <p:cNvSpPr/>
          <p:nvPr/>
        </p:nvSpPr>
        <p:spPr>
          <a:xfrm>
            <a:off x="2377440" y="4443984"/>
            <a:ext cx="237744" cy="237744"/>
          </a:xfrm>
          <a:prstGeom prst="rect">
            <a:avLst/>
          </a:prstGeom>
          <a:noFill/>
          <a:ln/>
        </p:spPr>
        <p:txBody>
          <a:bodyPr wrap="square" lIns="0" tIns="0" rIns="0" bIns="0" rtlCol="0" anchor="ctr"/>
          <a:lstStyle/>
          <a:p>
            <a:pPr marL="0" indent="0" algn="ctr">
              <a:buNone/>
            </a:pPr>
            <a:r>
              <a:rPr lang="en-US" sz="800" b="1" dirty="0">
                <a:solidFill>
                  <a:srgbClr val="FFFFFF"/>
                </a:solidFill>
              </a:rPr>
              <a:t>7</a:t>
            </a:r>
            <a:endParaRPr lang="en-US" sz="800" dirty="0"/>
          </a:p>
        </p:txBody>
      </p:sp>
      <p:sp>
        <p:nvSpPr>
          <p:cNvPr id="60" name="Text 58"/>
          <p:cNvSpPr/>
          <p:nvPr/>
        </p:nvSpPr>
        <p:spPr>
          <a:xfrm>
            <a:off x="2697480" y="4425696"/>
            <a:ext cx="1371600" cy="155448"/>
          </a:xfrm>
          <a:prstGeom prst="rect">
            <a:avLst/>
          </a:prstGeom>
          <a:noFill/>
          <a:ln/>
        </p:spPr>
        <p:txBody>
          <a:bodyPr wrap="square" lIns="0" tIns="0" rIns="0" bIns="0" rtlCol="0" anchor="ctr"/>
          <a:lstStyle/>
          <a:p>
            <a:pPr marL="0" indent="0">
              <a:buNone/>
            </a:pPr>
            <a:r>
              <a:rPr lang="en-US" sz="1050" b="1" dirty="0">
                <a:solidFill>
                  <a:srgbClr val="F7931A"/>
                </a:solidFill>
              </a:rPr>
              <a:t>Matrix</a:t>
            </a:r>
            <a:endParaRPr lang="en-US" sz="1050" dirty="0"/>
          </a:p>
        </p:txBody>
      </p:sp>
      <p:sp>
        <p:nvSpPr>
          <p:cNvPr id="61" name="Text 59"/>
          <p:cNvSpPr/>
          <p:nvPr/>
        </p:nvSpPr>
        <p:spPr>
          <a:xfrm>
            <a:off x="2697480" y="4581144"/>
            <a:ext cx="2514600" cy="155448"/>
          </a:xfrm>
          <a:prstGeom prst="rect">
            <a:avLst/>
          </a:prstGeom>
          <a:noFill/>
          <a:ln/>
        </p:spPr>
        <p:txBody>
          <a:bodyPr wrap="square" lIns="0" tIns="0" rIns="0" bIns="0" rtlCol="0" anchor="ctr"/>
          <a:lstStyle/>
          <a:p>
            <a:pPr marL="0" indent="0">
              <a:buNone/>
            </a:pPr>
            <a:r>
              <a:rPr lang="en-US" sz="800" dirty="0">
                <a:solidFill>
                  <a:srgbClr val="FFFFFF"/>
                </a:solidFill>
              </a:rPr>
              <a:t>Avg Fee Rate: Day of Week × Halving Era</a:t>
            </a:r>
            <a:endParaRPr lang="en-US" sz="800" dirty="0"/>
          </a:p>
        </p:txBody>
      </p:sp>
      <p:sp>
        <p:nvSpPr>
          <p:cNvPr id="62" name="Text 60"/>
          <p:cNvSpPr/>
          <p:nvPr/>
        </p:nvSpPr>
        <p:spPr>
          <a:xfrm>
            <a:off x="4617720" y="4425696"/>
            <a:ext cx="2194560" cy="292608"/>
          </a:xfrm>
          <a:prstGeom prst="rect">
            <a:avLst/>
          </a:prstGeom>
          <a:noFill/>
          <a:ln/>
        </p:spPr>
        <p:txBody>
          <a:bodyPr wrap="square" lIns="0" tIns="0" rIns="0" bIns="0" rtlCol="0" anchor="ctr"/>
          <a:lstStyle/>
          <a:p>
            <a:pPr marL="0" indent="0">
              <a:buNone/>
            </a:pPr>
            <a:r>
              <a:rPr lang="en-US" sz="800" i="1" dirty="0">
                <a:solidFill>
                  <a:srgbClr val="B0BEC5"/>
                </a:solidFill>
              </a:rPr>
              <a:t>→ Sunday cheapest · Tuesday most expensive · actionable!</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4A76ACAE-1889-E7F3-D7AA-B4CE25EA7F0F}"/>
            </a:ext>
          </a:extLst>
        </p:cNvPr>
        <p:cNvGrpSpPr/>
        <p:nvPr/>
      </p:nvGrpSpPr>
      <p:grpSpPr>
        <a:xfrm>
          <a:off x="0" y="0"/>
          <a:ext cx="0" cy="0"/>
          <a:chOff x="0" y="0"/>
          <a:chExt cx="0" cy="0"/>
        </a:xfrm>
      </p:grpSpPr>
      <p:sp>
        <p:nvSpPr>
          <p:cNvPr id="57" name="Shape 55">
            <a:extLst>
              <a:ext uri="{FF2B5EF4-FFF2-40B4-BE49-F238E27FC236}">
                <a16:creationId xmlns:a16="http://schemas.microsoft.com/office/drawing/2014/main" id="{654F3F2C-574D-EB87-AEF5-E6B6D0993792}"/>
              </a:ext>
            </a:extLst>
          </p:cNvPr>
          <p:cNvSpPr/>
          <p:nvPr/>
        </p:nvSpPr>
        <p:spPr>
          <a:xfrm>
            <a:off x="457200" y="643095"/>
            <a:ext cx="8345156" cy="4244373"/>
          </a:xfrm>
          <a:prstGeom prst="roundRect">
            <a:avLst>
              <a:gd name="adj" fmla="val 5200"/>
            </a:avLst>
          </a:prstGeom>
          <a:solidFill>
            <a:srgbClr val="1C2B3A"/>
          </a:solidFill>
          <a:ln/>
          <a:effectLst>
            <a:outerShdw blurRad="63500" dist="12700" dir="8100000" algn="bl" rotWithShape="0">
              <a:srgbClr val="000000">
                <a:alpha val="20000"/>
              </a:srgbClr>
            </a:outerShdw>
          </a:effectLst>
        </p:spPr>
        <p:txBody>
          <a:bodyPr/>
          <a:lstStyle/>
          <a:p>
            <a:endParaRPr lang="es-ES"/>
          </a:p>
        </p:txBody>
      </p:sp>
      <p:sp>
        <p:nvSpPr>
          <p:cNvPr id="4" name="Shape 0">
            <a:extLst>
              <a:ext uri="{FF2B5EF4-FFF2-40B4-BE49-F238E27FC236}">
                <a16:creationId xmlns:a16="http://schemas.microsoft.com/office/drawing/2014/main" id="{5A73D7B8-10CD-340F-7219-0B7B3FB4F98E}"/>
              </a:ext>
            </a:extLst>
          </p:cNvPr>
          <p:cNvSpPr/>
          <p:nvPr/>
        </p:nvSpPr>
        <p:spPr>
          <a:xfrm>
            <a:off x="457200" y="256032"/>
            <a:ext cx="2948940" cy="256032"/>
          </a:xfrm>
          <a:prstGeom prst="roundRect">
            <a:avLst>
              <a:gd name="adj" fmla="val 14286"/>
            </a:avLst>
          </a:prstGeom>
          <a:solidFill>
            <a:srgbClr val="F7931A"/>
          </a:solidFill>
          <a:ln w="12700">
            <a:solidFill>
              <a:srgbClr val="F7931A"/>
            </a:solidFill>
            <a:prstDash val="solid"/>
          </a:ln>
        </p:spPr>
        <p:txBody>
          <a:bodyPr/>
          <a:lstStyle/>
          <a:p>
            <a:endParaRPr lang="es-ES"/>
          </a:p>
        </p:txBody>
      </p:sp>
      <p:sp>
        <p:nvSpPr>
          <p:cNvPr id="5" name="Text 1">
            <a:extLst>
              <a:ext uri="{FF2B5EF4-FFF2-40B4-BE49-F238E27FC236}">
                <a16:creationId xmlns:a16="http://schemas.microsoft.com/office/drawing/2014/main" id="{A48D90D0-B374-89CF-4491-1EEF30DE7EC3}"/>
              </a:ext>
            </a:extLst>
          </p:cNvPr>
          <p:cNvSpPr/>
          <p:nvPr/>
        </p:nvSpPr>
        <p:spPr>
          <a:xfrm>
            <a:off x="457200" y="256032"/>
            <a:ext cx="2948940" cy="256032"/>
          </a:xfrm>
          <a:prstGeom prst="rect">
            <a:avLst/>
          </a:prstGeom>
          <a:noFill/>
          <a:ln/>
        </p:spPr>
        <p:txBody>
          <a:bodyPr wrap="square" lIns="0" tIns="0" rIns="0" bIns="0" rtlCol="0" anchor="ctr"/>
          <a:lstStyle/>
          <a:p>
            <a:pPr marL="0" indent="0" algn="ctr">
              <a:buNone/>
            </a:pPr>
            <a:r>
              <a:rPr lang="en-US" sz="1100" b="1" dirty="0">
                <a:solidFill>
                  <a:srgbClr val="FFFFFF"/>
                </a:solidFill>
              </a:rPr>
              <a:t>07 · MANAGEMENT DASHBOARD</a:t>
            </a:r>
            <a:endParaRPr lang="en-US" sz="1100" dirty="0"/>
          </a:p>
        </p:txBody>
      </p:sp>
      <p:pic>
        <p:nvPicPr>
          <p:cNvPr id="7" name="Imagen 6">
            <a:extLst>
              <a:ext uri="{FF2B5EF4-FFF2-40B4-BE49-F238E27FC236}">
                <a16:creationId xmlns:a16="http://schemas.microsoft.com/office/drawing/2014/main" id="{2316D164-4A96-86A3-4E00-413400E3E8A3}"/>
              </a:ext>
            </a:extLst>
          </p:cNvPr>
          <p:cNvPicPr>
            <a:picLocks noChangeAspect="1"/>
          </p:cNvPicPr>
          <p:nvPr/>
        </p:nvPicPr>
        <p:blipFill>
          <a:blip r:embed="rId3"/>
          <a:stretch>
            <a:fillRect/>
          </a:stretch>
        </p:blipFill>
        <p:spPr>
          <a:xfrm>
            <a:off x="970280" y="721233"/>
            <a:ext cx="7203440" cy="4088095"/>
          </a:xfrm>
          <a:prstGeom prst="rect">
            <a:avLst/>
          </a:prstGeom>
        </p:spPr>
      </p:pic>
    </p:spTree>
    <p:extLst>
      <p:ext uri="{BB962C8B-B14F-4D97-AF65-F5344CB8AC3E}">
        <p14:creationId xmlns:p14="http://schemas.microsoft.com/office/powerpoint/2010/main" val="4267169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457200" y="256032"/>
            <a:ext cx="3054096" cy="256032"/>
          </a:xfrm>
          <a:prstGeom prst="roundRect">
            <a:avLst>
              <a:gd name="adj" fmla="val 14286"/>
            </a:avLst>
          </a:prstGeom>
          <a:solidFill>
            <a:srgbClr val="F7931A"/>
          </a:solidFill>
          <a:ln w="12700">
            <a:solidFill>
              <a:srgbClr val="F7931A"/>
            </a:solidFill>
            <a:prstDash val="solid"/>
          </a:ln>
        </p:spPr>
        <p:txBody>
          <a:bodyPr/>
          <a:lstStyle/>
          <a:p>
            <a:endParaRPr lang="es-ES"/>
          </a:p>
        </p:txBody>
      </p:sp>
      <p:sp>
        <p:nvSpPr>
          <p:cNvPr id="3" name="Text 1"/>
          <p:cNvSpPr/>
          <p:nvPr/>
        </p:nvSpPr>
        <p:spPr>
          <a:xfrm>
            <a:off x="457200" y="256032"/>
            <a:ext cx="3054096" cy="256032"/>
          </a:xfrm>
          <a:prstGeom prst="rect">
            <a:avLst/>
          </a:prstGeom>
          <a:noFill/>
          <a:ln/>
        </p:spPr>
        <p:txBody>
          <a:bodyPr wrap="square" lIns="0" tIns="0" rIns="0" bIns="0" rtlCol="0" anchor="ctr"/>
          <a:lstStyle/>
          <a:p>
            <a:pPr marL="0" indent="0" algn="ctr">
              <a:buNone/>
            </a:pPr>
            <a:r>
              <a:rPr lang="en-US" sz="1100" b="1" dirty="0">
                <a:solidFill>
                  <a:srgbClr val="FFFFFF"/>
                </a:solidFill>
              </a:rPr>
              <a:t>08 · SUMMARY &amp; LIMITATIONS</a:t>
            </a:r>
            <a:endParaRPr lang="en-US" sz="1100" dirty="0"/>
          </a:p>
        </p:txBody>
      </p:sp>
      <p:sp>
        <p:nvSpPr>
          <p:cNvPr id="4" name="Text 2"/>
          <p:cNvSpPr/>
          <p:nvPr/>
        </p:nvSpPr>
        <p:spPr>
          <a:xfrm>
            <a:off x="457200" y="566928"/>
            <a:ext cx="8229600" cy="502920"/>
          </a:xfrm>
          <a:prstGeom prst="rect">
            <a:avLst/>
          </a:prstGeom>
          <a:noFill/>
          <a:ln/>
        </p:spPr>
        <p:txBody>
          <a:bodyPr wrap="square" lIns="0" tIns="0" rIns="0" bIns="0" rtlCol="0" anchor="ctr"/>
          <a:lstStyle/>
          <a:p>
            <a:pPr marL="0" indent="0">
              <a:buNone/>
            </a:pPr>
            <a:r>
              <a:rPr lang="en-US" sz="2800" b="1" dirty="0">
                <a:solidFill>
                  <a:srgbClr val="1A2332"/>
                </a:solidFill>
              </a:rPr>
              <a:t>Project Outcomes &amp; Next Steps</a:t>
            </a:r>
            <a:endParaRPr lang="en-US" sz="2800" dirty="0"/>
          </a:p>
        </p:txBody>
      </p:sp>
      <p:sp>
        <p:nvSpPr>
          <p:cNvPr id="5" name="Shape 3"/>
          <p:cNvSpPr/>
          <p:nvPr/>
        </p:nvSpPr>
        <p:spPr>
          <a:xfrm>
            <a:off x="457200" y="1188719"/>
            <a:ext cx="4114800" cy="2587751"/>
          </a:xfrm>
          <a:prstGeom prst="roundRect">
            <a:avLst>
              <a:gd name="adj" fmla="val 3922"/>
            </a:avLst>
          </a:prstGeom>
          <a:solidFill>
            <a:srgbClr val="FFFFFF"/>
          </a:solidFill>
          <a:ln/>
          <a:effectLst>
            <a:outerShdw blurRad="101600" dist="25400" dir="8100000" algn="bl" rotWithShape="0">
              <a:srgbClr val="000000">
                <a:alpha val="10000"/>
              </a:srgbClr>
            </a:outerShdw>
          </a:effectLst>
        </p:spPr>
        <p:txBody>
          <a:bodyPr/>
          <a:lstStyle/>
          <a:p>
            <a:endParaRPr lang="es-ES"/>
          </a:p>
        </p:txBody>
      </p:sp>
      <p:sp>
        <p:nvSpPr>
          <p:cNvPr id="6" name="Text 4"/>
          <p:cNvSpPr/>
          <p:nvPr/>
        </p:nvSpPr>
        <p:spPr>
          <a:xfrm>
            <a:off x="594360" y="1298448"/>
            <a:ext cx="3840480" cy="256032"/>
          </a:xfrm>
          <a:prstGeom prst="rect">
            <a:avLst/>
          </a:prstGeom>
          <a:noFill/>
          <a:ln/>
        </p:spPr>
        <p:txBody>
          <a:bodyPr wrap="square" lIns="0" tIns="0" rIns="0" bIns="0" rtlCol="0" anchor="ctr"/>
          <a:lstStyle/>
          <a:p>
            <a:pPr marL="0" indent="0">
              <a:buNone/>
            </a:pPr>
            <a:r>
              <a:rPr lang="en-US" sz="1200" b="1" dirty="0">
                <a:solidFill>
                  <a:srgbClr val="26C6A2"/>
                </a:solidFill>
              </a:rPr>
              <a:t>✓  WHAT WAS ACHIEVED</a:t>
            </a:r>
            <a:endParaRPr lang="en-US" sz="1200" dirty="0"/>
          </a:p>
        </p:txBody>
      </p:sp>
      <p:sp>
        <p:nvSpPr>
          <p:cNvPr id="7" name="Text 5"/>
          <p:cNvSpPr/>
          <p:nvPr/>
        </p:nvSpPr>
        <p:spPr>
          <a:xfrm>
            <a:off x="594360" y="1609344"/>
            <a:ext cx="3840480" cy="1828800"/>
          </a:xfrm>
          <a:prstGeom prst="rect">
            <a:avLst/>
          </a:prstGeom>
          <a:noFill/>
          <a:ln/>
        </p:spPr>
        <p:txBody>
          <a:bodyPr wrap="square" lIns="0" tIns="0" rIns="0" bIns="0" rtlCol="0" anchor="t"/>
          <a:lstStyle/>
          <a:p>
            <a:pPr marL="342900" indent="-342900">
              <a:buSzPct val="100000"/>
              <a:buChar char="•"/>
            </a:pPr>
            <a:r>
              <a:rPr lang="en-US" sz="1100" dirty="0">
                <a:solidFill>
                  <a:srgbClr val="1A2332"/>
                </a:solidFill>
              </a:rPr>
              <a:t>Full ETL pipeline: 2 Python scripts, 6 staging tables, 4 DW dimensions, 1 fact table</a:t>
            </a:r>
            <a:endParaRPr lang="en-US" sz="1100" dirty="0"/>
          </a:p>
          <a:p>
            <a:pPr marL="342900" indent="-342900">
              <a:buSzPct val="100000"/>
              <a:buChar char="•"/>
            </a:pPr>
            <a:r>
              <a:rPr lang="en-US" sz="1100" dirty="0">
                <a:solidFill>
                  <a:srgbClr val="1A2332"/>
                </a:solidFill>
              </a:rPr>
              <a:t>SSAS multidimensional cube + Power BI live connection dashboard</a:t>
            </a:r>
            <a:endParaRPr lang="en-US" sz="1100" dirty="0"/>
          </a:p>
          <a:p>
            <a:pPr marL="342900" indent="-342900">
              <a:buSzPct val="100000"/>
              <a:buChar char="•"/>
            </a:pPr>
            <a:r>
              <a:rPr lang="en-US" sz="1100" dirty="0">
                <a:solidFill>
                  <a:srgbClr val="1A2332"/>
                </a:solidFill>
              </a:rPr>
              <a:t>657,968 transactions loaded (and growing via backfill)</a:t>
            </a:r>
            <a:endParaRPr lang="en-US" sz="1100" dirty="0"/>
          </a:p>
          <a:p>
            <a:pPr marL="342900" indent="-342900">
              <a:buSzPct val="100000"/>
              <a:buChar char="•"/>
            </a:pPr>
            <a:r>
              <a:rPr lang="en-US" sz="1100" dirty="0">
                <a:solidFill>
                  <a:srgbClr val="1A2332"/>
                </a:solidFill>
              </a:rPr>
              <a:t>10 OLAP queries: 7 answered with live results, 3 correctly identified as structurally impossible</a:t>
            </a:r>
            <a:endParaRPr lang="en-US" sz="1100" dirty="0"/>
          </a:p>
          <a:p>
            <a:pPr marL="342900" indent="-342900">
              <a:buSzPct val="100000"/>
              <a:buChar char="•"/>
            </a:pPr>
            <a:r>
              <a:rPr lang="en-US" sz="1100" dirty="0">
                <a:solidFill>
                  <a:srgbClr val="1A2332"/>
                </a:solidFill>
              </a:rPr>
              <a:t>Unanswerable queries documented with precise technical justifications - not silently omitted</a:t>
            </a:r>
            <a:endParaRPr lang="en-US" sz="1100" dirty="0"/>
          </a:p>
        </p:txBody>
      </p:sp>
      <p:sp>
        <p:nvSpPr>
          <p:cNvPr id="8" name="Shape 6"/>
          <p:cNvSpPr/>
          <p:nvPr/>
        </p:nvSpPr>
        <p:spPr>
          <a:xfrm>
            <a:off x="4709160" y="1188720"/>
            <a:ext cx="3977640" cy="2587752"/>
          </a:xfrm>
          <a:prstGeom prst="roundRect">
            <a:avLst>
              <a:gd name="adj" fmla="val 3922"/>
            </a:avLst>
          </a:prstGeom>
          <a:solidFill>
            <a:srgbClr val="FFFFFF"/>
          </a:solidFill>
          <a:ln/>
          <a:effectLst>
            <a:outerShdw blurRad="101600" dist="25400" dir="8100000" algn="bl" rotWithShape="0">
              <a:srgbClr val="000000">
                <a:alpha val="10000"/>
              </a:srgbClr>
            </a:outerShdw>
          </a:effectLst>
        </p:spPr>
        <p:txBody>
          <a:bodyPr/>
          <a:lstStyle/>
          <a:p>
            <a:endParaRPr lang="es-ES"/>
          </a:p>
        </p:txBody>
      </p:sp>
      <p:sp>
        <p:nvSpPr>
          <p:cNvPr id="9" name="Text 7"/>
          <p:cNvSpPr/>
          <p:nvPr/>
        </p:nvSpPr>
        <p:spPr>
          <a:xfrm>
            <a:off x="4846320" y="1298448"/>
            <a:ext cx="3657600" cy="256032"/>
          </a:xfrm>
          <a:prstGeom prst="rect">
            <a:avLst/>
          </a:prstGeom>
          <a:noFill/>
          <a:ln/>
        </p:spPr>
        <p:txBody>
          <a:bodyPr wrap="square" lIns="0" tIns="0" rIns="0" bIns="0" rtlCol="0" anchor="ctr"/>
          <a:lstStyle/>
          <a:p>
            <a:pPr marL="0" indent="0">
              <a:buNone/>
            </a:pPr>
            <a:r>
              <a:rPr lang="en-US" sz="1200" b="1" dirty="0">
                <a:solidFill>
                  <a:srgbClr val="E53935"/>
                </a:solidFill>
              </a:rPr>
              <a:t>!  PRIMARY LIMITATION</a:t>
            </a:r>
            <a:endParaRPr lang="en-US" sz="1200" dirty="0"/>
          </a:p>
        </p:txBody>
      </p:sp>
      <p:sp>
        <p:nvSpPr>
          <p:cNvPr id="10" name="Text 8"/>
          <p:cNvSpPr/>
          <p:nvPr/>
        </p:nvSpPr>
        <p:spPr>
          <a:xfrm>
            <a:off x="4846320" y="1609344"/>
            <a:ext cx="3657600" cy="1371600"/>
          </a:xfrm>
          <a:prstGeom prst="rect">
            <a:avLst/>
          </a:prstGeom>
          <a:noFill/>
          <a:ln/>
        </p:spPr>
        <p:txBody>
          <a:bodyPr wrap="square" lIns="0" tIns="0" rIns="0" bIns="0" rtlCol="0" anchor="t"/>
          <a:lstStyle/>
          <a:p>
            <a:pPr marL="342900" indent="-342900">
              <a:buSzPct val="100000"/>
              <a:buChar char="•"/>
            </a:pPr>
            <a:r>
              <a:rPr lang="en-US" sz="1100" dirty="0">
                <a:solidFill>
                  <a:srgbClr val="1A2332"/>
                </a:solidFill>
              </a:rPr>
              <a:t>Dataset covers only Era 5 (May–June 2026) - cross-era comparisons analytically limited with a single era</a:t>
            </a:r>
            <a:endParaRPr lang="en-US" sz="1100" dirty="0"/>
          </a:p>
          <a:p>
            <a:pPr marL="342900" indent="-342900">
              <a:buSzPct val="100000"/>
              <a:buChar char="•"/>
            </a:pPr>
            <a:r>
              <a:rPr lang="en-US" sz="1100" dirty="0">
                <a:solidFill>
                  <a:srgbClr val="1A2332"/>
                </a:solidFill>
              </a:rPr>
              <a:t>Several dashboard visuals trivial: difficulty tier bar (1 tier), heatmap (1 era column)</a:t>
            </a:r>
            <a:endParaRPr lang="en-US" sz="1100" dirty="0"/>
          </a:p>
          <a:p>
            <a:pPr marL="342900" indent="-342900">
              <a:buSzPct val="100000"/>
              <a:buChar char="•"/>
            </a:pPr>
            <a:r>
              <a:rPr lang="en-US" sz="1100" dirty="0">
                <a:solidFill>
                  <a:srgbClr val="1A2332"/>
                </a:solidFill>
              </a:rPr>
              <a:t>Fix underway: btc_pipeline_backwards.py downloading historical blocks toward Era 1 - all cross-era queries auto-populate as it progresses</a:t>
            </a:r>
            <a:endParaRPr lang="en-US" sz="1100" dirty="0"/>
          </a:p>
        </p:txBody>
      </p:sp>
      <p:sp>
        <p:nvSpPr>
          <p:cNvPr id="11" name="Text 9"/>
          <p:cNvSpPr/>
          <p:nvPr/>
        </p:nvSpPr>
        <p:spPr>
          <a:xfrm>
            <a:off x="4846320" y="2999232"/>
            <a:ext cx="3657600" cy="219456"/>
          </a:xfrm>
          <a:prstGeom prst="rect">
            <a:avLst/>
          </a:prstGeom>
          <a:noFill/>
          <a:ln/>
        </p:spPr>
        <p:txBody>
          <a:bodyPr wrap="square" lIns="0" tIns="0" rIns="0" bIns="0" rtlCol="0" anchor="ctr"/>
          <a:lstStyle/>
          <a:p>
            <a:pPr marL="0" indent="0">
              <a:buNone/>
            </a:pPr>
            <a:r>
              <a:rPr lang="en-US" sz="1200" b="1" dirty="0">
                <a:solidFill>
                  <a:srgbClr val="1E88E5"/>
                </a:solidFill>
              </a:rPr>
              <a:t>V2 MODEL ADDITIONS</a:t>
            </a:r>
            <a:endParaRPr lang="en-US" sz="1200" dirty="0"/>
          </a:p>
        </p:txBody>
      </p:sp>
      <p:sp>
        <p:nvSpPr>
          <p:cNvPr id="12" name="Text 10"/>
          <p:cNvSpPr/>
          <p:nvPr/>
        </p:nvSpPr>
        <p:spPr>
          <a:xfrm>
            <a:off x="4846320" y="3227832"/>
            <a:ext cx="3657600" cy="548640"/>
          </a:xfrm>
          <a:prstGeom prst="rect">
            <a:avLst/>
          </a:prstGeom>
          <a:noFill/>
          <a:ln/>
        </p:spPr>
        <p:txBody>
          <a:bodyPr wrap="square" lIns="0" tIns="0" rIns="0" bIns="0" rtlCol="0" anchor="t"/>
          <a:lstStyle/>
          <a:p>
            <a:pPr marL="342900" indent="-342900">
              <a:buSzPct val="100000"/>
              <a:buFont typeface="+mj-lt"/>
              <a:buAutoNum type="arabicPeriod"/>
            </a:pPr>
            <a:r>
              <a:rPr lang="en-US" sz="1100" dirty="0">
                <a:solidFill>
                  <a:srgbClr val="455A64"/>
                </a:solidFill>
              </a:rPr>
              <a:t>Add input_count to FACT_TRANSACTION → unlocks Q1.5</a:t>
            </a:r>
            <a:endParaRPr lang="en-US" sz="1100" dirty="0"/>
          </a:p>
          <a:p>
            <a:pPr marL="342900" indent="-342900">
              <a:buSzPct val="100000"/>
              <a:buFont typeface="+mj-lt"/>
              <a:buAutoNum type="arabicPeriod"/>
            </a:pPr>
            <a:r>
              <a:rPr lang="en-US" sz="1100" dirty="0">
                <a:solidFill>
                  <a:srgbClr val="455A64"/>
                </a:solidFill>
              </a:rPr>
              <a:t>Add DIM_SIZE_TIER dimension → unlocks Q1.3</a:t>
            </a:r>
            <a:endParaRPr lang="en-US" sz="1100" dirty="0"/>
          </a:p>
          <a:p>
            <a:pPr marL="342900" indent="-342900">
              <a:buSzPct val="100000"/>
              <a:buFont typeface="+mj-lt"/>
              <a:buAutoNum type="arabicPeriod"/>
            </a:pPr>
            <a:r>
              <a:rPr lang="en-US" sz="1100" dirty="0">
                <a:solidFill>
                  <a:srgbClr val="455A64"/>
                </a:solidFill>
              </a:rPr>
              <a:t>Add circulating supply fact table → enables precise NVT</a:t>
            </a:r>
            <a:endParaRPr lang="en-US" sz="1100" dirty="0"/>
          </a:p>
        </p:txBody>
      </p:sp>
      <p:sp>
        <p:nvSpPr>
          <p:cNvPr id="13" name="Shape 11"/>
          <p:cNvSpPr/>
          <p:nvPr/>
        </p:nvSpPr>
        <p:spPr>
          <a:xfrm>
            <a:off x="457200" y="3970053"/>
            <a:ext cx="1554480" cy="685800"/>
          </a:xfrm>
          <a:prstGeom prst="roundRect">
            <a:avLst>
              <a:gd name="adj" fmla="val 9333"/>
            </a:avLst>
          </a:prstGeom>
          <a:solidFill>
            <a:srgbClr val="0D1B2A"/>
          </a:solidFill>
          <a:ln/>
          <a:effectLst>
            <a:outerShdw blurRad="76200" dist="25400" dir="8100000" algn="bl" rotWithShape="0">
              <a:srgbClr val="000000">
                <a:alpha val="12000"/>
              </a:srgbClr>
            </a:outerShdw>
          </a:effectLst>
        </p:spPr>
        <p:txBody>
          <a:bodyPr/>
          <a:lstStyle/>
          <a:p>
            <a:endParaRPr lang="es-ES"/>
          </a:p>
        </p:txBody>
      </p:sp>
      <p:sp>
        <p:nvSpPr>
          <p:cNvPr id="14" name="Text 12"/>
          <p:cNvSpPr/>
          <p:nvPr/>
        </p:nvSpPr>
        <p:spPr>
          <a:xfrm>
            <a:off x="457200" y="4020853"/>
            <a:ext cx="1554480" cy="347472"/>
          </a:xfrm>
          <a:prstGeom prst="rect">
            <a:avLst/>
          </a:prstGeom>
          <a:noFill/>
          <a:ln/>
        </p:spPr>
        <p:txBody>
          <a:bodyPr wrap="square" lIns="0" tIns="0" rIns="0" bIns="0" rtlCol="0" anchor="b"/>
          <a:lstStyle/>
          <a:p>
            <a:pPr marL="0" indent="0" algn="ctr">
              <a:buNone/>
            </a:pPr>
            <a:r>
              <a:rPr lang="en-US" sz="2400" b="1" dirty="0">
                <a:solidFill>
                  <a:srgbClr val="F7931A"/>
                </a:solidFill>
              </a:rPr>
              <a:t>2</a:t>
            </a:r>
            <a:endParaRPr lang="en-US" sz="2400" dirty="0"/>
          </a:p>
        </p:txBody>
      </p:sp>
      <p:sp>
        <p:nvSpPr>
          <p:cNvPr id="15" name="Text 13"/>
          <p:cNvSpPr/>
          <p:nvPr/>
        </p:nvSpPr>
        <p:spPr>
          <a:xfrm>
            <a:off x="457200" y="4377469"/>
            <a:ext cx="1554480" cy="237744"/>
          </a:xfrm>
          <a:prstGeom prst="rect">
            <a:avLst/>
          </a:prstGeom>
          <a:noFill/>
          <a:ln/>
        </p:spPr>
        <p:txBody>
          <a:bodyPr wrap="square" lIns="0" tIns="0" rIns="0" bIns="0" rtlCol="0" anchor="t"/>
          <a:lstStyle/>
          <a:p>
            <a:pPr marL="0" indent="0" algn="ctr">
              <a:buNone/>
            </a:pPr>
            <a:r>
              <a:rPr lang="en-US" sz="1100" dirty="0">
                <a:solidFill>
                  <a:srgbClr val="B0BEC5"/>
                </a:solidFill>
              </a:rPr>
              <a:t>Python Scripts</a:t>
            </a:r>
            <a:endParaRPr lang="en-US" sz="1100" dirty="0"/>
          </a:p>
        </p:txBody>
      </p:sp>
      <p:sp>
        <p:nvSpPr>
          <p:cNvPr id="16" name="Shape 14"/>
          <p:cNvSpPr/>
          <p:nvPr/>
        </p:nvSpPr>
        <p:spPr>
          <a:xfrm>
            <a:off x="2148840" y="3970053"/>
            <a:ext cx="1554480" cy="685800"/>
          </a:xfrm>
          <a:prstGeom prst="roundRect">
            <a:avLst>
              <a:gd name="adj" fmla="val 9333"/>
            </a:avLst>
          </a:prstGeom>
          <a:solidFill>
            <a:srgbClr val="0D1B2A"/>
          </a:solidFill>
          <a:ln/>
          <a:effectLst>
            <a:outerShdw blurRad="76200" dist="25400" dir="8100000" algn="bl" rotWithShape="0">
              <a:srgbClr val="000000">
                <a:alpha val="12000"/>
              </a:srgbClr>
            </a:outerShdw>
          </a:effectLst>
        </p:spPr>
        <p:txBody>
          <a:bodyPr/>
          <a:lstStyle/>
          <a:p>
            <a:endParaRPr lang="es-ES"/>
          </a:p>
        </p:txBody>
      </p:sp>
      <p:sp>
        <p:nvSpPr>
          <p:cNvPr id="17" name="Text 15"/>
          <p:cNvSpPr/>
          <p:nvPr/>
        </p:nvSpPr>
        <p:spPr>
          <a:xfrm>
            <a:off x="2148840" y="4020853"/>
            <a:ext cx="1554480" cy="347472"/>
          </a:xfrm>
          <a:prstGeom prst="rect">
            <a:avLst/>
          </a:prstGeom>
          <a:noFill/>
          <a:ln/>
        </p:spPr>
        <p:txBody>
          <a:bodyPr wrap="square" lIns="0" tIns="0" rIns="0" bIns="0" rtlCol="0" anchor="b"/>
          <a:lstStyle/>
          <a:p>
            <a:pPr marL="0" indent="0" algn="ctr">
              <a:buNone/>
            </a:pPr>
            <a:r>
              <a:rPr lang="en-US" sz="2400" b="1" dirty="0">
                <a:solidFill>
                  <a:srgbClr val="F7931A"/>
                </a:solidFill>
              </a:rPr>
              <a:t>6</a:t>
            </a:r>
            <a:endParaRPr lang="en-US" sz="2400" dirty="0"/>
          </a:p>
        </p:txBody>
      </p:sp>
      <p:sp>
        <p:nvSpPr>
          <p:cNvPr id="18" name="Text 16"/>
          <p:cNvSpPr/>
          <p:nvPr/>
        </p:nvSpPr>
        <p:spPr>
          <a:xfrm>
            <a:off x="2148840" y="4377469"/>
            <a:ext cx="1554480" cy="237744"/>
          </a:xfrm>
          <a:prstGeom prst="rect">
            <a:avLst/>
          </a:prstGeom>
          <a:noFill/>
          <a:ln/>
        </p:spPr>
        <p:txBody>
          <a:bodyPr wrap="square" lIns="0" tIns="0" rIns="0" bIns="0" rtlCol="0" anchor="t"/>
          <a:lstStyle/>
          <a:p>
            <a:pPr marL="0" indent="0" algn="ctr">
              <a:buNone/>
            </a:pPr>
            <a:r>
              <a:rPr lang="en-US" sz="1100" dirty="0">
                <a:solidFill>
                  <a:srgbClr val="B0BEC5"/>
                </a:solidFill>
              </a:rPr>
              <a:t>Staging Tables</a:t>
            </a:r>
            <a:endParaRPr lang="en-US" sz="1100" dirty="0"/>
          </a:p>
        </p:txBody>
      </p:sp>
      <p:sp>
        <p:nvSpPr>
          <p:cNvPr id="19" name="Shape 17"/>
          <p:cNvSpPr/>
          <p:nvPr/>
        </p:nvSpPr>
        <p:spPr>
          <a:xfrm>
            <a:off x="3840480" y="3970053"/>
            <a:ext cx="1554480" cy="685800"/>
          </a:xfrm>
          <a:prstGeom prst="roundRect">
            <a:avLst>
              <a:gd name="adj" fmla="val 9333"/>
            </a:avLst>
          </a:prstGeom>
          <a:solidFill>
            <a:srgbClr val="0D1B2A"/>
          </a:solidFill>
          <a:ln/>
          <a:effectLst>
            <a:outerShdw blurRad="76200" dist="25400" dir="8100000" algn="bl" rotWithShape="0">
              <a:srgbClr val="000000">
                <a:alpha val="12000"/>
              </a:srgbClr>
            </a:outerShdw>
          </a:effectLst>
        </p:spPr>
        <p:txBody>
          <a:bodyPr/>
          <a:lstStyle/>
          <a:p>
            <a:endParaRPr lang="es-ES"/>
          </a:p>
        </p:txBody>
      </p:sp>
      <p:sp>
        <p:nvSpPr>
          <p:cNvPr id="20" name="Text 18"/>
          <p:cNvSpPr/>
          <p:nvPr/>
        </p:nvSpPr>
        <p:spPr>
          <a:xfrm>
            <a:off x="3840480" y="4020853"/>
            <a:ext cx="1554480" cy="347472"/>
          </a:xfrm>
          <a:prstGeom prst="rect">
            <a:avLst/>
          </a:prstGeom>
          <a:noFill/>
          <a:ln/>
        </p:spPr>
        <p:txBody>
          <a:bodyPr wrap="square" lIns="0" tIns="0" rIns="0" bIns="0" rtlCol="0" anchor="b"/>
          <a:lstStyle/>
          <a:p>
            <a:pPr marL="0" indent="0" algn="ctr">
              <a:buNone/>
            </a:pPr>
            <a:r>
              <a:rPr lang="en-US" sz="2400" b="1" dirty="0">
                <a:solidFill>
                  <a:srgbClr val="F7931A"/>
                </a:solidFill>
              </a:rPr>
              <a:t>5</a:t>
            </a:r>
            <a:endParaRPr lang="en-US" sz="2400" dirty="0"/>
          </a:p>
        </p:txBody>
      </p:sp>
      <p:sp>
        <p:nvSpPr>
          <p:cNvPr id="21" name="Text 19"/>
          <p:cNvSpPr/>
          <p:nvPr/>
        </p:nvSpPr>
        <p:spPr>
          <a:xfrm>
            <a:off x="3840480" y="4377469"/>
            <a:ext cx="1554480" cy="237744"/>
          </a:xfrm>
          <a:prstGeom prst="rect">
            <a:avLst/>
          </a:prstGeom>
          <a:noFill/>
          <a:ln/>
        </p:spPr>
        <p:txBody>
          <a:bodyPr wrap="square" lIns="0" tIns="0" rIns="0" bIns="0" rtlCol="0" anchor="t"/>
          <a:lstStyle/>
          <a:p>
            <a:pPr marL="0" indent="0" algn="ctr">
              <a:buNone/>
            </a:pPr>
            <a:r>
              <a:rPr lang="en-US" sz="1100" dirty="0">
                <a:solidFill>
                  <a:srgbClr val="B0BEC5"/>
                </a:solidFill>
              </a:rPr>
              <a:t>DW Tables</a:t>
            </a:r>
            <a:endParaRPr lang="en-US" sz="1100" dirty="0"/>
          </a:p>
        </p:txBody>
      </p:sp>
      <p:sp>
        <p:nvSpPr>
          <p:cNvPr id="22" name="Shape 20"/>
          <p:cNvSpPr/>
          <p:nvPr/>
        </p:nvSpPr>
        <p:spPr>
          <a:xfrm>
            <a:off x="5532120" y="3970053"/>
            <a:ext cx="1554480" cy="685800"/>
          </a:xfrm>
          <a:prstGeom prst="roundRect">
            <a:avLst>
              <a:gd name="adj" fmla="val 9333"/>
            </a:avLst>
          </a:prstGeom>
          <a:solidFill>
            <a:srgbClr val="0D1B2A"/>
          </a:solidFill>
          <a:ln/>
          <a:effectLst>
            <a:outerShdw blurRad="76200" dist="25400" dir="8100000" algn="bl" rotWithShape="0">
              <a:srgbClr val="000000">
                <a:alpha val="12000"/>
              </a:srgbClr>
            </a:outerShdw>
          </a:effectLst>
        </p:spPr>
        <p:txBody>
          <a:bodyPr/>
          <a:lstStyle/>
          <a:p>
            <a:endParaRPr lang="es-ES"/>
          </a:p>
        </p:txBody>
      </p:sp>
      <p:sp>
        <p:nvSpPr>
          <p:cNvPr id="23" name="Text 21"/>
          <p:cNvSpPr/>
          <p:nvPr/>
        </p:nvSpPr>
        <p:spPr>
          <a:xfrm>
            <a:off x="5532120" y="4020853"/>
            <a:ext cx="1554480" cy="347472"/>
          </a:xfrm>
          <a:prstGeom prst="rect">
            <a:avLst/>
          </a:prstGeom>
          <a:noFill/>
          <a:ln/>
        </p:spPr>
        <p:txBody>
          <a:bodyPr wrap="square" lIns="0" tIns="0" rIns="0" bIns="0" rtlCol="0" anchor="b"/>
          <a:lstStyle/>
          <a:p>
            <a:pPr marL="0" indent="0" algn="ctr">
              <a:buNone/>
            </a:pPr>
            <a:r>
              <a:rPr lang="en-US" sz="2400" b="1" dirty="0">
                <a:solidFill>
                  <a:srgbClr val="F7931A"/>
                </a:solidFill>
              </a:rPr>
              <a:t>1</a:t>
            </a:r>
            <a:endParaRPr lang="en-US" sz="2400" dirty="0"/>
          </a:p>
        </p:txBody>
      </p:sp>
      <p:sp>
        <p:nvSpPr>
          <p:cNvPr id="24" name="Text 22"/>
          <p:cNvSpPr/>
          <p:nvPr/>
        </p:nvSpPr>
        <p:spPr>
          <a:xfrm>
            <a:off x="5532120" y="4377469"/>
            <a:ext cx="1554480" cy="237744"/>
          </a:xfrm>
          <a:prstGeom prst="rect">
            <a:avLst/>
          </a:prstGeom>
          <a:noFill/>
          <a:ln/>
        </p:spPr>
        <p:txBody>
          <a:bodyPr wrap="square" lIns="0" tIns="0" rIns="0" bIns="0" rtlCol="0" anchor="t"/>
          <a:lstStyle/>
          <a:p>
            <a:pPr marL="0" indent="0" algn="ctr">
              <a:buNone/>
            </a:pPr>
            <a:r>
              <a:rPr lang="en-US" sz="1100" dirty="0">
                <a:solidFill>
                  <a:srgbClr val="B0BEC5"/>
                </a:solidFill>
              </a:rPr>
              <a:t>SSAS Cube</a:t>
            </a:r>
            <a:endParaRPr lang="en-US" sz="1100" dirty="0"/>
          </a:p>
        </p:txBody>
      </p:sp>
      <p:sp>
        <p:nvSpPr>
          <p:cNvPr id="25" name="Shape 23"/>
          <p:cNvSpPr/>
          <p:nvPr/>
        </p:nvSpPr>
        <p:spPr>
          <a:xfrm>
            <a:off x="7223760" y="3970053"/>
            <a:ext cx="1554480" cy="685800"/>
          </a:xfrm>
          <a:prstGeom prst="roundRect">
            <a:avLst>
              <a:gd name="adj" fmla="val 9333"/>
            </a:avLst>
          </a:prstGeom>
          <a:solidFill>
            <a:srgbClr val="0D1B2A"/>
          </a:solidFill>
          <a:ln/>
          <a:effectLst>
            <a:outerShdw blurRad="76200" dist="25400" dir="8100000" algn="bl" rotWithShape="0">
              <a:srgbClr val="000000">
                <a:alpha val="12000"/>
              </a:srgbClr>
            </a:outerShdw>
          </a:effectLst>
        </p:spPr>
        <p:txBody>
          <a:bodyPr/>
          <a:lstStyle/>
          <a:p>
            <a:endParaRPr lang="es-ES"/>
          </a:p>
        </p:txBody>
      </p:sp>
      <p:sp>
        <p:nvSpPr>
          <p:cNvPr id="26" name="Text 24"/>
          <p:cNvSpPr/>
          <p:nvPr/>
        </p:nvSpPr>
        <p:spPr>
          <a:xfrm>
            <a:off x="7223760" y="4020853"/>
            <a:ext cx="1554480" cy="347472"/>
          </a:xfrm>
          <a:prstGeom prst="rect">
            <a:avLst/>
          </a:prstGeom>
          <a:noFill/>
          <a:ln/>
        </p:spPr>
        <p:txBody>
          <a:bodyPr wrap="square" lIns="0" tIns="0" rIns="0" bIns="0" rtlCol="0" anchor="b"/>
          <a:lstStyle/>
          <a:p>
            <a:pPr marL="0" indent="0" algn="ctr">
              <a:buNone/>
            </a:pPr>
            <a:r>
              <a:rPr lang="en-US" sz="2400" b="1" dirty="0">
                <a:solidFill>
                  <a:srgbClr val="F7931A"/>
                </a:solidFill>
              </a:rPr>
              <a:t>7</a:t>
            </a:r>
            <a:endParaRPr lang="en-US" sz="2400" dirty="0"/>
          </a:p>
        </p:txBody>
      </p:sp>
      <p:sp>
        <p:nvSpPr>
          <p:cNvPr id="27" name="Text 25"/>
          <p:cNvSpPr/>
          <p:nvPr/>
        </p:nvSpPr>
        <p:spPr>
          <a:xfrm>
            <a:off x="7223760" y="4377469"/>
            <a:ext cx="1554480" cy="237744"/>
          </a:xfrm>
          <a:prstGeom prst="rect">
            <a:avLst/>
          </a:prstGeom>
          <a:noFill/>
          <a:ln/>
        </p:spPr>
        <p:txBody>
          <a:bodyPr wrap="square" lIns="0" tIns="0" rIns="0" bIns="0" rtlCol="0" anchor="t"/>
          <a:lstStyle/>
          <a:p>
            <a:pPr marL="0" indent="0" algn="ctr">
              <a:buNone/>
            </a:pPr>
            <a:r>
              <a:rPr lang="en-US" sz="1100" dirty="0">
                <a:solidFill>
                  <a:srgbClr val="B0BEC5"/>
                </a:solidFill>
              </a:rPr>
              <a:t>Power BI Visuals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858000" y="-457200"/>
            <a:ext cx="3657600" cy="3657600"/>
          </a:xfrm>
          <a:prstGeom prst="ellipse">
            <a:avLst/>
          </a:prstGeom>
          <a:solidFill>
            <a:srgbClr val="F7931A">
              <a:alpha val="10000"/>
            </a:srgbClr>
          </a:solidFill>
          <a:ln w="12700">
            <a:solidFill>
              <a:srgbClr val="F7931A">
                <a:alpha val="10000"/>
              </a:srgbClr>
            </a:solidFill>
            <a:prstDash val="solid"/>
          </a:ln>
        </p:spPr>
        <p:txBody>
          <a:bodyPr/>
          <a:lstStyle/>
          <a:p>
            <a:endParaRPr lang="es-ES"/>
          </a:p>
        </p:txBody>
      </p:sp>
      <p:sp>
        <p:nvSpPr>
          <p:cNvPr id="3" name="Shape 1"/>
          <p:cNvSpPr/>
          <p:nvPr/>
        </p:nvSpPr>
        <p:spPr>
          <a:xfrm>
            <a:off x="-914400" y="2743200"/>
            <a:ext cx="3200400" cy="3200400"/>
          </a:xfrm>
          <a:prstGeom prst="ellipse">
            <a:avLst/>
          </a:prstGeom>
          <a:solidFill>
            <a:srgbClr val="1E88E5">
              <a:alpha val="12000"/>
            </a:srgbClr>
          </a:solidFill>
          <a:ln w="12700">
            <a:solidFill>
              <a:srgbClr val="1E88E5">
                <a:alpha val="12000"/>
              </a:srgbClr>
            </a:solidFill>
            <a:prstDash val="solid"/>
          </a:ln>
        </p:spPr>
        <p:txBody>
          <a:bodyPr/>
          <a:lstStyle/>
          <a:p>
            <a:endParaRPr lang="es-ES"/>
          </a:p>
        </p:txBody>
      </p:sp>
      <p:sp>
        <p:nvSpPr>
          <p:cNvPr id="4" name="Text 2"/>
          <p:cNvSpPr/>
          <p:nvPr/>
        </p:nvSpPr>
        <p:spPr>
          <a:xfrm>
            <a:off x="731520" y="1097280"/>
            <a:ext cx="7772400" cy="822960"/>
          </a:xfrm>
          <a:prstGeom prst="rect">
            <a:avLst/>
          </a:prstGeom>
          <a:noFill/>
          <a:ln/>
        </p:spPr>
        <p:txBody>
          <a:bodyPr wrap="square" lIns="0" tIns="0" rIns="0" bIns="0" rtlCol="0" anchor="ctr"/>
          <a:lstStyle/>
          <a:p>
            <a:pPr marL="0" indent="0" algn="ctr">
              <a:buNone/>
            </a:pPr>
            <a:r>
              <a:rPr lang="en-US" sz="5200" b="1" dirty="0">
                <a:solidFill>
                  <a:srgbClr val="FFFFFF"/>
                </a:solidFill>
              </a:rPr>
              <a:t>Thank You</a:t>
            </a:r>
            <a:endParaRPr lang="en-US" sz="5200" dirty="0"/>
          </a:p>
        </p:txBody>
      </p:sp>
      <p:sp>
        <p:nvSpPr>
          <p:cNvPr id="5" name="Text 3"/>
          <p:cNvSpPr/>
          <p:nvPr/>
        </p:nvSpPr>
        <p:spPr>
          <a:xfrm>
            <a:off x="731520" y="1920240"/>
            <a:ext cx="7772400" cy="457200"/>
          </a:xfrm>
          <a:prstGeom prst="rect">
            <a:avLst/>
          </a:prstGeom>
          <a:noFill/>
          <a:ln/>
        </p:spPr>
        <p:txBody>
          <a:bodyPr wrap="square" lIns="0" tIns="0" rIns="0" bIns="0" rtlCol="0" anchor="ctr"/>
          <a:lstStyle/>
          <a:p>
            <a:pPr marL="0" indent="0" algn="ctr">
              <a:buNone/>
            </a:pPr>
            <a:r>
              <a:rPr lang="en-US" sz="2000" i="1" dirty="0">
                <a:solidFill>
                  <a:srgbClr val="F7931A"/>
                </a:solidFill>
              </a:rPr>
              <a:t>Questions &amp; Discussion</a:t>
            </a:r>
            <a:endParaRPr lang="en-US" sz="2000" dirty="0"/>
          </a:p>
        </p:txBody>
      </p:sp>
      <p:sp>
        <p:nvSpPr>
          <p:cNvPr id="6" name="Shape 4"/>
          <p:cNvSpPr/>
          <p:nvPr/>
        </p:nvSpPr>
        <p:spPr>
          <a:xfrm>
            <a:off x="3200400" y="2487168"/>
            <a:ext cx="2743200" cy="36576"/>
          </a:xfrm>
          <a:prstGeom prst="rect">
            <a:avLst/>
          </a:prstGeom>
          <a:solidFill>
            <a:srgbClr val="F7931A"/>
          </a:solidFill>
          <a:ln w="12700">
            <a:solidFill>
              <a:srgbClr val="F7931A"/>
            </a:solidFill>
            <a:prstDash val="solid"/>
          </a:ln>
        </p:spPr>
        <p:txBody>
          <a:bodyPr/>
          <a:lstStyle/>
          <a:p>
            <a:endParaRPr lang="es-ES"/>
          </a:p>
        </p:txBody>
      </p:sp>
      <p:sp>
        <p:nvSpPr>
          <p:cNvPr id="7" name="Shape 5"/>
          <p:cNvSpPr/>
          <p:nvPr/>
        </p:nvSpPr>
        <p:spPr>
          <a:xfrm>
            <a:off x="548640" y="2788920"/>
            <a:ext cx="1828800" cy="960120"/>
          </a:xfrm>
          <a:prstGeom prst="roundRect">
            <a:avLst>
              <a:gd name="adj" fmla="val 7619"/>
            </a:avLst>
          </a:prstGeom>
          <a:solidFill>
            <a:srgbClr val="1C2B3A"/>
          </a:solidFill>
          <a:ln/>
          <a:effectLst>
            <a:outerShdw blurRad="127000" dist="38100" dir="8100000" algn="bl" rotWithShape="0">
              <a:srgbClr val="000000">
                <a:alpha val="30000"/>
              </a:srgbClr>
            </a:outerShdw>
          </a:effectLst>
        </p:spPr>
        <p:txBody>
          <a:bodyPr/>
          <a:lstStyle/>
          <a:p>
            <a:endParaRPr lang="es-ES"/>
          </a:p>
        </p:txBody>
      </p:sp>
      <p:sp>
        <p:nvSpPr>
          <p:cNvPr id="8" name="Text 6"/>
          <p:cNvSpPr/>
          <p:nvPr/>
        </p:nvSpPr>
        <p:spPr>
          <a:xfrm>
            <a:off x="548640" y="2834640"/>
            <a:ext cx="1828800" cy="528066"/>
          </a:xfrm>
          <a:prstGeom prst="rect">
            <a:avLst/>
          </a:prstGeom>
          <a:noFill/>
          <a:ln/>
        </p:spPr>
        <p:txBody>
          <a:bodyPr wrap="square" lIns="0" tIns="0" rIns="0" bIns="0" rtlCol="0" anchor="b"/>
          <a:lstStyle/>
          <a:p>
            <a:pPr marL="0" indent="0" algn="ctr">
              <a:buNone/>
            </a:pPr>
            <a:r>
              <a:rPr lang="en-US" sz="3000" b="1" dirty="0">
                <a:solidFill>
                  <a:srgbClr val="F7931A"/>
                </a:solidFill>
              </a:rPr>
              <a:t>657K+</a:t>
            </a:r>
            <a:endParaRPr lang="en-US" sz="3000" dirty="0"/>
          </a:p>
        </p:txBody>
      </p:sp>
      <p:sp>
        <p:nvSpPr>
          <p:cNvPr id="9" name="Text 7"/>
          <p:cNvSpPr/>
          <p:nvPr/>
        </p:nvSpPr>
        <p:spPr>
          <a:xfrm>
            <a:off x="548640" y="3347466"/>
            <a:ext cx="1828800" cy="364846"/>
          </a:xfrm>
          <a:prstGeom prst="rect">
            <a:avLst/>
          </a:prstGeom>
          <a:noFill/>
          <a:ln/>
        </p:spPr>
        <p:txBody>
          <a:bodyPr wrap="square" lIns="0" tIns="0" rIns="0" bIns="0" rtlCol="0" anchor="t"/>
          <a:lstStyle/>
          <a:p>
            <a:pPr marL="0" indent="0" algn="ctr">
              <a:buNone/>
            </a:pPr>
            <a:r>
              <a:rPr lang="en-US" sz="1100" dirty="0">
                <a:solidFill>
                  <a:srgbClr val="B0BEC5"/>
                </a:solidFill>
              </a:rPr>
              <a:t>Transactions</a:t>
            </a:r>
            <a:endParaRPr lang="en-US" sz="1100" dirty="0"/>
          </a:p>
          <a:p>
            <a:pPr marL="0" indent="0" algn="ctr">
              <a:buNone/>
            </a:pPr>
            <a:r>
              <a:rPr lang="en-US" sz="1100" dirty="0">
                <a:solidFill>
                  <a:srgbClr val="B0BEC5"/>
                </a:solidFill>
              </a:rPr>
              <a:t>Loaded</a:t>
            </a:r>
            <a:endParaRPr lang="en-US" sz="1100" dirty="0"/>
          </a:p>
        </p:txBody>
      </p:sp>
      <p:sp>
        <p:nvSpPr>
          <p:cNvPr id="10" name="Shape 8"/>
          <p:cNvSpPr/>
          <p:nvPr/>
        </p:nvSpPr>
        <p:spPr>
          <a:xfrm>
            <a:off x="2578608" y="2788920"/>
            <a:ext cx="1828800" cy="960120"/>
          </a:xfrm>
          <a:prstGeom prst="roundRect">
            <a:avLst>
              <a:gd name="adj" fmla="val 7619"/>
            </a:avLst>
          </a:prstGeom>
          <a:solidFill>
            <a:srgbClr val="1C2B3A"/>
          </a:solidFill>
          <a:ln/>
          <a:effectLst>
            <a:outerShdw blurRad="127000" dist="38100" dir="8100000" algn="bl" rotWithShape="0">
              <a:srgbClr val="000000">
                <a:alpha val="30000"/>
              </a:srgbClr>
            </a:outerShdw>
          </a:effectLst>
        </p:spPr>
        <p:txBody>
          <a:bodyPr/>
          <a:lstStyle/>
          <a:p>
            <a:endParaRPr lang="es-ES"/>
          </a:p>
        </p:txBody>
      </p:sp>
      <p:sp>
        <p:nvSpPr>
          <p:cNvPr id="11" name="Text 9"/>
          <p:cNvSpPr/>
          <p:nvPr/>
        </p:nvSpPr>
        <p:spPr>
          <a:xfrm>
            <a:off x="2578608" y="2834640"/>
            <a:ext cx="1828800" cy="528066"/>
          </a:xfrm>
          <a:prstGeom prst="rect">
            <a:avLst/>
          </a:prstGeom>
          <a:noFill/>
          <a:ln/>
        </p:spPr>
        <p:txBody>
          <a:bodyPr wrap="square" lIns="0" tIns="0" rIns="0" bIns="0" rtlCol="0" anchor="b"/>
          <a:lstStyle/>
          <a:p>
            <a:pPr marL="0" indent="0" algn="ctr">
              <a:buNone/>
            </a:pPr>
            <a:r>
              <a:rPr lang="en-US" sz="3000" b="1" dirty="0">
                <a:solidFill>
                  <a:srgbClr val="F7931A"/>
                </a:solidFill>
              </a:rPr>
              <a:t>7 / 10</a:t>
            </a:r>
            <a:endParaRPr lang="en-US" sz="3000" dirty="0"/>
          </a:p>
        </p:txBody>
      </p:sp>
      <p:sp>
        <p:nvSpPr>
          <p:cNvPr id="12" name="Text 10"/>
          <p:cNvSpPr/>
          <p:nvPr/>
        </p:nvSpPr>
        <p:spPr>
          <a:xfrm>
            <a:off x="2578608" y="3347466"/>
            <a:ext cx="1828800" cy="364846"/>
          </a:xfrm>
          <a:prstGeom prst="rect">
            <a:avLst/>
          </a:prstGeom>
          <a:noFill/>
          <a:ln/>
        </p:spPr>
        <p:txBody>
          <a:bodyPr wrap="square" lIns="0" tIns="0" rIns="0" bIns="0" rtlCol="0" anchor="t"/>
          <a:lstStyle/>
          <a:p>
            <a:pPr marL="0" indent="0" algn="ctr">
              <a:buNone/>
            </a:pPr>
            <a:r>
              <a:rPr lang="en-US" sz="1100" dirty="0">
                <a:solidFill>
                  <a:srgbClr val="B0BEC5"/>
                </a:solidFill>
              </a:rPr>
              <a:t>OLAP Queries</a:t>
            </a:r>
            <a:endParaRPr lang="en-US" sz="1100" dirty="0"/>
          </a:p>
          <a:p>
            <a:pPr marL="0" indent="0" algn="ctr">
              <a:buNone/>
            </a:pPr>
            <a:r>
              <a:rPr lang="en-US" sz="1100" dirty="0">
                <a:solidFill>
                  <a:srgbClr val="B0BEC5"/>
                </a:solidFill>
              </a:rPr>
              <a:t>Answered</a:t>
            </a:r>
            <a:endParaRPr lang="en-US" sz="1100" dirty="0"/>
          </a:p>
        </p:txBody>
      </p:sp>
      <p:sp>
        <p:nvSpPr>
          <p:cNvPr id="13" name="Shape 11"/>
          <p:cNvSpPr/>
          <p:nvPr/>
        </p:nvSpPr>
        <p:spPr>
          <a:xfrm>
            <a:off x="4608576" y="2788920"/>
            <a:ext cx="1828800" cy="960120"/>
          </a:xfrm>
          <a:prstGeom prst="roundRect">
            <a:avLst>
              <a:gd name="adj" fmla="val 7619"/>
            </a:avLst>
          </a:prstGeom>
          <a:solidFill>
            <a:srgbClr val="1C2B3A"/>
          </a:solidFill>
          <a:ln/>
          <a:effectLst>
            <a:outerShdw blurRad="127000" dist="38100" dir="8100000" algn="bl" rotWithShape="0">
              <a:srgbClr val="000000">
                <a:alpha val="30000"/>
              </a:srgbClr>
            </a:outerShdw>
          </a:effectLst>
        </p:spPr>
        <p:txBody>
          <a:bodyPr/>
          <a:lstStyle/>
          <a:p>
            <a:endParaRPr lang="es-ES"/>
          </a:p>
        </p:txBody>
      </p:sp>
      <p:sp>
        <p:nvSpPr>
          <p:cNvPr id="14" name="Text 12"/>
          <p:cNvSpPr/>
          <p:nvPr/>
        </p:nvSpPr>
        <p:spPr>
          <a:xfrm>
            <a:off x="4608576" y="2834640"/>
            <a:ext cx="1828800" cy="528066"/>
          </a:xfrm>
          <a:prstGeom prst="rect">
            <a:avLst/>
          </a:prstGeom>
          <a:noFill/>
          <a:ln/>
        </p:spPr>
        <p:txBody>
          <a:bodyPr wrap="square" lIns="0" tIns="0" rIns="0" bIns="0" rtlCol="0" anchor="b"/>
          <a:lstStyle/>
          <a:p>
            <a:pPr marL="0" indent="0" algn="ctr">
              <a:buNone/>
            </a:pPr>
            <a:r>
              <a:rPr lang="en-US" sz="3000" b="1" dirty="0">
                <a:solidFill>
                  <a:srgbClr val="F7931A"/>
                </a:solidFill>
              </a:rPr>
              <a:t>Era 5</a:t>
            </a:r>
            <a:endParaRPr lang="en-US" sz="3000" dirty="0"/>
          </a:p>
        </p:txBody>
      </p:sp>
      <p:sp>
        <p:nvSpPr>
          <p:cNvPr id="15" name="Text 13"/>
          <p:cNvSpPr/>
          <p:nvPr/>
        </p:nvSpPr>
        <p:spPr>
          <a:xfrm>
            <a:off x="4608576" y="3347466"/>
            <a:ext cx="1828800" cy="364846"/>
          </a:xfrm>
          <a:prstGeom prst="rect">
            <a:avLst/>
          </a:prstGeom>
          <a:noFill/>
          <a:ln/>
        </p:spPr>
        <p:txBody>
          <a:bodyPr wrap="square" lIns="0" tIns="0" rIns="0" bIns="0" rtlCol="0" anchor="t"/>
          <a:lstStyle/>
          <a:p>
            <a:pPr marL="0" indent="0" algn="ctr">
              <a:buNone/>
            </a:pPr>
            <a:r>
              <a:rPr lang="en-US" sz="1100" dirty="0">
                <a:solidFill>
                  <a:srgbClr val="B0BEC5"/>
                </a:solidFill>
              </a:rPr>
              <a:t>Data Coverage</a:t>
            </a:r>
            <a:endParaRPr lang="en-US" sz="1100" dirty="0"/>
          </a:p>
          <a:p>
            <a:pPr marL="0" indent="0" algn="ctr">
              <a:buNone/>
            </a:pPr>
            <a:r>
              <a:rPr lang="en-US" sz="1100" dirty="0">
                <a:solidFill>
                  <a:srgbClr val="B0BEC5"/>
                </a:solidFill>
              </a:rPr>
              <a:t>(backfill ongoing)</a:t>
            </a:r>
            <a:endParaRPr lang="en-US" sz="1100" dirty="0"/>
          </a:p>
        </p:txBody>
      </p:sp>
      <p:sp>
        <p:nvSpPr>
          <p:cNvPr id="16" name="Shape 14"/>
          <p:cNvSpPr/>
          <p:nvPr/>
        </p:nvSpPr>
        <p:spPr>
          <a:xfrm>
            <a:off x="6638544" y="2788920"/>
            <a:ext cx="1828800" cy="960120"/>
          </a:xfrm>
          <a:prstGeom prst="roundRect">
            <a:avLst>
              <a:gd name="adj" fmla="val 7619"/>
            </a:avLst>
          </a:prstGeom>
          <a:solidFill>
            <a:srgbClr val="1C2B3A"/>
          </a:solidFill>
          <a:ln/>
          <a:effectLst>
            <a:outerShdw blurRad="127000" dist="38100" dir="8100000" algn="bl" rotWithShape="0">
              <a:srgbClr val="000000">
                <a:alpha val="30000"/>
              </a:srgbClr>
            </a:outerShdw>
          </a:effectLst>
        </p:spPr>
        <p:txBody>
          <a:bodyPr/>
          <a:lstStyle/>
          <a:p>
            <a:endParaRPr lang="es-ES"/>
          </a:p>
        </p:txBody>
      </p:sp>
      <p:sp>
        <p:nvSpPr>
          <p:cNvPr id="17" name="Text 15"/>
          <p:cNvSpPr/>
          <p:nvPr/>
        </p:nvSpPr>
        <p:spPr>
          <a:xfrm>
            <a:off x="6638544" y="2834640"/>
            <a:ext cx="1828800" cy="528066"/>
          </a:xfrm>
          <a:prstGeom prst="rect">
            <a:avLst/>
          </a:prstGeom>
          <a:noFill/>
          <a:ln/>
        </p:spPr>
        <p:txBody>
          <a:bodyPr wrap="square" lIns="0" tIns="0" rIns="0" bIns="0" rtlCol="0" anchor="b"/>
          <a:lstStyle/>
          <a:p>
            <a:pPr marL="0" indent="0" algn="ctr">
              <a:buNone/>
            </a:pPr>
            <a:r>
              <a:rPr lang="en-US" sz="3000" b="1" dirty="0">
                <a:solidFill>
                  <a:srgbClr val="F7931A"/>
                </a:solidFill>
              </a:rPr>
              <a:t>Live</a:t>
            </a:r>
            <a:endParaRPr lang="en-US" sz="3000" dirty="0"/>
          </a:p>
        </p:txBody>
      </p:sp>
      <p:sp>
        <p:nvSpPr>
          <p:cNvPr id="18" name="Text 16"/>
          <p:cNvSpPr/>
          <p:nvPr/>
        </p:nvSpPr>
        <p:spPr>
          <a:xfrm>
            <a:off x="6638544" y="3347466"/>
            <a:ext cx="1828800" cy="364846"/>
          </a:xfrm>
          <a:prstGeom prst="rect">
            <a:avLst/>
          </a:prstGeom>
          <a:noFill/>
          <a:ln/>
        </p:spPr>
        <p:txBody>
          <a:bodyPr wrap="square" lIns="0" tIns="0" rIns="0" bIns="0" rtlCol="0" anchor="t"/>
          <a:lstStyle/>
          <a:p>
            <a:pPr marL="0" indent="0" algn="ctr">
              <a:buNone/>
            </a:pPr>
            <a:r>
              <a:rPr lang="en-US" sz="1100" dirty="0">
                <a:solidFill>
                  <a:srgbClr val="B0BEC5"/>
                </a:solidFill>
              </a:rPr>
              <a:t>SSAS Cube</a:t>
            </a:r>
            <a:endParaRPr lang="en-US" sz="1100" dirty="0"/>
          </a:p>
          <a:p>
            <a:pPr marL="0" indent="0" algn="ctr">
              <a:buNone/>
            </a:pPr>
            <a:r>
              <a:rPr lang="en-US" sz="1100" dirty="0">
                <a:solidFill>
                  <a:srgbClr val="B0BEC5"/>
                </a:solidFill>
              </a:rPr>
              <a:t>Power BI Connection</a:t>
            </a:r>
            <a:endParaRPr lang="en-US" sz="1100" dirty="0"/>
          </a:p>
        </p:txBody>
      </p:sp>
      <p:sp>
        <p:nvSpPr>
          <p:cNvPr id="19" name="Text 17"/>
          <p:cNvSpPr/>
          <p:nvPr/>
        </p:nvSpPr>
        <p:spPr>
          <a:xfrm>
            <a:off x="457200" y="4846320"/>
            <a:ext cx="8229600" cy="228600"/>
          </a:xfrm>
          <a:prstGeom prst="rect">
            <a:avLst/>
          </a:prstGeom>
          <a:noFill/>
          <a:ln/>
        </p:spPr>
        <p:txBody>
          <a:bodyPr wrap="square" lIns="0" tIns="0" rIns="0" bIns="0" rtlCol="0" anchor="ctr"/>
          <a:lstStyle/>
          <a:p>
            <a:pPr marL="0" indent="0" algn="ctr">
              <a:buNone/>
            </a:pPr>
            <a:r>
              <a:rPr lang="en-US" sz="900" dirty="0">
                <a:solidFill>
                  <a:srgbClr val="B0BEC5"/>
                </a:solidFill>
              </a:rPr>
              <a:t>Bitcoin On-Chain Data Warehouse · Student ID: 293867 · 23-06-2026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TotalTime>
  <Words>3709</Words>
  <Application>Microsoft Office PowerPoint</Application>
  <PresentationFormat>Presentación en pantalla (16:9)</PresentationFormat>
  <Paragraphs>380</Paragraphs>
  <Slides>14</Slides>
  <Notes>14</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14</vt:i4>
      </vt:variant>
    </vt:vector>
  </HeadingPairs>
  <TitlesOfParts>
    <vt:vector size="16" baseType="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Bitcoin On-Chain Data Warehouse — Results</dc:title>
  <dc:subject>PptxGenJS Presentation</dc:subject>
  <dc:creator>PptxGenJS</dc:creator>
  <cp:lastModifiedBy>Alvaro Puebla Ruisanchez (293867)</cp:lastModifiedBy>
  <cp:revision>37</cp:revision>
  <dcterms:created xsi:type="dcterms:W3CDTF">2026-06-23T09:41:10Z</dcterms:created>
  <dcterms:modified xsi:type="dcterms:W3CDTF">2026-06-23T10:35:40Z</dcterms:modified>
</cp:coreProperties>
</file>