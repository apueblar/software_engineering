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967" autoAdjust="0"/>
  </p:normalViewPr>
  <p:slideViewPr>
    <p:cSldViewPr snapToGrid="0" snapToObjects="1">
      <p:cViewPr varScale="1">
        <p:scale>
          <a:sx n="81" d="100"/>
          <a:sy n="81" d="100"/>
        </p:scale>
        <p:origin x="14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43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presenting Part 1 of our Bitcoin Blockchain Analytics Platform - a data warehouse </a:t>
            </a:r>
            <a:r>
              <a:rPr lang="en-US" b="1" dirty="0"/>
              <a:t>project combining on-chain Bitcoin transaction data with market data</a:t>
            </a:r>
            <a:r>
              <a:rPr lang="en-US" dirty="0"/>
              <a:t>.</a:t>
            </a:r>
          </a:p>
          <a:p>
            <a:r>
              <a:rPr lang="en-US" dirty="0"/>
              <a:t>My goal is to </a:t>
            </a:r>
            <a:r>
              <a:rPr lang="en-US" b="1" dirty="0"/>
              <a:t>analyze confirmed Bitcoin transactions from multiple analytical perspectives</a:t>
            </a:r>
            <a:r>
              <a:rPr lang="en-US" dirty="0"/>
              <a:t>.</a:t>
            </a:r>
          </a:p>
          <a:p>
            <a:r>
              <a:rPr lang="en-US" dirty="0"/>
              <a:t>The design consists of 2 data sources, 4+ dimensions, 6+ measures, and 5 defined OLAP user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follows a four-stage lifecycle: Analysis, Design, Implementation, and Usage - we are currently at Stage 1.</a:t>
            </a:r>
          </a:p>
          <a:p>
            <a:r>
              <a:rPr lang="en-US" dirty="0"/>
              <a:t>Today's Analysis stage covers </a:t>
            </a:r>
            <a:r>
              <a:rPr lang="en-US" b="1" dirty="0"/>
              <a:t>dataset selection</a:t>
            </a:r>
            <a:r>
              <a:rPr lang="en-US" dirty="0"/>
              <a:t>, </a:t>
            </a:r>
            <a:r>
              <a:rPr lang="en-US" b="1" dirty="0"/>
              <a:t>user profiling</a:t>
            </a:r>
            <a:r>
              <a:rPr lang="en-US" dirty="0"/>
              <a:t>, </a:t>
            </a:r>
            <a:r>
              <a:rPr lang="en-US" b="1" dirty="0"/>
              <a:t>dimension and measure identification</a:t>
            </a:r>
            <a:r>
              <a:rPr lang="en-US" dirty="0"/>
              <a:t>, and </a:t>
            </a:r>
            <a:r>
              <a:rPr lang="en-US" b="1" dirty="0"/>
              <a:t>OLAP needs specification</a:t>
            </a:r>
            <a:r>
              <a:rPr lang="en-US" dirty="0"/>
              <a:t>.</a:t>
            </a:r>
          </a:p>
          <a:p>
            <a:r>
              <a:rPr lang="en-US" b="1" dirty="0"/>
              <a:t>Everything defined today feeds directly into Stage 2</a:t>
            </a:r>
            <a:r>
              <a:rPr lang="en-US" dirty="0"/>
              <a:t>, where I will </a:t>
            </a:r>
            <a:r>
              <a:rPr lang="en-US" b="1" dirty="0"/>
              <a:t>build the full star schema</a:t>
            </a:r>
            <a:r>
              <a:rPr lang="en-US" dirty="0"/>
              <a:t>, </a:t>
            </a:r>
            <a:r>
              <a:rPr lang="en-US" b="1" dirty="0"/>
              <a:t>Logical Data Map</a:t>
            </a:r>
            <a:r>
              <a:rPr lang="en-US" dirty="0"/>
              <a:t>, and </a:t>
            </a:r>
            <a:r>
              <a:rPr lang="en-US" b="1" dirty="0"/>
              <a:t>ETL pipeline design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</a:t>
            </a:r>
            <a:r>
              <a:rPr lang="en-US" b="1" dirty="0"/>
              <a:t>two data sources </a:t>
            </a:r>
            <a:r>
              <a:rPr lang="en-US" dirty="0"/>
              <a:t>- on-chain Bitcoin data and market data - which are first landed in a Staging Database (cleaning and quality checks).</a:t>
            </a:r>
          </a:p>
          <a:p>
            <a:r>
              <a:rPr lang="en-US" dirty="0"/>
              <a:t>From staging, the </a:t>
            </a:r>
            <a:r>
              <a:rPr lang="en-US" b="1" dirty="0"/>
              <a:t>data</a:t>
            </a:r>
            <a:r>
              <a:rPr lang="en-US" dirty="0"/>
              <a:t> is </a:t>
            </a:r>
            <a:r>
              <a:rPr lang="en-US" b="1" dirty="0"/>
              <a:t>loaded into a single Data Mart built as a star schema </a:t>
            </a:r>
            <a:r>
              <a:rPr lang="en-US" dirty="0"/>
              <a:t>with </a:t>
            </a:r>
            <a:r>
              <a:rPr lang="en-US" b="1" dirty="0"/>
              <a:t>1 fact table </a:t>
            </a:r>
            <a:r>
              <a:rPr lang="en-US" dirty="0"/>
              <a:t>and </a:t>
            </a:r>
            <a:r>
              <a:rPr lang="en-US" b="1" dirty="0"/>
              <a:t>4 dimensions</a:t>
            </a:r>
            <a:r>
              <a:rPr lang="en-US" dirty="0"/>
              <a:t>.</a:t>
            </a:r>
          </a:p>
          <a:p>
            <a:r>
              <a:rPr lang="en-US" dirty="0"/>
              <a:t>The data mart is then processed by SSAS (SQL Server Analysis Services) into a multidimensional cube, which Tableau or Power BI consumes for interactive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Block</a:t>
            </a:r>
            <a:r>
              <a:rPr lang="en-US" dirty="0"/>
              <a:t> is a </a:t>
            </a:r>
            <a:r>
              <a:rPr lang="en-US" b="1" dirty="0"/>
              <a:t>batch of verified transactions </a:t>
            </a:r>
            <a:r>
              <a:rPr lang="en-US" dirty="0"/>
              <a:t>added to the chain roughly every 10 minutes, while a </a:t>
            </a:r>
            <a:r>
              <a:rPr lang="en-US" b="1" dirty="0"/>
              <a:t>Transaction</a:t>
            </a:r>
            <a:r>
              <a:rPr lang="en-US" dirty="0"/>
              <a:t> </a:t>
            </a:r>
            <a:r>
              <a:rPr lang="en-US" b="1" dirty="0"/>
              <a:t>consumes inputs and creates outputs</a:t>
            </a:r>
            <a:r>
              <a:rPr lang="en-US" dirty="0"/>
              <a:t> measured in </a:t>
            </a:r>
            <a:r>
              <a:rPr lang="en-US" dirty="0" err="1"/>
              <a:t>satoshis</a:t>
            </a:r>
            <a:r>
              <a:rPr lang="en-US" dirty="0"/>
              <a:t>.</a:t>
            </a:r>
          </a:p>
          <a:p>
            <a:r>
              <a:rPr lang="en-US" b="1" dirty="0"/>
              <a:t>Fee Rate </a:t>
            </a:r>
            <a:r>
              <a:rPr lang="en-US" dirty="0"/>
              <a:t>in sat per virtual byte is a key economic signal - </a:t>
            </a:r>
            <a:r>
              <a:rPr lang="en-US" b="1" dirty="0"/>
              <a:t>miners prioritize higher fee rate transactions when blocks are full</a:t>
            </a:r>
            <a:r>
              <a:rPr lang="en-US" dirty="0"/>
              <a:t>.</a:t>
            </a:r>
          </a:p>
          <a:p>
            <a:r>
              <a:rPr lang="en-US" b="1" dirty="0"/>
              <a:t>Halving Epochs </a:t>
            </a:r>
            <a:r>
              <a:rPr lang="en-US" dirty="0"/>
              <a:t>occur every </a:t>
            </a:r>
            <a:r>
              <a:rPr lang="en-US" b="1" dirty="0"/>
              <a:t>210,000 blocks </a:t>
            </a:r>
            <a:r>
              <a:rPr lang="en-US" dirty="0"/>
              <a:t>and define the </a:t>
            </a:r>
            <a:r>
              <a:rPr lang="en-US" b="1" dirty="0"/>
              <a:t>major market cycles visible in our data</a:t>
            </a:r>
            <a:r>
              <a:rPr lang="en-US" dirty="0"/>
              <a:t>, which is </a:t>
            </a:r>
            <a:r>
              <a:rPr lang="en-US" b="1" dirty="0"/>
              <a:t>why halving era is included as a dimension attribute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</a:t>
            </a:r>
            <a:r>
              <a:rPr lang="en-US" b="1" dirty="0"/>
              <a:t>primary user is the Blockchain Analyst</a:t>
            </a:r>
            <a:r>
              <a:rPr lang="en-US" dirty="0"/>
              <a:t>, focused on long-term trends such as fee rate evolution across halving epochs and </a:t>
            </a:r>
            <a:r>
              <a:rPr lang="en-US" dirty="0" err="1"/>
              <a:t>SegWit</a:t>
            </a:r>
            <a:r>
              <a:rPr lang="en-US" dirty="0"/>
              <a:t> adoption over time.</a:t>
            </a:r>
          </a:p>
          <a:p>
            <a:r>
              <a:rPr lang="en-US" dirty="0"/>
              <a:t>Our </a:t>
            </a:r>
            <a:r>
              <a:rPr lang="en-US" b="1" dirty="0"/>
              <a:t>secondary user is the Exchange Operator or Trader</a:t>
            </a:r>
            <a:r>
              <a:rPr lang="en-US" dirty="0"/>
              <a:t>, who needs </a:t>
            </a:r>
            <a:r>
              <a:rPr lang="en-US" b="1" dirty="0"/>
              <a:t>market-oriented insights like </a:t>
            </a:r>
            <a:r>
              <a:rPr lang="en-US" b="1" dirty="0" err="1"/>
              <a:t>mempool</a:t>
            </a:r>
            <a:r>
              <a:rPr lang="en-US" b="1" dirty="0"/>
              <a:t> congestion signals </a:t>
            </a:r>
            <a:r>
              <a:rPr lang="en-US" dirty="0"/>
              <a:t>and on-chain volume correlations with price.</a:t>
            </a:r>
          </a:p>
          <a:p>
            <a:r>
              <a:rPr lang="en-US" dirty="0"/>
              <a:t>These two profiles ensured our 5 OLAP needs cover both analytical depth and market utility and directly guided our choice of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Source 1</a:t>
            </a:r>
            <a:r>
              <a:rPr lang="en-US" dirty="0"/>
              <a:t> is on-chain data from </a:t>
            </a:r>
            <a:r>
              <a:rPr lang="en-US" b="1" dirty="0" err="1"/>
              <a:t>mempool.space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blockchain.com</a:t>
            </a:r>
            <a:r>
              <a:rPr lang="en-US" dirty="0"/>
              <a:t>, providing block and transaction-level data - fees, fee rates, input/output values, and </a:t>
            </a:r>
            <a:r>
              <a:rPr lang="en-US" dirty="0" err="1"/>
              <a:t>SegWit</a:t>
            </a:r>
            <a:r>
              <a:rPr lang="en-US" dirty="0"/>
              <a:t> flags - delivered as REST JSON and CSV.</a:t>
            </a:r>
          </a:p>
          <a:p>
            <a:r>
              <a:rPr lang="en-US" b="1" dirty="0"/>
              <a:t>Source 2 </a:t>
            </a:r>
            <a:r>
              <a:rPr lang="en-US" dirty="0"/>
              <a:t>is market data from </a:t>
            </a:r>
            <a:r>
              <a:rPr lang="en-US" b="1" dirty="0" err="1"/>
              <a:t>CoinGecko</a:t>
            </a:r>
            <a:r>
              <a:rPr lang="en-US" dirty="0"/>
              <a:t>, providing </a:t>
            </a:r>
            <a:r>
              <a:rPr lang="en-US" b="1" dirty="0"/>
              <a:t>daily OHLCV price history </a:t>
            </a:r>
            <a:r>
              <a:rPr lang="en-US" dirty="0"/>
              <a:t>back to 2009, and from </a:t>
            </a:r>
            <a:r>
              <a:rPr lang="en-US" b="1" dirty="0"/>
              <a:t>Alternative.me</a:t>
            </a:r>
            <a:r>
              <a:rPr lang="en-US" dirty="0"/>
              <a:t>, providing the </a:t>
            </a:r>
            <a:r>
              <a:rPr lang="en-US" b="1" dirty="0"/>
              <a:t>Fear and Greed Index </a:t>
            </a:r>
            <a:r>
              <a:rPr lang="en-US" dirty="0"/>
              <a:t>since 2019.</a:t>
            </a:r>
          </a:p>
          <a:p>
            <a:r>
              <a:rPr lang="en-US" dirty="0"/>
              <a:t>Together, these sources give us both </a:t>
            </a:r>
            <a:r>
              <a:rPr lang="en-US" b="1" dirty="0"/>
              <a:t>micro-level transaction </a:t>
            </a:r>
            <a:r>
              <a:rPr lang="en-US" b="1" dirty="0" err="1"/>
              <a:t>behaviour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macro-level market context</a:t>
            </a:r>
            <a:r>
              <a:rPr lang="en-US" dirty="0"/>
              <a:t>, making our OLAP queries genuinely insightful.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raw blockchain has over </a:t>
            </a:r>
            <a:r>
              <a:rPr lang="en-US" b="1" dirty="0"/>
              <a:t>900 million transactions</a:t>
            </a:r>
            <a:r>
              <a:rPr lang="en-US" dirty="0"/>
              <a:t>, so we scoped our project to the </a:t>
            </a:r>
            <a:r>
              <a:rPr lang="en-US" b="1" dirty="0"/>
              <a:t>last 200,000 blocks </a:t>
            </a:r>
            <a:r>
              <a:rPr lang="en-US" dirty="0"/>
              <a:t>- roughly </a:t>
            </a:r>
            <a:r>
              <a:rPr lang="en-US" b="1" dirty="0"/>
              <a:t>4 years and 50 million transactions </a:t>
            </a:r>
            <a:r>
              <a:rPr lang="en-US" dirty="0"/>
              <a:t>- a statistically representative and manageable sample.</a:t>
            </a:r>
          </a:p>
          <a:p>
            <a:r>
              <a:rPr lang="en-US" dirty="0"/>
              <a:t>For market data we take the full history, as it is small enough to load completely with no need for sampling.</a:t>
            </a:r>
          </a:p>
          <a:p>
            <a:r>
              <a:rPr lang="en-US" dirty="0"/>
              <a:t>We have heterogeneous formats - REST JSON for live extraction and CSV for historical loads - which validates a proper multi-source SSIS ETL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i="0" dirty="0"/>
              <a:t>business process is Bitcoin Transaction Settlement</a:t>
            </a:r>
            <a:r>
              <a:rPr lang="en-US" dirty="0"/>
              <a:t>, with the </a:t>
            </a:r>
            <a:r>
              <a:rPr lang="en-US" b="1" dirty="0"/>
              <a:t>grain of one confirmed transaction </a:t>
            </a:r>
            <a:r>
              <a:rPr lang="en-US" dirty="0"/>
              <a:t>per fact table row, across four dimensions.</a:t>
            </a:r>
          </a:p>
          <a:p>
            <a:r>
              <a:rPr lang="en-US" dirty="0"/>
              <a:t>DIM_</a:t>
            </a:r>
            <a:r>
              <a:rPr lang="en-US" b="1" dirty="0"/>
              <a:t>DATE</a:t>
            </a:r>
            <a:r>
              <a:rPr lang="en-US" dirty="0"/>
              <a:t> and DIM_</a:t>
            </a:r>
            <a:r>
              <a:rPr lang="en-US" b="1" dirty="0"/>
              <a:t>BLOCK</a:t>
            </a:r>
            <a:r>
              <a:rPr lang="en-US" dirty="0"/>
              <a:t> </a:t>
            </a:r>
            <a:r>
              <a:rPr lang="en-US" b="1" dirty="0"/>
              <a:t>capture time </a:t>
            </a:r>
            <a:r>
              <a:rPr lang="en-US" dirty="0"/>
              <a:t>and block-level context enriched with </a:t>
            </a:r>
            <a:r>
              <a:rPr lang="en-US" b="1" dirty="0"/>
              <a:t>Bitcoin-specific attributes</a:t>
            </a:r>
            <a:r>
              <a:rPr lang="en-US" dirty="0"/>
              <a:t> like halving era and epoch boundary flags.</a:t>
            </a:r>
          </a:p>
          <a:p>
            <a:r>
              <a:rPr lang="en-US" dirty="0"/>
              <a:t>DIM_</a:t>
            </a:r>
            <a:r>
              <a:rPr lang="en-US" b="1" dirty="0"/>
              <a:t>TX_TYPE </a:t>
            </a:r>
            <a:r>
              <a:rPr lang="en-US" dirty="0"/>
              <a:t>classifies </a:t>
            </a:r>
            <a:r>
              <a:rPr lang="en-US" b="1" dirty="0"/>
              <a:t>transaction </a:t>
            </a:r>
            <a:r>
              <a:rPr lang="en-US" b="1" dirty="0" err="1"/>
              <a:t>behaviour</a:t>
            </a:r>
            <a:r>
              <a:rPr lang="en-US" dirty="0"/>
              <a:t>, </a:t>
            </a:r>
          </a:p>
          <a:p>
            <a:r>
              <a:rPr lang="en-US" dirty="0"/>
              <a:t>while DIM_</a:t>
            </a:r>
            <a:r>
              <a:rPr lang="en-US" b="1" dirty="0"/>
              <a:t>MARKET</a:t>
            </a:r>
            <a:r>
              <a:rPr lang="en-US" dirty="0"/>
              <a:t> was redesigned as a categorical regime dimension - storing </a:t>
            </a:r>
            <a:r>
              <a:rPr lang="en-US" b="1" dirty="0"/>
              <a:t>qualitative labels like price trend and volatility regime </a:t>
            </a:r>
            <a:r>
              <a:rPr lang="en-US" dirty="0"/>
              <a:t>- keeping raw numeric values in the fact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FACT_</a:t>
            </a:r>
            <a:r>
              <a:rPr lang="en-US" b="1" dirty="0"/>
              <a:t>TRANSACTION</a:t>
            </a:r>
            <a:r>
              <a:rPr lang="en-US" dirty="0"/>
              <a:t> contains 12 measures, well above the course minimum, split across two groups: </a:t>
            </a:r>
            <a:r>
              <a:rPr lang="en-US" b="1" dirty="0"/>
              <a:t>on-chain measures </a:t>
            </a:r>
            <a:r>
              <a:rPr lang="en-US" dirty="0"/>
              <a:t>and </a:t>
            </a:r>
            <a:r>
              <a:rPr lang="en-US" b="1" dirty="0"/>
              <a:t>market snapshot measures</a:t>
            </a:r>
            <a:r>
              <a:rPr lang="en-US" dirty="0"/>
              <a:t>.</a:t>
            </a:r>
          </a:p>
          <a:p>
            <a:r>
              <a:rPr lang="en-US" b="1" dirty="0"/>
              <a:t>On-chain measures </a:t>
            </a:r>
            <a:r>
              <a:rPr lang="en-US" dirty="0"/>
              <a:t>include fee </a:t>
            </a:r>
            <a:r>
              <a:rPr lang="en-US" dirty="0" err="1"/>
              <a:t>satoshis</a:t>
            </a:r>
            <a:r>
              <a:rPr lang="en-US" dirty="0"/>
              <a:t>, fee rate, input/output values, transaction size, and weight - supporting SUM, AVG, and percentile aggregations.</a:t>
            </a:r>
          </a:p>
          <a:p>
            <a:r>
              <a:rPr lang="en-US" b="1" dirty="0"/>
              <a:t>Market</a:t>
            </a:r>
            <a:r>
              <a:rPr lang="en-US" dirty="0"/>
              <a:t> measures such as BTC price, volume, market cap, and Fear and Greed score are stored as daily snapshots in the fact table, while two degenerate dimensions - </a:t>
            </a:r>
            <a:r>
              <a:rPr lang="en-US" dirty="0" err="1"/>
              <a:t>txid</a:t>
            </a:r>
            <a:r>
              <a:rPr lang="en-US" dirty="0"/>
              <a:t> and block height - are kept directly in the fact for traceability.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N1 and N2 serve the Analyst: </a:t>
            </a:r>
            <a:r>
              <a:rPr lang="en-US" dirty="0"/>
              <a:t>tracking fee rate evolution across halving epochs and measuring </a:t>
            </a:r>
            <a:r>
              <a:rPr lang="en-US" dirty="0" err="1"/>
              <a:t>SegWit</a:t>
            </a:r>
            <a:r>
              <a:rPr lang="en-US" dirty="0"/>
              <a:t> adoption growth quarter by quarter.</a:t>
            </a:r>
          </a:p>
          <a:p>
            <a:r>
              <a:rPr lang="en-US" b="1" dirty="0"/>
              <a:t>N3 and N4 serve the Trader: </a:t>
            </a:r>
            <a:r>
              <a:rPr lang="en-US" dirty="0"/>
              <a:t>detecting on-chain volume spikes before price movements and comparing fee rate distributions across Fear and Greed sentiment regimes.</a:t>
            </a:r>
          </a:p>
          <a:p>
            <a:r>
              <a:rPr lang="en-US" b="1" dirty="0"/>
              <a:t>N5 serves the Analyst </a:t>
            </a:r>
            <a:r>
              <a:rPr lang="en-US" dirty="0"/>
              <a:t>by showing how total miner revenue - block subsidy plus fees - shifts across halving epochs, each need requiring multiple dimensions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1 has established the full analytical foundation: </a:t>
            </a:r>
            <a:r>
              <a:rPr lang="en-US" dirty="0"/>
              <a:t>2 data sources, 2 user profiles, 1 business process, and 4 dimensions with 8–10 attributes each.</a:t>
            </a:r>
          </a:p>
          <a:p>
            <a:r>
              <a:rPr lang="en-US" dirty="0"/>
              <a:t>We defined </a:t>
            </a:r>
            <a:r>
              <a:rPr lang="en-US" b="1" dirty="0"/>
              <a:t>12 measures in the fact table and mapped 5 OLAP user needs to concrete questions</a:t>
            </a:r>
            <a:r>
              <a:rPr lang="en-US" dirty="0"/>
              <a:t>, dimension combinations, and expected </a:t>
            </a:r>
            <a:r>
              <a:rPr lang="en-US" dirty="0" err="1"/>
              <a:t>visualisations</a:t>
            </a:r>
            <a:r>
              <a:rPr lang="en-US" dirty="0"/>
              <a:t>.</a:t>
            </a:r>
          </a:p>
          <a:p>
            <a:r>
              <a:rPr lang="en-US" dirty="0"/>
              <a:t>Part 2 will translate all of this into a full multidimensional model design, a Logical Data Map tracing every source field to its destination, and the SSIS ETL pipeline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6035040" y="502920"/>
            <a:ext cx="2560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49224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99516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49808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00100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503920" y="3291840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98932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49224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99516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49808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00100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503920" y="3675888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598932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649224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99516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749808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00100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503920" y="4059936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598932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649224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699516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749808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800100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8503920" y="4443984"/>
            <a:ext cx="54864" cy="54864"/>
          </a:xfrm>
          <a:prstGeom prst="ellipse">
            <a:avLst/>
          </a:prstGeom>
          <a:solidFill>
            <a:srgbClr val="1E5B8A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384048" y="502920"/>
            <a:ext cx="3910160" cy="274320"/>
          </a:xfrm>
          <a:prstGeom prst="rect">
            <a:avLst/>
          </a:prstGeom>
          <a:solidFill>
            <a:srgbClr val="F7931A">
              <a:alpha val="18000"/>
            </a:srgbClr>
          </a:solidFill>
          <a:ln w="12700">
            <a:solidFill>
              <a:srgbClr val="F793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384048" y="502920"/>
            <a:ext cx="391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7931A"/>
                </a:solidFill>
              </a:rPr>
              <a:t>DATA WAREHOUSES - Summer - 2025/2026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84048" y="932688"/>
            <a:ext cx="527819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Bitcoin Blockchain</a:t>
            </a:r>
            <a:endParaRPr lang="en-US" sz="4400" dirty="0"/>
          </a:p>
        </p:txBody>
      </p:sp>
      <p:sp>
        <p:nvSpPr>
          <p:cNvPr id="32" name="Text 29"/>
          <p:cNvSpPr/>
          <p:nvPr/>
        </p:nvSpPr>
        <p:spPr>
          <a:xfrm>
            <a:off x="384047" y="1719072"/>
            <a:ext cx="54962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793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Analytics Platform</a:t>
            </a:r>
            <a:endParaRPr lang="en-US" sz="4400" dirty="0"/>
          </a:p>
        </p:txBody>
      </p:sp>
      <p:sp>
        <p:nvSpPr>
          <p:cNvPr id="33" name="Shape 30"/>
          <p:cNvSpPr/>
          <p:nvPr/>
        </p:nvSpPr>
        <p:spPr>
          <a:xfrm>
            <a:off x="384048" y="2651760"/>
            <a:ext cx="4937760" cy="420624"/>
          </a:xfrm>
          <a:prstGeom prst="rect">
            <a:avLst/>
          </a:prstGeom>
          <a:solidFill>
            <a:srgbClr val="1A3A5C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475488" y="265176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Analysis - Dataset Selection &amp; User Needs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84048" y="3255264"/>
            <a:ext cx="4937760" cy="135331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475488" y="35341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475488" y="408279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1709928" y="35341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4+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1709928" y="408279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944368" y="35341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6+</a:t>
            </a:r>
            <a:endParaRPr lang="en-US" sz="3000" dirty="0"/>
          </a:p>
        </p:txBody>
      </p:sp>
      <p:sp>
        <p:nvSpPr>
          <p:cNvPr id="41" name="Text 38"/>
          <p:cNvSpPr/>
          <p:nvPr/>
        </p:nvSpPr>
        <p:spPr>
          <a:xfrm>
            <a:off x="2944368" y="408279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4178808" y="353415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4178808" y="4082796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NEEDS</a:t>
            </a:r>
            <a:endParaRPr lang="en-US" sz="65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71D2BF20-AFB6-D951-FB0D-598CD2D66795}"/>
              </a:ext>
            </a:extLst>
          </p:cNvPr>
          <p:cNvSpPr/>
          <p:nvPr/>
        </p:nvSpPr>
        <p:spPr>
          <a:xfrm>
            <a:off x="5989320" y="82296"/>
            <a:ext cx="2926080" cy="274320"/>
          </a:xfrm>
          <a:prstGeom prst="rect">
            <a:avLst/>
          </a:prstGeom>
          <a:solidFill>
            <a:srgbClr val="F7931A">
              <a:alpha val="18000"/>
            </a:srgbClr>
          </a:solidFill>
          <a:ln w="12700">
            <a:solidFill>
              <a:srgbClr val="F793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03405D8D-2180-815B-A8EF-D158733B2910}"/>
              </a:ext>
            </a:extLst>
          </p:cNvPr>
          <p:cNvSpPr/>
          <p:nvPr/>
        </p:nvSpPr>
        <p:spPr>
          <a:xfrm>
            <a:off x="5989320" y="82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7931A"/>
                </a:solidFill>
              </a:rPr>
              <a:t>Álvaro Puebla Ruisánchez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4-Stage Data Warehouse Implementation</a:t>
            </a:r>
            <a:endParaRPr lang="en-US" sz="2800" dirty="0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22AE861-E337-CB79-9DC7-242993D5F496}"/>
              </a:ext>
            </a:extLst>
          </p:cNvPr>
          <p:cNvGrpSpPr/>
          <p:nvPr/>
        </p:nvGrpSpPr>
        <p:grpSpPr>
          <a:xfrm>
            <a:off x="265176" y="1450848"/>
            <a:ext cx="8613648" cy="3584448"/>
            <a:chOff x="256032" y="1453896"/>
            <a:chExt cx="8613648" cy="3584448"/>
          </a:xfrm>
        </p:grpSpPr>
        <p:sp>
          <p:nvSpPr>
            <p:cNvPr id="5" name="Shape 3"/>
            <p:cNvSpPr/>
            <p:nvPr/>
          </p:nvSpPr>
          <p:spPr>
            <a:xfrm>
              <a:off x="256032" y="1453896"/>
              <a:ext cx="2029968" cy="3337560"/>
            </a:xfrm>
            <a:prstGeom prst="rect">
              <a:avLst/>
            </a:prstGeom>
            <a:solidFill>
              <a:srgbClr val="1A3A5C"/>
            </a:solidFill>
            <a:ln w="19050">
              <a:solidFill>
                <a:srgbClr val="F7931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Shape 4"/>
            <p:cNvSpPr/>
            <p:nvPr/>
          </p:nvSpPr>
          <p:spPr>
            <a:xfrm>
              <a:off x="256032" y="1453896"/>
              <a:ext cx="2029968" cy="6400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563624"/>
              <a:ext cx="597174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F7931A"/>
                  </a:solidFill>
                  <a:latin typeface="Palatino" pitchFamily="34" charset="0"/>
                  <a:ea typeface="Palatino" pitchFamily="34" charset="-122"/>
                  <a:cs typeface="Palatino" pitchFamily="34" charset="-120"/>
                </a:rPr>
                <a:t>01</a:t>
              </a:r>
              <a:endParaRPr lang="en-US" sz="2200" dirty="0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3352" y="1581912"/>
              <a:ext cx="457200" cy="45720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365760" y="202082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sz="8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365760" y="2313432"/>
              <a:ext cx="1810512" cy="1828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8"/>
            <p:cNvSpPr/>
            <p:nvPr/>
          </p:nvSpPr>
          <p:spPr>
            <a:xfrm>
              <a:off x="347472" y="2404872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selection &amp; profiling</a:t>
              </a:r>
              <a:endParaRPr lang="en-US" sz="8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47472" y="2880360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type identification</a:t>
              </a:r>
              <a:endParaRPr lang="en-US" sz="8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47472" y="3355848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Dimension &amp; measure identification</a:t>
              </a:r>
              <a:endParaRPr lang="en-US" sz="8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47472" y="3831336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OLAP need specification</a:t>
              </a:r>
              <a:endParaRPr lang="en-US" sz="85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347472" y="4489704"/>
              <a:ext cx="1865376" cy="228600"/>
            </a:xfrm>
            <a:prstGeom prst="rect">
              <a:avLst/>
            </a:prstGeom>
            <a:solidFill>
              <a:srgbClr val="F7931A">
                <a:alpha val="80000"/>
              </a:srgbClr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 13"/>
            <p:cNvSpPr/>
            <p:nvPr/>
          </p:nvSpPr>
          <p:spPr>
            <a:xfrm>
              <a:off x="347472" y="4489704"/>
              <a:ext cx="1865376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6101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Presentation</a:t>
              </a:r>
              <a:endParaRPr lang="en-US" sz="8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2304288" y="3072384"/>
              <a:ext cx="137160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Shape 15"/>
            <p:cNvSpPr/>
            <p:nvPr/>
          </p:nvSpPr>
          <p:spPr>
            <a:xfrm>
              <a:off x="2450592" y="1453896"/>
              <a:ext cx="2029968" cy="333756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Shape 16"/>
            <p:cNvSpPr/>
            <p:nvPr/>
          </p:nvSpPr>
          <p:spPr>
            <a:xfrm>
              <a:off x="2450592" y="1453896"/>
              <a:ext cx="2029968" cy="6400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17"/>
            <p:cNvSpPr/>
            <p:nvPr/>
          </p:nvSpPr>
          <p:spPr>
            <a:xfrm>
              <a:off x="2560320" y="1563624"/>
              <a:ext cx="66751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4A6B80"/>
                  </a:solidFill>
                  <a:latin typeface="Palatino" pitchFamily="34" charset="0"/>
                  <a:ea typeface="Palatino" pitchFamily="34" charset="-122"/>
                  <a:cs typeface="Palatino" pitchFamily="34" charset="-120"/>
                </a:rPr>
                <a:t>02</a:t>
              </a:r>
              <a:endParaRPr lang="en-US" sz="2200" dirty="0"/>
            </a:p>
          </p:txBody>
        </p:sp>
        <p:pic>
          <p:nvPicPr>
            <p:cNvPr id="2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67912" y="1581912"/>
              <a:ext cx="457200" cy="457200"/>
            </a:xfrm>
            <a:prstGeom prst="rect">
              <a:avLst/>
            </a:prstGeom>
          </p:spPr>
        </p:pic>
        <p:sp>
          <p:nvSpPr>
            <p:cNvPr id="22" name="Text 18"/>
            <p:cNvSpPr/>
            <p:nvPr/>
          </p:nvSpPr>
          <p:spPr>
            <a:xfrm>
              <a:off x="2560320" y="202082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</a:t>
              </a:r>
              <a:endParaRPr lang="en-US" sz="800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2560320" y="2313432"/>
              <a:ext cx="1810512" cy="18288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 20"/>
            <p:cNvSpPr/>
            <p:nvPr/>
          </p:nvSpPr>
          <p:spPr>
            <a:xfrm>
              <a:off x="2542032" y="2404872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Multidimensional model (star schema)</a:t>
              </a:r>
              <a:endParaRPr lang="en-US" sz="85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2542032" y="2880360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Logical Data Map</a:t>
              </a:r>
              <a:endParaRPr lang="en-US" sz="85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2542032" y="3355848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 pipeline design</a:t>
              </a:r>
              <a:endParaRPr lang="en-US" sz="850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2542032" y="3831336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SSAS cube architecture</a:t>
              </a:r>
              <a:endParaRPr lang="en-US" sz="850" dirty="0"/>
            </a:p>
          </p:txBody>
        </p:sp>
        <p:sp>
          <p:nvSpPr>
            <p:cNvPr id="28" name="Shape 24"/>
            <p:cNvSpPr/>
            <p:nvPr/>
          </p:nvSpPr>
          <p:spPr>
            <a:xfrm>
              <a:off x="2542032" y="4489704"/>
              <a:ext cx="1865376" cy="228600"/>
            </a:xfrm>
            <a:prstGeom prst="rect">
              <a:avLst/>
            </a:prstGeom>
            <a:solidFill>
              <a:srgbClr val="1A3A5C">
                <a:alpha val="50000"/>
              </a:srgbClr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 25"/>
            <p:cNvSpPr/>
            <p:nvPr/>
          </p:nvSpPr>
          <p:spPr>
            <a:xfrm>
              <a:off x="2542032" y="4489704"/>
              <a:ext cx="1865376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ERD + Docs</a:t>
              </a:r>
              <a:endParaRPr lang="en-US" sz="800" dirty="0"/>
            </a:p>
          </p:txBody>
        </p:sp>
        <p:sp>
          <p:nvSpPr>
            <p:cNvPr id="30" name="Shape 26"/>
            <p:cNvSpPr/>
            <p:nvPr/>
          </p:nvSpPr>
          <p:spPr>
            <a:xfrm>
              <a:off x="4498848" y="3072384"/>
              <a:ext cx="137160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Shape 27"/>
            <p:cNvSpPr/>
            <p:nvPr/>
          </p:nvSpPr>
          <p:spPr>
            <a:xfrm>
              <a:off x="4645152" y="1453896"/>
              <a:ext cx="2029968" cy="333756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Shape 28"/>
            <p:cNvSpPr/>
            <p:nvPr/>
          </p:nvSpPr>
          <p:spPr>
            <a:xfrm>
              <a:off x="4645152" y="1453896"/>
              <a:ext cx="2029968" cy="6400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Text 29"/>
            <p:cNvSpPr/>
            <p:nvPr/>
          </p:nvSpPr>
          <p:spPr>
            <a:xfrm>
              <a:off x="4754879" y="1563624"/>
              <a:ext cx="604207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4A6B80"/>
                  </a:solidFill>
                  <a:latin typeface="Palatino" pitchFamily="34" charset="0"/>
                  <a:ea typeface="Palatino" pitchFamily="34" charset="-122"/>
                  <a:cs typeface="Palatino" pitchFamily="34" charset="-120"/>
                </a:rPr>
                <a:t>03</a:t>
              </a:r>
              <a:endParaRPr lang="en-US" sz="2200" dirty="0"/>
            </a:p>
          </p:txBody>
        </p:sp>
        <p:pic>
          <p:nvPicPr>
            <p:cNvPr id="3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2472" y="1581912"/>
              <a:ext cx="457200" cy="457200"/>
            </a:xfrm>
            <a:prstGeom prst="rect">
              <a:avLst/>
            </a:prstGeom>
          </p:spPr>
        </p:pic>
        <p:sp>
          <p:nvSpPr>
            <p:cNvPr id="35" name="Text 30"/>
            <p:cNvSpPr/>
            <p:nvPr/>
          </p:nvSpPr>
          <p:spPr>
            <a:xfrm>
              <a:off x="4754880" y="202082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IMPLEMENTATION</a:t>
              </a:r>
              <a:endParaRPr lang="en-US" sz="800" dirty="0"/>
            </a:p>
          </p:txBody>
        </p:sp>
        <p:sp>
          <p:nvSpPr>
            <p:cNvPr id="36" name="Shape 31"/>
            <p:cNvSpPr/>
            <p:nvPr/>
          </p:nvSpPr>
          <p:spPr>
            <a:xfrm>
              <a:off x="4754880" y="2313432"/>
              <a:ext cx="1810512" cy="18288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Text 32"/>
            <p:cNvSpPr/>
            <p:nvPr/>
          </p:nvSpPr>
          <p:spPr>
            <a:xfrm>
              <a:off x="4736592" y="2404872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Staging DB creation (SQL Server)</a:t>
              </a:r>
              <a:endParaRPr lang="en-US" sz="850" dirty="0"/>
            </a:p>
          </p:txBody>
        </p:sp>
        <p:sp>
          <p:nvSpPr>
            <p:cNvPr id="38" name="Text 33"/>
            <p:cNvSpPr/>
            <p:nvPr/>
          </p:nvSpPr>
          <p:spPr>
            <a:xfrm>
              <a:off x="4736592" y="2880360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 with SSIS packages</a:t>
              </a:r>
              <a:endParaRPr lang="en-US" sz="850" dirty="0"/>
            </a:p>
          </p:txBody>
        </p:sp>
        <p:sp>
          <p:nvSpPr>
            <p:cNvPr id="39" name="Text 34"/>
            <p:cNvSpPr/>
            <p:nvPr/>
          </p:nvSpPr>
          <p:spPr>
            <a:xfrm>
              <a:off x="4736592" y="3355848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Dimensional DW load</a:t>
              </a:r>
              <a:endParaRPr lang="en-US" sz="850" dirty="0"/>
            </a:p>
          </p:txBody>
        </p:sp>
        <p:sp>
          <p:nvSpPr>
            <p:cNvPr id="40" name="Text 35"/>
            <p:cNvSpPr/>
            <p:nvPr/>
          </p:nvSpPr>
          <p:spPr>
            <a:xfrm>
              <a:off x="4736592" y="3831336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SSAS multidimensional cube</a:t>
              </a:r>
              <a:endParaRPr lang="en-US" sz="850" dirty="0"/>
            </a:p>
          </p:txBody>
        </p:sp>
        <p:sp>
          <p:nvSpPr>
            <p:cNvPr id="41" name="Shape 36"/>
            <p:cNvSpPr/>
            <p:nvPr/>
          </p:nvSpPr>
          <p:spPr>
            <a:xfrm>
              <a:off x="4736592" y="4489704"/>
              <a:ext cx="1865376" cy="228600"/>
            </a:xfrm>
            <a:prstGeom prst="rect">
              <a:avLst/>
            </a:prstGeom>
            <a:solidFill>
              <a:srgbClr val="1A3A5C">
                <a:alpha val="50000"/>
              </a:srgbClr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Text 37"/>
            <p:cNvSpPr/>
            <p:nvPr/>
          </p:nvSpPr>
          <p:spPr>
            <a:xfrm>
              <a:off x="4736592" y="4489704"/>
              <a:ext cx="1865376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SSIS + SSAS</a:t>
              </a:r>
              <a:endParaRPr lang="en-US" sz="800" dirty="0"/>
            </a:p>
          </p:txBody>
        </p:sp>
        <p:sp>
          <p:nvSpPr>
            <p:cNvPr id="43" name="Shape 38"/>
            <p:cNvSpPr/>
            <p:nvPr/>
          </p:nvSpPr>
          <p:spPr>
            <a:xfrm>
              <a:off x="6693408" y="3072384"/>
              <a:ext cx="137160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Shape 39"/>
            <p:cNvSpPr/>
            <p:nvPr/>
          </p:nvSpPr>
          <p:spPr>
            <a:xfrm>
              <a:off x="6839712" y="1453896"/>
              <a:ext cx="2029968" cy="333756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Shape 40"/>
            <p:cNvSpPr/>
            <p:nvPr/>
          </p:nvSpPr>
          <p:spPr>
            <a:xfrm>
              <a:off x="6839712" y="1453896"/>
              <a:ext cx="2029968" cy="6400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Text 41"/>
            <p:cNvSpPr/>
            <p:nvPr/>
          </p:nvSpPr>
          <p:spPr>
            <a:xfrm>
              <a:off x="6949440" y="1563624"/>
              <a:ext cx="6217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4A6B80"/>
                  </a:solidFill>
                  <a:latin typeface="Palatino" pitchFamily="34" charset="0"/>
                  <a:ea typeface="Palatino" pitchFamily="34" charset="-122"/>
                  <a:cs typeface="Palatino" pitchFamily="34" charset="-120"/>
                </a:rPr>
                <a:t>04</a:t>
              </a:r>
              <a:endParaRPr lang="en-US" sz="2200" dirty="0"/>
            </a:p>
          </p:txBody>
        </p:sp>
        <p:pic>
          <p:nvPicPr>
            <p:cNvPr id="4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7032" y="1581912"/>
              <a:ext cx="457200" cy="457200"/>
            </a:xfrm>
            <a:prstGeom prst="rect">
              <a:avLst/>
            </a:prstGeom>
          </p:spPr>
        </p:pic>
        <p:sp>
          <p:nvSpPr>
            <p:cNvPr id="48" name="Text 42"/>
            <p:cNvSpPr/>
            <p:nvPr/>
          </p:nvSpPr>
          <p:spPr>
            <a:xfrm>
              <a:off x="6949440" y="202082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USAGE &amp; OLAP</a:t>
              </a:r>
              <a:endParaRPr lang="en-US" sz="800" dirty="0"/>
            </a:p>
          </p:txBody>
        </p:sp>
        <p:sp>
          <p:nvSpPr>
            <p:cNvPr id="49" name="Shape 43"/>
            <p:cNvSpPr/>
            <p:nvPr/>
          </p:nvSpPr>
          <p:spPr>
            <a:xfrm>
              <a:off x="6949440" y="2313432"/>
              <a:ext cx="1810512" cy="18288"/>
            </a:xfrm>
            <a:prstGeom prst="rect">
              <a:avLst/>
            </a:prstGeom>
            <a:solidFill>
              <a:srgbClr val="1A3A5C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Text 44"/>
            <p:cNvSpPr/>
            <p:nvPr/>
          </p:nvSpPr>
          <p:spPr>
            <a:xfrm>
              <a:off x="6931152" y="2404872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Interactive dashboards</a:t>
              </a:r>
              <a:endParaRPr lang="en-US" sz="850" dirty="0"/>
            </a:p>
          </p:txBody>
        </p:sp>
        <p:sp>
          <p:nvSpPr>
            <p:cNvPr id="51" name="Text 45"/>
            <p:cNvSpPr/>
            <p:nvPr/>
          </p:nvSpPr>
          <p:spPr>
            <a:xfrm>
              <a:off x="6931152" y="2880360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Slice &amp; dice analysis</a:t>
              </a:r>
              <a:endParaRPr lang="en-US" sz="850" dirty="0"/>
            </a:p>
          </p:txBody>
        </p:sp>
        <p:sp>
          <p:nvSpPr>
            <p:cNvPr id="52" name="Text 46"/>
            <p:cNvSpPr/>
            <p:nvPr/>
          </p:nvSpPr>
          <p:spPr>
            <a:xfrm>
              <a:off x="6931152" y="3355848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Trend &amp; comparison reports</a:t>
              </a:r>
              <a:endParaRPr lang="en-US" sz="850" dirty="0"/>
            </a:p>
          </p:txBody>
        </p:sp>
        <p:sp>
          <p:nvSpPr>
            <p:cNvPr id="53" name="Text 47"/>
            <p:cNvSpPr/>
            <p:nvPr/>
          </p:nvSpPr>
          <p:spPr>
            <a:xfrm>
              <a:off x="6931152" y="3831336"/>
              <a:ext cx="1865376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50" b="1" dirty="0">
                  <a:solidFill>
                    <a:srgbClr val="4A6B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8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 need fulfilment</a:t>
              </a:r>
              <a:endParaRPr lang="en-US" sz="850" dirty="0"/>
            </a:p>
          </p:txBody>
        </p:sp>
        <p:sp>
          <p:nvSpPr>
            <p:cNvPr id="54" name="Shape 48"/>
            <p:cNvSpPr/>
            <p:nvPr/>
          </p:nvSpPr>
          <p:spPr>
            <a:xfrm>
              <a:off x="6931152" y="4489704"/>
              <a:ext cx="1865376" cy="228600"/>
            </a:xfrm>
            <a:prstGeom prst="rect">
              <a:avLst/>
            </a:prstGeom>
            <a:solidFill>
              <a:srgbClr val="1A3A5C">
                <a:alpha val="50000"/>
              </a:srgbClr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Text 49"/>
            <p:cNvSpPr/>
            <p:nvPr/>
          </p:nvSpPr>
          <p:spPr>
            <a:xfrm>
              <a:off x="6931152" y="4489704"/>
              <a:ext cx="1865376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5BBF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Tableau / Power BI</a:t>
              </a:r>
              <a:endParaRPr lang="en-US" sz="800" dirty="0"/>
            </a:p>
          </p:txBody>
        </p:sp>
        <p:sp>
          <p:nvSpPr>
            <p:cNvPr id="56" name="Text 50"/>
            <p:cNvSpPr/>
            <p:nvPr/>
          </p:nvSpPr>
          <p:spPr>
            <a:xfrm>
              <a:off x="256032" y="4837176"/>
              <a:ext cx="202996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kern="0" spc="1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I AM HERE ↑</a:t>
              </a:r>
              <a:endParaRPr lang="en-US" sz="750" b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ANALYSIS</a:t>
            </a:r>
            <a:endParaRPr lang="en-US" sz="8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2075216-8A99-C9F8-B43C-9F35B3867C78}"/>
              </a:ext>
            </a:extLst>
          </p:cNvPr>
          <p:cNvGrpSpPr/>
          <p:nvPr/>
        </p:nvGrpSpPr>
        <p:grpSpPr>
          <a:xfrm>
            <a:off x="210312" y="1481328"/>
            <a:ext cx="8723376" cy="1417320"/>
            <a:chOff x="320040" y="1481328"/>
            <a:chExt cx="8723376" cy="1417320"/>
          </a:xfrm>
        </p:grpSpPr>
        <p:sp>
          <p:nvSpPr>
            <p:cNvPr id="6" name="Shape 4"/>
            <p:cNvSpPr/>
            <p:nvPr/>
          </p:nvSpPr>
          <p:spPr>
            <a:xfrm>
              <a:off x="320040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F7931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Shape 5"/>
            <p:cNvSpPr/>
            <p:nvPr/>
          </p:nvSpPr>
          <p:spPr>
            <a:xfrm>
              <a:off x="320040" y="1481328"/>
              <a:ext cx="1316736" cy="54864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808" y="1618488"/>
              <a:ext cx="475488" cy="475488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374904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 1</a:t>
              </a:r>
              <a:endParaRPr lang="en-US" sz="9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74904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On-Chain</a:t>
              </a:r>
              <a:endParaRPr lang="en-US" sz="7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mempool.space API</a:t>
              </a:r>
              <a:endParaRPr lang="en-US" sz="75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1655064" y="2157984"/>
              <a:ext cx="128016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Shape 9"/>
            <p:cNvSpPr/>
            <p:nvPr/>
          </p:nvSpPr>
          <p:spPr>
            <a:xfrm>
              <a:off x="1746504" y="2121408"/>
              <a:ext cx="36576" cy="10972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Shape 10"/>
            <p:cNvSpPr/>
            <p:nvPr/>
          </p:nvSpPr>
          <p:spPr>
            <a:xfrm>
              <a:off x="1801368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5BB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Shape 11"/>
            <p:cNvSpPr/>
            <p:nvPr/>
          </p:nvSpPr>
          <p:spPr>
            <a:xfrm>
              <a:off x="1801368" y="1481328"/>
              <a:ext cx="1316736" cy="54864"/>
            </a:xfrm>
            <a:prstGeom prst="rect">
              <a:avLst/>
            </a:prstGeom>
            <a:solidFill>
              <a:srgbClr val="5BBFDD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1136" y="1618488"/>
              <a:ext cx="475488" cy="475488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1856232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 2</a:t>
              </a:r>
              <a:endParaRPr lang="en-US" sz="95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1856232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Data</a:t>
              </a:r>
              <a:endParaRPr lang="en-US" sz="7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CoinGecko API</a:t>
              </a:r>
              <a:endParaRPr lang="en-US" sz="75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3136392" y="2157984"/>
              <a:ext cx="128016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Shape 15"/>
            <p:cNvSpPr/>
            <p:nvPr/>
          </p:nvSpPr>
          <p:spPr>
            <a:xfrm>
              <a:off x="3227832" y="2121408"/>
              <a:ext cx="36576" cy="10972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Shape 16"/>
            <p:cNvSpPr/>
            <p:nvPr/>
          </p:nvSpPr>
          <p:spPr>
            <a:xfrm>
              <a:off x="3282696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2D8BC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Shape 17"/>
            <p:cNvSpPr/>
            <p:nvPr/>
          </p:nvSpPr>
          <p:spPr>
            <a:xfrm>
              <a:off x="3282696" y="1481328"/>
              <a:ext cx="1316736" cy="54864"/>
            </a:xfrm>
            <a:prstGeom prst="rect">
              <a:avLst/>
            </a:prstGeom>
            <a:solidFill>
              <a:srgbClr val="2D8BC0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12464" y="1618488"/>
              <a:ext cx="475488" cy="475488"/>
            </a:xfrm>
            <a:prstGeom prst="rect">
              <a:avLst/>
            </a:prstGeom>
          </p:spPr>
        </p:pic>
        <p:sp>
          <p:nvSpPr>
            <p:cNvPr id="23" name="Text 18"/>
            <p:cNvSpPr/>
            <p:nvPr/>
          </p:nvSpPr>
          <p:spPr>
            <a:xfrm>
              <a:off x="3337560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Staging DB</a:t>
              </a:r>
              <a:endParaRPr lang="en-US" sz="95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3337560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SQL Server</a:t>
              </a:r>
              <a:endParaRPr lang="en-US" sz="7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relational store</a:t>
              </a:r>
              <a:endParaRPr lang="en-US" sz="750" dirty="0"/>
            </a:p>
          </p:txBody>
        </p:sp>
        <p:sp>
          <p:nvSpPr>
            <p:cNvPr id="25" name="Shape 20"/>
            <p:cNvSpPr/>
            <p:nvPr/>
          </p:nvSpPr>
          <p:spPr>
            <a:xfrm>
              <a:off x="4617720" y="2157984"/>
              <a:ext cx="128016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Shape 21"/>
            <p:cNvSpPr/>
            <p:nvPr/>
          </p:nvSpPr>
          <p:spPr>
            <a:xfrm>
              <a:off x="4709160" y="2121408"/>
              <a:ext cx="36576" cy="10972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Shape 22"/>
            <p:cNvSpPr/>
            <p:nvPr/>
          </p:nvSpPr>
          <p:spPr>
            <a:xfrm>
              <a:off x="4764024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F7931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Shape 23"/>
            <p:cNvSpPr/>
            <p:nvPr/>
          </p:nvSpPr>
          <p:spPr>
            <a:xfrm>
              <a:off x="4764024" y="1481328"/>
              <a:ext cx="1316736" cy="54864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792" y="1618488"/>
              <a:ext cx="475488" cy="475488"/>
            </a:xfrm>
            <a:prstGeom prst="rect">
              <a:avLst/>
            </a:prstGeom>
          </p:spPr>
        </p:pic>
        <p:sp>
          <p:nvSpPr>
            <p:cNvPr id="30" name="Text 24"/>
            <p:cNvSpPr/>
            <p:nvPr/>
          </p:nvSpPr>
          <p:spPr>
            <a:xfrm>
              <a:off x="4818888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Mart</a:t>
              </a:r>
              <a:endParaRPr lang="en-US" sz="950" dirty="0"/>
            </a:p>
          </p:txBody>
        </p:sp>
        <p:sp>
          <p:nvSpPr>
            <p:cNvPr id="31" name="Text 25"/>
            <p:cNvSpPr/>
            <p:nvPr/>
          </p:nvSpPr>
          <p:spPr>
            <a:xfrm>
              <a:off x="4818888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 Schema</a:t>
              </a:r>
              <a:endParaRPr lang="en-US" sz="7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 + Dimensions</a:t>
              </a:r>
              <a:endParaRPr lang="en-US" sz="75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6099048" y="2157984"/>
              <a:ext cx="128016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Shape 27"/>
            <p:cNvSpPr/>
            <p:nvPr/>
          </p:nvSpPr>
          <p:spPr>
            <a:xfrm>
              <a:off x="6190488" y="2121408"/>
              <a:ext cx="36576" cy="10972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Shape 28"/>
            <p:cNvSpPr/>
            <p:nvPr/>
          </p:nvSpPr>
          <p:spPr>
            <a:xfrm>
              <a:off x="6245352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2DD4B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Shape 29"/>
            <p:cNvSpPr/>
            <p:nvPr/>
          </p:nvSpPr>
          <p:spPr>
            <a:xfrm>
              <a:off x="6245352" y="1481328"/>
              <a:ext cx="1316736" cy="54864"/>
            </a:xfrm>
            <a:prstGeom prst="rect">
              <a:avLst/>
            </a:prstGeom>
            <a:solidFill>
              <a:srgbClr val="2DD4BF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3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75120" y="1618488"/>
              <a:ext cx="475488" cy="475488"/>
            </a:xfrm>
            <a:prstGeom prst="rect">
              <a:avLst/>
            </a:prstGeom>
          </p:spPr>
        </p:pic>
        <p:sp>
          <p:nvSpPr>
            <p:cNvPr id="37" name="Text 30"/>
            <p:cNvSpPr/>
            <p:nvPr/>
          </p:nvSpPr>
          <p:spPr>
            <a:xfrm>
              <a:off x="6300216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SSAS Cube</a:t>
              </a:r>
              <a:endParaRPr lang="en-US" sz="950" dirty="0"/>
            </a:p>
          </p:txBody>
        </p:sp>
        <p:sp>
          <p:nvSpPr>
            <p:cNvPr id="38" name="Text 31"/>
            <p:cNvSpPr/>
            <p:nvPr/>
          </p:nvSpPr>
          <p:spPr>
            <a:xfrm>
              <a:off x="6300216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Multidim. cube</a:t>
              </a:r>
              <a:endParaRPr lang="en-US" sz="750" dirty="0"/>
            </a:p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OLAP aggregations</a:t>
              </a:r>
              <a:endParaRPr lang="en-US" sz="750" dirty="0"/>
            </a:p>
          </p:txBody>
        </p:sp>
        <p:sp>
          <p:nvSpPr>
            <p:cNvPr id="39" name="Shape 32"/>
            <p:cNvSpPr/>
            <p:nvPr/>
          </p:nvSpPr>
          <p:spPr>
            <a:xfrm>
              <a:off x="7580376" y="2157984"/>
              <a:ext cx="128016" cy="36576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Shape 33"/>
            <p:cNvSpPr/>
            <p:nvPr/>
          </p:nvSpPr>
          <p:spPr>
            <a:xfrm>
              <a:off x="7671816" y="2121408"/>
              <a:ext cx="36576" cy="109728"/>
            </a:xfrm>
            <a:prstGeom prst="rect">
              <a:avLst/>
            </a:prstGeom>
            <a:solidFill>
              <a:srgbClr val="1E5B8A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Shape 34"/>
            <p:cNvSpPr/>
            <p:nvPr/>
          </p:nvSpPr>
          <p:spPr>
            <a:xfrm>
              <a:off x="7726680" y="1481328"/>
              <a:ext cx="1316736" cy="1417320"/>
            </a:xfrm>
            <a:prstGeom prst="rect">
              <a:avLst/>
            </a:prstGeom>
            <a:solidFill>
              <a:srgbClr val="0D1F3C"/>
            </a:solidFill>
            <a:ln w="10795">
              <a:solidFill>
                <a:srgbClr val="E8B84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42" name="Shape 35"/>
            <p:cNvSpPr/>
            <p:nvPr/>
          </p:nvSpPr>
          <p:spPr>
            <a:xfrm>
              <a:off x="7726680" y="1481328"/>
              <a:ext cx="1316736" cy="54864"/>
            </a:xfrm>
            <a:prstGeom prst="rect">
              <a:avLst/>
            </a:prstGeom>
            <a:solidFill>
              <a:srgbClr val="E8B84B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56448" y="1618488"/>
              <a:ext cx="475488" cy="475488"/>
            </a:xfrm>
            <a:prstGeom prst="rect">
              <a:avLst/>
            </a:prstGeom>
          </p:spPr>
        </p:pic>
        <p:sp>
          <p:nvSpPr>
            <p:cNvPr id="44" name="Text 36"/>
            <p:cNvSpPr/>
            <p:nvPr/>
          </p:nvSpPr>
          <p:spPr>
            <a:xfrm>
              <a:off x="7781544" y="2139696"/>
              <a:ext cx="120700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Reports</a:t>
              </a:r>
              <a:endParaRPr lang="en-US" sz="950" dirty="0"/>
            </a:p>
          </p:txBody>
        </p:sp>
        <p:sp>
          <p:nvSpPr>
            <p:cNvPr id="45" name="Text 37"/>
            <p:cNvSpPr/>
            <p:nvPr/>
          </p:nvSpPr>
          <p:spPr>
            <a:xfrm>
              <a:off x="7781544" y="2377440"/>
              <a:ext cx="120700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Tableau /</a:t>
              </a:r>
              <a:r>
                <a:rPr lang="en-US" sz="750" dirty="0"/>
                <a:t> </a:t>
              </a:r>
              <a:r>
                <a:rPr lang="en-US" sz="75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</a:t>
              </a:r>
              <a:endParaRPr lang="en-US" sz="750" dirty="0"/>
            </a:p>
          </p:txBody>
        </p:sp>
      </p:grpSp>
      <p:sp>
        <p:nvSpPr>
          <p:cNvPr id="46" name="Shape 38"/>
          <p:cNvSpPr/>
          <p:nvPr/>
        </p:nvSpPr>
        <p:spPr>
          <a:xfrm>
            <a:off x="3081528" y="3051048"/>
            <a:ext cx="2962656" cy="237744"/>
          </a:xfrm>
          <a:prstGeom prst="rect">
            <a:avLst/>
          </a:prstGeom>
          <a:solidFill>
            <a:srgbClr val="1A3A5C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39"/>
          <p:cNvSpPr/>
          <p:nvPr/>
        </p:nvSpPr>
        <p:spPr>
          <a:xfrm>
            <a:off x="3081528" y="3051048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- SSIS Pipeline</a:t>
            </a:r>
            <a:endParaRPr lang="en-US" sz="800" dirty="0"/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CAE8C774-7ABD-70ED-9F45-E1E87CD9837C}"/>
              </a:ext>
            </a:extLst>
          </p:cNvPr>
          <p:cNvGrpSpPr/>
          <p:nvPr/>
        </p:nvGrpSpPr>
        <p:grpSpPr>
          <a:xfrm>
            <a:off x="301752" y="3429000"/>
            <a:ext cx="8540496" cy="1463040"/>
            <a:chOff x="411480" y="3429000"/>
            <a:chExt cx="8540496" cy="1463040"/>
          </a:xfrm>
        </p:grpSpPr>
        <p:sp>
          <p:nvSpPr>
            <p:cNvPr id="48" name="Shape 40"/>
            <p:cNvSpPr/>
            <p:nvPr/>
          </p:nvSpPr>
          <p:spPr>
            <a:xfrm>
              <a:off x="411480" y="3429000"/>
              <a:ext cx="2724912" cy="146304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Shape 41"/>
            <p:cNvSpPr/>
            <p:nvPr/>
          </p:nvSpPr>
          <p:spPr>
            <a:xfrm>
              <a:off x="411480" y="3429000"/>
              <a:ext cx="2724912" cy="45720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50" name="Image 6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496" y="3613990"/>
              <a:ext cx="347472" cy="347472"/>
            </a:xfrm>
            <a:prstGeom prst="rect">
              <a:avLst/>
            </a:prstGeom>
          </p:spPr>
        </p:pic>
        <p:sp>
          <p:nvSpPr>
            <p:cNvPr id="51" name="Text 42"/>
            <p:cNvSpPr/>
            <p:nvPr/>
          </p:nvSpPr>
          <p:spPr>
            <a:xfrm>
              <a:off x="960120" y="3613990"/>
              <a:ext cx="20848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Staging Database</a:t>
              </a:r>
              <a:endParaRPr lang="en-US" sz="1000" dirty="0"/>
            </a:p>
          </p:txBody>
        </p:sp>
        <p:sp>
          <p:nvSpPr>
            <p:cNvPr id="52" name="Text 43"/>
            <p:cNvSpPr/>
            <p:nvPr/>
          </p:nvSpPr>
          <p:spPr>
            <a:xfrm>
              <a:off x="521208" y="3913632"/>
              <a:ext cx="2505456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90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Decouples raw extraction from the cleaned dimensional model. Separate SQL Server database for initial load and cleansing.</a:t>
              </a:r>
              <a:endParaRPr lang="en-US" sz="900" dirty="0"/>
            </a:p>
          </p:txBody>
        </p:sp>
        <p:sp>
          <p:nvSpPr>
            <p:cNvPr id="53" name="Shape 44"/>
            <p:cNvSpPr/>
            <p:nvPr/>
          </p:nvSpPr>
          <p:spPr>
            <a:xfrm>
              <a:off x="3319272" y="3429000"/>
              <a:ext cx="2724912" cy="146304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Shape 45"/>
            <p:cNvSpPr/>
            <p:nvPr/>
          </p:nvSpPr>
          <p:spPr>
            <a:xfrm>
              <a:off x="3319272" y="3429000"/>
              <a:ext cx="2724912" cy="45720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55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47288" y="3613990"/>
              <a:ext cx="347472" cy="347472"/>
            </a:xfrm>
            <a:prstGeom prst="rect">
              <a:avLst/>
            </a:prstGeom>
          </p:spPr>
        </p:pic>
        <p:sp>
          <p:nvSpPr>
            <p:cNvPr id="56" name="Text 46"/>
            <p:cNvSpPr/>
            <p:nvPr/>
          </p:nvSpPr>
          <p:spPr>
            <a:xfrm>
              <a:off x="3867912" y="3613990"/>
              <a:ext cx="20848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Data Mart</a:t>
              </a:r>
              <a:endParaRPr lang="en-US" sz="1000" dirty="0"/>
            </a:p>
          </p:txBody>
        </p:sp>
        <p:sp>
          <p:nvSpPr>
            <p:cNvPr id="57" name="Text 47"/>
            <p:cNvSpPr/>
            <p:nvPr/>
          </p:nvSpPr>
          <p:spPr>
            <a:xfrm>
              <a:off x="3429000" y="3913632"/>
              <a:ext cx="2505456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90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business process - Bitcoin TX settlement - as a star schema. Single line of business, manageable scope.</a:t>
              </a:r>
              <a:endParaRPr lang="en-US" sz="900" dirty="0"/>
            </a:p>
          </p:txBody>
        </p:sp>
        <p:sp>
          <p:nvSpPr>
            <p:cNvPr id="58" name="Shape 48"/>
            <p:cNvSpPr/>
            <p:nvPr/>
          </p:nvSpPr>
          <p:spPr>
            <a:xfrm>
              <a:off x="6227064" y="3429000"/>
              <a:ext cx="2724912" cy="1463040"/>
            </a:xfrm>
            <a:prstGeom prst="rect">
              <a:avLst/>
            </a:prstGeom>
            <a:solidFill>
              <a:srgbClr val="0D1F3C"/>
            </a:solidFill>
            <a:ln w="9525">
              <a:solidFill>
                <a:srgbClr val="1A3A5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Shape 49"/>
            <p:cNvSpPr/>
            <p:nvPr/>
          </p:nvSpPr>
          <p:spPr>
            <a:xfrm>
              <a:off x="6227064" y="3429000"/>
              <a:ext cx="2724912" cy="45720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/>
            </a:p>
          </p:txBody>
        </p:sp>
        <p:pic>
          <p:nvPicPr>
            <p:cNvPr id="60" name="Image 8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55080" y="3613990"/>
              <a:ext cx="347472" cy="347472"/>
            </a:xfrm>
            <a:prstGeom prst="rect">
              <a:avLst/>
            </a:prstGeom>
          </p:spPr>
        </p:pic>
        <p:sp>
          <p:nvSpPr>
            <p:cNvPr id="61" name="Text 50"/>
            <p:cNvSpPr/>
            <p:nvPr/>
          </p:nvSpPr>
          <p:spPr>
            <a:xfrm>
              <a:off x="6775704" y="3613990"/>
              <a:ext cx="20848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SSAS OLAP Cube</a:t>
              </a:r>
              <a:endParaRPr lang="en-US" sz="1000" dirty="0"/>
            </a:p>
          </p:txBody>
        </p:sp>
        <p:sp>
          <p:nvSpPr>
            <p:cNvPr id="62" name="Text 51"/>
            <p:cNvSpPr/>
            <p:nvPr/>
          </p:nvSpPr>
          <p:spPr>
            <a:xfrm>
              <a:off x="6336792" y="3913632"/>
              <a:ext cx="2505456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90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Multidimensional cube enables slice &amp; dice, drill-down, and time-series analysis across all dimensions.</a:t>
              </a:r>
              <a:endParaRPr lang="en-US" sz="900" dirty="0"/>
            </a:p>
          </p:txBody>
        </p:sp>
      </p:grpSp>
      <p:sp>
        <p:nvSpPr>
          <p:cNvPr id="63" name="Text 3"/>
          <p:cNvSpPr/>
          <p:nvPr/>
        </p:nvSpPr>
        <p:spPr>
          <a:xfrm>
            <a:off x="411480" y="78638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I Am Building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DOMAIN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59389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domain before modelling the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868214"/>
            <a:ext cx="64008" cy="47548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83163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05109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of verified transactions permanently appended to the chain. Identified by height (sequential) and hash (fingerprint).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11480" y="2517438"/>
            <a:ext cx="64008" cy="47548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48086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(TX)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0031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of BTC value: inputs (coin sources / UTXOs spent) → outputs (new UTXOs). Measured in satoshis (1 BTC = 100M sat).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11480" y="3166662"/>
            <a:ext cx="64008" cy="47548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313008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UTXO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34954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Unspent Transaction Output - the fundamental accounting unit. Bitcoin has no 'accounts', only UTXOs that are created and consumed.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11480" y="3815886"/>
            <a:ext cx="64008" cy="47548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377931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 (sat/vByte)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9876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virtual byte. Miners prioritise TXs with higher fee rates - the key economic signal for congestion analysis.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11480" y="4465110"/>
            <a:ext cx="64008" cy="47548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442853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Epoch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64799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210K blocks, the block subsidy halves. Defines major market cycles and miner revenue structure over time.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577840" y="421326"/>
            <a:ext cx="3154680" cy="4403891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577840" y="421327"/>
            <a:ext cx="315468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6492240" y="531055"/>
            <a:ext cx="1280160" cy="12801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1902655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 a Glance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15000" y="2231839"/>
            <a:ext cx="2834640" cy="182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5577840" y="2378143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~900M+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577840" y="2634175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 TXs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577840" y="2853631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~886K+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577840" y="3109663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Mined (2009-2025)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577840" y="3329119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~10 min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577840" y="3585151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Block Time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577840" y="3804607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~3,500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577840" y="4060639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TXs per Block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577840" y="4280095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 eras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577840" y="4536127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Epochs (so far)</a:t>
            </a:r>
            <a:endParaRPr lang="en-US" sz="75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2555FF48-C470-A4E1-5A3B-CA98F299DC73}"/>
              </a:ext>
            </a:extLst>
          </p:cNvPr>
          <p:cNvSpPr/>
          <p:nvPr/>
        </p:nvSpPr>
        <p:spPr>
          <a:xfrm>
            <a:off x="411480" y="927789"/>
            <a:ext cx="3811728" cy="373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Bitcoin Blockchain</a:t>
            </a:r>
          </a:p>
          <a:p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Key Concepts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15BDA156-1976-EB9B-D1E4-CB9D74B7E009}"/>
              </a:ext>
            </a:extLst>
          </p:cNvPr>
          <p:cNvSpPr/>
          <p:nvPr/>
        </p:nvSpPr>
        <p:spPr>
          <a:xfrm>
            <a:off x="411480" y="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USER PROFILES</a:t>
            </a:r>
            <a:endParaRPr lang="en-US" sz="9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34C90EED-705C-A93F-A3C8-F7E1854E2CF0}"/>
              </a:ext>
            </a:extLst>
          </p:cNvPr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 Needs This Platform?</a:t>
            </a:r>
            <a:endParaRPr lang="en-US" sz="28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118D8699-CA80-5F21-3C52-2924FE730473}"/>
              </a:ext>
            </a:extLst>
          </p:cNvPr>
          <p:cNvSpPr/>
          <p:nvPr/>
        </p:nvSpPr>
        <p:spPr>
          <a:xfrm>
            <a:off x="411480" y="12435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end-user profiles drive the OLAP requirements of this data mart.</a:t>
            </a:r>
            <a:endParaRPr lang="en-US" sz="105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200E5A50-D38F-BFBC-A546-ED564A3CB3AF}"/>
              </a:ext>
            </a:extLst>
          </p:cNvPr>
          <p:cNvSpPr/>
          <p:nvPr/>
        </p:nvSpPr>
        <p:spPr>
          <a:xfrm>
            <a:off x="411480" y="1627632"/>
            <a:ext cx="3977640" cy="3310128"/>
          </a:xfrm>
          <a:prstGeom prst="rect">
            <a:avLst/>
          </a:prstGeom>
          <a:solidFill>
            <a:srgbClr val="0D1F3C"/>
          </a:solidFill>
          <a:ln w="10795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B41D71E1-D0E9-A487-5CFE-4E140D3F117E}"/>
              </a:ext>
            </a:extLst>
          </p:cNvPr>
          <p:cNvSpPr/>
          <p:nvPr/>
        </p:nvSpPr>
        <p:spPr>
          <a:xfrm>
            <a:off x="411480" y="1627632"/>
            <a:ext cx="91440" cy="331012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FD759413-2B96-DF2C-4630-9BB783BB1404}"/>
              </a:ext>
            </a:extLst>
          </p:cNvPr>
          <p:cNvSpPr/>
          <p:nvPr/>
        </p:nvSpPr>
        <p:spPr>
          <a:xfrm>
            <a:off x="411480" y="1627632"/>
            <a:ext cx="3977640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5DFAFCBC-5B62-CF7E-E615-4A391887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19072"/>
            <a:ext cx="438912" cy="438912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15C4DF32-75E6-91E5-8A0E-93355888CE67}"/>
              </a:ext>
            </a:extLst>
          </p:cNvPr>
          <p:cNvSpPr/>
          <p:nvPr/>
        </p:nvSpPr>
        <p:spPr>
          <a:xfrm>
            <a:off x="1152144" y="171907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Analyst / Researcher</a:t>
            </a:r>
            <a:endParaRPr lang="en-US" sz="12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DC731B56-BBEA-69CC-4CEF-6D76D8A098DA}"/>
              </a:ext>
            </a:extLst>
          </p:cNvPr>
          <p:cNvSpPr/>
          <p:nvPr/>
        </p:nvSpPr>
        <p:spPr>
          <a:xfrm>
            <a:off x="566928" y="2231136"/>
            <a:ext cx="3675888" cy="182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4707266-E589-83A6-A25E-5FCBCF88BAA6}"/>
              </a:ext>
            </a:extLst>
          </p:cNvPr>
          <p:cNvSpPr/>
          <p:nvPr/>
        </p:nvSpPr>
        <p:spPr>
          <a:xfrm>
            <a:off x="621792" y="2322576"/>
            <a:ext cx="365760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TX volume trends across halving epochs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fee rate distribution per block era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on-chain activity vs. market price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UTXO age bands and coin dormancy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miner revenue (subsidy + fees)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SegWit adoption growth over time</a:t>
            </a:r>
            <a:endParaRPr lang="en-US" sz="98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01E1401-B0A8-2A29-DBAC-7A94D5591ACE}"/>
              </a:ext>
            </a:extLst>
          </p:cNvPr>
          <p:cNvSpPr/>
          <p:nvPr/>
        </p:nvSpPr>
        <p:spPr>
          <a:xfrm>
            <a:off x="420624" y="4690872"/>
            <a:ext cx="1828800" cy="201168"/>
          </a:xfrm>
          <a:prstGeom prst="rect">
            <a:avLst/>
          </a:prstGeom>
          <a:solidFill>
            <a:srgbClr val="F7931A">
              <a:alpha val="2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2A3AD7B8-3B5C-9F64-AB45-6F76A4FA07A3}"/>
              </a:ext>
            </a:extLst>
          </p:cNvPr>
          <p:cNvSpPr/>
          <p:nvPr/>
        </p:nvSpPr>
        <p:spPr>
          <a:xfrm>
            <a:off x="420624" y="4690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7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3C16321F-18BC-5DE7-3C75-16E09558335F}"/>
              </a:ext>
            </a:extLst>
          </p:cNvPr>
          <p:cNvSpPr/>
          <p:nvPr/>
        </p:nvSpPr>
        <p:spPr>
          <a:xfrm>
            <a:off x="4754880" y="1627632"/>
            <a:ext cx="3977640" cy="3310128"/>
          </a:xfrm>
          <a:prstGeom prst="rect">
            <a:avLst/>
          </a:prstGeom>
          <a:solidFill>
            <a:srgbClr val="0D1F3C"/>
          </a:solidFill>
          <a:ln w="10795">
            <a:solidFill>
              <a:srgbClr val="5BBF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57913AB7-2EE9-8076-B6A6-01E40FC3D980}"/>
              </a:ext>
            </a:extLst>
          </p:cNvPr>
          <p:cNvSpPr/>
          <p:nvPr/>
        </p:nvSpPr>
        <p:spPr>
          <a:xfrm>
            <a:off x="4754880" y="1627632"/>
            <a:ext cx="91440" cy="33101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D29F1D17-9781-77D6-74D0-D1CCE256FAB3}"/>
              </a:ext>
            </a:extLst>
          </p:cNvPr>
          <p:cNvSpPr/>
          <p:nvPr/>
        </p:nvSpPr>
        <p:spPr>
          <a:xfrm>
            <a:off x="4754880" y="1627632"/>
            <a:ext cx="3977640" cy="54864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20C1A3BC-D0EE-ABDE-ED77-8FCF05BFF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719072"/>
            <a:ext cx="438912" cy="438912"/>
          </a:xfrm>
          <a:prstGeom prst="rect">
            <a:avLst/>
          </a:prstGeom>
        </p:spPr>
      </p:pic>
      <p:sp>
        <p:nvSpPr>
          <p:cNvPr id="40" name="Text 15">
            <a:extLst>
              <a:ext uri="{FF2B5EF4-FFF2-40B4-BE49-F238E27FC236}">
                <a16:creationId xmlns:a16="http://schemas.microsoft.com/office/drawing/2014/main" id="{8E2E8BB8-30F2-0824-37F1-C1E8A83F39D8}"/>
              </a:ext>
            </a:extLst>
          </p:cNvPr>
          <p:cNvSpPr/>
          <p:nvPr/>
        </p:nvSpPr>
        <p:spPr>
          <a:xfrm>
            <a:off x="5486400" y="171907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Operator / Trader</a:t>
            </a:r>
            <a:endParaRPr lang="en-US" sz="1250" dirty="0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9537DC5B-D1D2-96D1-7E65-2CA3E3FC224B}"/>
              </a:ext>
            </a:extLst>
          </p:cNvPr>
          <p:cNvSpPr/>
          <p:nvPr/>
        </p:nvSpPr>
        <p:spPr>
          <a:xfrm>
            <a:off x="4901184" y="2231136"/>
            <a:ext cx="3675888" cy="182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E0839627-2E55-03B0-78D2-E4C68B34D6AB}"/>
              </a:ext>
            </a:extLst>
          </p:cNvPr>
          <p:cNvSpPr/>
          <p:nvPr/>
        </p:nvSpPr>
        <p:spPr>
          <a:xfrm>
            <a:off x="4956048" y="2322576"/>
            <a:ext cx="365760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mempool congestion for fee estimation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on-chain volume with price movements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large transaction flows (whale activity)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confirmation times by fee tier segment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historical block fullness vs. demand</a:t>
            </a:r>
            <a:endParaRPr lang="en-US" sz="98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98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market Fear &amp; Greed vs. on-chain data</a:t>
            </a:r>
            <a:endParaRPr lang="en-US" sz="980" dirty="0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6B1B723E-D436-1593-2178-E506FE8A9351}"/>
              </a:ext>
            </a:extLst>
          </p:cNvPr>
          <p:cNvSpPr/>
          <p:nvPr/>
        </p:nvSpPr>
        <p:spPr>
          <a:xfrm>
            <a:off x="4764024" y="4690872"/>
            <a:ext cx="1828800" cy="201168"/>
          </a:xfrm>
          <a:prstGeom prst="rect">
            <a:avLst/>
          </a:prstGeom>
          <a:solidFill>
            <a:srgbClr val="5BBFDD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1F4085BC-53D6-42A0-6793-24C942537BB3}"/>
              </a:ext>
            </a:extLst>
          </p:cNvPr>
          <p:cNvSpPr/>
          <p:nvPr/>
        </p:nvSpPr>
        <p:spPr>
          <a:xfrm>
            <a:off x="4764024" y="4690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Primary Data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31850"/>
            <a:ext cx="4114800" cy="2985516"/>
          </a:xfrm>
          <a:prstGeom prst="rect">
            <a:avLst/>
          </a:prstGeom>
          <a:solidFill>
            <a:srgbClr val="0D1F3C"/>
          </a:solidFill>
          <a:ln w="12700">
            <a:solidFill>
              <a:srgbClr val="F793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1631850"/>
            <a:ext cx="4114800" cy="64008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73243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73243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66928" y="192445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On-Chain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225364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mempool.space API  ·  blockchain.com/api  ·  Bitcoin Core RPC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" y="2546250"/>
            <a:ext cx="3803904" cy="182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566928" y="4261102"/>
            <a:ext cx="1188720" cy="219456"/>
          </a:xfrm>
          <a:prstGeom prst="rect">
            <a:avLst/>
          </a:prstGeom>
          <a:solidFill>
            <a:srgbClr val="F7931A">
              <a:alpha val="22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566928" y="426110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865376" y="4261102"/>
            <a:ext cx="1188720" cy="219456"/>
          </a:xfrm>
          <a:prstGeom prst="rect">
            <a:avLst/>
          </a:prstGeom>
          <a:solidFill>
            <a:srgbClr val="F7931A">
              <a:alpha val="10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1865376" y="426110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flat file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163824" y="4261102"/>
            <a:ext cx="1188720" cy="219456"/>
          </a:xfrm>
          <a:prstGeom prst="rect">
            <a:avLst/>
          </a:prstGeom>
          <a:solidFill>
            <a:srgbClr val="F7931A">
              <a:alpha val="10000"/>
            </a:srgbClr>
          </a:solidFill>
          <a:ln w="12700">
            <a:solidFill>
              <a:srgbClr val="F793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3163824" y="426110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709160" y="1631850"/>
            <a:ext cx="4023360" cy="2985516"/>
          </a:xfrm>
          <a:prstGeom prst="rect">
            <a:avLst/>
          </a:prstGeom>
          <a:solidFill>
            <a:srgbClr val="0D1F3C"/>
          </a:solidFill>
          <a:ln w="12700">
            <a:solidFill>
              <a:srgbClr val="5BBF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4709160" y="1631850"/>
            <a:ext cx="4023360" cy="6400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1741578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64608" y="173243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864608" y="192445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Market Data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864608" y="225364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  ·  Yahoo Finance  ·  Alternative.me (Fear &amp; Greed)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864608" y="2546250"/>
            <a:ext cx="3712464" cy="182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4864608" y="2637690"/>
            <a:ext cx="3712464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open, high, low, close price (USD/OHLCV)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trading volume, market capitalisation (USD)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difficulty &amp; estimated hash rate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 Index (daily score 0-100)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 label: Extreme Fear → Extreme Greed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dominance % vs. total crypto market cap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ratio - Network Value to Transactions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Exchange-level volume breakdown (Binance, etc.)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864608" y="4261102"/>
            <a:ext cx="1115568" cy="219456"/>
          </a:xfrm>
          <a:prstGeom prst="rect">
            <a:avLst/>
          </a:prstGeom>
          <a:solidFill>
            <a:srgbClr val="5BBFDD">
              <a:alpha val="18000"/>
            </a:srgbClr>
          </a:solidFill>
          <a:ln w="12700">
            <a:solidFill>
              <a:srgbClr val="5BBF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4864608" y="426110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6089904" y="4261102"/>
            <a:ext cx="1115568" cy="219456"/>
          </a:xfrm>
          <a:prstGeom prst="rect">
            <a:avLst/>
          </a:prstGeom>
          <a:solidFill>
            <a:srgbClr val="5BBFDD">
              <a:alpha val="10000"/>
            </a:srgbClr>
          </a:solidFill>
          <a:ln w="12700">
            <a:solidFill>
              <a:srgbClr val="5BBF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6"/>
          <p:cNvSpPr/>
          <p:nvPr/>
        </p:nvSpPr>
        <p:spPr>
          <a:xfrm>
            <a:off x="6089904" y="426110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7315200" y="4261102"/>
            <a:ext cx="1115568" cy="219456"/>
          </a:xfrm>
          <a:prstGeom prst="rect">
            <a:avLst/>
          </a:prstGeom>
          <a:solidFill>
            <a:srgbClr val="5BBFDD">
              <a:alpha val="10000"/>
            </a:srgbClr>
          </a:solidFill>
          <a:ln w="12700">
            <a:solidFill>
              <a:srgbClr val="5BBF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8"/>
          <p:cNvSpPr/>
          <p:nvPr/>
        </p:nvSpPr>
        <p:spPr>
          <a:xfrm>
            <a:off x="7315200" y="4261102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2009</a:t>
            </a:r>
            <a:endParaRPr lang="en-US" sz="7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7FDB3F20-77E0-CBB1-2AC5-54D714D6C888}"/>
              </a:ext>
            </a:extLst>
          </p:cNvPr>
          <p:cNvSpPr/>
          <p:nvPr/>
        </p:nvSpPr>
        <p:spPr>
          <a:xfrm>
            <a:off x="566928" y="2637690"/>
            <a:ext cx="3803904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height, hash, timestamp, size (bytes), weight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 per block, total fees collected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TX: txid, input count, output count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amount (satoshis), fee rate (sat/vByte)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values (satoshis), script type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SegWit witness flag, virtual size (vBytes)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TX details - miner reward &amp; address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Mempool snapshot: pending count, avg fee rate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DATASET OVERVIEW &amp; GRANULARITY</a:t>
            </a:r>
            <a:endParaRPr lang="en-US" sz="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F99C66F8-EA85-16A5-29A1-C961003A944C}"/>
              </a:ext>
            </a:extLst>
          </p:cNvPr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Profile - What We Extract &amp; Why</a:t>
            </a:r>
            <a:endParaRPr lang="en-US" sz="28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2DF7A784-8D29-33DF-CAA0-0CD1A817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61847"/>
              </p:ext>
            </p:extLst>
          </p:nvPr>
        </p:nvGraphicFramePr>
        <p:xfrm>
          <a:off x="411480" y="1337836"/>
          <a:ext cx="8321040" cy="287121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8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(unit of a row)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Volume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BF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metadata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mined block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~886K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→ 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200K blocks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Transaction-level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TX in a block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~900M rows (subset)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→ 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~50M TX 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Inputs / Outputs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UTXO input/output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Multi-billion (filter)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→ 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Sampled subset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OHLCV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~5,500 rows (2009–)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&amp; Greed Index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~2,000 rows (2019–)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/ 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8D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3">
            <a:extLst>
              <a:ext uri="{FF2B5EF4-FFF2-40B4-BE49-F238E27FC236}">
                <a16:creationId xmlns:a16="http://schemas.microsoft.com/office/drawing/2014/main" id="{A8838F4B-9E7E-E62F-48A4-B4C078C0174B}"/>
              </a:ext>
            </a:extLst>
          </p:cNvPr>
          <p:cNvSpPr/>
          <p:nvPr/>
        </p:nvSpPr>
        <p:spPr>
          <a:xfrm>
            <a:off x="411480" y="4337068"/>
            <a:ext cx="27432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C3F68C7-7D90-1500-A879-7F7B7F0C236D}"/>
              </a:ext>
            </a:extLst>
          </p:cNvPr>
          <p:cNvSpPr/>
          <p:nvPr/>
        </p:nvSpPr>
        <p:spPr>
          <a:xfrm>
            <a:off x="502920" y="43553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Operational Data</a:t>
            </a:r>
            <a:endParaRPr lang="en-US" sz="9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9508F56-75EE-2971-588E-E7944E2A5889}"/>
              </a:ext>
            </a:extLst>
          </p:cNvPr>
          <p:cNvSpPr/>
          <p:nvPr/>
        </p:nvSpPr>
        <p:spPr>
          <a:xfrm>
            <a:off x="502920" y="45931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TX &amp; block data - close to generation, not pre-aggregated. Ideal for DW fact grain.</a:t>
            </a:r>
            <a:endParaRPr lang="en-US" sz="8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3FF6D664-8285-EFB0-5102-5D4423EE2F27}"/>
              </a:ext>
            </a:extLst>
          </p:cNvPr>
          <p:cNvSpPr/>
          <p:nvPr/>
        </p:nvSpPr>
        <p:spPr>
          <a:xfrm>
            <a:off x="3319272" y="4337068"/>
            <a:ext cx="27432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4BCD19BD-C937-4610-70AA-88C2FB9C9E32}"/>
              </a:ext>
            </a:extLst>
          </p:cNvPr>
          <p:cNvSpPr/>
          <p:nvPr/>
        </p:nvSpPr>
        <p:spPr>
          <a:xfrm>
            <a:off x="3410712" y="43553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Heterogeneous Formats</a:t>
            </a:r>
            <a:endParaRPr lang="en-US" sz="9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8EF1E6B5-928A-1B0B-5FAC-D07E9FF6076A}"/>
              </a:ext>
            </a:extLst>
          </p:cNvPr>
          <p:cNvSpPr/>
          <p:nvPr/>
        </p:nvSpPr>
        <p:spPr>
          <a:xfrm>
            <a:off x="3410712" y="45931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REST JSON (live) + CSV flat files (historical). Validates SSIS multi-source ETL design.</a:t>
            </a:r>
            <a:endParaRPr lang="en-US" sz="8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F24A4FC5-4170-EF46-C9EB-4A895B395976}"/>
              </a:ext>
            </a:extLst>
          </p:cNvPr>
          <p:cNvSpPr/>
          <p:nvPr/>
        </p:nvSpPr>
        <p:spPr>
          <a:xfrm>
            <a:off x="6227064" y="4337068"/>
            <a:ext cx="27432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85539AE-AFDD-14C7-3A54-0E3E1A0D70A5}"/>
              </a:ext>
            </a:extLst>
          </p:cNvPr>
          <p:cNvSpPr/>
          <p:nvPr/>
        </p:nvSpPr>
        <p:spPr>
          <a:xfrm>
            <a:off x="6318504" y="435535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Practical Scope</a:t>
            </a:r>
            <a:endParaRPr lang="en-US" sz="9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D01320E-6621-9FA7-334B-CECB5F6E87A0}"/>
              </a:ext>
            </a:extLst>
          </p:cNvPr>
          <p:cNvSpPr/>
          <p:nvPr/>
        </p:nvSpPr>
        <p:spPr>
          <a:xfrm>
            <a:off x="6318504" y="45931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blocks ≈ 4 years of data (~700M TXs). Statistically representative while staying manageable.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DIMENSIONAL SYNOPSIS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752239"/>
            <a:ext cx="91439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Business Process, Dimensions &amp; Star Schema Sketch</a:t>
            </a:r>
            <a:endParaRPr lang="en-US" sz="2600" dirty="0"/>
          </a:p>
        </p:txBody>
      </p: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BEBD27C3-44CC-1F22-0685-628F53DF14F7}"/>
              </a:ext>
            </a:extLst>
          </p:cNvPr>
          <p:cNvGrpSpPr/>
          <p:nvPr/>
        </p:nvGrpSpPr>
        <p:grpSpPr>
          <a:xfrm>
            <a:off x="411480" y="1321604"/>
            <a:ext cx="8321040" cy="475488"/>
            <a:chOff x="548640" y="1371600"/>
            <a:chExt cx="8321040" cy="475488"/>
          </a:xfrm>
        </p:grpSpPr>
        <p:sp>
          <p:nvSpPr>
            <p:cNvPr id="109" name="Shape 3">
              <a:extLst>
                <a:ext uri="{FF2B5EF4-FFF2-40B4-BE49-F238E27FC236}">
                  <a16:creationId xmlns:a16="http://schemas.microsoft.com/office/drawing/2014/main" id="{BB74CB88-5723-9AC7-EB1A-CB821225ADAD}"/>
                </a:ext>
              </a:extLst>
            </p:cNvPr>
            <p:cNvSpPr/>
            <p:nvPr/>
          </p:nvSpPr>
          <p:spPr>
            <a:xfrm>
              <a:off x="548640" y="1371600"/>
              <a:ext cx="8321040" cy="475488"/>
            </a:xfrm>
            <a:prstGeom prst="rect">
              <a:avLst/>
            </a:prstGeom>
            <a:solidFill>
              <a:srgbClr val="F7931A">
                <a:alpha val="14000"/>
              </a:srgbClr>
            </a:solidFill>
            <a:ln w="12700">
              <a:solidFill>
                <a:srgbClr val="F7931A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" name="Text 4">
              <a:extLst>
                <a:ext uri="{FF2B5EF4-FFF2-40B4-BE49-F238E27FC236}">
                  <a16:creationId xmlns:a16="http://schemas.microsoft.com/office/drawing/2014/main" id="{F081F1E2-CC76-2B04-BDA4-914CB31CC868}"/>
                </a:ext>
              </a:extLst>
            </p:cNvPr>
            <p:cNvSpPr/>
            <p:nvPr/>
          </p:nvSpPr>
          <p:spPr>
            <a:xfrm>
              <a:off x="685800" y="1371600"/>
              <a:ext cx="8138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8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 Process: </a:t>
              </a:r>
              <a:r>
                <a:rPr lang="en-US" sz="98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Bitcoin Transaction Settlement - each on-chain confirmed transaction in a mined block.</a:t>
              </a:r>
              <a:r>
                <a:rPr lang="en-US" sz="980" b="1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Grain: </a:t>
              </a:r>
              <a:r>
                <a:rPr lang="en-US" sz="980" dirty="0">
                  <a:solidFill>
                    <a:srgbClr val="C8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confirmed transaction.</a:t>
              </a:r>
              <a:endParaRPr lang="en-US" sz="980" dirty="0"/>
            </a:p>
          </p:txBody>
        </p:sp>
      </p:grpSp>
      <p:sp>
        <p:nvSpPr>
          <p:cNvPr id="111" name="Shape 5">
            <a:extLst>
              <a:ext uri="{FF2B5EF4-FFF2-40B4-BE49-F238E27FC236}">
                <a16:creationId xmlns:a16="http://schemas.microsoft.com/office/drawing/2014/main" id="{690A536A-D405-C09B-2CBA-851CEAE75C0E}"/>
              </a:ext>
            </a:extLst>
          </p:cNvPr>
          <p:cNvSpPr/>
          <p:nvPr/>
        </p:nvSpPr>
        <p:spPr>
          <a:xfrm>
            <a:off x="310896" y="1982434"/>
            <a:ext cx="4133088" cy="1426464"/>
          </a:xfrm>
          <a:prstGeom prst="rect">
            <a:avLst/>
          </a:prstGeom>
          <a:solidFill>
            <a:srgbClr val="0D1F3C"/>
          </a:solidFill>
          <a:ln w="9525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2" name="Shape 6">
            <a:extLst>
              <a:ext uri="{FF2B5EF4-FFF2-40B4-BE49-F238E27FC236}">
                <a16:creationId xmlns:a16="http://schemas.microsoft.com/office/drawing/2014/main" id="{B89EC153-BDFB-94CF-8E35-384171EE6B0C}"/>
              </a:ext>
            </a:extLst>
          </p:cNvPr>
          <p:cNvSpPr/>
          <p:nvPr/>
        </p:nvSpPr>
        <p:spPr>
          <a:xfrm>
            <a:off x="310896" y="1982434"/>
            <a:ext cx="4133088" cy="54864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3" name="Image 0" descr="preencoded.png">
            <a:extLst>
              <a:ext uri="{FF2B5EF4-FFF2-40B4-BE49-F238E27FC236}">
                <a16:creationId xmlns:a16="http://schemas.microsoft.com/office/drawing/2014/main" id="{9E346D10-015B-D35B-8562-542FD595D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73874"/>
            <a:ext cx="320040" cy="320040"/>
          </a:xfrm>
          <a:prstGeom prst="rect">
            <a:avLst/>
          </a:prstGeom>
        </p:spPr>
      </p:pic>
      <p:sp>
        <p:nvSpPr>
          <p:cNvPr id="114" name="Text 7">
            <a:extLst>
              <a:ext uri="{FF2B5EF4-FFF2-40B4-BE49-F238E27FC236}">
                <a16:creationId xmlns:a16="http://schemas.microsoft.com/office/drawing/2014/main" id="{0636AF60-EB09-B7E7-CE3E-A64179D50C2C}"/>
              </a:ext>
            </a:extLst>
          </p:cNvPr>
          <p:cNvSpPr/>
          <p:nvPr/>
        </p:nvSpPr>
        <p:spPr>
          <a:xfrm>
            <a:off x="786384" y="207387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50" dirty="0"/>
          </a:p>
        </p:txBody>
      </p:sp>
      <p:sp>
        <p:nvSpPr>
          <p:cNvPr id="115" name="Text 8">
            <a:extLst>
              <a:ext uri="{FF2B5EF4-FFF2-40B4-BE49-F238E27FC236}">
                <a16:creationId xmlns:a16="http://schemas.microsoft.com/office/drawing/2014/main" id="{D01F9932-8167-F009-677D-94D97CD2F600}"/>
              </a:ext>
            </a:extLst>
          </p:cNvPr>
          <p:cNvSpPr/>
          <p:nvPr/>
        </p:nvSpPr>
        <p:spPr>
          <a:xfrm>
            <a:off x="402336" y="246706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date_key (PK · YYYYMMDD)</a:t>
            </a:r>
            <a:endParaRPr lang="en-US" sz="800" dirty="0"/>
          </a:p>
        </p:txBody>
      </p:sp>
      <p:sp>
        <p:nvSpPr>
          <p:cNvPr id="116" name="Text 9">
            <a:extLst>
              <a:ext uri="{FF2B5EF4-FFF2-40B4-BE49-F238E27FC236}">
                <a16:creationId xmlns:a16="http://schemas.microsoft.com/office/drawing/2014/main" id="{EC94125D-5E83-DFDF-3693-E48825C3E2CB}"/>
              </a:ext>
            </a:extLst>
          </p:cNvPr>
          <p:cNvSpPr/>
          <p:nvPr/>
        </p:nvSpPr>
        <p:spPr>
          <a:xfrm>
            <a:off x="402336" y="268652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full_date</a:t>
            </a:r>
            <a:endParaRPr lang="en-US" sz="800" dirty="0"/>
          </a:p>
        </p:txBody>
      </p:sp>
      <p:sp>
        <p:nvSpPr>
          <p:cNvPr id="117" name="Text 10">
            <a:extLst>
              <a:ext uri="{FF2B5EF4-FFF2-40B4-BE49-F238E27FC236}">
                <a16:creationId xmlns:a16="http://schemas.microsoft.com/office/drawing/2014/main" id="{9F623A66-0966-FA8F-C304-F0B36C3FA248}"/>
              </a:ext>
            </a:extLst>
          </p:cNvPr>
          <p:cNvSpPr/>
          <p:nvPr/>
        </p:nvSpPr>
        <p:spPr>
          <a:xfrm>
            <a:off x="402336" y="2905978"/>
            <a:ext cx="2029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year, quarter, month_num, month_name</a:t>
            </a:r>
            <a:endParaRPr lang="en-US" sz="800" dirty="0"/>
          </a:p>
        </p:txBody>
      </p:sp>
      <p:sp>
        <p:nvSpPr>
          <p:cNvPr id="118" name="Text 11">
            <a:extLst>
              <a:ext uri="{FF2B5EF4-FFF2-40B4-BE49-F238E27FC236}">
                <a16:creationId xmlns:a16="http://schemas.microsoft.com/office/drawing/2014/main" id="{D15A7888-53A4-BF1C-B5F9-41C9FE4FCF03}"/>
              </a:ext>
            </a:extLst>
          </p:cNvPr>
          <p:cNvSpPr/>
          <p:nvPr/>
        </p:nvSpPr>
        <p:spPr>
          <a:xfrm>
            <a:off x="402336" y="312543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day_of_week, week_num</a:t>
            </a:r>
            <a:endParaRPr lang="en-US" sz="800" dirty="0"/>
          </a:p>
        </p:txBody>
      </p:sp>
      <p:sp>
        <p:nvSpPr>
          <p:cNvPr id="119" name="Text 12">
            <a:extLst>
              <a:ext uri="{FF2B5EF4-FFF2-40B4-BE49-F238E27FC236}">
                <a16:creationId xmlns:a16="http://schemas.microsoft.com/office/drawing/2014/main" id="{6D9CCE6F-1BE6-26EE-6575-58A7F160D484}"/>
              </a:ext>
            </a:extLst>
          </p:cNvPr>
          <p:cNvSpPr/>
          <p:nvPr/>
        </p:nvSpPr>
        <p:spPr>
          <a:xfrm>
            <a:off x="2432304" y="246706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is_holiday</a:t>
            </a:r>
            <a:endParaRPr lang="en-US" sz="800" dirty="0"/>
          </a:p>
        </p:txBody>
      </p:sp>
      <p:sp>
        <p:nvSpPr>
          <p:cNvPr id="120" name="Text 13">
            <a:extLst>
              <a:ext uri="{FF2B5EF4-FFF2-40B4-BE49-F238E27FC236}">
                <a16:creationId xmlns:a16="http://schemas.microsoft.com/office/drawing/2014/main" id="{9B7EECC5-7F56-D82A-4584-EF667111B214}"/>
              </a:ext>
            </a:extLst>
          </p:cNvPr>
          <p:cNvSpPr/>
          <p:nvPr/>
        </p:nvSpPr>
        <p:spPr>
          <a:xfrm>
            <a:off x="2432304" y="268652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halving_era (1–4)</a:t>
            </a:r>
            <a:endParaRPr lang="en-US" sz="800" dirty="0"/>
          </a:p>
        </p:txBody>
      </p:sp>
      <p:sp>
        <p:nvSpPr>
          <p:cNvPr id="121" name="Text 14">
            <a:extLst>
              <a:ext uri="{FF2B5EF4-FFF2-40B4-BE49-F238E27FC236}">
                <a16:creationId xmlns:a16="http://schemas.microsoft.com/office/drawing/2014/main" id="{58C7916E-00F4-8023-1079-2A3804C705DC}"/>
              </a:ext>
            </a:extLst>
          </p:cNvPr>
          <p:cNvSpPr/>
          <p:nvPr/>
        </p:nvSpPr>
        <p:spPr>
          <a:xfrm>
            <a:off x="2432304" y="29059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days_since_halving</a:t>
            </a:r>
            <a:endParaRPr lang="en-US" sz="800" dirty="0"/>
          </a:p>
        </p:txBody>
      </p:sp>
      <p:sp>
        <p:nvSpPr>
          <p:cNvPr id="122" name="Text 15">
            <a:extLst>
              <a:ext uri="{FF2B5EF4-FFF2-40B4-BE49-F238E27FC236}">
                <a16:creationId xmlns:a16="http://schemas.microsoft.com/office/drawing/2014/main" id="{2BA333E5-D39D-E291-E3FB-2C809186A554}"/>
              </a:ext>
            </a:extLst>
          </p:cNvPr>
          <p:cNvSpPr/>
          <p:nvPr/>
        </p:nvSpPr>
        <p:spPr>
          <a:xfrm>
            <a:off x="2432304" y="312543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unix_timestamp_day</a:t>
            </a:r>
            <a:endParaRPr lang="en-US" sz="800" dirty="0"/>
          </a:p>
        </p:txBody>
      </p:sp>
      <p:sp>
        <p:nvSpPr>
          <p:cNvPr id="123" name="Shape 16">
            <a:extLst>
              <a:ext uri="{FF2B5EF4-FFF2-40B4-BE49-F238E27FC236}">
                <a16:creationId xmlns:a16="http://schemas.microsoft.com/office/drawing/2014/main" id="{EF5E90F2-6459-9AB0-22A6-CB9167D0E35F}"/>
              </a:ext>
            </a:extLst>
          </p:cNvPr>
          <p:cNvSpPr/>
          <p:nvPr/>
        </p:nvSpPr>
        <p:spPr>
          <a:xfrm>
            <a:off x="4700016" y="2009866"/>
            <a:ext cx="4133088" cy="1426464"/>
          </a:xfrm>
          <a:prstGeom prst="rect">
            <a:avLst/>
          </a:prstGeom>
          <a:solidFill>
            <a:srgbClr val="0D1F3C"/>
          </a:solidFill>
          <a:ln w="9525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4" name="Shape 17">
            <a:extLst>
              <a:ext uri="{FF2B5EF4-FFF2-40B4-BE49-F238E27FC236}">
                <a16:creationId xmlns:a16="http://schemas.microsoft.com/office/drawing/2014/main" id="{A86C8A9F-3F94-FFAE-3F2C-BF269AECD728}"/>
              </a:ext>
            </a:extLst>
          </p:cNvPr>
          <p:cNvSpPr/>
          <p:nvPr/>
        </p:nvSpPr>
        <p:spPr>
          <a:xfrm>
            <a:off x="4700016" y="1982434"/>
            <a:ext cx="4133088" cy="54864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5" name="Image 1" descr="preencoded.png">
            <a:extLst>
              <a:ext uri="{FF2B5EF4-FFF2-40B4-BE49-F238E27FC236}">
                <a16:creationId xmlns:a16="http://schemas.microsoft.com/office/drawing/2014/main" id="{91FCA60D-731F-88C6-705B-F4EF73FFF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073874"/>
            <a:ext cx="320040" cy="320040"/>
          </a:xfrm>
          <a:prstGeom prst="rect">
            <a:avLst/>
          </a:prstGeom>
        </p:spPr>
      </p:pic>
      <p:sp>
        <p:nvSpPr>
          <p:cNvPr id="126" name="Text 18">
            <a:extLst>
              <a:ext uri="{FF2B5EF4-FFF2-40B4-BE49-F238E27FC236}">
                <a16:creationId xmlns:a16="http://schemas.microsoft.com/office/drawing/2014/main" id="{A171336D-28DD-4C62-D3E8-668C9CB0FFA3}"/>
              </a:ext>
            </a:extLst>
          </p:cNvPr>
          <p:cNvSpPr/>
          <p:nvPr/>
        </p:nvSpPr>
        <p:spPr>
          <a:xfrm>
            <a:off x="5175504" y="207387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DIM_BLOCK</a:t>
            </a:r>
            <a:endParaRPr lang="en-US" sz="1050" dirty="0"/>
          </a:p>
        </p:txBody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FF62F832-43B6-085E-4D31-09B78DD7BFB7}"/>
              </a:ext>
            </a:extLst>
          </p:cNvPr>
          <p:cNvSpPr/>
          <p:nvPr/>
        </p:nvSpPr>
        <p:spPr>
          <a:xfrm>
            <a:off x="4791456" y="246706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block_key (PK)</a:t>
            </a:r>
            <a:endParaRPr lang="en-US" sz="800" dirty="0"/>
          </a:p>
        </p:txBody>
      </p:sp>
      <p:sp>
        <p:nvSpPr>
          <p:cNvPr id="128" name="Text 20">
            <a:extLst>
              <a:ext uri="{FF2B5EF4-FFF2-40B4-BE49-F238E27FC236}">
                <a16:creationId xmlns:a16="http://schemas.microsoft.com/office/drawing/2014/main" id="{F8B8CCB5-37AD-DB6C-91A6-2619B5646A79}"/>
              </a:ext>
            </a:extLst>
          </p:cNvPr>
          <p:cNvSpPr/>
          <p:nvPr/>
        </p:nvSpPr>
        <p:spPr>
          <a:xfrm>
            <a:off x="4791456" y="268652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block_height</a:t>
            </a:r>
            <a:endParaRPr lang="en-US" sz="800" dirty="0"/>
          </a:p>
        </p:txBody>
      </p:sp>
      <p:sp>
        <p:nvSpPr>
          <p:cNvPr id="129" name="Text 21">
            <a:extLst>
              <a:ext uri="{FF2B5EF4-FFF2-40B4-BE49-F238E27FC236}">
                <a16:creationId xmlns:a16="http://schemas.microsoft.com/office/drawing/2014/main" id="{E1A408E7-63A4-2289-6EB8-5205EE111D9C}"/>
              </a:ext>
            </a:extLst>
          </p:cNvPr>
          <p:cNvSpPr/>
          <p:nvPr/>
        </p:nvSpPr>
        <p:spPr>
          <a:xfrm>
            <a:off x="4791456" y="29059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miner_coinbase_address</a:t>
            </a:r>
            <a:endParaRPr lang="en-US" sz="8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555B9AB8-01C1-0418-8BDD-D4713CC25E36}"/>
              </a:ext>
            </a:extLst>
          </p:cNvPr>
          <p:cNvSpPr/>
          <p:nvPr/>
        </p:nvSpPr>
        <p:spPr>
          <a:xfrm>
            <a:off x="4791456" y="312543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block_size_bytes</a:t>
            </a:r>
            <a:endParaRPr lang="en-US" sz="800" dirty="0"/>
          </a:p>
        </p:txBody>
      </p:sp>
      <p:sp>
        <p:nvSpPr>
          <p:cNvPr id="131" name="Text 23">
            <a:extLst>
              <a:ext uri="{FF2B5EF4-FFF2-40B4-BE49-F238E27FC236}">
                <a16:creationId xmlns:a16="http://schemas.microsoft.com/office/drawing/2014/main" id="{ED7668F5-DBC3-B40B-BC15-EADCC32B734E}"/>
              </a:ext>
            </a:extLst>
          </p:cNvPr>
          <p:cNvSpPr/>
          <p:nvPr/>
        </p:nvSpPr>
        <p:spPr>
          <a:xfrm>
            <a:off x="6821424" y="251786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block_weight_units</a:t>
            </a:r>
            <a:endParaRPr lang="en-US" sz="800" dirty="0"/>
          </a:p>
        </p:txBody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9B9FD9A4-C7D7-434D-4FFB-0812514A4322}"/>
              </a:ext>
            </a:extLst>
          </p:cNvPr>
          <p:cNvSpPr/>
          <p:nvPr/>
        </p:nvSpPr>
        <p:spPr>
          <a:xfrm>
            <a:off x="6821424" y="273732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difficulty</a:t>
            </a:r>
            <a:endParaRPr lang="en-US" sz="800" dirty="0"/>
          </a:p>
        </p:txBody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A0DAEBAC-89E2-A0CC-7802-3DB369A8CED4}"/>
              </a:ext>
            </a:extLst>
          </p:cNvPr>
          <p:cNvSpPr/>
          <p:nvPr/>
        </p:nvSpPr>
        <p:spPr>
          <a:xfrm>
            <a:off x="6821424" y="29567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tx_count_in_block</a:t>
            </a:r>
            <a:endParaRPr lang="en-US" sz="800" dirty="0"/>
          </a:p>
        </p:txBody>
      </p:sp>
      <p:sp>
        <p:nvSpPr>
          <p:cNvPr id="134" name="Text 26">
            <a:extLst>
              <a:ext uri="{FF2B5EF4-FFF2-40B4-BE49-F238E27FC236}">
                <a16:creationId xmlns:a16="http://schemas.microsoft.com/office/drawing/2014/main" id="{15151E24-3850-ECF4-8E66-B9B9BC07C3F6}"/>
              </a:ext>
            </a:extLst>
          </p:cNvPr>
          <p:cNvSpPr/>
          <p:nvPr/>
        </p:nvSpPr>
        <p:spPr>
          <a:xfrm>
            <a:off x="6821424" y="317623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is_epoch_boundary</a:t>
            </a:r>
            <a:endParaRPr lang="en-US" sz="800" dirty="0"/>
          </a:p>
        </p:txBody>
      </p:sp>
      <p:sp>
        <p:nvSpPr>
          <p:cNvPr id="135" name="Shape 27">
            <a:extLst>
              <a:ext uri="{FF2B5EF4-FFF2-40B4-BE49-F238E27FC236}">
                <a16:creationId xmlns:a16="http://schemas.microsoft.com/office/drawing/2014/main" id="{650884BE-E316-058B-4904-D3C2FE113A10}"/>
              </a:ext>
            </a:extLst>
          </p:cNvPr>
          <p:cNvSpPr/>
          <p:nvPr/>
        </p:nvSpPr>
        <p:spPr>
          <a:xfrm>
            <a:off x="310896" y="3518626"/>
            <a:ext cx="4133088" cy="1426464"/>
          </a:xfrm>
          <a:prstGeom prst="rect">
            <a:avLst/>
          </a:prstGeom>
          <a:solidFill>
            <a:srgbClr val="0D1F3C"/>
          </a:solidFill>
          <a:ln w="9525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6" name="Shape 28">
            <a:extLst>
              <a:ext uri="{FF2B5EF4-FFF2-40B4-BE49-F238E27FC236}">
                <a16:creationId xmlns:a16="http://schemas.microsoft.com/office/drawing/2014/main" id="{4B658169-458A-6406-4814-7C6D155B5A41}"/>
              </a:ext>
            </a:extLst>
          </p:cNvPr>
          <p:cNvSpPr/>
          <p:nvPr/>
        </p:nvSpPr>
        <p:spPr>
          <a:xfrm>
            <a:off x="310896" y="3518626"/>
            <a:ext cx="4133088" cy="5486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7" name="Image 2" descr="preencoded.png">
            <a:extLst>
              <a:ext uri="{FF2B5EF4-FFF2-40B4-BE49-F238E27FC236}">
                <a16:creationId xmlns:a16="http://schemas.microsoft.com/office/drawing/2014/main" id="{DCEA3DDB-2C88-0A0C-E5A2-FD5ACE93D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610066"/>
            <a:ext cx="320040" cy="320040"/>
          </a:xfrm>
          <a:prstGeom prst="rect">
            <a:avLst/>
          </a:prstGeom>
        </p:spPr>
      </p:pic>
      <p:sp>
        <p:nvSpPr>
          <p:cNvPr id="138" name="Text 29">
            <a:extLst>
              <a:ext uri="{FF2B5EF4-FFF2-40B4-BE49-F238E27FC236}">
                <a16:creationId xmlns:a16="http://schemas.microsoft.com/office/drawing/2014/main" id="{B472F5A2-8C5B-0559-2A76-EC27BE360E08}"/>
              </a:ext>
            </a:extLst>
          </p:cNvPr>
          <p:cNvSpPr/>
          <p:nvPr/>
        </p:nvSpPr>
        <p:spPr>
          <a:xfrm>
            <a:off x="786384" y="361006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DIM_TX_TYPE</a:t>
            </a:r>
            <a:endParaRPr lang="en-US" sz="1050" dirty="0"/>
          </a:p>
        </p:txBody>
      </p:sp>
      <p:sp>
        <p:nvSpPr>
          <p:cNvPr id="139" name="Text 30">
            <a:extLst>
              <a:ext uri="{FF2B5EF4-FFF2-40B4-BE49-F238E27FC236}">
                <a16:creationId xmlns:a16="http://schemas.microsoft.com/office/drawing/2014/main" id="{20203C1C-A3F4-7183-265E-951589B03E03}"/>
              </a:ext>
            </a:extLst>
          </p:cNvPr>
          <p:cNvSpPr/>
          <p:nvPr/>
        </p:nvSpPr>
        <p:spPr>
          <a:xfrm>
            <a:off x="402336" y="400325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type_key (PK)</a:t>
            </a:r>
            <a:endParaRPr lang="en-US" sz="800" dirty="0"/>
          </a:p>
        </p:txBody>
      </p:sp>
      <p:sp>
        <p:nvSpPr>
          <p:cNvPr id="140" name="Text 31">
            <a:extLst>
              <a:ext uri="{FF2B5EF4-FFF2-40B4-BE49-F238E27FC236}">
                <a16:creationId xmlns:a16="http://schemas.microsoft.com/office/drawing/2014/main" id="{2DC22D37-B634-84EC-E213-1743B70BEB01}"/>
              </a:ext>
            </a:extLst>
          </p:cNvPr>
          <p:cNvSpPr/>
          <p:nvPr/>
        </p:nvSpPr>
        <p:spPr>
          <a:xfrm>
            <a:off x="402336" y="422271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is_coinbase (bool)</a:t>
            </a:r>
            <a:endParaRPr lang="en-US" sz="800" dirty="0"/>
          </a:p>
        </p:txBody>
      </p:sp>
      <p:sp>
        <p:nvSpPr>
          <p:cNvPr id="141" name="Text 32">
            <a:extLst>
              <a:ext uri="{FF2B5EF4-FFF2-40B4-BE49-F238E27FC236}">
                <a16:creationId xmlns:a16="http://schemas.microsoft.com/office/drawing/2014/main" id="{F59F01BC-069C-1ECB-B4CE-458E1B2800FF}"/>
              </a:ext>
            </a:extLst>
          </p:cNvPr>
          <p:cNvSpPr/>
          <p:nvPr/>
        </p:nvSpPr>
        <p:spPr>
          <a:xfrm>
            <a:off x="402336" y="444217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segwit_flag (bool)</a:t>
            </a:r>
            <a:endParaRPr lang="en-US" sz="800" dirty="0"/>
          </a:p>
        </p:txBody>
      </p:sp>
      <p:sp>
        <p:nvSpPr>
          <p:cNvPr id="142" name="Text 33">
            <a:extLst>
              <a:ext uri="{FF2B5EF4-FFF2-40B4-BE49-F238E27FC236}">
                <a16:creationId xmlns:a16="http://schemas.microsoft.com/office/drawing/2014/main" id="{A9E57CAF-756F-D887-8609-24E7F08F599F}"/>
              </a:ext>
            </a:extLst>
          </p:cNvPr>
          <p:cNvSpPr/>
          <p:nvPr/>
        </p:nvSpPr>
        <p:spPr>
          <a:xfrm>
            <a:off x="402336" y="466162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input_count_bucket</a:t>
            </a:r>
            <a:endParaRPr lang="en-US" sz="800" dirty="0"/>
          </a:p>
        </p:txBody>
      </p:sp>
      <p:sp>
        <p:nvSpPr>
          <p:cNvPr id="143" name="Text 34">
            <a:extLst>
              <a:ext uri="{FF2B5EF4-FFF2-40B4-BE49-F238E27FC236}">
                <a16:creationId xmlns:a16="http://schemas.microsoft.com/office/drawing/2014/main" id="{2807F966-DB01-E1FF-E6CE-3450682F3C66}"/>
              </a:ext>
            </a:extLst>
          </p:cNvPr>
          <p:cNvSpPr/>
          <p:nvPr/>
        </p:nvSpPr>
        <p:spPr>
          <a:xfrm>
            <a:off x="2432304" y="400325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output_count_bucket</a:t>
            </a:r>
            <a:endParaRPr lang="en-US" sz="800" dirty="0"/>
          </a:p>
        </p:txBody>
      </p:sp>
      <p:sp>
        <p:nvSpPr>
          <p:cNvPr id="144" name="Text 35">
            <a:extLst>
              <a:ext uri="{FF2B5EF4-FFF2-40B4-BE49-F238E27FC236}">
                <a16:creationId xmlns:a16="http://schemas.microsoft.com/office/drawing/2014/main" id="{6DA5507B-1EC8-9497-6ECD-FA6E0D5A29B6}"/>
              </a:ext>
            </a:extLst>
          </p:cNvPr>
          <p:cNvSpPr/>
          <p:nvPr/>
        </p:nvSpPr>
        <p:spPr>
          <a:xfrm>
            <a:off x="2432304" y="422271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primary_script_type</a:t>
            </a:r>
            <a:endParaRPr lang="en-US" sz="800" dirty="0"/>
          </a:p>
        </p:txBody>
      </p:sp>
      <p:sp>
        <p:nvSpPr>
          <p:cNvPr id="145" name="Text 36">
            <a:extLst>
              <a:ext uri="{FF2B5EF4-FFF2-40B4-BE49-F238E27FC236}">
                <a16:creationId xmlns:a16="http://schemas.microsoft.com/office/drawing/2014/main" id="{C429A621-7371-C123-D7EE-D8E7AA5852B1}"/>
              </a:ext>
            </a:extLst>
          </p:cNvPr>
          <p:cNvSpPr/>
          <p:nvPr/>
        </p:nvSpPr>
        <p:spPr>
          <a:xfrm>
            <a:off x="2432304" y="444217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is_rbf_signalling</a:t>
            </a:r>
            <a:endParaRPr lang="en-US" sz="800" dirty="0"/>
          </a:p>
        </p:txBody>
      </p:sp>
      <p:sp>
        <p:nvSpPr>
          <p:cNvPr id="146" name="Text 37">
            <a:extLst>
              <a:ext uri="{FF2B5EF4-FFF2-40B4-BE49-F238E27FC236}">
                <a16:creationId xmlns:a16="http://schemas.microsoft.com/office/drawing/2014/main" id="{9DFC9470-E55D-07D7-205F-EA5EC31ADA0F}"/>
              </a:ext>
            </a:extLst>
          </p:cNvPr>
          <p:cNvSpPr/>
          <p:nvPr/>
        </p:nvSpPr>
        <p:spPr>
          <a:xfrm>
            <a:off x="2432304" y="466162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size_tier (S/M/L/XL)</a:t>
            </a:r>
            <a:endParaRPr lang="en-US" sz="800" dirty="0"/>
          </a:p>
        </p:txBody>
      </p:sp>
      <p:sp>
        <p:nvSpPr>
          <p:cNvPr id="147" name="Shape 38">
            <a:extLst>
              <a:ext uri="{FF2B5EF4-FFF2-40B4-BE49-F238E27FC236}">
                <a16:creationId xmlns:a16="http://schemas.microsoft.com/office/drawing/2014/main" id="{B0C9878D-7571-8561-03FB-7EF6C6656EAF}"/>
              </a:ext>
            </a:extLst>
          </p:cNvPr>
          <p:cNvSpPr/>
          <p:nvPr/>
        </p:nvSpPr>
        <p:spPr>
          <a:xfrm>
            <a:off x="4700016" y="3518626"/>
            <a:ext cx="4133088" cy="1426464"/>
          </a:xfrm>
          <a:prstGeom prst="rect">
            <a:avLst/>
          </a:prstGeom>
          <a:solidFill>
            <a:srgbClr val="0D1F3C"/>
          </a:solidFill>
          <a:ln w="9525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8E5C448F-BCEB-789A-B721-705396183831}"/>
              </a:ext>
            </a:extLst>
          </p:cNvPr>
          <p:cNvSpPr/>
          <p:nvPr/>
        </p:nvSpPr>
        <p:spPr>
          <a:xfrm>
            <a:off x="4700016" y="3518626"/>
            <a:ext cx="4133088" cy="54864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9" name="Image 3" descr="preencoded.png">
            <a:extLst>
              <a:ext uri="{FF2B5EF4-FFF2-40B4-BE49-F238E27FC236}">
                <a16:creationId xmlns:a16="http://schemas.microsoft.com/office/drawing/2014/main" id="{5405D3BC-1B71-2C12-465B-C9CC96B68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610066"/>
            <a:ext cx="320040" cy="320040"/>
          </a:xfrm>
          <a:prstGeom prst="rect">
            <a:avLst/>
          </a:prstGeom>
        </p:spPr>
      </p:pic>
      <p:sp>
        <p:nvSpPr>
          <p:cNvPr id="150" name="Text 40">
            <a:extLst>
              <a:ext uri="{FF2B5EF4-FFF2-40B4-BE49-F238E27FC236}">
                <a16:creationId xmlns:a16="http://schemas.microsoft.com/office/drawing/2014/main" id="{A58F94E0-C1C3-E234-DD7A-06724B9E6270}"/>
              </a:ext>
            </a:extLst>
          </p:cNvPr>
          <p:cNvSpPr/>
          <p:nvPr/>
        </p:nvSpPr>
        <p:spPr>
          <a:xfrm>
            <a:off x="5175504" y="361006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DIM_MARKET</a:t>
            </a:r>
            <a:endParaRPr lang="en-US" sz="1050" dirty="0"/>
          </a:p>
        </p:txBody>
      </p:sp>
      <p:sp>
        <p:nvSpPr>
          <p:cNvPr id="151" name="Text 41">
            <a:extLst>
              <a:ext uri="{FF2B5EF4-FFF2-40B4-BE49-F238E27FC236}">
                <a16:creationId xmlns:a16="http://schemas.microsoft.com/office/drawing/2014/main" id="{159075E9-2A81-E803-1818-50A775E12C45}"/>
              </a:ext>
            </a:extLst>
          </p:cNvPr>
          <p:cNvSpPr/>
          <p:nvPr/>
        </p:nvSpPr>
        <p:spPr>
          <a:xfrm>
            <a:off x="4791456" y="400325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market_key (PK)</a:t>
            </a:r>
            <a:endParaRPr lang="en-US" sz="800" dirty="0"/>
          </a:p>
        </p:txBody>
      </p:sp>
      <p:sp>
        <p:nvSpPr>
          <p:cNvPr id="152" name="Text 42">
            <a:extLst>
              <a:ext uri="{FF2B5EF4-FFF2-40B4-BE49-F238E27FC236}">
                <a16:creationId xmlns:a16="http://schemas.microsoft.com/office/drawing/2014/main" id="{B2509D68-8CCC-27B2-181B-F9534A06EC40}"/>
              </a:ext>
            </a:extLst>
          </p:cNvPr>
          <p:cNvSpPr/>
          <p:nvPr/>
        </p:nvSpPr>
        <p:spPr>
          <a:xfrm>
            <a:off x="4791456" y="422271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fear_greed_label</a:t>
            </a:r>
            <a:endParaRPr lang="en-US" sz="800" dirty="0"/>
          </a:p>
        </p:txBody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1CCD70C6-8624-7B3B-175E-41D0C0FD54B6}"/>
              </a:ext>
            </a:extLst>
          </p:cNvPr>
          <p:cNvSpPr/>
          <p:nvPr/>
        </p:nvSpPr>
        <p:spPr>
          <a:xfrm>
            <a:off x="4791456" y="444217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fear_greed_bucket</a:t>
            </a:r>
            <a:endParaRPr lang="en-US" sz="800" dirty="0"/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55ECF765-7C7F-43AD-F17A-AC466812D99D}"/>
              </a:ext>
            </a:extLst>
          </p:cNvPr>
          <p:cNvSpPr/>
          <p:nvPr/>
        </p:nvSpPr>
        <p:spPr>
          <a:xfrm>
            <a:off x="4791456" y="466162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price_trend</a:t>
            </a:r>
            <a:endParaRPr lang="en-US" sz="800" dirty="0"/>
          </a:p>
        </p:txBody>
      </p:sp>
      <p:sp>
        <p:nvSpPr>
          <p:cNvPr id="155" name="Text 45">
            <a:extLst>
              <a:ext uri="{FF2B5EF4-FFF2-40B4-BE49-F238E27FC236}">
                <a16:creationId xmlns:a16="http://schemas.microsoft.com/office/drawing/2014/main" id="{28317CBE-D74C-8FD4-70F8-48B768EF91D4}"/>
              </a:ext>
            </a:extLst>
          </p:cNvPr>
          <p:cNvSpPr/>
          <p:nvPr/>
        </p:nvSpPr>
        <p:spPr>
          <a:xfrm>
            <a:off x="6867144" y="3614991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volatility_regime</a:t>
            </a:r>
            <a:endParaRPr lang="en-US" sz="800" dirty="0"/>
          </a:p>
        </p:txBody>
      </p:sp>
      <p:sp>
        <p:nvSpPr>
          <p:cNvPr id="156" name="Text 46">
            <a:extLst>
              <a:ext uri="{FF2B5EF4-FFF2-40B4-BE49-F238E27FC236}">
                <a16:creationId xmlns:a16="http://schemas.microsoft.com/office/drawing/2014/main" id="{E0EB6FE3-3157-3C8C-605B-5A44C5257929}"/>
              </a:ext>
            </a:extLst>
          </p:cNvPr>
          <p:cNvSpPr/>
          <p:nvPr/>
        </p:nvSpPr>
        <p:spPr>
          <a:xfrm>
            <a:off x="6867144" y="3834447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market_cap_tier</a:t>
            </a:r>
            <a:endParaRPr lang="en-US" sz="800" dirty="0"/>
          </a:p>
        </p:txBody>
      </p:sp>
      <p:sp>
        <p:nvSpPr>
          <p:cNvPr id="157" name="Text 47">
            <a:extLst>
              <a:ext uri="{FF2B5EF4-FFF2-40B4-BE49-F238E27FC236}">
                <a16:creationId xmlns:a16="http://schemas.microsoft.com/office/drawing/2014/main" id="{66758E28-E460-6609-F3BF-DE8045146912}"/>
              </a:ext>
            </a:extLst>
          </p:cNvPr>
          <p:cNvSpPr/>
          <p:nvPr/>
        </p:nvSpPr>
        <p:spPr>
          <a:xfrm>
            <a:off x="6867144" y="4053903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btc_dominance_tier</a:t>
            </a:r>
            <a:endParaRPr lang="en-US" sz="800" dirty="0"/>
          </a:p>
        </p:txBody>
      </p:sp>
      <p:sp>
        <p:nvSpPr>
          <p:cNvPr id="158" name="Text 48">
            <a:extLst>
              <a:ext uri="{FF2B5EF4-FFF2-40B4-BE49-F238E27FC236}">
                <a16:creationId xmlns:a16="http://schemas.microsoft.com/office/drawing/2014/main" id="{91705BDC-49F2-75E9-F21B-A2C4580B6AEC}"/>
              </a:ext>
            </a:extLst>
          </p:cNvPr>
          <p:cNvSpPr/>
          <p:nvPr/>
        </p:nvSpPr>
        <p:spPr>
          <a:xfrm>
            <a:off x="6867144" y="4273359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nvt_signal</a:t>
            </a:r>
            <a:endParaRPr lang="en-US" sz="800" dirty="0"/>
          </a:p>
        </p:txBody>
      </p:sp>
      <p:sp>
        <p:nvSpPr>
          <p:cNvPr id="159" name="Text 49">
            <a:extLst>
              <a:ext uri="{FF2B5EF4-FFF2-40B4-BE49-F238E27FC236}">
                <a16:creationId xmlns:a16="http://schemas.microsoft.com/office/drawing/2014/main" id="{19194026-2C31-0665-25BE-F9F6A8FA545F}"/>
              </a:ext>
            </a:extLst>
          </p:cNvPr>
          <p:cNvSpPr/>
          <p:nvPr/>
        </p:nvSpPr>
        <p:spPr>
          <a:xfrm>
            <a:off x="6867144" y="4492815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cycle_phase</a:t>
            </a:r>
            <a:endParaRPr lang="en-US" sz="800" dirty="0"/>
          </a:p>
        </p:txBody>
      </p:sp>
      <p:sp>
        <p:nvSpPr>
          <p:cNvPr id="160" name="Text 50">
            <a:extLst>
              <a:ext uri="{FF2B5EF4-FFF2-40B4-BE49-F238E27FC236}">
                <a16:creationId xmlns:a16="http://schemas.microsoft.com/office/drawing/2014/main" id="{6BB24721-A890-731F-36A1-272FA653AB10}"/>
              </a:ext>
            </a:extLst>
          </p:cNvPr>
          <p:cNvSpPr/>
          <p:nvPr/>
        </p:nvSpPr>
        <p:spPr>
          <a:xfrm>
            <a:off x="6867144" y="4712271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post_halving_months</a:t>
            </a:r>
            <a:endParaRPr lang="en-US" sz="8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CFB354C8-FBA2-1EFF-BD5D-2027DEA0A429}"/>
              </a:ext>
            </a:extLst>
          </p:cNvPr>
          <p:cNvSpPr/>
          <p:nvPr/>
        </p:nvSpPr>
        <p:spPr>
          <a:xfrm>
            <a:off x="2432304" y="22518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is_weekend</a:t>
            </a:r>
            <a:endParaRPr lang="en-US" sz="800" dirty="0"/>
          </a:p>
        </p:txBody>
      </p:sp>
      <p:sp>
        <p:nvSpPr>
          <p:cNvPr id="6" name="Text 20">
            <a:extLst>
              <a:ext uri="{FF2B5EF4-FFF2-40B4-BE49-F238E27FC236}">
                <a16:creationId xmlns:a16="http://schemas.microsoft.com/office/drawing/2014/main" id="{E951180D-88D9-5DEC-8613-7149D055B40D}"/>
              </a:ext>
            </a:extLst>
          </p:cNvPr>
          <p:cNvSpPr/>
          <p:nvPr/>
        </p:nvSpPr>
        <p:spPr>
          <a:xfrm>
            <a:off x="6821424" y="229841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block_hash</a:t>
            </a:r>
            <a:endParaRPr lang="en-US" sz="800" dirty="0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F9E2BC19-851B-F6D1-EF9E-D0D9512AF939}"/>
              </a:ext>
            </a:extLst>
          </p:cNvPr>
          <p:cNvSpPr/>
          <p:nvPr/>
        </p:nvSpPr>
        <p:spPr>
          <a:xfrm>
            <a:off x="6821424" y="207387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FACT TABLE &amp; MEASURES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429768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931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FACT_TRANSACTION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confirmed Bitcoin transaction</a:t>
            </a:r>
            <a:endParaRPr lang="en-US" sz="95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3FB0C9E6-16B2-FC22-0171-296C40709312}"/>
              </a:ext>
            </a:extLst>
          </p:cNvPr>
          <p:cNvSpPr/>
          <p:nvPr/>
        </p:nvSpPr>
        <p:spPr>
          <a:xfrm>
            <a:off x="4846320" y="68087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Measures (12 total)</a:t>
            </a:r>
            <a:endParaRPr lang="en-US" sz="2200" dirty="0"/>
          </a:p>
        </p:txBody>
      </p: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F941AD06-78AE-0F72-D161-3F89A4548B73}"/>
              </a:ext>
            </a:extLst>
          </p:cNvPr>
          <p:cNvGrpSpPr/>
          <p:nvPr/>
        </p:nvGrpSpPr>
        <p:grpSpPr>
          <a:xfrm>
            <a:off x="6868864" y="3102129"/>
            <a:ext cx="2135058" cy="566928"/>
            <a:chOff x="4846321" y="5596128"/>
            <a:chExt cx="3886200" cy="566928"/>
          </a:xfrm>
        </p:grpSpPr>
        <p:sp>
          <p:nvSpPr>
            <p:cNvPr id="91" name="Shape 60">
              <a:extLst>
                <a:ext uri="{FF2B5EF4-FFF2-40B4-BE49-F238E27FC236}">
                  <a16:creationId xmlns:a16="http://schemas.microsoft.com/office/drawing/2014/main" id="{69BB5630-1C48-0A16-CC18-BEE7593B0861}"/>
                </a:ext>
              </a:extLst>
            </p:cNvPr>
            <p:cNvSpPr/>
            <p:nvPr/>
          </p:nvSpPr>
          <p:spPr>
            <a:xfrm>
              <a:off x="4846321" y="5596128"/>
              <a:ext cx="3886200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3" name="Text 62">
              <a:extLst>
                <a:ext uri="{FF2B5EF4-FFF2-40B4-BE49-F238E27FC236}">
                  <a16:creationId xmlns:a16="http://schemas.microsoft.com/office/drawing/2014/main" id="{CAFF866A-434B-E97A-9036-31BA00FA11A0}"/>
                </a:ext>
              </a:extLst>
            </p:cNvPr>
            <p:cNvSpPr/>
            <p:nvPr/>
          </p:nvSpPr>
          <p:spPr>
            <a:xfrm>
              <a:off x="4974337" y="5641848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btc_price_usd_high</a:t>
              </a:r>
              <a:endParaRPr lang="en-US" sz="950" dirty="0"/>
            </a:p>
          </p:txBody>
        </p:sp>
        <p:sp>
          <p:nvSpPr>
            <p:cNvPr id="94" name="Text 63">
              <a:extLst>
                <a:ext uri="{FF2B5EF4-FFF2-40B4-BE49-F238E27FC236}">
                  <a16:creationId xmlns:a16="http://schemas.microsoft.com/office/drawing/2014/main" id="{6458A2FA-31AC-3399-B807-8901AD63D0FA}"/>
                </a:ext>
              </a:extLst>
            </p:cNvPr>
            <p:cNvSpPr/>
            <p:nvPr/>
          </p:nvSpPr>
          <p:spPr>
            <a:xfrm>
              <a:off x="7351775" y="5641848"/>
              <a:ext cx="1298449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[SNAPSHOT]</a:t>
              </a:r>
              <a:endParaRPr lang="en-US" sz="800" dirty="0"/>
            </a:p>
          </p:txBody>
        </p:sp>
        <p:sp>
          <p:nvSpPr>
            <p:cNvPr id="95" name="Text 64">
              <a:extLst>
                <a:ext uri="{FF2B5EF4-FFF2-40B4-BE49-F238E27FC236}">
                  <a16:creationId xmlns:a16="http://schemas.microsoft.com/office/drawing/2014/main" id="{1502B507-7D1C-99FF-81C9-E328C900BB7A}"/>
                </a:ext>
              </a:extLst>
            </p:cNvPr>
            <p:cNvSpPr/>
            <p:nvPr/>
          </p:nvSpPr>
          <p:spPr>
            <a:xfrm>
              <a:off x="4974335" y="5870448"/>
              <a:ext cx="3657599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Daily high BTC price - intraday range ceiling</a:t>
              </a:r>
              <a:endParaRPr lang="en-US" sz="820" dirty="0"/>
            </a:p>
          </p:txBody>
        </p:sp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EBC5E76E-0AD4-CF8F-858F-4CFBE4C3E4E5}"/>
              </a:ext>
            </a:extLst>
          </p:cNvPr>
          <p:cNvGrpSpPr/>
          <p:nvPr/>
        </p:nvGrpSpPr>
        <p:grpSpPr>
          <a:xfrm>
            <a:off x="4846385" y="3720365"/>
            <a:ext cx="2044852" cy="566928"/>
            <a:chOff x="4846320" y="6163056"/>
            <a:chExt cx="3886200" cy="566928"/>
          </a:xfrm>
        </p:grpSpPr>
        <p:sp>
          <p:nvSpPr>
            <p:cNvPr id="96" name="Shape 65">
              <a:extLst>
                <a:ext uri="{FF2B5EF4-FFF2-40B4-BE49-F238E27FC236}">
                  <a16:creationId xmlns:a16="http://schemas.microsoft.com/office/drawing/2014/main" id="{F0945A48-D10C-4F58-6C9C-F84949B11141}"/>
                </a:ext>
              </a:extLst>
            </p:cNvPr>
            <p:cNvSpPr/>
            <p:nvPr/>
          </p:nvSpPr>
          <p:spPr>
            <a:xfrm>
              <a:off x="4846320" y="6163056"/>
              <a:ext cx="3886200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8" name="Text 67">
              <a:extLst>
                <a:ext uri="{FF2B5EF4-FFF2-40B4-BE49-F238E27FC236}">
                  <a16:creationId xmlns:a16="http://schemas.microsoft.com/office/drawing/2014/main" id="{C56CF7B7-2B14-D9FB-1E47-782FF96B6DFF}"/>
                </a:ext>
              </a:extLst>
            </p:cNvPr>
            <p:cNvSpPr/>
            <p:nvPr/>
          </p:nvSpPr>
          <p:spPr>
            <a:xfrm>
              <a:off x="4974336" y="6208776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btc_price_usd_low</a:t>
              </a:r>
              <a:endParaRPr lang="en-US" sz="950" dirty="0"/>
            </a:p>
          </p:txBody>
        </p:sp>
        <p:sp>
          <p:nvSpPr>
            <p:cNvPr id="99" name="Text 68">
              <a:extLst>
                <a:ext uri="{FF2B5EF4-FFF2-40B4-BE49-F238E27FC236}">
                  <a16:creationId xmlns:a16="http://schemas.microsoft.com/office/drawing/2014/main" id="{14715CA5-5EE8-6645-6AC6-E545A12938EF}"/>
                </a:ext>
              </a:extLst>
            </p:cNvPr>
            <p:cNvSpPr/>
            <p:nvPr/>
          </p:nvSpPr>
          <p:spPr>
            <a:xfrm>
              <a:off x="7227008" y="6208776"/>
              <a:ext cx="1423215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[SNAPSHOT]</a:t>
              </a:r>
              <a:endParaRPr lang="en-US" sz="800" dirty="0"/>
            </a:p>
          </p:txBody>
        </p:sp>
        <p:sp>
          <p:nvSpPr>
            <p:cNvPr id="100" name="Text 69">
              <a:extLst>
                <a:ext uri="{FF2B5EF4-FFF2-40B4-BE49-F238E27FC236}">
                  <a16:creationId xmlns:a16="http://schemas.microsoft.com/office/drawing/2014/main" id="{6974B34D-26BA-640F-1BFB-89C474D96B4A}"/>
                </a:ext>
              </a:extLst>
            </p:cNvPr>
            <p:cNvSpPr/>
            <p:nvPr/>
          </p:nvSpPr>
          <p:spPr>
            <a:xfrm>
              <a:off x="4974336" y="6437376"/>
              <a:ext cx="36576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Daily low BTC price - intraday range floor</a:t>
              </a:r>
              <a:endParaRPr lang="en-US" sz="820" dirty="0"/>
            </a:p>
          </p:txBody>
        </p:sp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693B455E-4EE1-B585-2A7F-493905FBE14A}"/>
              </a:ext>
            </a:extLst>
          </p:cNvPr>
          <p:cNvGrpSpPr/>
          <p:nvPr/>
        </p:nvGrpSpPr>
        <p:grpSpPr>
          <a:xfrm>
            <a:off x="6939194" y="3720365"/>
            <a:ext cx="2064727" cy="566928"/>
            <a:chOff x="4846320" y="6729984"/>
            <a:chExt cx="3886200" cy="566928"/>
          </a:xfrm>
        </p:grpSpPr>
        <p:sp>
          <p:nvSpPr>
            <p:cNvPr id="101" name="Shape 70">
              <a:extLst>
                <a:ext uri="{FF2B5EF4-FFF2-40B4-BE49-F238E27FC236}">
                  <a16:creationId xmlns:a16="http://schemas.microsoft.com/office/drawing/2014/main" id="{3BEE5430-924C-985B-98E8-5B62C0FDCE1B}"/>
                </a:ext>
              </a:extLst>
            </p:cNvPr>
            <p:cNvSpPr/>
            <p:nvPr/>
          </p:nvSpPr>
          <p:spPr>
            <a:xfrm>
              <a:off x="4846320" y="6729984"/>
              <a:ext cx="3886200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3" name="Text 72">
              <a:extLst>
                <a:ext uri="{FF2B5EF4-FFF2-40B4-BE49-F238E27FC236}">
                  <a16:creationId xmlns:a16="http://schemas.microsoft.com/office/drawing/2014/main" id="{BB087BBF-EE12-02BF-D869-CB7DA87E2718}"/>
                </a:ext>
              </a:extLst>
            </p:cNvPr>
            <p:cNvSpPr/>
            <p:nvPr/>
          </p:nvSpPr>
          <p:spPr>
            <a:xfrm>
              <a:off x="4974336" y="6775704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volume_24h_usd</a:t>
              </a:r>
              <a:endParaRPr lang="en-US" sz="950" dirty="0"/>
            </a:p>
          </p:txBody>
        </p:sp>
        <p:sp>
          <p:nvSpPr>
            <p:cNvPr id="104" name="Text 73">
              <a:extLst>
                <a:ext uri="{FF2B5EF4-FFF2-40B4-BE49-F238E27FC236}">
                  <a16:creationId xmlns:a16="http://schemas.microsoft.com/office/drawing/2014/main" id="{BBEF4941-3CA1-D401-4A6C-7E41C05284A1}"/>
                </a:ext>
              </a:extLst>
            </p:cNvPr>
            <p:cNvSpPr/>
            <p:nvPr/>
          </p:nvSpPr>
          <p:spPr>
            <a:xfrm>
              <a:off x="7351776" y="6775704"/>
              <a:ext cx="12984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[SUM]</a:t>
              </a:r>
              <a:endParaRPr lang="en-US" sz="800" dirty="0"/>
            </a:p>
          </p:txBody>
        </p:sp>
        <p:sp>
          <p:nvSpPr>
            <p:cNvPr id="105" name="Text 74">
              <a:extLst>
                <a:ext uri="{FF2B5EF4-FFF2-40B4-BE49-F238E27FC236}">
                  <a16:creationId xmlns:a16="http://schemas.microsoft.com/office/drawing/2014/main" id="{B6657BEB-7F75-5306-2494-708F79011BE7}"/>
                </a:ext>
              </a:extLst>
            </p:cNvPr>
            <p:cNvSpPr/>
            <p:nvPr/>
          </p:nvSpPr>
          <p:spPr>
            <a:xfrm>
              <a:off x="4974336" y="7004304"/>
              <a:ext cx="36576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24h USD trading volume on transaction day</a:t>
              </a:r>
              <a:endParaRPr lang="en-US" sz="820" dirty="0"/>
            </a:p>
          </p:txBody>
        </p:sp>
      </p:grpSp>
      <p:grpSp>
        <p:nvGrpSpPr>
          <p:cNvPr id="176" name="Grupo 175">
            <a:extLst>
              <a:ext uri="{FF2B5EF4-FFF2-40B4-BE49-F238E27FC236}">
                <a16:creationId xmlns:a16="http://schemas.microsoft.com/office/drawing/2014/main" id="{9B39561E-6A84-321B-C940-91F78409B187}"/>
              </a:ext>
            </a:extLst>
          </p:cNvPr>
          <p:cNvGrpSpPr/>
          <p:nvPr/>
        </p:nvGrpSpPr>
        <p:grpSpPr>
          <a:xfrm>
            <a:off x="4846386" y="4332726"/>
            <a:ext cx="1935722" cy="566928"/>
            <a:chOff x="4846320" y="7296912"/>
            <a:chExt cx="3886200" cy="566928"/>
          </a:xfrm>
        </p:grpSpPr>
        <p:sp>
          <p:nvSpPr>
            <p:cNvPr id="106" name="Shape 75">
              <a:extLst>
                <a:ext uri="{FF2B5EF4-FFF2-40B4-BE49-F238E27FC236}">
                  <a16:creationId xmlns:a16="http://schemas.microsoft.com/office/drawing/2014/main" id="{FCDC23B2-51B2-A1F3-4369-F7CBC34D5BDB}"/>
                </a:ext>
              </a:extLst>
            </p:cNvPr>
            <p:cNvSpPr/>
            <p:nvPr/>
          </p:nvSpPr>
          <p:spPr>
            <a:xfrm>
              <a:off x="4846320" y="7296912"/>
              <a:ext cx="3886200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" name="Text 77">
              <a:extLst>
                <a:ext uri="{FF2B5EF4-FFF2-40B4-BE49-F238E27FC236}">
                  <a16:creationId xmlns:a16="http://schemas.microsoft.com/office/drawing/2014/main" id="{BF1A3A82-9D92-89F4-883E-0C79109565B4}"/>
                </a:ext>
              </a:extLst>
            </p:cNvPr>
            <p:cNvSpPr/>
            <p:nvPr/>
          </p:nvSpPr>
          <p:spPr>
            <a:xfrm>
              <a:off x="4974336" y="7342632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market_cap_usd</a:t>
              </a:r>
              <a:endParaRPr lang="en-US" sz="950" dirty="0"/>
            </a:p>
          </p:txBody>
        </p:sp>
        <p:sp>
          <p:nvSpPr>
            <p:cNvPr id="109" name="Text 78">
              <a:extLst>
                <a:ext uri="{FF2B5EF4-FFF2-40B4-BE49-F238E27FC236}">
                  <a16:creationId xmlns:a16="http://schemas.microsoft.com/office/drawing/2014/main" id="{085D144C-835A-32EA-C983-FFD578FB86B6}"/>
                </a:ext>
              </a:extLst>
            </p:cNvPr>
            <p:cNvSpPr/>
            <p:nvPr/>
          </p:nvSpPr>
          <p:spPr>
            <a:xfrm>
              <a:off x="7217393" y="7342632"/>
              <a:ext cx="1432833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[SNAPSHOT]</a:t>
              </a:r>
              <a:endParaRPr lang="en-US" sz="800" dirty="0"/>
            </a:p>
          </p:txBody>
        </p:sp>
        <p:sp>
          <p:nvSpPr>
            <p:cNvPr id="110" name="Text 79">
              <a:extLst>
                <a:ext uri="{FF2B5EF4-FFF2-40B4-BE49-F238E27FC236}">
                  <a16:creationId xmlns:a16="http://schemas.microsoft.com/office/drawing/2014/main" id="{B380D03C-64C1-AA52-2C48-387EC43980C7}"/>
                </a:ext>
              </a:extLst>
            </p:cNvPr>
            <p:cNvSpPr/>
            <p:nvPr/>
          </p:nvSpPr>
          <p:spPr>
            <a:xfrm>
              <a:off x="4974336" y="7571232"/>
              <a:ext cx="36576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BTC market capitalisation on transaction day</a:t>
              </a:r>
              <a:endParaRPr lang="en-US" sz="820" dirty="0"/>
            </a:p>
          </p:txBody>
        </p:sp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928A6C62-98CA-7A7A-A47D-511D39E580C4}"/>
              </a:ext>
            </a:extLst>
          </p:cNvPr>
          <p:cNvGrpSpPr/>
          <p:nvPr/>
        </p:nvGrpSpPr>
        <p:grpSpPr>
          <a:xfrm>
            <a:off x="6831639" y="4334410"/>
            <a:ext cx="2172281" cy="566928"/>
            <a:chOff x="4846320" y="7863840"/>
            <a:chExt cx="3886200" cy="566928"/>
          </a:xfrm>
        </p:grpSpPr>
        <p:sp>
          <p:nvSpPr>
            <p:cNvPr id="111" name="Shape 80">
              <a:extLst>
                <a:ext uri="{FF2B5EF4-FFF2-40B4-BE49-F238E27FC236}">
                  <a16:creationId xmlns:a16="http://schemas.microsoft.com/office/drawing/2014/main" id="{74BCA55D-844C-79E6-6DB3-0EBDE4149465}"/>
                </a:ext>
              </a:extLst>
            </p:cNvPr>
            <p:cNvSpPr/>
            <p:nvPr/>
          </p:nvSpPr>
          <p:spPr>
            <a:xfrm>
              <a:off x="4846320" y="7863840"/>
              <a:ext cx="3886200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" name="Text 82">
              <a:extLst>
                <a:ext uri="{FF2B5EF4-FFF2-40B4-BE49-F238E27FC236}">
                  <a16:creationId xmlns:a16="http://schemas.microsoft.com/office/drawing/2014/main" id="{1B2C2664-E6E3-41AE-9770-FAFA90DCDA92}"/>
                </a:ext>
              </a:extLst>
            </p:cNvPr>
            <p:cNvSpPr/>
            <p:nvPr/>
          </p:nvSpPr>
          <p:spPr>
            <a:xfrm>
              <a:off x="4974336" y="7909560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fear_greed_score</a:t>
              </a:r>
              <a:endParaRPr lang="en-US" sz="950" dirty="0"/>
            </a:p>
          </p:txBody>
        </p:sp>
        <p:sp>
          <p:nvSpPr>
            <p:cNvPr id="114" name="Text 83">
              <a:extLst>
                <a:ext uri="{FF2B5EF4-FFF2-40B4-BE49-F238E27FC236}">
                  <a16:creationId xmlns:a16="http://schemas.microsoft.com/office/drawing/2014/main" id="{CA9E4A28-B5F0-EE23-C61A-6ED5B051D751}"/>
                </a:ext>
              </a:extLst>
            </p:cNvPr>
            <p:cNvSpPr/>
            <p:nvPr/>
          </p:nvSpPr>
          <p:spPr>
            <a:xfrm>
              <a:off x="7351776" y="7909560"/>
              <a:ext cx="1298448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[AVG]</a:t>
              </a:r>
              <a:endParaRPr lang="en-US" sz="800" dirty="0"/>
            </a:p>
          </p:txBody>
        </p:sp>
        <p:sp>
          <p:nvSpPr>
            <p:cNvPr id="115" name="Text 84">
              <a:extLst>
                <a:ext uri="{FF2B5EF4-FFF2-40B4-BE49-F238E27FC236}">
                  <a16:creationId xmlns:a16="http://schemas.microsoft.com/office/drawing/2014/main" id="{5D45F9AF-AEB4-5480-312D-C02BCFFB76DB}"/>
                </a:ext>
              </a:extLst>
            </p:cNvPr>
            <p:cNvSpPr/>
            <p:nvPr/>
          </p:nvSpPr>
          <p:spPr>
            <a:xfrm>
              <a:off x="4974336" y="8138160"/>
              <a:ext cx="365760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0-100 Fear &amp; Greed score; categorical label lives in DIM_MARKET</a:t>
              </a:r>
              <a:endParaRPr lang="en-US" sz="820" dirty="0"/>
            </a:p>
          </p:txBody>
        </p:sp>
      </p:grpSp>
      <p:sp>
        <p:nvSpPr>
          <p:cNvPr id="121" name="Shape 4">
            <a:extLst>
              <a:ext uri="{FF2B5EF4-FFF2-40B4-BE49-F238E27FC236}">
                <a16:creationId xmlns:a16="http://schemas.microsoft.com/office/drawing/2014/main" id="{D7138CFA-3DBC-8825-4CFC-A02C50B22F56}"/>
              </a:ext>
            </a:extLst>
          </p:cNvPr>
          <p:cNvSpPr/>
          <p:nvPr/>
        </p:nvSpPr>
        <p:spPr>
          <a:xfrm>
            <a:off x="411480" y="1554480"/>
            <a:ext cx="45720" cy="256032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2" name="Text 5">
            <a:extLst>
              <a:ext uri="{FF2B5EF4-FFF2-40B4-BE49-F238E27FC236}">
                <a16:creationId xmlns:a16="http://schemas.microsoft.com/office/drawing/2014/main" id="{228CAD2B-6D2B-8491-E6C6-8A15F5678BC9}"/>
              </a:ext>
            </a:extLst>
          </p:cNvPr>
          <p:cNvSpPr/>
          <p:nvPr/>
        </p:nvSpPr>
        <p:spPr>
          <a:xfrm>
            <a:off x="54864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900" dirty="0"/>
          </a:p>
        </p:txBody>
      </p:sp>
      <p:sp>
        <p:nvSpPr>
          <p:cNvPr id="123" name="Text 6">
            <a:extLst>
              <a:ext uri="{FF2B5EF4-FFF2-40B4-BE49-F238E27FC236}">
                <a16:creationId xmlns:a16="http://schemas.microsoft.com/office/drawing/2014/main" id="{0162941C-2CF0-837B-4185-2C8A0A9AF2D4}"/>
              </a:ext>
            </a:extLst>
          </p:cNvPr>
          <p:cNvSpPr/>
          <p:nvPr/>
        </p:nvSpPr>
        <p:spPr>
          <a:xfrm>
            <a:off x="502920" y="1828800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→ DIM_DATE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block_key → DIM_BLOCK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tx_type_key → DIM_TX_TYPE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market_key → DIM_MARKET</a:t>
            </a:r>
            <a:endParaRPr lang="en-US" sz="950" dirty="0"/>
          </a:p>
        </p:txBody>
      </p:sp>
      <p:sp>
        <p:nvSpPr>
          <p:cNvPr id="124" name="Shape 7">
            <a:extLst>
              <a:ext uri="{FF2B5EF4-FFF2-40B4-BE49-F238E27FC236}">
                <a16:creationId xmlns:a16="http://schemas.microsoft.com/office/drawing/2014/main" id="{1B457F73-4539-28F8-8F65-AA8CC5AA36D0}"/>
              </a:ext>
            </a:extLst>
          </p:cNvPr>
          <p:cNvSpPr/>
          <p:nvPr/>
        </p:nvSpPr>
        <p:spPr>
          <a:xfrm>
            <a:off x="411480" y="3182112"/>
            <a:ext cx="45720" cy="256032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5" name="Text 8">
            <a:extLst>
              <a:ext uri="{FF2B5EF4-FFF2-40B4-BE49-F238E27FC236}">
                <a16:creationId xmlns:a16="http://schemas.microsoft.com/office/drawing/2014/main" id="{20095CDB-5AE5-0C7B-0ABE-0E7BD1ED6C04}"/>
              </a:ext>
            </a:extLst>
          </p:cNvPr>
          <p:cNvSpPr/>
          <p:nvPr/>
        </p:nvSpPr>
        <p:spPr>
          <a:xfrm>
            <a:off x="54864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Dimensions</a:t>
            </a:r>
            <a:endParaRPr lang="en-US" sz="900" dirty="0"/>
          </a:p>
        </p:txBody>
      </p:sp>
      <p:sp>
        <p:nvSpPr>
          <p:cNvPr id="126" name="Text 9">
            <a:extLst>
              <a:ext uri="{FF2B5EF4-FFF2-40B4-BE49-F238E27FC236}">
                <a16:creationId xmlns:a16="http://schemas.microsoft.com/office/drawing/2014/main" id="{CCCE1EBC-0EC0-53C4-3D9E-79AE15674877}"/>
              </a:ext>
            </a:extLst>
          </p:cNvPr>
          <p:cNvSpPr/>
          <p:nvPr/>
        </p:nvSpPr>
        <p:spPr>
          <a:xfrm>
            <a:off x="502920" y="345643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txid (transaction hash - 64 char hex)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block_height (denorm for convenience)</a:t>
            </a:r>
            <a:endParaRPr lang="en-US" sz="950" dirty="0"/>
          </a:p>
        </p:txBody>
      </p:sp>
      <p:sp>
        <p:nvSpPr>
          <p:cNvPr id="127" name="Shape 10">
            <a:extLst>
              <a:ext uri="{FF2B5EF4-FFF2-40B4-BE49-F238E27FC236}">
                <a16:creationId xmlns:a16="http://schemas.microsoft.com/office/drawing/2014/main" id="{528CB33C-DC1C-33B3-D4D7-C43AC32ACEA0}"/>
              </a:ext>
            </a:extLst>
          </p:cNvPr>
          <p:cNvSpPr/>
          <p:nvPr/>
        </p:nvSpPr>
        <p:spPr>
          <a:xfrm>
            <a:off x="411480" y="3474720"/>
            <a:ext cx="4023360" cy="148132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8" name="Text 11">
            <a:extLst>
              <a:ext uri="{FF2B5EF4-FFF2-40B4-BE49-F238E27FC236}">
                <a16:creationId xmlns:a16="http://schemas.microsoft.com/office/drawing/2014/main" id="{7A7EA7F0-EF53-C81F-4F08-9EDC889DA30E}"/>
              </a:ext>
            </a:extLst>
          </p:cNvPr>
          <p:cNvSpPr/>
          <p:nvPr/>
        </p:nvSpPr>
        <p:spPr>
          <a:xfrm>
            <a:off x="512064" y="354787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 -  FACT_TRANSACTION at center</a:t>
            </a:r>
            <a:endParaRPr lang="en-US" sz="850" dirty="0"/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9779CE02-21C9-7661-74EC-33937D966DD8}"/>
              </a:ext>
            </a:extLst>
          </p:cNvPr>
          <p:cNvSpPr/>
          <p:nvPr/>
        </p:nvSpPr>
        <p:spPr>
          <a:xfrm>
            <a:off x="1783080" y="4170000"/>
            <a:ext cx="1280160" cy="400000"/>
          </a:xfrm>
          <a:prstGeom prst="rect">
            <a:avLst/>
          </a:prstGeom>
          <a:solidFill>
            <a:srgbClr val="F7931A">
              <a:alpha val="30000"/>
            </a:srgbClr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0" name="Text 13">
            <a:extLst>
              <a:ext uri="{FF2B5EF4-FFF2-40B4-BE49-F238E27FC236}">
                <a16:creationId xmlns:a16="http://schemas.microsoft.com/office/drawing/2014/main" id="{223FA234-18CD-B838-E288-B9DA51718091}"/>
              </a:ext>
            </a:extLst>
          </p:cNvPr>
          <p:cNvSpPr/>
          <p:nvPr/>
        </p:nvSpPr>
        <p:spPr>
          <a:xfrm>
            <a:off x="1783080" y="4170000"/>
            <a:ext cx="12801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FACT_TX</a:t>
            </a:r>
            <a:endParaRPr lang="en-US" sz="800" dirty="0"/>
          </a:p>
        </p:txBody>
      </p:sp>
      <p:sp>
        <p:nvSpPr>
          <p:cNvPr id="131" name="Shape 14">
            <a:extLst>
              <a:ext uri="{FF2B5EF4-FFF2-40B4-BE49-F238E27FC236}">
                <a16:creationId xmlns:a16="http://schemas.microsoft.com/office/drawing/2014/main" id="{2B34F13F-50E8-FA16-F6F2-AF680A2EB307}"/>
              </a:ext>
            </a:extLst>
          </p:cNvPr>
          <p:cNvSpPr/>
          <p:nvPr/>
        </p:nvSpPr>
        <p:spPr>
          <a:xfrm>
            <a:off x="948408" y="4210000"/>
            <a:ext cx="804672" cy="32000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E5B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FF7C4-D0D7-AED6-F438-64ABE2FA0971}"/>
              </a:ext>
            </a:extLst>
          </p:cNvPr>
          <p:cNvSpPr/>
          <p:nvPr/>
        </p:nvSpPr>
        <p:spPr>
          <a:xfrm>
            <a:off x="948408" y="4210000"/>
            <a:ext cx="80467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133" name="Shape 16">
            <a:extLst>
              <a:ext uri="{FF2B5EF4-FFF2-40B4-BE49-F238E27FC236}">
                <a16:creationId xmlns:a16="http://schemas.microsoft.com/office/drawing/2014/main" id="{DC262268-1F17-08E5-A490-61CD5E8AB61B}"/>
              </a:ext>
            </a:extLst>
          </p:cNvPr>
          <p:cNvSpPr/>
          <p:nvPr/>
        </p:nvSpPr>
        <p:spPr>
          <a:xfrm>
            <a:off x="3093240" y="4210000"/>
            <a:ext cx="804672" cy="32000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E5B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4" name="Text 17">
            <a:extLst>
              <a:ext uri="{FF2B5EF4-FFF2-40B4-BE49-F238E27FC236}">
                <a16:creationId xmlns:a16="http://schemas.microsoft.com/office/drawing/2014/main" id="{E4A9F419-15D2-BC52-0BE6-A741E7D772AF}"/>
              </a:ext>
            </a:extLst>
          </p:cNvPr>
          <p:cNvSpPr/>
          <p:nvPr/>
        </p:nvSpPr>
        <p:spPr>
          <a:xfrm>
            <a:off x="3093240" y="4210000"/>
            <a:ext cx="80467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650" dirty="0"/>
          </a:p>
        </p:txBody>
      </p:sp>
      <p:sp>
        <p:nvSpPr>
          <p:cNvPr id="135" name="Shape 18">
            <a:extLst>
              <a:ext uri="{FF2B5EF4-FFF2-40B4-BE49-F238E27FC236}">
                <a16:creationId xmlns:a16="http://schemas.microsoft.com/office/drawing/2014/main" id="{4964D593-6364-779A-8ED9-566B31FDCDD9}"/>
              </a:ext>
            </a:extLst>
          </p:cNvPr>
          <p:cNvSpPr/>
          <p:nvPr/>
        </p:nvSpPr>
        <p:spPr>
          <a:xfrm>
            <a:off x="2020824" y="3820000"/>
            <a:ext cx="804672" cy="32000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E5B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A6A7AF00-7898-C910-7068-5C6CE7997424}"/>
              </a:ext>
            </a:extLst>
          </p:cNvPr>
          <p:cNvSpPr/>
          <p:nvPr/>
        </p:nvSpPr>
        <p:spPr>
          <a:xfrm>
            <a:off x="2020824" y="3820000"/>
            <a:ext cx="80467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DIM_TX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650" dirty="0"/>
          </a:p>
        </p:txBody>
      </p:sp>
      <p:sp>
        <p:nvSpPr>
          <p:cNvPr id="137" name="Shape 20">
            <a:extLst>
              <a:ext uri="{FF2B5EF4-FFF2-40B4-BE49-F238E27FC236}">
                <a16:creationId xmlns:a16="http://schemas.microsoft.com/office/drawing/2014/main" id="{8296CC09-9996-5567-A59B-89488F3C81AB}"/>
              </a:ext>
            </a:extLst>
          </p:cNvPr>
          <p:cNvSpPr/>
          <p:nvPr/>
        </p:nvSpPr>
        <p:spPr>
          <a:xfrm>
            <a:off x="2020824" y="4600000"/>
            <a:ext cx="804672" cy="320000"/>
          </a:xfrm>
          <a:prstGeom prst="rect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E5B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8" name="Text 21">
            <a:extLst>
              <a:ext uri="{FF2B5EF4-FFF2-40B4-BE49-F238E27FC236}">
                <a16:creationId xmlns:a16="http://schemas.microsoft.com/office/drawing/2014/main" id="{6E51E1DF-23B4-3BF3-937D-184E760C3436}"/>
              </a:ext>
            </a:extLst>
          </p:cNvPr>
          <p:cNvSpPr/>
          <p:nvPr/>
        </p:nvSpPr>
        <p:spPr>
          <a:xfrm>
            <a:off x="2020824" y="4600000"/>
            <a:ext cx="80467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65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2041FB6-A35D-E59D-AA6F-840444BB61D7}"/>
              </a:ext>
            </a:extLst>
          </p:cNvPr>
          <p:cNvGrpSpPr/>
          <p:nvPr/>
        </p:nvGrpSpPr>
        <p:grpSpPr>
          <a:xfrm>
            <a:off x="6831639" y="1247802"/>
            <a:ext cx="2173458" cy="568833"/>
            <a:chOff x="6831639" y="1247802"/>
            <a:chExt cx="2173458" cy="568833"/>
          </a:xfrm>
        </p:grpSpPr>
        <p:sp>
          <p:nvSpPr>
            <p:cNvPr id="61" name="Shape 28">
              <a:extLst>
                <a:ext uri="{FF2B5EF4-FFF2-40B4-BE49-F238E27FC236}">
                  <a16:creationId xmlns:a16="http://schemas.microsoft.com/office/drawing/2014/main" id="{B59D89F8-431B-6547-4C2E-71134F1F5E41}"/>
                </a:ext>
              </a:extLst>
            </p:cNvPr>
            <p:cNvSpPr/>
            <p:nvPr/>
          </p:nvSpPr>
          <p:spPr>
            <a:xfrm>
              <a:off x="6831639" y="1247802"/>
              <a:ext cx="2173458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63" name="Text 30">
              <a:extLst>
                <a:ext uri="{FF2B5EF4-FFF2-40B4-BE49-F238E27FC236}">
                  <a16:creationId xmlns:a16="http://schemas.microsoft.com/office/drawing/2014/main" id="{E68A0524-54A8-C677-0CF0-A62EBC24458D}"/>
                </a:ext>
              </a:extLst>
            </p:cNvPr>
            <p:cNvSpPr/>
            <p:nvPr/>
          </p:nvSpPr>
          <p:spPr>
            <a:xfrm>
              <a:off x="6903235" y="1293522"/>
              <a:ext cx="1329645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fee_rate_sat_vbyte</a:t>
              </a:r>
              <a:endParaRPr lang="en-US" sz="950" dirty="0"/>
            </a:p>
          </p:txBody>
        </p:sp>
        <p:sp>
          <p:nvSpPr>
            <p:cNvPr id="64" name="Text 31">
              <a:extLst>
                <a:ext uri="{FF2B5EF4-FFF2-40B4-BE49-F238E27FC236}">
                  <a16:creationId xmlns:a16="http://schemas.microsoft.com/office/drawing/2014/main" id="{8BE13D9B-A9B8-1717-CFF9-5287DDFF2D49}"/>
                </a:ext>
              </a:extLst>
            </p:cNvPr>
            <p:cNvSpPr/>
            <p:nvPr/>
          </p:nvSpPr>
          <p:spPr>
            <a:xfrm>
              <a:off x="7974330" y="1249707"/>
              <a:ext cx="1030767" cy="26327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[AVG, PERCENTILE]</a:t>
              </a:r>
              <a:endParaRPr lang="en-US" sz="800" dirty="0"/>
            </a:p>
          </p:txBody>
        </p:sp>
        <p:sp>
          <p:nvSpPr>
            <p:cNvPr id="65" name="Text 32">
              <a:extLst>
                <a:ext uri="{FF2B5EF4-FFF2-40B4-BE49-F238E27FC236}">
                  <a16:creationId xmlns:a16="http://schemas.microsoft.com/office/drawing/2014/main" id="{81C07F5A-F88D-D96F-03F5-141FC90652DD}"/>
                </a:ext>
              </a:extLst>
            </p:cNvPr>
            <p:cNvSpPr/>
            <p:nvPr/>
          </p:nvSpPr>
          <p:spPr>
            <a:xfrm>
              <a:off x="6903235" y="1522122"/>
              <a:ext cx="204560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 per virtual byte - miner priority signal</a:t>
              </a:r>
              <a:endParaRPr lang="en-US" sz="820" dirty="0"/>
            </a:p>
          </p:txBody>
        </p:sp>
        <p:sp>
          <p:nvSpPr>
            <p:cNvPr id="168" name="Shape 39">
              <a:extLst>
                <a:ext uri="{FF2B5EF4-FFF2-40B4-BE49-F238E27FC236}">
                  <a16:creationId xmlns:a16="http://schemas.microsoft.com/office/drawing/2014/main" id="{23EE8032-06E5-8474-A4EB-02DD3CA4E211}"/>
                </a:ext>
              </a:extLst>
            </p:cNvPr>
            <p:cNvSpPr/>
            <p:nvPr/>
          </p:nvSpPr>
          <p:spPr>
            <a:xfrm>
              <a:off x="6833543" y="1249707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368A885-A3CE-78A8-0B26-7F2210440B50}"/>
              </a:ext>
            </a:extLst>
          </p:cNvPr>
          <p:cNvGrpSpPr/>
          <p:nvPr/>
        </p:nvGrpSpPr>
        <p:grpSpPr>
          <a:xfrm>
            <a:off x="4845499" y="1247802"/>
            <a:ext cx="1915897" cy="568775"/>
            <a:chOff x="4845499" y="1247802"/>
            <a:chExt cx="1915897" cy="568775"/>
          </a:xfrm>
        </p:grpSpPr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C54ACFB2-C37C-5BE5-AEB2-752B361F676B}"/>
                </a:ext>
              </a:extLst>
            </p:cNvPr>
            <p:cNvSpPr/>
            <p:nvPr/>
          </p:nvSpPr>
          <p:spPr>
            <a:xfrm>
              <a:off x="4846320" y="1247802"/>
              <a:ext cx="1915076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56040FA8-4B23-D757-F298-03A0799C2456}"/>
                </a:ext>
              </a:extLst>
            </p:cNvPr>
            <p:cNvSpPr/>
            <p:nvPr/>
          </p:nvSpPr>
          <p:spPr>
            <a:xfrm>
              <a:off x="4909405" y="1293522"/>
              <a:ext cx="1171576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fee_satoshis</a:t>
              </a:r>
              <a:endParaRPr lang="en-US" sz="95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EBB7F896-C6D6-505C-CB66-BCC77BC677A6}"/>
                </a:ext>
              </a:extLst>
            </p:cNvPr>
            <p:cNvSpPr/>
            <p:nvPr/>
          </p:nvSpPr>
          <p:spPr>
            <a:xfrm>
              <a:off x="6027420" y="1249707"/>
              <a:ext cx="733975" cy="26327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[SUM, AVG]</a:t>
              </a:r>
              <a:endParaRPr lang="en-US" sz="800" dirty="0"/>
            </a:p>
          </p:txBody>
        </p:sp>
        <p:sp>
          <p:nvSpPr>
            <p:cNvPr id="60" name="Text 27">
              <a:extLst>
                <a:ext uri="{FF2B5EF4-FFF2-40B4-BE49-F238E27FC236}">
                  <a16:creationId xmlns:a16="http://schemas.microsoft.com/office/drawing/2014/main" id="{DA85CB39-685A-E170-F17B-6B9C36514D09}"/>
                </a:ext>
              </a:extLst>
            </p:cNvPr>
            <p:cNvSpPr/>
            <p:nvPr/>
          </p:nvSpPr>
          <p:spPr>
            <a:xfrm>
              <a:off x="4909405" y="1522122"/>
              <a:ext cx="1802424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fee paid for the TX in satoshis</a:t>
              </a:r>
              <a:endParaRPr lang="en-US" sz="820" dirty="0"/>
            </a:p>
          </p:txBody>
        </p:sp>
        <p:sp>
          <p:nvSpPr>
            <p:cNvPr id="169" name="Shape 39">
              <a:extLst>
                <a:ext uri="{FF2B5EF4-FFF2-40B4-BE49-F238E27FC236}">
                  <a16:creationId xmlns:a16="http://schemas.microsoft.com/office/drawing/2014/main" id="{FBA94610-B18E-BC33-2106-B06C1CF12179}"/>
                </a:ext>
              </a:extLst>
            </p:cNvPr>
            <p:cNvSpPr/>
            <p:nvPr/>
          </p:nvSpPr>
          <p:spPr>
            <a:xfrm>
              <a:off x="4845499" y="1249649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  <p:grpSp>
        <p:nvGrpSpPr>
          <p:cNvPr id="195" name="Grupo 194">
            <a:extLst>
              <a:ext uri="{FF2B5EF4-FFF2-40B4-BE49-F238E27FC236}">
                <a16:creationId xmlns:a16="http://schemas.microsoft.com/office/drawing/2014/main" id="{7B1BDD22-612A-B071-4A69-B4A27472D187}"/>
              </a:ext>
            </a:extLst>
          </p:cNvPr>
          <p:cNvGrpSpPr/>
          <p:nvPr/>
        </p:nvGrpSpPr>
        <p:grpSpPr>
          <a:xfrm>
            <a:off x="4845499" y="3106320"/>
            <a:ext cx="1966781" cy="573962"/>
            <a:chOff x="4845499" y="3211830"/>
            <a:chExt cx="1966781" cy="573962"/>
          </a:xfrm>
        </p:grpSpPr>
        <p:grpSp>
          <p:nvGrpSpPr>
            <p:cNvPr id="192" name="Grupo 191">
              <a:extLst>
                <a:ext uri="{FF2B5EF4-FFF2-40B4-BE49-F238E27FC236}">
                  <a16:creationId xmlns:a16="http://schemas.microsoft.com/office/drawing/2014/main" id="{FF6E7391-6AB9-CB65-6BA6-684C1D4A8CC6}"/>
                </a:ext>
              </a:extLst>
            </p:cNvPr>
            <p:cNvGrpSpPr/>
            <p:nvPr/>
          </p:nvGrpSpPr>
          <p:grpSpPr>
            <a:xfrm>
              <a:off x="4845499" y="3211830"/>
              <a:ext cx="1966781" cy="566928"/>
              <a:chOff x="4845499" y="3211830"/>
              <a:chExt cx="2278966" cy="566928"/>
            </a:xfrm>
          </p:grpSpPr>
          <p:sp>
            <p:nvSpPr>
              <p:cNvPr id="86" name="Shape 55">
                <a:extLst>
                  <a:ext uri="{FF2B5EF4-FFF2-40B4-BE49-F238E27FC236}">
                    <a16:creationId xmlns:a16="http://schemas.microsoft.com/office/drawing/2014/main" id="{E70B1594-304E-530A-D2A0-8A00AE0398FD}"/>
                  </a:ext>
                </a:extLst>
              </p:cNvPr>
              <p:cNvSpPr/>
              <p:nvPr/>
            </p:nvSpPr>
            <p:spPr>
              <a:xfrm>
                <a:off x="4845499" y="3211830"/>
                <a:ext cx="2278966" cy="566928"/>
              </a:xfrm>
              <a:prstGeom prst="rect">
                <a:avLst/>
              </a:prstGeom>
              <a:solidFill>
                <a:srgbClr val="0D1F3C"/>
              </a:solidFill>
              <a:ln w="6350">
                <a:solidFill>
                  <a:srgbClr val="1A3A5C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8" name="Text 57">
                <a:extLst>
                  <a:ext uri="{FF2B5EF4-FFF2-40B4-BE49-F238E27FC236}">
                    <a16:creationId xmlns:a16="http://schemas.microsoft.com/office/drawing/2014/main" id="{668386AE-388A-7A67-3307-00EF4E968188}"/>
                  </a:ext>
                </a:extLst>
              </p:cNvPr>
              <p:cNvSpPr/>
              <p:nvPr/>
            </p:nvSpPr>
            <p:spPr>
              <a:xfrm>
                <a:off x="4920571" y="3257550"/>
                <a:ext cx="1488704" cy="21945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50" b="1" dirty="0">
                    <a:solidFill>
                      <a:srgbClr val="F4FAF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btc_price_usd_close</a:t>
                </a:r>
                <a:endParaRPr lang="en-US" sz="950" dirty="0"/>
              </a:p>
            </p:txBody>
          </p:sp>
          <p:sp>
            <p:nvSpPr>
              <p:cNvPr id="89" name="Text 58">
                <a:extLst>
                  <a:ext uri="{FF2B5EF4-FFF2-40B4-BE49-F238E27FC236}">
                    <a16:creationId xmlns:a16="http://schemas.microsoft.com/office/drawing/2014/main" id="{1C5D506C-8957-CB91-0CB7-967E5F9B9831}"/>
                  </a:ext>
                </a:extLst>
              </p:cNvPr>
              <p:cNvSpPr/>
              <p:nvPr/>
            </p:nvSpPr>
            <p:spPr>
              <a:xfrm>
                <a:off x="6314761" y="3220974"/>
                <a:ext cx="809704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800" dirty="0">
                    <a:solidFill>
                      <a:srgbClr val="2DD4B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[SNAPSHOT]</a:t>
                </a:r>
                <a:endParaRPr lang="en-US" sz="800" dirty="0"/>
              </a:p>
            </p:txBody>
          </p:sp>
          <p:sp>
            <p:nvSpPr>
              <p:cNvPr id="90" name="Text 59">
                <a:extLst>
                  <a:ext uri="{FF2B5EF4-FFF2-40B4-BE49-F238E27FC236}">
                    <a16:creationId xmlns:a16="http://schemas.microsoft.com/office/drawing/2014/main" id="{F209A289-FDC9-C2E8-9260-9DC0B30292C8}"/>
                  </a:ext>
                </a:extLst>
              </p:cNvPr>
              <p:cNvSpPr/>
              <p:nvPr/>
            </p:nvSpPr>
            <p:spPr>
              <a:xfrm>
                <a:off x="4920571" y="3486150"/>
                <a:ext cx="2191642" cy="23774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20" dirty="0">
                    <a:solidFill>
                      <a:srgbClr val="7A9AB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Daily BTC/USD closing price on transaction day</a:t>
                </a:r>
                <a:endParaRPr lang="en-US" sz="820" dirty="0"/>
              </a:p>
            </p:txBody>
          </p:sp>
        </p:grpSp>
        <p:sp>
          <p:nvSpPr>
            <p:cNvPr id="190" name="Shape 39">
              <a:extLst>
                <a:ext uri="{FF2B5EF4-FFF2-40B4-BE49-F238E27FC236}">
                  <a16:creationId xmlns:a16="http://schemas.microsoft.com/office/drawing/2014/main" id="{66D1B975-F543-66F4-8231-8DA47EA6DAFB}"/>
                </a:ext>
              </a:extLst>
            </p:cNvPr>
            <p:cNvSpPr/>
            <p:nvPr/>
          </p:nvSpPr>
          <p:spPr>
            <a:xfrm>
              <a:off x="4845564" y="3218864"/>
              <a:ext cx="57694" cy="566928"/>
            </a:xfrm>
            <a:prstGeom prst="rect">
              <a:avLst/>
            </a:prstGeom>
            <a:solidFill>
              <a:srgbClr val="5BBFDD"/>
            </a:solidFill>
            <a:ln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93" name="Shape 39">
            <a:extLst>
              <a:ext uri="{FF2B5EF4-FFF2-40B4-BE49-F238E27FC236}">
                <a16:creationId xmlns:a16="http://schemas.microsoft.com/office/drawing/2014/main" id="{31093F4C-78C2-4071-B744-5DBCC97F6547}"/>
              </a:ext>
            </a:extLst>
          </p:cNvPr>
          <p:cNvSpPr/>
          <p:nvPr/>
        </p:nvSpPr>
        <p:spPr>
          <a:xfrm>
            <a:off x="6868864" y="3106320"/>
            <a:ext cx="57694" cy="5669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6" name="Shape 39">
            <a:extLst>
              <a:ext uri="{FF2B5EF4-FFF2-40B4-BE49-F238E27FC236}">
                <a16:creationId xmlns:a16="http://schemas.microsoft.com/office/drawing/2014/main" id="{2338837F-F51F-E595-3779-C8FF6C07D5CB}"/>
              </a:ext>
            </a:extLst>
          </p:cNvPr>
          <p:cNvSpPr/>
          <p:nvPr/>
        </p:nvSpPr>
        <p:spPr>
          <a:xfrm>
            <a:off x="4845499" y="3719570"/>
            <a:ext cx="57694" cy="5669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7" name="Shape 39">
            <a:extLst>
              <a:ext uri="{FF2B5EF4-FFF2-40B4-BE49-F238E27FC236}">
                <a16:creationId xmlns:a16="http://schemas.microsoft.com/office/drawing/2014/main" id="{C2EC5FBD-98DC-91F5-EF7F-3940D9B60D9D}"/>
              </a:ext>
            </a:extLst>
          </p:cNvPr>
          <p:cNvSpPr/>
          <p:nvPr/>
        </p:nvSpPr>
        <p:spPr>
          <a:xfrm>
            <a:off x="6939255" y="3720365"/>
            <a:ext cx="57694" cy="5669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8" name="Shape 39">
            <a:extLst>
              <a:ext uri="{FF2B5EF4-FFF2-40B4-BE49-F238E27FC236}">
                <a16:creationId xmlns:a16="http://schemas.microsoft.com/office/drawing/2014/main" id="{1E776F1D-4FE5-96D9-69B6-797CB09515ED}"/>
              </a:ext>
            </a:extLst>
          </p:cNvPr>
          <p:cNvSpPr/>
          <p:nvPr/>
        </p:nvSpPr>
        <p:spPr>
          <a:xfrm>
            <a:off x="4845499" y="4334410"/>
            <a:ext cx="57694" cy="5669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9" name="Shape 39">
            <a:extLst>
              <a:ext uri="{FF2B5EF4-FFF2-40B4-BE49-F238E27FC236}">
                <a16:creationId xmlns:a16="http://schemas.microsoft.com/office/drawing/2014/main" id="{3E27804F-7726-F2A7-6B54-EDAB3B2BD3B9}"/>
              </a:ext>
            </a:extLst>
          </p:cNvPr>
          <p:cNvSpPr/>
          <p:nvPr/>
        </p:nvSpPr>
        <p:spPr>
          <a:xfrm>
            <a:off x="6838312" y="4334410"/>
            <a:ext cx="57694" cy="566928"/>
          </a:xfrm>
          <a:prstGeom prst="rect">
            <a:avLst/>
          </a:prstGeom>
          <a:solidFill>
            <a:srgbClr val="5BBFDD"/>
          </a:solidFill>
          <a:ln/>
        </p:spPr>
        <p:txBody>
          <a:bodyPr/>
          <a:lstStyle/>
          <a:p>
            <a:endParaRPr lang="es-E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33BE763-B6E9-7ECF-E442-B5DFA1AE1612}"/>
              </a:ext>
            </a:extLst>
          </p:cNvPr>
          <p:cNvGrpSpPr/>
          <p:nvPr/>
        </p:nvGrpSpPr>
        <p:grpSpPr>
          <a:xfrm>
            <a:off x="4846319" y="1869594"/>
            <a:ext cx="2222695" cy="571500"/>
            <a:chOff x="4846319" y="1869594"/>
            <a:chExt cx="2222695" cy="571500"/>
          </a:xfrm>
        </p:grpSpPr>
        <p:sp>
          <p:nvSpPr>
            <p:cNvPr id="66" name="Shape 33">
              <a:extLst>
                <a:ext uri="{FF2B5EF4-FFF2-40B4-BE49-F238E27FC236}">
                  <a16:creationId xmlns:a16="http://schemas.microsoft.com/office/drawing/2014/main" id="{838B4B57-CA14-B4B2-A9F4-D429FECA9865}"/>
                </a:ext>
              </a:extLst>
            </p:cNvPr>
            <p:cNvSpPr/>
            <p:nvPr/>
          </p:nvSpPr>
          <p:spPr>
            <a:xfrm>
              <a:off x="4846319" y="1869594"/>
              <a:ext cx="2222695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8" name="Text 35">
              <a:extLst>
                <a:ext uri="{FF2B5EF4-FFF2-40B4-BE49-F238E27FC236}">
                  <a16:creationId xmlns:a16="http://schemas.microsoft.com/office/drawing/2014/main" id="{E6A6C37B-A6AB-B7FF-84ED-2ECCA40647A6}"/>
                </a:ext>
              </a:extLst>
            </p:cNvPr>
            <p:cNvSpPr/>
            <p:nvPr/>
          </p:nvSpPr>
          <p:spPr>
            <a:xfrm>
              <a:off x="4919537" y="1915314"/>
              <a:ext cx="1359766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input_value_sat</a:t>
              </a:r>
              <a:endParaRPr lang="en-US" sz="950" dirty="0"/>
            </a:p>
          </p:txBody>
        </p:sp>
        <p:sp>
          <p:nvSpPr>
            <p:cNvPr id="69" name="Text 36">
              <a:extLst>
                <a:ext uri="{FF2B5EF4-FFF2-40B4-BE49-F238E27FC236}">
                  <a16:creationId xmlns:a16="http://schemas.microsoft.com/office/drawing/2014/main" id="{7312F9E4-9B49-1885-6CDD-337A08F52ACB}"/>
                </a:ext>
              </a:extLst>
            </p:cNvPr>
            <p:cNvSpPr/>
            <p:nvPr/>
          </p:nvSpPr>
          <p:spPr>
            <a:xfrm>
              <a:off x="6279304" y="1877331"/>
              <a:ext cx="789710" cy="2574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[SUM]</a:t>
              </a:r>
              <a:endParaRPr lang="en-US" sz="800" dirty="0">
                <a:solidFill>
                  <a:srgbClr val="F7931A"/>
                </a:solidFill>
              </a:endParaRPr>
            </a:p>
          </p:txBody>
        </p:sp>
        <p:sp>
          <p:nvSpPr>
            <p:cNvPr id="70" name="Text 37">
              <a:extLst>
                <a:ext uri="{FF2B5EF4-FFF2-40B4-BE49-F238E27FC236}">
                  <a16:creationId xmlns:a16="http://schemas.microsoft.com/office/drawing/2014/main" id="{82EA0BB1-5AC4-F44B-FA21-2DA2DAB3D34F}"/>
                </a:ext>
              </a:extLst>
            </p:cNvPr>
            <p:cNvSpPr/>
            <p:nvPr/>
          </p:nvSpPr>
          <p:spPr>
            <a:xfrm>
              <a:off x="4919537" y="2143914"/>
              <a:ext cx="209194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value of all UTXOs consumed as inputs</a:t>
              </a:r>
              <a:endParaRPr lang="en-US" sz="820" dirty="0"/>
            </a:p>
          </p:txBody>
        </p:sp>
        <p:sp>
          <p:nvSpPr>
            <p:cNvPr id="6" name="Shape 39">
              <a:extLst>
                <a:ext uri="{FF2B5EF4-FFF2-40B4-BE49-F238E27FC236}">
                  <a16:creationId xmlns:a16="http://schemas.microsoft.com/office/drawing/2014/main" id="{9298E54A-6AF3-2BD3-F4FB-AD83E705EC2F}"/>
                </a:ext>
              </a:extLst>
            </p:cNvPr>
            <p:cNvSpPr/>
            <p:nvPr/>
          </p:nvSpPr>
          <p:spPr>
            <a:xfrm>
              <a:off x="4850861" y="1874166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ED42545-19D8-1439-F27C-4A2B0D6DAC5E}"/>
              </a:ext>
            </a:extLst>
          </p:cNvPr>
          <p:cNvGrpSpPr/>
          <p:nvPr/>
        </p:nvGrpSpPr>
        <p:grpSpPr>
          <a:xfrm>
            <a:off x="7125285" y="1869594"/>
            <a:ext cx="1879812" cy="571500"/>
            <a:chOff x="7125284" y="1869594"/>
            <a:chExt cx="1879812" cy="571500"/>
          </a:xfrm>
        </p:grpSpPr>
        <p:sp>
          <p:nvSpPr>
            <p:cNvPr id="71" name="Shape 38">
              <a:extLst>
                <a:ext uri="{FF2B5EF4-FFF2-40B4-BE49-F238E27FC236}">
                  <a16:creationId xmlns:a16="http://schemas.microsoft.com/office/drawing/2014/main" id="{D9058F13-AE6E-CE70-19C1-086D931426B9}"/>
                </a:ext>
              </a:extLst>
            </p:cNvPr>
            <p:cNvSpPr/>
            <p:nvPr/>
          </p:nvSpPr>
          <p:spPr>
            <a:xfrm>
              <a:off x="7125285" y="1869594"/>
              <a:ext cx="1879811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73" name="Text 40">
              <a:extLst>
                <a:ext uri="{FF2B5EF4-FFF2-40B4-BE49-F238E27FC236}">
                  <a16:creationId xmlns:a16="http://schemas.microsoft.com/office/drawing/2014/main" id="{200B260E-A22E-77CD-FA98-911DA9B947DA}"/>
                </a:ext>
              </a:extLst>
            </p:cNvPr>
            <p:cNvSpPr/>
            <p:nvPr/>
          </p:nvSpPr>
          <p:spPr>
            <a:xfrm>
              <a:off x="7182980" y="1915314"/>
              <a:ext cx="107146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output_value_sat</a:t>
              </a:r>
              <a:endParaRPr lang="en-US" sz="950" dirty="0"/>
            </a:p>
          </p:txBody>
        </p:sp>
        <p:sp>
          <p:nvSpPr>
            <p:cNvPr id="74" name="Text 41">
              <a:extLst>
                <a:ext uri="{FF2B5EF4-FFF2-40B4-BE49-F238E27FC236}">
                  <a16:creationId xmlns:a16="http://schemas.microsoft.com/office/drawing/2014/main" id="{2ACE5BE9-6140-FF1A-2453-86AA4D692890}"/>
                </a:ext>
              </a:extLst>
            </p:cNvPr>
            <p:cNvSpPr/>
            <p:nvPr/>
          </p:nvSpPr>
          <p:spPr>
            <a:xfrm>
              <a:off x="8254441" y="1869594"/>
              <a:ext cx="750655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[SUM]</a:t>
              </a:r>
              <a:endParaRPr lang="en-US" sz="800" dirty="0">
                <a:solidFill>
                  <a:srgbClr val="F7931A"/>
                </a:solidFill>
              </a:endParaRPr>
            </a:p>
          </p:txBody>
        </p:sp>
        <p:sp>
          <p:nvSpPr>
            <p:cNvPr id="75" name="Text 42">
              <a:extLst>
                <a:ext uri="{FF2B5EF4-FFF2-40B4-BE49-F238E27FC236}">
                  <a16:creationId xmlns:a16="http://schemas.microsoft.com/office/drawing/2014/main" id="{076C7F73-8F57-7C59-15E7-696826C2EF1A}"/>
                </a:ext>
              </a:extLst>
            </p:cNvPr>
            <p:cNvSpPr/>
            <p:nvPr/>
          </p:nvSpPr>
          <p:spPr>
            <a:xfrm>
              <a:off x="7182980" y="2143914"/>
              <a:ext cx="1648403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value of all outputs created</a:t>
              </a:r>
              <a:endParaRPr lang="en-US" sz="820" dirty="0"/>
            </a:p>
          </p:txBody>
        </p:sp>
        <p:sp>
          <p:nvSpPr>
            <p:cNvPr id="7" name="Shape 39">
              <a:extLst>
                <a:ext uri="{FF2B5EF4-FFF2-40B4-BE49-F238E27FC236}">
                  <a16:creationId xmlns:a16="http://schemas.microsoft.com/office/drawing/2014/main" id="{08917076-1A12-55B2-CBD0-F538A4EFA4DA}"/>
                </a:ext>
              </a:extLst>
            </p:cNvPr>
            <p:cNvSpPr/>
            <p:nvPr/>
          </p:nvSpPr>
          <p:spPr>
            <a:xfrm>
              <a:off x="7125284" y="1874166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E0CE994-5CB6-8964-5750-DEC44BBD3FDE}"/>
              </a:ext>
            </a:extLst>
          </p:cNvPr>
          <p:cNvGrpSpPr/>
          <p:nvPr/>
        </p:nvGrpSpPr>
        <p:grpSpPr>
          <a:xfrm>
            <a:off x="4845499" y="2486433"/>
            <a:ext cx="1936609" cy="571881"/>
            <a:chOff x="4845499" y="2486433"/>
            <a:chExt cx="1936609" cy="571881"/>
          </a:xfrm>
        </p:grpSpPr>
        <p:sp>
          <p:nvSpPr>
            <p:cNvPr id="76" name="Shape 43">
              <a:extLst>
                <a:ext uri="{FF2B5EF4-FFF2-40B4-BE49-F238E27FC236}">
                  <a16:creationId xmlns:a16="http://schemas.microsoft.com/office/drawing/2014/main" id="{DD10FBD6-2683-8FD8-E83B-457CF3A2F98D}"/>
                </a:ext>
              </a:extLst>
            </p:cNvPr>
            <p:cNvSpPr/>
            <p:nvPr/>
          </p:nvSpPr>
          <p:spPr>
            <a:xfrm>
              <a:off x="4846320" y="2489481"/>
              <a:ext cx="1915076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8" name="Text 45">
              <a:extLst>
                <a:ext uri="{FF2B5EF4-FFF2-40B4-BE49-F238E27FC236}">
                  <a16:creationId xmlns:a16="http://schemas.microsoft.com/office/drawing/2014/main" id="{C9E6122C-D404-3296-DF1E-570EB4EF7496}"/>
                </a:ext>
              </a:extLst>
            </p:cNvPr>
            <p:cNvSpPr/>
            <p:nvPr/>
          </p:nvSpPr>
          <p:spPr>
            <a:xfrm>
              <a:off x="4911780" y="2535201"/>
              <a:ext cx="1215714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tx_size_bytes</a:t>
              </a:r>
              <a:endParaRPr lang="en-US" sz="950" dirty="0"/>
            </a:p>
          </p:txBody>
        </p:sp>
        <p:sp>
          <p:nvSpPr>
            <p:cNvPr id="79" name="Text 46">
              <a:extLst>
                <a:ext uri="{FF2B5EF4-FFF2-40B4-BE49-F238E27FC236}">
                  <a16:creationId xmlns:a16="http://schemas.microsoft.com/office/drawing/2014/main" id="{0065C015-C46C-6404-3837-A155FD24C248}"/>
                </a:ext>
              </a:extLst>
            </p:cNvPr>
            <p:cNvSpPr/>
            <p:nvPr/>
          </p:nvSpPr>
          <p:spPr>
            <a:xfrm>
              <a:off x="6008834" y="2486433"/>
              <a:ext cx="752561" cy="2651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[AVG, MAX]</a:t>
              </a:r>
              <a:endParaRPr lang="en-US" sz="800" dirty="0">
                <a:solidFill>
                  <a:srgbClr val="F7931A"/>
                </a:solidFill>
              </a:endParaRPr>
            </a:p>
          </p:txBody>
        </p:sp>
        <p:sp>
          <p:nvSpPr>
            <p:cNvPr id="80" name="Text 47">
              <a:extLst>
                <a:ext uri="{FF2B5EF4-FFF2-40B4-BE49-F238E27FC236}">
                  <a16:creationId xmlns:a16="http://schemas.microsoft.com/office/drawing/2014/main" id="{72B32969-C84C-AF87-121C-0148B1A4A069}"/>
                </a:ext>
              </a:extLst>
            </p:cNvPr>
            <p:cNvSpPr/>
            <p:nvPr/>
          </p:nvSpPr>
          <p:spPr>
            <a:xfrm>
              <a:off x="4911780" y="2763801"/>
              <a:ext cx="1870328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byte size of the transaction on disk</a:t>
              </a:r>
              <a:endParaRPr lang="en-US" sz="820" dirty="0"/>
            </a:p>
          </p:txBody>
        </p:sp>
        <p:sp>
          <p:nvSpPr>
            <p:cNvPr id="8" name="Shape 39">
              <a:extLst>
                <a:ext uri="{FF2B5EF4-FFF2-40B4-BE49-F238E27FC236}">
                  <a16:creationId xmlns:a16="http://schemas.microsoft.com/office/drawing/2014/main" id="{FE25DE6F-D0D9-F9BA-BDA0-FA3E41BB9A7A}"/>
                </a:ext>
              </a:extLst>
            </p:cNvPr>
            <p:cNvSpPr/>
            <p:nvPr/>
          </p:nvSpPr>
          <p:spPr>
            <a:xfrm>
              <a:off x="4845499" y="2491386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A612984-20EE-40C0-7C73-1ABAF5EE242B}"/>
              </a:ext>
            </a:extLst>
          </p:cNvPr>
          <p:cNvGrpSpPr/>
          <p:nvPr/>
        </p:nvGrpSpPr>
        <p:grpSpPr>
          <a:xfrm>
            <a:off x="6812280" y="2482242"/>
            <a:ext cx="2191642" cy="576072"/>
            <a:chOff x="6812280" y="2482242"/>
            <a:chExt cx="2191642" cy="576072"/>
          </a:xfrm>
        </p:grpSpPr>
        <p:sp>
          <p:nvSpPr>
            <p:cNvPr id="81" name="Shape 48">
              <a:extLst>
                <a:ext uri="{FF2B5EF4-FFF2-40B4-BE49-F238E27FC236}">
                  <a16:creationId xmlns:a16="http://schemas.microsoft.com/office/drawing/2014/main" id="{C91E97BA-ED84-8E2F-4D2C-3B6026844E50}"/>
                </a:ext>
              </a:extLst>
            </p:cNvPr>
            <p:cNvSpPr/>
            <p:nvPr/>
          </p:nvSpPr>
          <p:spPr>
            <a:xfrm>
              <a:off x="6812280" y="2489481"/>
              <a:ext cx="2191642" cy="566928"/>
            </a:xfrm>
            <a:prstGeom prst="rect">
              <a:avLst/>
            </a:prstGeom>
            <a:solidFill>
              <a:srgbClr val="0D1F3C"/>
            </a:solidFill>
            <a:ln w="635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3" name="Text 50">
              <a:extLst>
                <a:ext uri="{FF2B5EF4-FFF2-40B4-BE49-F238E27FC236}">
                  <a16:creationId xmlns:a16="http://schemas.microsoft.com/office/drawing/2014/main" id="{8F1EADD6-8897-C47C-AB8D-35E428E8D1EA}"/>
                </a:ext>
              </a:extLst>
            </p:cNvPr>
            <p:cNvSpPr/>
            <p:nvPr/>
          </p:nvSpPr>
          <p:spPr>
            <a:xfrm>
              <a:off x="6884475" y="2535201"/>
              <a:ext cx="1340769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4FA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tx_weight_units</a:t>
              </a:r>
              <a:endParaRPr lang="en-US" sz="950" dirty="0"/>
            </a:p>
          </p:txBody>
        </p:sp>
        <p:sp>
          <p:nvSpPr>
            <p:cNvPr id="84" name="Text 51">
              <a:extLst>
                <a:ext uri="{FF2B5EF4-FFF2-40B4-BE49-F238E27FC236}">
                  <a16:creationId xmlns:a16="http://schemas.microsoft.com/office/drawing/2014/main" id="{2D22E259-57F6-FDBA-774E-41406DC9ED4E}"/>
                </a:ext>
              </a:extLst>
            </p:cNvPr>
            <p:cNvSpPr/>
            <p:nvPr/>
          </p:nvSpPr>
          <p:spPr>
            <a:xfrm>
              <a:off x="8225244" y="2482242"/>
              <a:ext cx="778678" cy="27241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F79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[AVG, SUM]</a:t>
              </a:r>
              <a:endParaRPr lang="en-US" sz="800" dirty="0">
                <a:solidFill>
                  <a:srgbClr val="F7931A"/>
                </a:solidFill>
              </a:endParaRPr>
            </a:p>
          </p:txBody>
        </p:sp>
        <p:sp>
          <p:nvSpPr>
            <p:cNvPr id="85" name="Text 52">
              <a:extLst>
                <a:ext uri="{FF2B5EF4-FFF2-40B4-BE49-F238E27FC236}">
                  <a16:creationId xmlns:a16="http://schemas.microsoft.com/office/drawing/2014/main" id="{B7B70CFB-F624-B70B-B9C3-0C52822731AB}"/>
                </a:ext>
              </a:extLst>
            </p:cNvPr>
            <p:cNvSpPr/>
            <p:nvPr/>
          </p:nvSpPr>
          <p:spPr>
            <a:xfrm>
              <a:off x="6884475" y="2763801"/>
              <a:ext cx="206272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7A9A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SegWit weight - used for fee rate calculation</a:t>
              </a:r>
              <a:endParaRPr lang="en-US" sz="820" dirty="0"/>
            </a:p>
          </p:txBody>
        </p:sp>
        <p:sp>
          <p:nvSpPr>
            <p:cNvPr id="9" name="Shape 39">
              <a:extLst>
                <a:ext uri="{FF2B5EF4-FFF2-40B4-BE49-F238E27FC236}">
                  <a16:creationId xmlns:a16="http://schemas.microsoft.com/office/drawing/2014/main" id="{ABFD2BF1-A5F1-4B5C-4356-41F6F4C02267}"/>
                </a:ext>
              </a:extLst>
            </p:cNvPr>
            <p:cNvSpPr/>
            <p:nvPr/>
          </p:nvSpPr>
          <p:spPr>
            <a:xfrm>
              <a:off x="6819086" y="2491386"/>
              <a:ext cx="57694" cy="566928"/>
            </a:xfrm>
            <a:prstGeom prst="rect">
              <a:avLst/>
            </a:prstGeom>
            <a:solidFill>
              <a:srgbClr val="F7931A"/>
            </a:solidFill>
            <a:ln/>
          </p:spPr>
          <p:txBody>
            <a:bodyPr/>
            <a:lstStyle/>
            <a:p>
              <a:endParaRPr lang="es-ES">
                <a:solidFill>
                  <a:srgbClr val="F7931A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10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SELECTED OLAP USER NEEDS</a:t>
            </a:r>
            <a:endParaRPr lang="en-US" sz="90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E87EBF6B-E081-C711-3258-6D5EC39E52C1}"/>
              </a:ext>
            </a:extLst>
          </p:cNvPr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Decision-Support Questions &amp; Expected Outputs</a:t>
            </a:r>
            <a:endParaRPr lang="en-US" sz="2500" dirty="0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93918694-33D5-A859-CDBE-6C7372F727EE}"/>
              </a:ext>
            </a:extLst>
          </p:cNvPr>
          <p:cNvSpPr/>
          <p:nvPr/>
        </p:nvSpPr>
        <p:spPr>
          <a:xfrm>
            <a:off x="411480" y="1371600"/>
            <a:ext cx="8321040" cy="694944"/>
          </a:xfrm>
          <a:prstGeom prst="rect">
            <a:avLst/>
          </a:prstGeom>
          <a:solidFill>
            <a:srgbClr val="0D1F3C"/>
          </a:solidFill>
          <a:ln w="508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D854E471-E523-DC65-184B-6E6A2167CEF8}"/>
              </a:ext>
            </a:extLst>
          </p:cNvPr>
          <p:cNvSpPr/>
          <p:nvPr/>
        </p:nvSpPr>
        <p:spPr>
          <a:xfrm>
            <a:off x="411480" y="1371600"/>
            <a:ext cx="475488" cy="694944"/>
          </a:xfrm>
          <a:prstGeom prst="rect">
            <a:avLst/>
          </a:prstGeom>
          <a:solidFill>
            <a:srgbClr val="F7931A">
              <a:alpha val="7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9BB37962-9E8A-C13F-E4A3-02A082B4D87B}"/>
              </a:ext>
            </a:extLst>
          </p:cNvPr>
          <p:cNvSpPr/>
          <p:nvPr/>
        </p:nvSpPr>
        <p:spPr>
          <a:xfrm>
            <a:off x="411480" y="1371600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9809110B-2CCE-8659-3D2D-CD8F4101A3DC}"/>
              </a:ext>
            </a:extLst>
          </p:cNvPr>
          <p:cNvSpPr/>
          <p:nvPr/>
        </p:nvSpPr>
        <p:spPr>
          <a:xfrm>
            <a:off x="969264" y="1426464"/>
            <a:ext cx="804672" cy="182880"/>
          </a:xfrm>
          <a:prstGeom prst="rect">
            <a:avLst/>
          </a:prstGeom>
          <a:solidFill>
            <a:srgbClr val="F7931A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5D7898C-F245-B689-5D34-098CFCB89643}"/>
              </a:ext>
            </a:extLst>
          </p:cNvPr>
          <p:cNvSpPr/>
          <p:nvPr/>
        </p:nvSpPr>
        <p:spPr>
          <a:xfrm>
            <a:off x="969264" y="142646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DBA922E3-1998-97E2-C15F-9E44F011A2EF}"/>
              </a:ext>
            </a:extLst>
          </p:cNvPr>
          <p:cNvSpPr/>
          <p:nvPr/>
        </p:nvSpPr>
        <p:spPr>
          <a:xfrm>
            <a:off x="969264" y="16276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avg fee rate evolve month-over-month across halving epochs?</a:t>
            </a:r>
            <a:endParaRPr lang="en-US" sz="980" dirty="0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00FE54DE-7956-156F-7FBF-274FA060A34C}"/>
              </a:ext>
            </a:extLst>
          </p:cNvPr>
          <p:cNvSpPr/>
          <p:nvPr/>
        </p:nvSpPr>
        <p:spPr>
          <a:xfrm>
            <a:off x="969264" y="1883664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DIM_DATE × DIM_BLOCK × DIM_TX_TYPE</a:t>
            </a:r>
            <a:endParaRPr lang="en-US" sz="78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759CDC0A-2B08-4514-6FD4-EA79DB288060}"/>
              </a:ext>
            </a:extLst>
          </p:cNvPr>
          <p:cNvSpPr/>
          <p:nvPr/>
        </p:nvSpPr>
        <p:spPr>
          <a:xfrm>
            <a:off x="5925312" y="1463040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fee trends with epoch markers, spike at congestion events</a:t>
            </a:r>
            <a:endParaRPr lang="en-US" sz="82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05908970-D6E6-A03E-D7A6-A6B251DD0BA0}"/>
              </a:ext>
            </a:extLst>
          </p:cNvPr>
          <p:cNvSpPr/>
          <p:nvPr/>
        </p:nvSpPr>
        <p:spPr>
          <a:xfrm>
            <a:off x="411480" y="2121408"/>
            <a:ext cx="8321040" cy="69494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7240DA2A-3687-15FE-2908-6534F5D71A2A}"/>
              </a:ext>
            </a:extLst>
          </p:cNvPr>
          <p:cNvSpPr/>
          <p:nvPr/>
        </p:nvSpPr>
        <p:spPr>
          <a:xfrm>
            <a:off x="411480" y="2121408"/>
            <a:ext cx="475488" cy="694944"/>
          </a:xfrm>
          <a:prstGeom prst="rect">
            <a:avLst/>
          </a:prstGeom>
          <a:solidFill>
            <a:srgbClr val="F7931A">
              <a:alpha val="7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4AEAF683-0358-1585-596A-72C9C8B36B17}"/>
              </a:ext>
            </a:extLst>
          </p:cNvPr>
          <p:cNvSpPr/>
          <p:nvPr/>
        </p:nvSpPr>
        <p:spPr>
          <a:xfrm>
            <a:off x="411480" y="2121408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0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49842EBD-6437-30D1-8826-FC62EDFFDBA0}"/>
              </a:ext>
            </a:extLst>
          </p:cNvPr>
          <p:cNvSpPr/>
          <p:nvPr/>
        </p:nvSpPr>
        <p:spPr>
          <a:xfrm>
            <a:off x="969264" y="2176272"/>
            <a:ext cx="804672" cy="182880"/>
          </a:xfrm>
          <a:prstGeom prst="rect">
            <a:avLst/>
          </a:prstGeom>
          <a:solidFill>
            <a:srgbClr val="F7931A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B8929617-C582-5427-5A2B-F0FF77C82DCA}"/>
              </a:ext>
            </a:extLst>
          </p:cNvPr>
          <p:cNvSpPr/>
          <p:nvPr/>
        </p:nvSpPr>
        <p:spPr>
          <a:xfrm>
            <a:off x="969264" y="217627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5137E500-6705-6F12-7005-8386A9E545A8}"/>
              </a:ext>
            </a:extLst>
          </p:cNvPr>
          <p:cNvSpPr/>
          <p:nvPr/>
        </p:nvSpPr>
        <p:spPr>
          <a:xfrm>
            <a:off x="969264" y="23774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transactions are SegWit-native vs. legacy per quarter?</a:t>
            </a:r>
            <a:endParaRPr lang="en-US" sz="98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B752EB35-26A1-BC55-5FBD-AFC8CD0A7947}"/>
              </a:ext>
            </a:extLst>
          </p:cNvPr>
          <p:cNvSpPr/>
          <p:nvPr/>
        </p:nvSpPr>
        <p:spPr>
          <a:xfrm>
            <a:off x="969264" y="263347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DIM_DATE × DIM_TX_TYPE</a:t>
            </a:r>
            <a:endParaRPr lang="en-US" sz="78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80BE2B38-ED1A-E80B-A7C6-A33D53B16112}"/>
              </a:ext>
            </a:extLst>
          </p:cNvPr>
          <p:cNvSpPr/>
          <p:nvPr/>
        </p:nvSpPr>
        <p:spPr>
          <a:xfrm>
            <a:off x="5925312" y="2212848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SegWit adoption growth 2017 → present</a:t>
            </a:r>
            <a:endParaRPr lang="en-US" sz="820" dirty="0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EA6CCF63-1E78-7F6E-854B-78DA6A48F0C5}"/>
              </a:ext>
            </a:extLst>
          </p:cNvPr>
          <p:cNvSpPr/>
          <p:nvPr/>
        </p:nvSpPr>
        <p:spPr>
          <a:xfrm>
            <a:off x="411480" y="2871216"/>
            <a:ext cx="8321040" cy="694944"/>
          </a:xfrm>
          <a:prstGeom prst="rect">
            <a:avLst/>
          </a:prstGeom>
          <a:solidFill>
            <a:srgbClr val="0D1F3C"/>
          </a:solidFill>
          <a:ln w="508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CD2B270F-993F-FE08-F63F-ADF4EBA3B8C0}"/>
              </a:ext>
            </a:extLst>
          </p:cNvPr>
          <p:cNvSpPr/>
          <p:nvPr/>
        </p:nvSpPr>
        <p:spPr>
          <a:xfrm>
            <a:off x="411480" y="2871216"/>
            <a:ext cx="475488" cy="694944"/>
          </a:xfrm>
          <a:prstGeom prst="rect">
            <a:avLst/>
          </a:prstGeom>
          <a:solidFill>
            <a:srgbClr val="5BBFDD">
              <a:alpha val="7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3B8432BF-BD66-3EFC-4664-5122C67982D6}"/>
              </a:ext>
            </a:extLst>
          </p:cNvPr>
          <p:cNvSpPr/>
          <p:nvPr/>
        </p:nvSpPr>
        <p:spPr>
          <a:xfrm>
            <a:off x="411480" y="2871216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00" dirty="0"/>
          </a:p>
        </p:txBody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365783C3-CA17-96F8-86D1-A85E1E076062}"/>
              </a:ext>
            </a:extLst>
          </p:cNvPr>
          <p:cNvSpPr/>
          <p:nvPr/>
        </p:nvSpPr>
        <p:spPr>
          <a:xfrm>
            <a:off x="969264" y="2926080"/>
            <a:ext cx="804672" cy="182880"/>
          </a:xfrm>
          <a:prstGeom prst="rect">
            <a:avLst/>
          </a:prstGeom>
          <a:solidFill>
            <a:srgbClr val="5BBFDD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C128184F-9FD2-28AF-9AFA-008781D6DD50}"/>
              </a:ext>
            </a:extLst>
          </p:cNvPr>
          <p:cNvSpPr/>
          <p:nvPr/>
        </p:nvSpPr>
        <p:spPr>
          <a:xfrm>
            <a:off x="969264" y="292608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65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061E036D-6B62-0E1E-E94B-A2A2B718CEE7}"/>
              </a:ext>
            </a:extLst>
          </p:cNvPr>
          <p:cNvSpPr/>
          <p:nvPr/>
        </p:nvSpPr>
        <p:spPr>
          <a:xfrm>
            <a:off x="969264" y="31272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on-chain TX volumes spike before large BTC price movements?</a:t>
            </a:r>
            <a:endParaRPr lang="en-US" sz="98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77050788-DE31-AF5C-9606-2390D32E5E49}"/>
              </a:ext>
            </a:extLst>
          </p:cNvPr>
          <p:cNvSpPr/>
          <p:nvPr/>
        </p:nvSpPr>
        <p:spPr>
          <a:xfrm>
            <a:off x="969264" y="338328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DIM_DATE × DIM_MARKET × DIM_BLOCK</a:t>
            </a:r>
            <a:endParaRPr lang="en-US" sz="780" dirty="0"/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ACFDCFCE-B695-1572-A0F5-9E923646D267}"/>
              </a:ext>
            </a:extLst>
          </p:cNvPr>
          <p:cNvSpPr/>
          <p:nvPr/>
        </p:nvSpPr>
        <p:spPr>
          <a:xfrm>
            <a:off x="5925312" y="2962656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chart: daily TX volume vs. BTC price overlay</a:t>
            </a:r>
            <a:endParaRPr lang="en-US" sz="82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FB10BEDE-4FFE-C2E9-B47B-CDC375754C5C}"/>
              </a:ext>
            </a:extLst>
          </p:cNvPr>
          <p:cNvSpPr/>
          <p:nvPr/>
        </p:nvSpPr>
        <p:spPr>
          <a:xfrm>
            <a:off x="411480" y="3621024"/>
            <a:ext cx="8321040" cy="694944"/>
          </a:xfrm>
          <a:prstGeom prst="rect">
            <a:avLst/>
          </a:prstGeom>
          <a:solidFill>
            <a:srgbClr val="0A1628"/>
          </a:solidFill>
          <a:ln w="508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28">
            <a:extLst>
              <a:ext uri="{FF2B5EF4-FFF2-40B4-BE49-F238E27FC236}">
                <a16:creationId xmlns:a16="http://schemas.microsoft.com/office/drawing/2014/main" id="{A70FB1C1-D9A1-7C07-532F-65B748058C9E}"/>
              </a:ext>
            </a:extLst>
          </p:cNvPr>
          <p:cNvSpPr/>
          <p:nvPr/>
        </p:nvSpPr>
        <p:spPr>
          <a:xfrm>
            <a:off x="411480" y="3621024"/>
            <a:ext cx="475488" cy="694944"/>
          </a:xfrm>
          <a:prstGeom prst="rect">
            <a:avLst/>
          </a:prstGeom>
          <a:solidFill>
            <a:srgbClr val="5BBFDD">
              <a:alpha val="7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29">
            <a:extLst>
              <a:ext uri="{FF2B5EF4-FFF2-40B4-BE49-F238E27FC236}">
                <a16:creationId xmlns:a16="http://schemas.microsoft.com/office/drawing/2014/main" id="{2220E208-54A5-2D2C-B63D-C6A2FF24F755}"/>
              </a:ext>
            </a:extLst>
          </p:cNvPr>
          <p:cNvSpPr/>
          <p:nvPr/>
        </p:nvSpPr>
        <p:spPr>
          <a:xfrm>
            <a:off x="411480" y="3621024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73" name="Shape 30">
            <a:extLst>
              <a:ext uri="{FF2B5EF4-FFF2-40B4-BE49-F238E27FC236}">
                <a16:creationId xmlns:a16="http://schemas.microsoft.com/office/drawing/2014/main" id="{F0A75C92-FC9E-23AD-C8AF-7CD5B0E4FB0F}"/>
              </a:ext>
            </a:extLst>
          </p:cNvPr>
          <p:cNvSpPr/>
          <p:nvPr/>
        </p:nvSpPr>
        <p:spPr>
          <a:xfrm>
            <a:off x="969264" y="3675888"/>
            <a:ext cx="804672" cy="182880"/>
          </a:xfrm>
          <a:prstGeom prst="rect">
            <a:avLst/>
          </a:prstGeom>
          <a:solidFill>
            <a:srgbClr val="5BBFDD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96C4609F-638D-F8B3-203B-73477AB9785D}"/>
              </a:ext>
            </a:extLst>
          </p:cNvPr>
          <p:cNvSpPr/>
          <p:nvPr/>
        </p:nvSpPr>
        <p:spPr>
          <a:xfrm>
            <a:off x="969264" y="367588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65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3733A853-0194-FCEF-6857-049B6C938E8E}"/>
              </a:ext>
            </a:extLst>
          </p:cNvPr>
          <p:cNvSpPr/>
          <p:nvPr/>
        </p:nvSpPr>
        <p:spPr>
          <a:xfrm>
            <a:off x="969264" y="38770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fee rate distribution during high vs. low Fear &amp; Greed index periods?</a:t>
            </a:r>
            <a:endParaRPr lang="en-US" sz="980" dirty="0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64ED9F21-29F7-BB84-7DBF-814BDD44BF4D}"/>
              </a:ext>
            </a:extLst>
          </p:cNvPr>
          <p:cNvSpPr/>
          <p:nvPr/>
        </p:nvSpPr>
        <p:spPr>
          <a:xfrm>
            <a:off x="969264" y="413308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DIM_MARKET × DIM_TX_TYPE × DIM_DATE</a:t>
            </a:r>
            <a:endParaRPr lang="en-US" sz="780" dirty="0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5A00E08E-D203-1B6D-B0DC-821015E1A4A8}"/>
              </a:ext>
            </a:extLst>
          </p:cNvPr>
          <p:cNvSpPr/>
          <p:nvPr/>
        </p:nvSpPr>
        <p:spPr>
          <a:xfrm>
            <a:off x="5925312" y="3712464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Box-plot / histogram: fee rates bucketed by market sentiment regime</a:t>
            </a:r>
            <a:endParaRPr lang="en-US" sz="820" dirty="0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A06658B6-E325-CAD0-1F26-B57B5E353A39}"/>
              </a:ext>
            </a:extLst>
          </p:cNvPr>
          <p:cNvSpPr/>
          <p:nvPr/>
        </p:nvSpPr>
        <p:spPr>
          <a:xfrm>
            <a:off x="411480" y="4370832"/>
            <a:ext cx="8321040" cy="694944"/>
          </a:xfrm>
          <a:prstGeom prst="rect">
            <a:avLst/>
          </a:prstGeom>
          <a:solidFill>
            <a:srgbClr val="0D1F3C"/>
          </a:solidFill>
          <a:ln w="508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0AED1241-4A17-031A-AB1E-FFB6BA0ED104}"/>
              </a:ext>
            </a:extLst>
          </p:cNvPr>
          <p:cNvSpPr/>
          <p:nvPr/>
        </p:nvSpPr>
        <p:spPr>
          <a:xfrm>
            <a:off x="411480" y="4370832"/>
            <a:ext cx="475488" cy="694944"/>
          </a:xfrm>
          <a:prstGeom prst="rect">
            <a:avLst/>
          </a:prstGeom>
          <a:solidFill>
            <a:srgbClr val="F7931A">
              <a:alpha val="7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37">
            <a:extLst>
              <a:ext uri="{FF2B5EF4-FFF2-40B4-BE49-F238E27FC236}">
                <a16:creationId xmlns:a16="http://schemas.microsoft.com/office/drawing/2014/main" id="{9EB4C2AA-ECC3-15AE-20F2-1430BCDE29DA}"/>
              </a:ext>
            </a:extLst>
          </p:cNvPr>
          <p:cNvSpPr/>
          <p:nvPr/>
        </p:nvSpPr>
        <p:spPr>
          <a:xfrm>
            <a:off x="411480" y="4370832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000" dirty="0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1747CE6C-8E9B-9CAF-9A7E-2A2C49082278}"/>
              </a:ext>
            </a:extLst>
          </p:cNvPr>
          <p:cNvSpPr/>
          <p:nvPr/>
        </p:nvSpPr>
        <p:spPr>
          <a:xfrm>
            <a:off x="969264" y="4425696"/>
            <a:ext cx="804672" cy="182880"/>
          </a:xfrm>
          <a:prstGeom prst="rect">
            <a:avLst/>
          </a:prstGeom>
          <a:solidFill>
            <a:srgbClr val="F7931A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Text 39">
            <a:extLst>
              <a:ext uri="{FF2B5EF4-FFF2-40B4-BE49-F238E27FC236}">
                <a16:creationId xmlns:a16="http://schemas.microsoft.com/office/drawing/2014/main" id="{88483B4F-DB6C-3134-D421-96B66355153B}"/>
              </a:ext>
            </a:extLst>
          </p:cNvPr>
          <p:cNvSpPr/>
          <p:nvPr/>
        </p:nvSpPr>
        <p:spPr>
          <a:xfrm>
            <a:off x="969264" y="442569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43A2BB89-0500-6771-712C-F47CA9AAC2F0}"/>
              </a:ext>
            </a:extLst>
          </p:cNvPr>
          <p:cNvSpPr/>
          <p:nvPr/>
        </p:nvSpPr>
        <p:spPr>
          <a:xfrm>
            <a:off x="969264" y="46268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F4F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total miner revenue (subsidy + fees) change across halving epochs?</a:t>
            </a:r>
            <a:endParaRPr lang="en-US" sz="980" dirty="0"/>
          </a:p>
        </p:txBody>
      </p:sp>
      <p:sp>
        <p:nvSpPr>
          <p:cNvPr id="84" name="Text 41">
            <a:extLst>
              <a:ext uri="{FF2B5EF4-FFF2-40B4-BE49-F238E27FC236}">
                <a16:creationId xmlns:a16="http://schemas.microsoft.com/office/drawing/2014/main" id="{0150445F-1570-781E-B07D-36972D164549}"/>
              </a:ext>
            </a:extLst>
          </p:cNvPr>
          <p:cNvSpPr/>
          <p:nvPr/>
        </p:nvSpPr>
        <p:spPr>
          <a:xfrm>
            <a:off x="969264" y="488289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Dims: DIM_BLOCK × DIM_DATE</a:t>
            </a:r>
            <a:endParaRPr lang="en-US" sz="780" dirty="0"/>
          </a:p>
        </p:txBody>
      </p:sp>
      <p:sp>
        <p:nvSpPr>
          <p:cNvPr id="85" name="Text 42">
            <a:extLst>
              <a:ext uri="{FF2B5EF4-FFF2-40B4-BE49-F238E27FC236}">
                <a16:creationId xmlns:a16="http://schemas.microsoft.com/office/drawing/2014/main" id="{BAB95D3A-BE44-0015-4A16-971C253F42CB}"/>
              </a:ext>
            </a:extLst>
          </p:cNvPr>
          <p:cNvSpPr/>
          <p:nvPr/>
        </p:nvSpPr>
        <p:spPr>
          <a:xfrm>
            <a:off x="5925312" y="4462272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chart: miner revenue trend with halving drop markers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>
            <a:off x="6217920" y="457200"/>
            <a:ext cx="2560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662940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17804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772668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27532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08076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62940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17804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772668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827532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08076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62940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717804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72668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827532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84048" y="5029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ANALYSIS COMPLETE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84048" y="80467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AFD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We've Established</a:t>
            </a:r>
            <a:endParaRPr lang="en-US" sz="3200" dirty="0"/>
          </a:p>
        </p:txBody>
      </p:sp>
      <p:sp>
        <p:nvSpPr>
          <p:cNvPr id="30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3A5C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84048" y="47731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Part 2: </a:t>
            </a:r>
            <a:r>
              <a:rPr lang="en-US" sz="950" dirty="0">
                <a:solidFill>
                  <a:srgbClr val="5B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model design · Logical Data Map (LDM) · ETL planning with SSIS</a:t>
            </a:r>
            <a:endParaRPr lang="en-US" sz="95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AFB293DD-5078-775D-8E77-222DBC793814}"/>
              </a:ext>
            </a:extLst>
          </p:cNvPr>
          <p:cNvSpPr/>
          <p:nvPr/>
        </p:nvSpPr>
        <p:spPr>
          <a:xfrm>
            <a:off x="6080760" y="3200400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9C3C9E63-0081-AAF4-7594-4295DA343DFD}"/>
              </a:ext>
            </a:extLst>
          </p:cNvPr>
          <p:cNvSpPr/>
          <p:nvPr/>
        </p:nvSpPr>
        <p:spPr>
          <a:xfrm>
            <a:off x="6080760" y="3639312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0E3F9C7A-9C84-9D15-E8D1-FACA63ED4F4C}"/>
              </a:ext>
            </a:extLst>
          </p:cNvPr>
          <p:cNvSpPr/>
          <p:nvPr/>
        </p:nvSpPr>
        <p:spPr>
          <a:xfrm>
            <a:off x="6080760" y="4078224"/>
            <a:ext cx="64008" cy="64008"/>
          </a:xfrm>
          <a:prstGeom prst="ellipse">
            <a:avLst/>
          </a:prstGeom>
          <a:solidFill>
            <a:srgbClr val="1E5B8A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53F449C6-E2F5-8FCB-CAC1-D4446AA3CCF8}"/>
              </a:ext>
            </a:extLst>
          </p:cNvPr>
          <p:cNvSpPr/>
          <p:nvPr/>
        </p:nvSpPr>
        <p:spPr>
          <a:xfrm>
            <a:off x="384048" y="168249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Bitcoin blockchain transaction analytics (on-chain + market)</a:t>
            </a:r>
            <a:endParaRPr lang="en-US" sz="10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DB9DD4C1-6C9D-C9F8-9B2B-07E9B28A89BC}"/>
              </a:ext>
            </a:extLst>
          </p:cNvPr>
          <p:cNvSpPr/>
          <p:nvPr/>
        </p:nvSpPr>
        <p:spPr>
          <a:xfrm>
            <a:off x="384048" y="206654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 sources: mempool.space/blockchain.com API + CoinGecko/Alt.me</a:t>
            </a:r>
            <a:endParaRPr lang="en-US" sz="10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E17A96F3-75F7-4210-5CB8-BF930E02ACBF}"/>
              </a:ext>
            </a:extLst>
          </p:cNvPr>
          <p:cNvSpPr/>
          <p:nvPr/>
        </p:nvSpPr>
        <p:spPr>
          <a:xfrm>
            <a:off x="384048" y="245059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user profiles: Blockchain Analyst &amp; Exchange Trader/Operator</a:t>
            </a:r>
            <a:endParaRPr lang="en-US" sz="10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9CFCE9F4-5592-BCD3-031B-21E1B7CFDB38}"/>
              </a:ext>
            </a:extLst>
          </p:cNvPr>
          <p:cNvSpPr/>
          <p:nvPr/>
        </p:nvSpPr>
        <p:spPr>
          <a:xfrm>
            <a:off x="384048" y="283464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process: confirmed Bitcoin transaction settlement</a:t>
            </a:r>
            <a:endParaRPr lang="en-US" sz="10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339D7F3F-7B95-BFB5-3B81-99CBDE0A6BFE}"/>
              </a:ext>
            </a:extLst>
          </p:cNvPr>
          <p:cNvSpPr/>
          <p:nvPr/>
        </p:nvSpPr>
        <p:spPr>
          <a:xfrm>
            <a:off x="384048" y="321868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dimensions: DIM_DATE, DIM_BLOCK, DIM_TX_TYPE, DIM_MARKET (categorical regime)</a:t>
            </a:r>
            <a:endParaRPr lang="en-US" sz="10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5AB59FDE-D820-42E5-B1C5-D6BE31A3DBF0}"/>
              </a:ext>
            </a:extLst>
          </p:cNvPr>
          <p:cNvSpPr/>
          <p:nvPr/>
        </p:nvSpPr>
        <p:spPr>
          <a:xfrm>
            <a:off x="384048" y="360273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attributes per dimension - exceeds minimum requirement</a:t>
            </a:r>
            <a:endParaRPr lang="en-US" sz="10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8A187159-BFE5-DE70-54D8-81F550735CBE}"/>
              </a:ext>
            </a:extLst>
          </p:cNvPr>
          <p:cNvSpPr/>
          <p:nvPr/>
        </p:nvSpPr>
        <p:spPr>
          <a:xfrm>
            <a:off x="384048" y="398678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measures: fee, fee rate, input/output value, TX size, weight + BTC price (OHLC), volume, market cap, Fear &amp; Greed score, NVT ratio</a:t>
            </a:r>
            <a:endParaRPr lang="en-US" sz="1000" dirty="0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7A10B63E-A39D-D5EE-B2D8-AFF8A1141320}"/>
              </a:ext>
            </a:extLst>
          </p:cNvPr>
          <p:cNvSpPr/>
          <p:nvPr/>
        </p:nvSpPr>
        <p:spPr>
          <a:xfrm>
            <a:off x="384048" y="437083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OLAP user needs mapped to expected visualisations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739F9740-336D-8FE2-D69D-5BA3EF88187E}"/>
              </a:ext>
            </a:extLst>
          </p:cNvPr>
          <p:cNvSpPr/>
          <p:nvPr/>
        </p:nvSpPr>
        <p:spPr>
          <a:xfrm>
            <a:off x="5989320" y="82296"/>
            <a:ext cx="2926080" cy="274320"/>
          </a:xfrm>
          <a:prstGeom prst="rect">
            <a:avLst/>
          </a:prstGeom>
          <a:solidFill>
            <a:srgbClr val="F7931A">
              <a:alpha val="18000"/>
            </a:srgbClr>
          </a:solidFill>
          <a:ln w="12700">
            <a:solidFill>
              <a:srgbClr val="F793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9CDE7E7E-BDB6-21AD-CCE1-BF5F96E28498}"/>
              </a:ext>
            </a:extLst>
          </p:cNvPr>
          <p:cNvSpPr/>
          <p:nvPr/>
        </p:nvSpPr>
        <p:spPr>
          <a:xfrm>
            <a:off x="5989320" y="82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7931A"/>
                </a:solidFill>
              </a:rPr>
              <a:t>Álvaro Puebla Ruisánchez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2823</Words>
  <Application>Microsoft Office PowerPoint</Application>
  <PresentationFormat>Presentación en pantalla (16:9)</PresentationFormat>
  <Paragraphs>375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Palatino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Blockchain Analytics — Part 1: Analysis</dc:title>
  <dc:subject>PptxGenJS Presentation</dc:subject>
  <dc:creator>BTC Blockchain Analytics — Data Warehouses 25/26</dc:creator>
  <cp:lastModifiedBy>Alvaro Puebla Ruisanchez (293867)</cp:lastModifiedBy>
  <cp:revision>51</cp:revision>
  <dcterms:created xsi:type="dcterms:W3CDTF">2026-04-02T15:56:35Z</dcterms:created>
  <dcterms:modified xsi:type="dcterms:W3CDTF">2026-04-13T18:44:43Z</dcterms:modified>
</cp:coreProperties>
</file>