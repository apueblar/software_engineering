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0" r:id="rId6"/>
    <p:sldId id="271" r:id="rId7"/>
    <p:sldId id="272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D60D0-0103-45AE-B340-1177604966BF}" v="172" dt="2026-04-12T19:56:20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Puebla Ruisanchez (293867)" userId="b7cd6ab6-de77-4593-879a-7a51426a2040" providerId="ADAL" clId="{5B1E6D65-D405-4422-977C-BE8C0616D98C}"/>
    <pc:docChg chg="undo custSel modSld sldOrd">
      <pc:chgData name="Alvaro Puebla Ruisanchez (293867)" userId="b7cd6ab6-de77-4593-879a-7a51426a2040" providerId="ADAL" clId="{5B1E6D65-D405-4422-977C-BE8C0616D98C}" dt="2026-04-13T18:22:36.353" v="649" actId="14100"/>
      <pc:docMkLst>
        <pc:docMk/>
      </pc:docMkLst>
      <pc:sldChg chg="modSp mod">
        <pc:chgData name="Alvaro Puebla Ruisanchez (293867)" userId="b7cd6ab6-de77-4593-879a-7a51426a2040" providerId="ADAL" clId="{5B1E6D65-D405-4422-977C-BE8C0616D98C}" dt="2026-03-27T13:09:57.228" v="119" actId="14100"/>
        <pc:sldMkLst>
          <pc:docMk/>
          <pc:sldMk cId="0" sldId="256"/>
        </pc:sldMkLst>
        <pc:spChg chg="mod">
          <ac:chgData name="Alvaro Puebla Ruisanchez (293867)" userId="b7cd6ab6-de77-4593-879a-7a51426a2040" providerId="ADAL" clId="{5B1E6D65-D405-4422-977C-BE8C0616D98C}" dt="2026-03-27T13:09:57.228" v="119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3:39.938" v="75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4-13T18:21:14.158" v="645" actId="113"/>
        <pc:sldMkLst>
          <pc:docMk/>
          <pc:sldMk cId="0" sldId="257"/>
        </pc:sldMkLst>
        <pc:spChg chg="mod">
          <ac:chgData name="Alvaro Puebla Ruisanchez (293867)" userId="b7cd6ab6-de77-4593-879a-7a51426a2040" providerId="ADAL" clId="{5B1E6D65-D405-4422-977C-BE8C0616D98C}" dt="2026-04-13T18:15:28.774" v="601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21:14.158" v="645" actId="113"/>
          <ac:spMkLst>
            <pc:docMk/>
            <pc:sldMk cId="0" sldId="257"/>
            <ac:spMk id="6" creationId="{00000000-0000-0000-0000-000000000000}"/>
          </ac:spMkLst>
        </pc:spChg>
      </pc:sldChg>
      <pc:sldChg chg="modSp mod modNotes">
        <pc:chgData name="Alvaro Puebla Ruisanchez (293867)" userId="b7cd6ab6-de77-4593-879a-7a51426a2040" providerId="ADAL" clId="{5B1E6D65-D405-4422-977C-BE8C0616D98C}" dt="2026-04-13T18:15:20.452" v="595" actId="6549"/>
        <pc:sldMkLst>
          <pc:docMk/>
          <pc:sldMk cId="0" sldId="258"/>
        </pc:sldMkLst>
        <pc:spChg chg="mod">
          <ac:chgData name="Alvaro Puebla Ruisanchez (293867)" userId="b7cd6ab6-de77-4593-879a-7a51426a2040" providerId="ADAL" clId="{5B1E6D65-D405-4422-977C-BE8C0616D98C}" dt="2026-03-27T13:04:57.768" v="79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15:20.452" v="59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8:27:43.292" v="230" actId="122"/>
          <ac:spMkLst>
            <pc:docMk/>
            <pc:sldMk cId="0" sldId="258"/>
            <ac:spMk id="5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4:14.313" v="77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8:28:26.637" v="232" actId="33524"/>
          <ac:spMkLst>
            <pc:docMk/>
            <pc:sldMk cId="0" sldId="258"/>
            <ac:spMk id="25" creationId="{00000000-0000-0000-0000-000000000000}"/>
          </ac:spMkLst>
        </pc:spChg>
      </pc:sldChg>
      <pc:sldChg chg="modSp">
        <pc:chgData name="Alvaro Puebla Ruisanchez (293867)" userId="b7cd6ab6-de77-4593-879a-7a51426a2040" providerId="ADAL" clId="{5B1E6D65-D405-4422-977C-BE8C0616D98C}" dt="2026-03-27T13:05:36.585" v="81"/>
        <pc:sldMkLst>
          <pc:docMk/>
          <pc:sldMk cId="0" sldId="259"/>
        </pc:sldMkLst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59"/>
            <ac:spMk id="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59"/>
            <ac:spMk id="18" creationId="{00000000-0000-0000-0000-000000000000}"/>
          </ac:spMkLst>
        </pc:spChg>
      </pc:sldChg>
      <pc:sldChg chg="modSp">
        <pc:chgData name="Alvaro Puebla Ruisanchez (293867)" userId="b7cd6ab6-de77-4593-879a-7a51426a2040" providerId="ADAL" clId="{5B1E6D65-D405-4422-977C-BE8C0616D98C}" dt="2026-03-27T13:05:36.585" v="81"/>
        <pc:sldMkLst>
          <pc:docMk/>
          <pc:sldMk cId="0" sldId="260"/>
        </pc:sldMkLst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0"/>
            <ac:spMk id="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0"/>
            <ac:spMk id="23" creationId="{00000000-0000-0000-0000-000000000000}"/>
          </ac:spMkLst>
        </pc:spChg>
      </pc:sldChg>
      <pc:sldChg chg="modSp mod modNotes modNotesTx">
        <pc:chgData name="Alvaro Puebla Ruisanchez (293867)" userId="b7cd6ab6-de77-4593-879a-7a51426a2040" providerId="ADAL" clId="{5B1E6D65-D405-4422-977C-BE8C0616D98C}" dt="2026-04-12T19:52:33.479" v="544" actId="113"/>
        <pc:sldMkLst>
          <pc:docMk/>
          <pc:sldMk cId="0" sldId="261"/>
        </pc:sldMkLst>
        <pc:graphicFrameChg chg="mod modGraphic">
          <ac:chgData name="Alvaro Puebla Ruisanchez (293867)" userId="b7cd6ab6-de77-4593-879a-7a51426a2040" providerId="ADAL" clId="{5B1E6D65-D405-4422-977C-BE8C0616D98C}" dt="2026-04-08T20:42:41.085" v="121" actId="14100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Notes modNotesTx">
        <pc:chgData name="Alvaro Puebla Ruisanchez (293867)" userId="b7cd6ab6-de77-4593-879a-7a51426a2040" providerId="ADAL" clId="{5B1E6D65-D405-4422-977C-BE8C0616D98C}" dt="2026-04-12T19:53:16.207" v="548" actId="113"/>
        <pc:sldMkLst>
          <pc:docMk/>
          <pc:sldMk cId="0" sldId="262"/>
        </pc:sldMkLst>
      </pc:sldChg>
      <pc:sldChg chg="modSp mod modNotes modNotesTx">
        <pc:chgData name="Alvaro Puebla Ruisanchez (293867)" userId="b7cd6ab6-de77-4593-879a-7a51426a2040" providerId="ADAL" clId="{5B1E6D65-D405-4422-977C-BE8C0616D98C}" dt="2026-04-13T18:20:16.516" v="629" actId="20577"/>
        <pc:sldMkLst>
          <pc:docMk/>
          <pc:sldMk cId="0" sldId="263"/>
        </pc:sldMkLst>
        <pc:spChg chg="mod">
          <ac:chgData name="Alvaro Puebla Ruisanchez (293867)" userId="b7cd6ab6-de77-4593-879a-7a51426a2040" providerId="ADAL" clId="{5B1E6D65-D405-4422-977C-BE8C0616D98C}" dt="2026-04-13T18:20:16.516" v="629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19:10.207" v="614" actId="14100"/>
          <ac:spMkLst>
            <pc:docMk/>
            <pc:sldMk cId="0" sldId="263"/>
            <ac:spMk id="7" creationId="{00000000-0000-0000-0000-000000000000}"/>
          </ac:spMkLst>
        </pc:spChg>
      </pc:sldChg>
      <pc:sldChg chg="modSp mod modNotesTx">
        <pc:chgData name="Alvaro Puebla Ruisanchez (293867)" userId="b7cd6ab6-de77-4593-879a-7a51426a2040" providerId="ADAL" clId="{5B1E6D65-D405-4422-977C-BE8C0616D98C}" dt="2026-04-13T18:22:04.622" v="648" actId="113"/>
        <pc:sldMkLst>
          <pc:docMk/>
          <pc:sldMk cId="0" sldId="264"/>
        </pc:sldMkLst>
        <pc:spChg chg="mod">
          <ac:chgData name="Alvaro Puebla Ruisanchez (293867)" userId="b7cd6ab6-de77-4593-879a-7a51426a2040" providerId="ADAL" clId="{5B1E6D65-D405-4422-977C-BE8C0616D98C}" dt="2026-04-13T18:20:23.679" v="631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22:04.622" v="648" actId="113"/>
          <ac:spMkLst>
            <pc:docMk/>
            <pc:sldMk cId="0" sldId="264"/>
            <ac:spMk id="5" creationId="{00000000-0000-0000-0000-000000000000}"/>
          </ac:spMkLst>
        </pc:spChg>
        <pc:graphicFrameChg chg="mod modGraphic">
          <ac:chgData name="Alvaro Puebla Ruisanchez (293867)" userId="b7cd6ab6-de77-4593-879a-7a51426a2040" providerId="ADAL" clId="{5B1E6D65-D405-4422-977C-BE8C0616D98C}" dt="2026-04-12T19:42:03.365" v="436" actId="20577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 modNotes modNotesTx">
        <pc:chgData name="Alvaro Puebla Ruisanchez (293867)" userId="b7cd6ab6-de77-4593-879a-7a51426a2040" providerId="ADAL" clId="{5B1E6D65-D405-4422-977C-BE8C0616D98C}" dt="2026-04-13T18:20:27.838" v="633" actId="20577"/>
        <pc:sldMkLst>
          <pc:docMk/>
          <pc:sldMk cId="0" sldId="265"/>
        </pc:sldMkLst>
        <pc:spChg chg="mod">
          <ac:chgData name="Alvaro Puebla Ruisanchez (293867)" userId="b7cd6ab6-de77-4593-879a-7a51426a2040" providerId="ADAL" clId="{5B1E6D65-D405-4422-977C-BE8C0616D98C}" dt="2026-04-13T18:20:27.838" v="633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8T20:43:51.907" v="135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8T20:43:22.544" v="122" actId="1410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5"/>
            <ac:spMk id="29" creationId="{00000000-0000-0000-0000-000000000000}"/>
          </ac:spMkLst>
        </pc:spChg>
      </pc:sldChg>
      <pc:sldChg chg="modSp mod modNotes">
        <pc:chgData name="Alvaro Puebla Ruisanchez (293867)" userId="b7cd6ab6-de77-4593-879a-7a51426a2040" providerId="ADAL" clId="{5B1E6D65-D405-4422-977C-BE8C0616D98C}" dt="2026-04-13T18:20:31.323" v="635" actId="20577"/>
        <pc:sldMkLst>
          <pc:docMk/>
          <pc:sldMk cId="0" sldId="266"/>
        </pc:sldMkLst>
        <pc:spChg chg="mod">
          <ac:chgData name="Alvaro Puebla Ruisanchez (293867)" userId="b7cd6ab6-de77-4593-879a-7a51426a2040" providerId="ADAL" clId="{5B1E6D65-D405-4422-977C-BE8C0616D98C}" dt="2026-04-13T18:20:31.323" v="635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8T20:46:40.526" v="194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6:10.913" v="89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6"/>
            <ac:spMk id="9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9T05:52:00.116" v="228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9T05:51:48.184" v="22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6:26.449" v="99" actId="6549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8:34:17.612" v="270" actId="11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6:23.263" v="97" actId="6549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6:20.710" v="95" actId="6549"/>
          <ac:spMkLst>
            <pc:docMk/>
            <pc:sldMk cId="0" sldId="266"/>
            <ac:spMk id="2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6:17.879" v="93" actId="6549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6:14.332" v="91" actId="20577"/>
          <ac:spMkLst>
            <pc:docMk/>
            <pc:sldMk cId="0" sldId="266"/>
            <ac:spMk id="32" creationId="{00000000-0000-0000-0000-000000000000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4-13T18:22:36.353" v="649" actId="14100"/>
        <pc:sldMkLst>
          <pc:docMk/>
          <pc:sldMk cId="0" sldId="267"/>
        </pc:sldMkLst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7"/>
            <ac:spMk id="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20:39.003" v="637" actId="6549"/>
          <ac:spMkLst>
            <pc:docMk/>
            <pc:sldMk cId="0" sldId="267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8T20:47:40.333" v="223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8:36:47.496" v="333" actId="33524"/>
          <ac:spMkLst>
            <pc:docMk/>
            <pc:sldMk cId="0" sldId="267"/>
            <ac:spMk id="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8:37:04.909" v="334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22:36.353" v="649" actId="1410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7"/>
            <ac:spMk id="16" creationId="{00000000-0000-0000-0000-000000000000}"/>
          </ac:spMkLst>
        </pc:spChg>
        <pc:graphicFrameChg chg="mod">
          <ac:chgData name="Alvaro Puebla Ruisanchez (293867)" userId="b7cd6ab6-de77-4593-879a-7a51426a2040" providerId="ADAL" clId="{5B1E6D65-D405-4422-977C-BE8C0616D98C}" dt="2026-03-27T13:07:19.866" v="102" actId="1076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delSp modSp mod">
        <pc:chgData name="Alvaro Puebla Ruisanchez (293867)" userId="b7cd6ab6-de77-4593-879a-7a51426a2040" providerId="ADAL" clId="{5B1E6D65-D405-4422-977C-BE8C0616D98C}" dt="2026-04-13T18:20:42.691" v="639" actId="20577"/>
        <pc:sldMkLst>
          <pc:docMk/>
          <pc:sldMk cId="0" sldId="268"/>
        </pc:sldMkLst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8"/>
            <ac:spMk id="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20:42.691" v="639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2T18:37:32.091" v="344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8"/>
            <ac:spMk id="1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8:11.843" v="106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8:11.843" v="106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8:11.843" v="106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8:11.843" v="106" actId="1076"/>
          <ac:spMkLst>
            <pc:docMk/>
            <pc:sldMk cId="0" sldId="268"/>
            <ac:spMk id="25" creationId="{00000000-0000-0000-0000-000000000000}"/>
          </ac:spMkLst>
        </pc:spChg>
      </pc:sldChg>
      <pc:sldChg chg="modSp mod modNotes">
        <pc:chgData name="Alvaro Puebla Ruisanchez (293867)" userId="b7cd6ab6-de77-4593-879a-7a51426a2040" providerId="ADAL" clId="{5B1E6D65-D405-4422-977C-BE8C0616D98C}" dt="2026-04-13T18:20:46.787" v="641" actId="20577"/>
        <pc:sldMkLst>
          <pc:docMk/>
          <pc:sldMk cId="0" sldId="269"/>
        </pc:sldMkLst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9"/>
            <ac:spMk id="3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13T18:20:46.787" v="641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4-08T20:47:20.956" v="219" actId="6549"/>
          <ac:spMkLst>
            <pc:docMk/>
            <pc:sldMk cId="0" sldId="269"/>
            <ac:spMk id="6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9"/>
            <ac:spMk id="8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lvaro Puebla Ruisanchez (293867)" userId="b7cd6ab6-de77-4593-879a-7a51426a2040" providerId="ADAL" clId="{5B1E6D65-D405-4422-977C-BE8C0616D98C}" dt="2026-03-27T13:05:36.585" v="81"/>
          <ac:spMkLst>
            <pc:docMk/>
            <pc:sldMk cId="0" sldId="269"/>
            <ac:spMk id="15" creationId="{00000000-0000-0000-0000-000000000000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4-13T18:15:37.458" v="603" actId="6549"/>
        <pc:sldMkLst>
          <pc:docMk/>
          <pc:sldMk cId="2342214186" sldId="271"/>
        </pc:sldMkLst>
        <pc:spChg chg="mod">
          <ac:chgData name="Alvaro Puebla Ruisanchez (293867)" userId="b7cd6ab6-de77-4593-879a-7a51426a2040" providerId="ADAL" clId="{5B1E6D65-D405-4422-977C-BE8C0616D98C}" dt="2026-04-13T18:15:37.458" v="603" actId="6549"/>
          <ac:spMkLst>
            <pc:docMk/>
            <pc:sldMk cId="2342214186" sldId="271"/>
            <ac:spMk id="4" creationId="{265A3C2A-F4F3-56D8-31DB-3ABC2FF1E5D9}"/>
          </ac:spMkLst>
        </pc:spChg>
      </pc:sldChg>
      <pc:sldChg chg="modSp mod">
        <pc:chgData name="Alvaro Puebla Ruisanchez (293867)" userId="b7cd6ab6-de77-4593-879a-7a51426a2040" providerId="ADAL" clId="{5B1E6D65-D405-4422-977C-BE8C0616D98C}" dt="2026-04-13T18:15:42.355" v="605" actId="6549"/>
        <pc:sldMkLst>
          <pc:docMk/>
          <pc:sldMk cId="2936248768" sldId="272"/>
        </pc:sldMkLst>
        <pc:spChg chg="mod">
          <ac:chgData name="Alvaro Puebla Ruisanchez (293867)" userId="b7cd6ab6-de77-4593-879a-7a51426a2040" providerId="ADAL" clId="{5B1E6D65-D405-4422-977C-BE8C0616D98C}" dt="2026-04-13T18:15:42.355" v="605" actId="6549"/>
          <ac:spMkLst>
            <pc:docMk/>
            <pc:sldMk cId="2936248768" sldId="272"/>
            <ac:spMk id="4" creationId="{43DF58D3-A456-C8A7-86FB-31E47CE12511}"/>
          </ac:spMkLst>
        </pc:spChg>
      </pc:sldChg>
      <pc:sldChg chg="modNotesTx">
        <pc:chgData name="Alvaro Puebla Ruisanchez (293867)" userId="b7cd6ab6-de77-4593-879a-7a51426a2040" providerId="ADAL" clId="{5B1E6D65-D405-4422-977C-BE8C0616D98C}" dt="2026-04-12T19:51:32.233" v="537" actId="113"/>
        <pc:sldMkLst>
          <pc:docMk/>
          <pc:sldMk cId="2809857428" sldId="273"/>
        </pc:sldMkLst>
      </pc:sldChg>
    </pc:docChg>
  </pc:docChgLst>
  <pc:docChgLst>
    <pc:chgData name="Jose Daniel Moya Moreno (293922)" userId="S::293922@student.pwr.edu.pl::78641f8e-f911-4eba-8aa7-15e04bc9483f" providerId="AD" clId="Web-{0B0C86E3-2DF4-8891-156F-CFDCED4194D8}"/>
    <pc:docChg chg="addSld delSld modSld sldOrd">
      <pc:chgData name="Jose Daniel Moya Moreno (293922)" userId="S::293922@student.pwr.edu.pl::78641f8e-f911-4eba-8aa7-15e04bc9483f" providerId="AD" clId="Web-{0B0C86E3-2DF4-8891-156F-CFDCED4194D8}" dt="2026-04-10T11:18:40.235" v="1087"/>
      <pc:docMkLst>
        <pc:docMk/>
      </pc:docMkLst>
      <pc:sldChg chg="modSp modNotes">
        <pc:chgData name="Jose Daniel Moya Moreno (293922)" userId="S::293922@student.pwr.edu.pl::78641f8e-f911-4eba-8aa7-15e04bc9483f" providerId="AD" clId="Web-{0B0C86E3-2DF4-8891-156F-CFDCED4194D8}" dt="2026-04-10T10:16:08.133" v="266" actId="20577"/>
        <pc:sldMkLst>
          <pc:docMk/>
          <pc:sldMk cId="0" sldId="256"/>
        </pc:sldMkLst>
        <pc:spChg chg="mod">
          <ac:chgData name="Jose Daniel Moya Moreno (293922)" userId="S::293922@student.pwr.edu.pl::78641f8e-f911-4eba-8aa7-15e04bc9483f" providerId="AD" clId="Web-{0B0C86E3-2DF4-8891-156F-CFDCED4194D8}" dt="2026-04-10T10:16:08.133" v="266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Notes">
        <pc:chgData name="Jose Daniel Moya Moreno (293922)" userId="S::293922@student.pwr.edu.pl::78641f8e-f911-4eba-8aa7-15e04bc9483f" providerId="AD" clId="Web-{0B0C86E3-2DF4-8891-156F-CFDCED4194D8}" dt="2026-04-10T11:10:32.149" v="995"/>
        <pc:sldMkLst>
          <pc:docMk/>
          <pc:sldMk cId="0" sldId="257"/>
        </pc:sldMkLst>
        <pc:spChg chg="mod">
          <ac:chgData name="Jose Daniel Moya Moreno (293922)" userId="S::293922@student.pwr.edu.pl::78641f8e-f911-4eba-8aa7-15e04bc9483f" providerId="AD" clId="Web-{0B0C86E3-2DF4-8891-156F-CFDCED4194D8}" dt="2026-04-10T10:58:52.591" v="820" actId="20577"/>
          <ac:spMkLst>
            <pc:docMk/>
            <pc:sldMk cId="0" sldId="257"/>
            <ac:spMk id="6" creationId="{00000000-0000-0000-0000-000000000000}"/>
          </ac:spMkLst>
        </pc:spChg>
      </pc:sldChg>
      <pc:sldChg chg="addSp delSp modSp ord addAnim modNotes">
        <pc:chgData name="Jose Daniel Moya Moreno (293922)" userId="S::293922@student.pwr.edu.pl::78641f8e-f911-4eba-8aa7-15e04bc9483f" providerId="AD" clId="Web-{0B0C86E3-2DF4-8891-156F-CFDCED4194D8}" dt="2026-04-10T10:58:19.058" v="805"/>
        <pc:sldMkLst>
          <pc:docMk/>
          <pc:sldMk cId="0" sldId="258"/>
        </pc:sldMkLst>
        <pc:spChg chg="mod">
          <ac:chgData name="Jose Daniel Moya Moreno (293922)" userId="S::293922@student.pwr.edu.pl::78641f8e-f911-4eba-8aa7-15e04bc9483f" providerId="AD" clId="Web-{0B0C86E3-2DF4-8891-156F-CFDCED4194D8}" dt="2026-04-10T10:36:29.950" v="440" actId="14100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Jose Daniel Moya Moreno (293922)" userId="S::293922@student.pwr.edu.pl::78641f8e-f911-4eba-8aa7-15e04bc9483f" providerId="AD" clId="Web-{0B0C86E3-2DF4-8891-156F-CFDCED4194D8}" dt="2026-04-10T10:39:52.916" v="529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342" v="734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357" v="73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373" v="736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389" v="73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389" v="738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404" v="739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4:34.296" v="761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436" v="741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451" v="742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467" v="74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6:28.131" v="786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482" v="745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1:27.498" v="746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0B0C86E3-2DF4-8891-156F-CFDCED4194D8}" dt="2026-04-10T10:56:23.959" v="785" actId="1076"/>
          <ac:spMkLst>
            <pc:docMk/>
            <pc:sldMk cId="0" sldId="258"/>
            <ac:spMk id="25" creationId="{00000000-0000-0000-0000-000000000000}"/>
          </ac:spMkLst>
        </pc:spChg>
        <pc:spChg chg="add mod ord">
          <ac:chgData name="Jose Daniel Moya Moreno (293922)" userId="S::293922@student.pwr.edu.pl::78641f8e-f911-4eba-8aa7-15e04bc9483f" providerId="AD" clId="Web-{0B0C86E3-2DF4-8891-156F-CFDCED4194D8}" dt="2026-04-10T10:51:27.311" v="732" actId="1076"/>
          <ac:spMkLst>
            <pc:docMk/>
            <pc:sldMk cId="0" sldId="258"/>
            <ac:spMk id="26" creationId="{038F6BDB-E9B5-ED27-3201-20B54595409F}"/>
          </ac:spMkLst>
        </pc:spChg>
        <pc:spChg chg="add mod ord">
          <ac:chgData name="Jose Daniel Moya Moreno (293922)" userId="S::293922@student.pwr.edu.pl::78641f8e-f911-4eba-8aa7-15e04bc9483f" providerId="AD" clId="Web-{0B0C86E3-2DF4-8891-156F-CFDCED4194D8}" dt="2026-04-10T10:51:27.326" v="733" actId="1076"/>
          <ac:spMkLst>
            <pc:docMk/>
            <pc:sldMk cId="0" sldId="258"/>
            <ac:spMk id="27" creationId="{8272F43E-A3AE-63E9-359F-BE7766059ACD}"/>
          </ac:spMkLst>
        </pc:spChg>
        <pc:spChg chg="add mod">
          <ac:chgData name="Jose Daniel Moya Moreno (293922)" userId="S::293922@student.pwr.edu.pl::78641f8e-f911-4eba-8aa7-15e04bc9483f" providerId="AD" clId="Web-{0B0C86E3-2DF4-8891-156F-CFDCED4194D8}" dt="2026-04-10T10:51:31.999" v="749" actId="1076"/>
          <ac:spMkLst>
            <pc:docMk/>
            <pc:sldMk cId="0" sldId="258"/>
            <ac:spMk id="31" creationId="{FFA68D57-E544-6608-BE60-79097E66857A}"/>
          </ac:spMkLst>
        </pc:spChg>
        <pc:grpChg chg="add mod">
          <ac:chgData name="Jose Daniel Moya Moreno (293922)" userId="S::293922@student.pwr.edu.pl::78641f8e-f911-4eba-8aa7-15e04bc9483f" providerId="AD" clId="Web-{0B0C86E3-2DF4-8891-156F-CFDCED4194D8}" dt="2026-04-10T10:51:29.076" v="748" actId="1076"/>
          <ac:grpSpMkLst>
            <pc:docMk/>
            <pc:sldMk cId="0" sldId="258"/>
            <ac:grpSpMk id="29" creationId="{43E54309-ECD5-E7A8-9540-339B56B900AE}"/>
          </ac:grpSpMkLst>
        </pc:grpChg>
        <pc:picChg chg="add mod">
          <ac:chgData name="Jose Daniel Moya Moreno (293922)" userId="S::293922@student.pwr.edu.pl::78641f8e-f911-4eba-8aa7-15e04bc9483f" providerId="AD" clId="Web-{0B0C86E3-2DF4-8891-156F-CFDCED4194D8}" dt="2026-04-10T10:37:10.766" v="467" actId="1076"/>
          <ac:picMkLst>
            <pc:docMk/>
            <pc:sldMk cId="0" sldId="258"/>
            <ac:picMk id="28" creationId="{32BF410C-A2BF-8A9B-4D8A-F6BBC140659B}"/>
          </ac:picMkLst>
        </pc:picChg>
      </pc:sldChg>
      <pc:sldChg chg="modNotes">
        <pc:chgData name="Jose Daniel Moya Moreno (293922)" userId="S::293922@student.pwr.edu.pl::78641f8e-f911-4eba-8aa7-15e04bc9483f" providerId="AD" clId="Web-{0B0C86E3-2DF4-8891-156F-CFDCED4194D8}" dt="2026-04-10T11:18:40.235" v="1087"/>
        <pc:sldMkLst>
          <pc:docMk/>
          <pc:sldMk cId="0" sldId="259"/>
        </pc:sldMkLst>
      </pc:sldChg>
      <pc:sldChg chg="modNotes">
        <pc:chgData name="Jose Daniel Moya Moreno (293922)" userId="S::293922@student.pwr.edu.pl::78641f8e-f911-4eba-8aa7-15e04bc9483f" providerId="AD" clId="Web-{0B0C86E3-2DF4-8891-156F-CFDCED4194D8}" dt="2026-04-09T11:46:41.835" v="140"/>
        <pc:sldMkLst>
          <pc:docMk/>
          <pc:sldMk cId="0" sldId="260"/>
        </pc:sldMkLst>
      </pc:sldChg>
      <pc:sldChg chg="modNotes">
        <pc:chgData name="Jose Daniel Moya Moreno (293922)" userId="S::293922@student.pwr.edu.pl::78641f8e-f911-4eba-8aa7-15e04bc9483f" providerId="AD" clId="Web-{0B0C86E3-2DF4-8891-156F-CFDCED4194D8}" dt="2026-04-09T11:50:09.693" v="141"/>
        <pc:sldMkLst>
          <pc:docMk/>
          <pc:sldMk cId="0" sldId="261"/>
        </pc:sldMkLst>
      </pc:sldChg>
      <pc:sldChg chg="modNotes">
        <pc:chgData name="Jose Daniel Moya Moreno (293922)" userId="S::293922@student.pwr.edu.pl::78641f8e-f911-4eba-8aa7-15e04bc9483f" providerId="AD" clId="Web-{0B0C86E3-2DF4-8891-156F-CFDCED4194D8}" dt="2026-04-09T11:50:48.527" v="143"/>
        <pc:sldMkLst>
          <pc:docMk/>
          <pc:sldMk cId="0" sldId="262"/>
        </pc:sldMkLst>
      </pc:sldChg>
      <pc:sldChg chg="modNotes">
        <pc:chgData name="Jose Daniel Moya Moreno (293922)" userId="S::293922@student.pwr.edu.pl::78641f8e-f911-4eba-8aa7-15e04bc9483f" providerId="AD" clId="Web-{0B0C86E3-2DF4-8891-156F-CFDCED4194D8}" dt="2026-04-09T11:51:16.187" v="144"/>
        <pc:sldMkLst>
          <pc:docMk/>
          <pc:sldMk cId="0" sldId="263"/>
        </pc:sldMkLst>
      </pc:sldChg>
      <pc:sldChg chg="modNotes">
        <pc:chgData name="Jose Daniel Moya Moreno (293922)" userId="S::293922@student.pwr.edu.pl::78641f8e-f911-4eba-8aa7-15e04bc9483f" providerId="AD" clId="Web-{0B0C86E3-2DF4-8891-156F-CFDCED4194D8}" dt="2026-04-09T11:51:45.440" v="145"/>
        <pc:sldMkLst>
          <pc:docMk/>
          <pc:sldMk cId="0" sldId="264"/>
        </pc:sldMkLst>
      </pc:sldChg>
    </pc:docChg>
  </pc:docChgLst>
  <pc:docChgLst>
    <pc:chgData name="Jose Daniel Moya Moreno (293922)" userId="S::293922@student.pwr.edu.pl::78641f8e-f911-4eba-8aa7-15e04bc9483f" providerId="AD" clId="Web-{FA23F0CB-702A-A369-1C65-D6E6073EB46B}"/>
    <pc:docChg chg="addSld delSld modSld sldOrd">
      <pc:chgData name="Jose Daniel Moya Moreno (293922)" userId="S::293922@student.pwr.edu.pl::78641f8e-f911-4eba-8aa7-15e04bc9483f" providerId="AD" clId="Web-{FA23F0CB-702A-A369-1C65-D6E6073EB46B}" dt="2026-04-11T11:18:14.277" v="1124"/>
      <pc:docMkLst>
        <pc:docMk/>
      </pc:docMkLst>
      <pc:sldChg chg="modNotes">
        <pc:chgData name="Jose Daniel Moya Moreno (293922)" userId="S::293922@student.pwr.edu.pl::78641f8e-f911-4eba-8aa7-15e04bc9483f" providerId="AD" clId="Web-{FA23F0CB-702A-A369-1C65-D6E6073EB46B}" dt="2026-04-11T10:06:42.070" v="14"/>
        <pc:sldMkLst>
          <pc:docMk/>
          <pc:sldMk cId="0" sldId="256"/>
        </pc:sldMkLst>
      </pc:sldChg>
      <pc:sldChg chg="modNotes">
        <pc:chgData name="Jose Daniel Moya Moreno (293922)" userId="S::293922@student.pwr.edu.pl::78641f8e-f911-4eba-8aa7-15e04bc9483f" providerId="AD" clId="Web-{FA23F0CB-702A-A369-1C65-D6E6073EB46B}" dt="2026-04-11T10:07:39.962" v="30"/>
        <pc:sldMkLst>
          <pc:docMk/>
          <pc:sldMk cId="0" sldId="258"/>
        </pc:sldMkLst>
      </pc:sldChg>
      <pc:sldChg chg="modSp modNotes">
        <pc:chgData name="Jose Daniel Moya Moreno (293922)" userId="S::293922@student.pwr.edu.pl::78641f8e-f911-4eba-8aa7-15e04bc9483f" providerId="AD" clId="Web-{FA23F0CB-702A-A369-1C65-D6E6073EB46B}" dt="2026-04-11T10:17:11.743" v="101" actId="20577"/>
        <pc:sldMkLst>
          <pc:docMk/>
          <pc:sldMk cId="0" sldId="259"/>
        </pc:sldMkLst>
        <pc:spChg chg="mod">
          <ac:chgData name="Jose Daniel Moya Moreno (293922)" userId="S::293922@student.pwr.edu.pl::78641f8e-f911-4eba-8aa7-15e04bc9483f" providerId="AD" clId="Web-{FA23F0CB-702A-A369-1C65-D6E6073EB46B}" dt="2026-04-11T10:11:36.488" v="87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1:32.597" v="86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1:47.973" v="89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1:15.689" v="8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1:50.270" v="90" actId="1410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6:57.805" v="98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1:53.849" v="91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17:11.743" v="101" actId="20577"/>
          <ac:spMkLst>
            <pc:docMk/>
            <pc:sldMk cId="0" sldId="259"/>
            <ac:spMk id="22" creationId="{00000000-0000-0000-0000-000000000000}"/>
          </ac:spMkLst>
        </pc:spChg>
      </pc:sldChg>
      <pc:sldChg chg="modSp modNotes">
        <pc:chgData name="Jose Daniel Moya Moreno (293922)" userId="S::293922@student.pwr.edu.pl::78641f8e-f911-4eba-8aa7-15e04bc9483f" providerId="AD" clId="Web-{FA23F0CB-702A-A369-1C65-D6E6073EB46B}" dt="2026-04-11T10:47:07.015" v="529"/>
        <pc:sldMkLst>
          <pc:docMk/>
          <pc:sldMk cId="0" sldId="260"/>
        </pc:sldMkLst>
        <pc:spChg chg="mod">
          <ac:chgData name="Jose Daniel Moya Moreno (293922)" userId="S::293922@student.pwr.edu.pl::78641f8e-f911-4eba-8aa7-15e04bc9483f" providerId="AD" clId="Web-{FA23F0CB-702A-A369-1C65-D6E6073EB46B}" dt="2026-04-11T10:34:34.613" v="312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081" v="29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081" v="295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097" v="296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128" v="297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144" v="298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40:32.277" v="326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175" v="300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191" v="301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41:44.168" v="339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237" v="303" actId="1076"/>
          <ac:spMkLst>
            <pc:docMk/>
            <pc:sldMk cId="0" sldId="260"/>
            <ac:spMk id="15" creationId="{00000000-0000-0000-0000-000000000000}"/>
          </ac:spMkLst>
        </pc:spChg>
        <pc:spChg chg="mod ord">
          <ac:chgData name="Jose Daniel Moya Moreno (293922)" userId="S::293922@student.pwr.edu.pl::78641f8e-f911-4eba-8aa7-15e04bc9483f" providerId="AD" clId="Web-{FA23F0CB-702A-A369-1C65-D6E6073EB46B}" dt="2026-04-11T10:34:28.362" v="311" actId="1076"/>
          <ac:spMkLst>
            <pc:docMk/>
            <pc:sldMk cId="0" sldId="260"/>
            <ac:spMk id="16" creationId="{00000000-0000-0000-0000-000000000000}"/>
          </ac:spMkLst>
        </pc:spChg>
        <pc:spChg chg="mod ord">
          <ac:chgData name="Jose Daniel Moya Moreno (293922)" userId="S::293922@student.pwr.edu.pl::78641f8e-f911-4eba-8aa7-15e04bc9483f" providerId="AD" clId="Web-{FA23F0CB-702A-A369-1C65-D6E6073EB46B}" dt="2026-04-11T10:34:28.347" v="310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253" v="304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269" v="305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42:31.545" v="345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9:23.104" v="315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34:28.316" v="308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46:52.935" v="526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Notes">
        <pc:chgData name="Jose Daniel Moya Moreno (293922)" userId="S::293922@student.pwr.edu.pl::78641f8e-f911-4eba-8aa7-15e04bc9483f" providerId="AD" clId="Web-{FA23F0CB-702A-A369-1C65-D6E6073EB46B}" dt="2026-04-11T11:12:26.145" v="1100"/>
        <pc:sldMkLst>
          <pc:docMk/>
          <pc:sldMk cId="0" sldId="261"/>
        </pc:sldMkLst>
      </pc:sldChg>
      <pc:sldChg chg="modNotes">
        <pc:chgData name="Jose Daniel Moya Moreno (293922)" userId="S::293922@student.pwr.edu.pl::78641f8e-f911-4eba-8aa7-15e04bc9483f" providerId="AD" clId="Web-{FA23F0CB-702A-A369-1C65-D6E6073EB46B}" dt="2026-04-11T11:12:30.036" v="1101"/>
        <pc:sldMkLst>
          <pc:docMk/>
          <pc:sldMk cId="0" sldId="262"/>
        </pc:sldMkLst>
      </pc:sldChg>
      <pc:sldChg chg="modNotes">
        <pc:chgData name="Jose Daniel Moya Moreno (293922)" userId="S::293922@student.pwr.edu.pl::78641f8e-f911-4eba-8aa7-15e04bc9483f" providerId="AD" clId="Web-{FA23F0CB-702A-A369-1C65-D6E6073EB46B}" dt="2026-04-11T11:12:32.379" v="1102"/>
        <pc:sldMkLst>
          <pc:docMk/>
          <pc:sldMk cId="0" sldId="263"/>
        </pc:sldMkLst>
      </pc:sldChg>
      <pc:sldChg chg="modNotes">
        <pc:chgData name="Jose Daniel Moya Moreno (293922)" userId="S::293922@student.pwr.edu.pl::78641f8e-f911-4eba-8aa7-15e04bc9483f" providerId="AD" clId="Web-{FA23F0CB-702A-A369-1C65-D6E6073EB46B}" dt="2026-04-11T11:12:35.083" v="1103"/>
        <pc:sldMkLst>
          <pc:docMk/>
          <pc:sldMk cId="0" sldId="264"/>
        </pc:sldMkLst>
      </pc:sldChg>
      <pc:sldChg chg="modNotes">
        <pc:chgData name="Jose Daniel Moya Moreno (293922)" userId="S::293922@student.pwr.edu.pl::78641f8e-f911-4eba-8aa7-15e04bc9483f" providerId="AD" clId="Web-{FA23F0CB-702A-A369-1C65-D6E6073EB46B}" dt="2026-04-11T11:18:14.277" v="1124"/>
        <pc:sldMkLst>
          <pc:docMk/>
          <pc:sldMk cId="0" sldId="265"/>
        </pc:sldMkLst>
      </pc:sldChg>
      <pc:sldChg chg="addSp delSp modSp add replId addAnim modNotes">
        <pc:chgData name="Jose Daniel Moya Moreno (293922)" userId="S::293922@student.pwr.edu.pl::78641f8e-f911-4eba-8aa7-15e04bc9483f" providerId="AD" clId="Web-{FA23F0CB-702A-A369-1C65-D6E6073EB46B}" dt="2026-04-11T11:06:59.838" v="825" actId="20577"/>
        <pc:sldMkLst>
          <pc:docMk/>
          <pc:sldMk cId="2342214186" sldId="271"/>
        </pc:sldMkLst>
        <pc:spChg chg="mod">
          <ac:chgData name="Jose Daniel Moya Moreno (293922)" userId="S::293922@student.pwr.edu.pl::78641f8e-f911-4eba-8aa7-15e04bc9483f" providerId="AD" clId="Web-{FA23F0CB-702A-A369-1C65-D6E6073EB46B}" dt="2026-04-11T10:56:18.285" v="663" actId="14100"/>
          <ac:spMkLst>
            <pc:docMk/>
            <pc:sldMk cId="2342214186" sldId="271"/>
            <ac:spMk id="2" creationId="{0207C470-EE9A-25ED-3104-23CB630BB6DF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1:06:59.838" v="825" actId="20577"/>
          <ac:spMkLst>
            <pc:docMk/>
            <pc:sldMk cId="2342214186" sldId="271"/>
            <ac:spMk id="3" creationId="{49B66166-2CF1-F10D-C8E4-AA6AE3C77EC4}"/>
          </ac:spMkLst>
        </pc:spChg>
        <pc:spChg chg="mod">
          <ac:chgData name="Jose Daniel Moya Moreno (293922)" userId="S::293922@student.pwr.edu.pl::78641f8e-f911-4eba-8aa7-15e04bc9483f" providerId="AD" clId="Web-{FA23F0CB-702A-A369-1C65-D6E6073EB46B}" dt="2026-04-11T10:56:50.442" v="669" actId="20577"/>
          <ac:spMkLst>
            <pc:docMk/>
            <pc:sldMk cId="2342214186" sldId="271"/>
            <ac:spMk id="5" creationId="{06F1EEEC-5789-440B-1782-FBAB52FBC024}"/>
          </ac:spMkLst>
        </pc:spChg>
        <pc:spChg chg="add mod">
          <ac:chgData name="Jose Daniel Moya Moreno (293922)" userId="S::293922@student.pwr.edu.pl::78641f8e-f911-4eba-8aa7-15e04bc9483f" providerId="AD" clId="Web-{FA23F0CB-702A-A369-1C65-D6E6073EB46B}" dt="2026-04-11T10:58:36.787" v="699" actId="20577"/>
          <ac:spMkLst>
            <pc:docMk/>
            <pc:sldMk cId="2342214186" sldId="271"/>
            <ac:spMk id="27" creationId="{A277239C-D2E8-8947-5542-668188059E47}"/>
          </ac:spMkLst>
        </pc:spChg>
        <pc:picChg chg="add mod modCrop">
          <ac:chgData name="Jose Daniel Moya Moreno (293922)" userId="S::293922@student.pwr.edu.pl::78641f8e-f911-4eba-8aa7-15e04bc9483f" providerId="AD" clId="Web-{FA23F0CB-702A-A369-1C65-D6E6073EB46B}" dt="2026-04-11T10:58:45.881" v="705" actId="1076"/>
          <ac:picMkLst>
            <pc:docMk/>
            <pc:sldMk cId="2342214186" sldId="271"/>
            <ac:picMk id="25" creationId="{A478B7F7-C941-8CAD-3C1B-38F73CCE8819}"/>
          </ac:picMkLst>
        </pc:picChg>
      </pc:sldChg>
      <pc:sldChg chg="addSp delSp modSp add replId modNotes">
        <pc:chgData name="Jose Daniel Moya Moreno (293922)" userId="S::293922@student.pwr.edu.pl::78641f8e-f911-4eba-8aa7-15e04bc9483f" providerId="AD" clId="Web-{FA23F0CB-702A-A369-1C65-D6E6073EB46B}" dt="2026-04-11T11:09:36.172" v="1052"/>
        <pc:sldMkLst>
          <pc:docMk/>
          <pc:sldMk cId="2936248768" sldId="272"/>
        </pc:sldMkLst>
        <pc:spChg chg="mod">
          <ac:chgData name="Jose Daniel Moya Moreno (293922)" userId="S::293922@student.pwr.edu.pl::78641f8e-f911-4eba-8aa7-15e04bc9483f" providerId="AD" clId="Web-{FA23F0CB-702A-A369-1C65-D6E6073EB46B}" dt="2026-04-11T11:03:40.588" v="747" actId="20577"/>
          <ac:spMkLst>
            <pc:docMk/>
            <pc:sldMk cId="2936248768" sldId="272"/>
            <ac:spMk id="3" creationId="{BAD89000-326F-EDBA-4443-6381C3E07309}"/>
          </ac:spMkLst>
        </pc:spChg>
        <pc:spChg chg="add">
          <ac:chgData name="Jose Daniel Moya Moreno (293922)" userId="S::293922@student.pwr.edu.pl::78641f8e-f911-4eba-8aa7-15e04bc9483f" providerId="AD" clId="Web-{FA23F0CB-702A-A369-1C65-D6E6073EB46B}" dt="2026-04-11T11:03:30.337" v="741"/>
          <ac:spMkLst>
            <pc:docMk/>
            <pc:sldMk cId="2936248768" sldId="272"/>
            <ac:spMk id="8" creationId="{BA0916EC-061E-F53E-FD4B-58196AE89010}"/>
          </ac:spMkLst>
        </pc:spChg>
        <pc:picChg chg="add mod">
          <ac:chgData name="Jose Daniel Moya Moreno (293922)" userId="S::293922@student.pwr.edu.pl::78641f8e-f911-4eba-8aa7-15e04bc9483f" providerId="AD" clId="Web-{FA23F0CB-702A-A369-1C65-D6E6073EB46B}" dt="2026-04-11T11:02:32.159" v="728" actId="1076"/>
          <ac:picMkLst>
            <pc:docMk/>
            <pc:sldMk cId="2936248768" sldId="272"/>
            <ac:picMk id="6" creationId="{DE360F7A-CCA7-98A8-567C-314909E69D52}"/>
          </ac:picMkLst>
        </pc:picChg>
        <pc:picChg chg="add mod">
          <ac:chgData name="Jose Daniel Moya Moreno (293922)" userId="S::293922@student.pwr.edu.pl::78641f8e-f911-4eba-8aa7-15e04bc9483f" providerId="AD" clId="Web-{FA23F0CB-702A-A369-1C65-D6E6073EB46B}" dt="2026-04-11T11:03:16.148" v="740" actId="1076"/>
          <ac:picMkLst>
            <pc:docMk/>
            <pc:sldMk cId="2936248768" sldId="272"/>
            <ac:picMk id="7" creationId="{67A3FD6F-6B34-9557-B3B9-346546F9DD81}"/>
          </ac:picMkLst>
        </pc:picChg>
      </pc:sldChg>
      <pc:sldChg chg="addSp delSp modSp add ord replId modNotes">
        <pc:chgData name="Jose Daniel Moya Moreno (293922)" userId="S::293922@student.pwr.edu.pl::78641f8e-f911-4eba-8aa7-15e04bc9483f" providerId="AD" clId="Web-{FA23F0CB-702A-A369-1C65-D6E6073EB46B}" dt="2026-04-11T11:15:29.007" v="1122"/>
        <pc:sldMkLst>
          <pc:docMk/>
          <pc:sldMk cId="2809857428" sldId="273"/>
        </pc:sldMkLst>
        <pc:spChg chg="mod">
          <ac:chgData name="Jose Daniel Moya Moreno (293922)" userId="S::293922@student.pwr.edu.pl::78641f8e-f911-4eba-8aa7-15e04bc9483f" providerId="AD" clId="Web-{FA23F0CB-702A-A369-1C65-D6E6073EB46B}" dt="2026-04-11T11:15:09.460" v="1121" actId="20577"/>
          <ac:spMkLst>
            <pc:docMk/>
            <pc:sldMk cId="2809857428" sldId="273"/>
            <ac:spMk id="5" creationId="{6571CED1-BC06-345A-4D92-5FC0E1E53C66}"/>
          </ac:spMkLst>
        </pc:spChg>
        <pc:spChg chg="add">
          <ac:chgData name="Jose Daniel Moya Moreno (293922)" userId="S::293922@student.pwr.edu.pl::78641f8e-f911-4eba-8aa7-15e04bc9483f" providerId="AD" clId="Web-{FA23F0CB-702A-A369-1C65-D6E6073EB46B}" dt="2026-04-11T11:15:04.148" v="1119"/>
          <ac:spMkLst>
            <pc:docMk/>
            <pc:sldMk cId="2809857428" sldId="273"/>
            <ac:spMk id="10" creationId="{7685B72A-C677-C1BE-16F8-F6470B37729E}"/>
          </ac:spMkLst>
        </pc:spChg>
        <pc:spChg chg="add">
          <ac:chgData name="Jose Daniel Moya Moreno (293922)" userId="S::293922@student.pwr.edu.pl::78641f8e-f911-4eba-8aa7-15e04bc9483f" providerId="AD" clId="Web-{FA23F0CB-702A-A369-1C65-D6E6073EB46B}" dt="2026-04-11T11:15:04.163" v="1120"/>
          <ac:spMkLst>
            <pc:docMk/>
            <pc:sldMk cId="2809857428" sldId="273"/>
            <ac:spMk id="12" creationId="{5FFEC9F7-ACF4-9380-6B63-184996783DA1}"/>
          </ac:spMkLst>
        </pc:spChg>
      </pc:sldChg>
    </pc:docChg>
  </pc:docChgLst>
  <pc:docChgLst>
    <pc:chgData name="Jose Daniel Moya Moreno (293922)" userId="S::293922@student.pwr.edu.pl::78641f8e-f911-4eba-8aa7-15e04bc9483f" providerId="AD" clId="Web-{4B6AD462-73CD-4795-F6F2-4226A5FA7B8F}"/>
    <pc:docChg chg="addSld modSld">
      <pc:chgData name="Jose Daniel Moya Moreno (293922)" userId="S::293922@student.pwr.edu.pl::78641f8e-f911-4eba-8aa7-15e04bc9483f" providerId="AD" clId="Web-{4B6AD462-73CD-4795-F6F2-4226A5FA7B8F}" dt="2026-04-09T11:13:02.079" v="5"/>
      <pc:docMkLst>
        <pc:docMk/>
      </pc:docMkLst>
      <pc:sldChg chg="modNotes">
        <pc:chgData name="Jose Daniel Moya Moreno (293922)" userId="S::293922@student.pwr.edu.pl::78641f8e-f911-4eba-8aa7-15e04bc9483f" providerId="AD" clId="Web-{4B6AD462-73CD-4795-F6F2-4226A5FA7B8F}" dt="2026-04-09T10:51:08.651" v="3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14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-paradigm.com/support/documents/vpuserguide/285/2138/56971_formingracic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everyone! My name is Jose Daniel, and with my colleague Álvaro, we'll be talking about 'Utilizing software to create and maintain a RACI matrix, a technique applied in real projects to assign responsibilities.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Standalone application </a:t>
            </a:r>
          </a:p>
          <a:p>
            <a:r>
              <a:rPr lang="en-US">
                <a:hlinkClick r:id="rId3"/>
              </a:rPr>
              <a:t>https://www.visual-paradigm.com/support/documents/vpuserguide/285/2138/56971_formingracic.html</a:t>
            </a:r>
            <a:endParaRPr lang="en-US"/>
          </a:p>
          <a:p>
            <a:r>
              <a:rPr lang="en-US"/>
              <a:t>Important connection with EPC and BPM</a:t>
            </a:r>
          </a:p>
          <a:p>
            <a:endParaRPr lang="en-US"/>
          </a:p>
          <a:p>
            <a:r>
              <a:rPr lang="en-US"/>
              <a:t>Online template (</a:t>
            </a:r>
            <a:r>
              <a:rPr lang="en-US" err="1"/>
              <a:t>xlxs</a:t>
            </a:r>
            <a:r>
              <a:rPr lang="en-US"/>
              <a:t>)</a:t>
            </a:r>
          </a:p>
          <a:p>
            <a:r>
              <a:rPr lang="en-US"/>
              <a:t>https://online.visual-paradigm.com/app/office/#proj=0&amp;type=Spreadsheet&amp;import=The-RACI-Matrix.xlsx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So, before we get into the definition, let me give you a bit of </a:t>
            </a:r>
            <a:r>
              <a:rPr lang="en-US" err="1"/>
              <a:t>contex</a:t>
            </a:r>
            <a:r>
              <a:rPr lang="en-US"/>
              <a:t>t. In any project, there are always multiple people involved, but not everyone plays the same role.</a:t>
            </a:r>
          </a:p>
          <a:p>
            <a:r>
              <a:rPr lang="en-US"/>
              <a:t>Some people are doing the actual work, some are approving it, some are just giving feedback...</a:t>
            </a:r>
          </a:p>
          <a:p>
            <a:endParaRPr lang="en-US"/>
          </a:p>
          <a:p>
            <a:r>
              <a:rPr lang="en-US"/>
              <a:t>The more complex a project gets: more tasks, more people, more dependencies, the more critical it becomes that everyone knows exactly what to do, because if that's not clear, things will go wrong. </a:t>
            </a:r>
          </a:p>
          <a:p>
            <a:r>
              <a:rPr lang="en-US"/>
              <a:t>Here are some problems that projects could run into:</a:t>
            </a:r>
          </a:p>
          <a:p>
            <a:r>
              <a:rPr lang="en-US"/>
              <a:t> </a:t>
            </a:r>
          </a:p>
          <a:p>
            <a:r>
              <a:rPr lang="en-US"/>
              <a:t>1) The first problem is </a:t>
            </a:r>
            <a:r>
              <a:rPr lang="en-US" b="1"/>
              <a:t>unclear role assignments</a:t>
            </a:r>
            <a:r>
              <a:rPr lang="en-US"/>
              <a:t>. Nobody knows who is actually responsible for what. Some tasks have no owner at all. Nobody picks them up because everyone assumes someone else is handling it.</a:t>
            </a:r>
          </a:p>
          <a:p>
            <a:endParaRPr lang="en-US"/>
          </a:p>
          <a:p>
            <a:r>
              <a:rPr lang="en-US"/>
              <a:t>2) Another problem is </a:t>
            </a:r>
            <a:r>
              <a:rPr lang="en-US" b="1"/>
              <a:t>duplicate work</a:t>
            </a:r>
            <a:r>
              <a:rPr lang="en-US"/>
              <a:t>. The opposite problem — two people are both doing the same task without knowing it. You end up with two versions and wasted time</a:t>
            </a:r>
          </a:p>
          <a:p>
            <a:endParaRPr lang="en-US"/>
          </a:p>
          <a:p>
            <a:r>
              <a:rPr lang="en-US"/>
              <a:t>3) Third, </a:t>
            </a:r>
            <a:r>
              <a:rPr lang="en-US" b="1"/>
              <a:t>accountability confusion</a:t>
            </a:r>
            <a:r>
              <a:rPr lang="en-US"/>
              <a:t>. When something goes wrong (which eventually will happen), there's no single person who owns it. Blame starts shifting around the team.</a:t>
            </a:r>
          </a:p>
          <a:p>
            <a:endParaRPr lang="en-US"/>
          </a:p>
          <a:p>
            <a:r>
              <a:rPr lang="en-US"/>
              <a:t>4) And finally, </a:t>
            </a:r>
            <a:r>
              <a:rPr lang="en-US" b="1"/>
              <a:t>hidden decision paths</a:t>
            </a:r>
            <a:r>
              <a:rPr lang="en-US"/>
              <a:t>. The work is done, it's ready to be approved, but nobody knows whose sign-off is actually needed. So, it just sits there.</a:t>
            </a:r>
          </a:p>
          <a:p>
            <a:endParaRPr lang="en-US"/>
          </a:p>
          <a:p>
            <a:r>
              <a:rPr lang="en-US"/>
              <a:t>Well, all these problems have the same root cause: nobody sat down at the beginning and clearly defined who does what.</a:t>
            </a:r>
          </a:p>
          <a:p>
            <a:endParaRPr lang="en-US"/>
          </a:p>
          <a:p>
            <a:r>
              <a:rPr lang="en-US"/>
              <a:t>And that's exactly where the RACI matrix comes into action.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a RACI matrix, also called RACI model or RACI diagram, the name is an acronym which stands for Responsible, Accountable, Consulted, and Informed. </a:t>
            </a:r>
          </a:p>
          <a:p>
            <a:r>
              <a:rPr lang="en-US"/>
              <a:t>It maps every single task in your project to one of these four roles for each stakeholder.</a:t>
            </a:r>
          </a:p>
          <a:p>
            <a:endParaRPr lang="en-US"/>
          </a:p>
          <a:p>
            <a:r>
              <a:rPr lang="en-US" b="1"/>
              <a:t>Responsible:</a:t>
            </a:r>
            <a:r>
              <a:rPr lang="en-US"/>
              <a:t> is the doer. The person or people actually doing the work. There should always be at least one per task.</a:t>
            </a:r>
          </a:p>
          <a:p>
            <a:r>
              <a:rPr lang="en-US" b="1"/>
              <a:t>Accountable:</a:t>
            </a:r>
            <a:r>
              <a:rPr lang="en-US"/>
              <a:t> is the decision-maker. The one who signs off on the work. There should only be one accountable person per task.</a:t>
            </a:r>
          </a:p>
          <a:p>
            <a:r>
              <a:rPr lang="en-US" b="1"/>
              <a:t>Consulted:</a:t>
            </a:r>
            <a:r>
              <a:rPr lang="en-US"/>
              <a:t> these are the 'advisors', they don't do the work but provide the 'know-how' to make sure it's done right. Each task can have 0, 1 or more.</a:t>
            </a:r>
          </a:p>
          <a:p>
            <a:r>
              <a:rPr lang="en-US" b="1"/>
              <a:t>Informed:</a:t>
            </a:r>
            <a:r>
              <a:rPr lang="en-US"/>
              <a:t> these are the recipients. They just need to know what's happening. You're not asking for their opinion, you're just keeping them updated. Each task can have 0,1 or more</a:t>
            </a:r>
          </a:p>
          <a:p>
            <a:endParaRPr lang="en-US"/>
          </a:p>
          <a:p>
            <a:r>
              <a:rPr lang="en-US"/>
              <a:t>This is a simple concept but incredibly powerful when applied consistently across a whole project.</a:t>
            </a:r>
          </a:p>
          <a:p>
            <a:r>
              <a:rPr lang="en-US"/>
              <a:t>It is created typically by the project manager at the start of the project, and it must be maintained and updated as the project evolves. </a:t>
            </a:r>
          </a:p>
          <a:p>
            <a:r>
              <a:rPr lang="en-US"/>
              <a:t>It’s a living document that keeps the team aligned from day one until the finish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RACI matrix is not just a concept, it has to meet different requirements from the project manager's perspective and from the user needs.</a:t>
            </a:r>
          </a:p>
          <a:p>
            <a:r>
              <a:rPr lang="en-US"/>
              <a:t>As a project manager, your job is not just to track tasks on a list </a:t>
            </a:r>
          </a:p>
          <a:p>
            <a:endParaRPr lang="en-US"/>
          </a:p>
          <a:p>
            <a:r>
              <a:rPr lang="en-US"/>
              <a:t>He must make sure that every single person on the team knows exactly where they stand at every moment of the project. In practice, it comes down to four things:</a:t>
            </a:r>
          </a:p>
          <a:p>
            <a:endParaRPr lang="en-US"/>
          </a:p>
          <a:p>
            <a:r>
              <a:rPr lang="en-US"/>
              <a:t>First, </a:t>
            </a:r>
            <a:r>
              <a:rPr lang="en-US" b="1"/>
              <a:t>define clear accountability</a:t>
            </a:r>
            <a:r>
              <a:rPr lang="en-US"/>
              <a:t>. Every task needs one owner. Not a team, not a group, just one person who is ultimately responsible for that task being delivered</a:t>
            </a:r>
          </a:p>
          <a:p>
            <a:r>
              <a:rPr lang="en-US"/>
              <a:t>Second, </a:t>
            </a:r>
            <a:r>
              <a:rPr lang="en-US" b="1"/>
              <a:t>prioritize clarity over process</a:t>
            </a:r>
            <a:r>
              <a:rPr lang="en-US"/>
              <a:t>. Don't add too many roles, too many columns, too much details. The best RACI matrix is the simplest one</a:t>
            </a:r>
          </a:p>
          <a:p>
            <a:r>
              <a:rPr lang="en-US"/>
              <a:t>Third, </a:t>
            </a:r>
            <a:r>
              <a:rPr lang="en-US" b="1"/>
              <a:t>establish a single source of truth</a:t>
            </a:r>
            <a:r>
              <a:rPr lang="en-US"/>
              <a:t>. It should not be in someone's email, notes, or verbal agreement, it needs to be one document, one place, that everyone refers to</a:t>
            </a:r>
          </a:p>
          <a:p>
            <a:r>
              <a:rPr lang="en-US"/>
              <a:t>And fourth, </a:t>
            </a:r>
            <a:r>
              <a:rPr lang="en-US" b="1"/>
              <a:t>enable real-time visibility</a:t>
            </a:r>
            <a:r>
              <a:rPr lang="en-US"/>
              <a:t>. The team should be able to open the document and find the answer in seconds. Anytime, from anywhere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Okay, so we've established why we need a RACI matrix and what a project manager expects from it. </a:t>
            </a:r>
          </a:p>
          <a:p>
            <a:r>
              <a:rPr lang="en-US"/>
              <a:t>Now the question becomes, what does the software we use to build and maintain it actually need to do?</a:t>
            </a:r>
          </a:p>
          <a:p>
            <a:endParaRPr lang="en-US"/>
          </a:p>
          <a:p>
            <a:r>
              <a:rPr lang="en-US"/>
              <a:t>The first thing is </a:t>
            </a:r>
            <a:r>
              <a:rPr lang="en-US" b="1"/>
              <a:t>visual clarity</a:t>
            </a:r>
            <a:r>
              <a:rPr lang="en-US"/>
              <a:t>. The matrix needs to be immediately readable, no manual needed. Just the tasks and roles as rows and columns  </a:t>
            </a:r>
          </a:p>
          <a:p>
            <a:r>
              <a:rPr lang="en-US"/>
              <a:t>Second: </a:t>
            </a:r>
            <a:r>
              <a:rPr lang="en-US" b="1"/>
              <a:t>easy editing</a:t>
            </a:r>
            <a:r>
              <a:rPr lang="en-US"/>
              <a:t>. Projects are living things. As they evolve, we need to add or remove roles and tasks in seconds without the layout breaking.</a:t>
            </a:r>
          </a:p>
          <a:p>
            <a:r>
              <a:rPr lang="en-US"/>
              <a:t>Third, </a:t>
            </a:r>
            <a:r>
              <a:rPr lang="en-US" b="1"/>
              <a:t>centralization</a:t>
            </a:r>
            <a:r>
              <a:rPr lang="en-US"/>
              <a:t>. as we said before one document, one place. Every responsibility assignment lives there. Not in emails, not in papers.</a:t>
            </a:r>
          </a:p>
          <a:p>
            <a:r>
              <a:rPr lang="en-US"/>
              <a:t>Fourth, </a:t>
            </a:r>
            <a:r>
              <a:rPr lang="en-US" b="1"/>
              <a:t>export capability</a:t>
            </a:r>
            <a:r>
              <a:rPr lang="en-US"/>
              <a:t>. At some point you need to communicate this to stakeholders who are not in the tool. You need to be able to generate a clean PDF or XSLX.</a:t>
            </a:r>
          </a:p>
          <a:p>
            <a:r>
              <a:rPr lang="en-US"/>
              <a:t>Fifth, </a:t>
            </a:r>
            <a:r>
              <a:rPr lang="en-US" b="1"/>
              <a:t>collaboration</a:t>
            </a:r>
            <a:r>
              <a:rPr lang="en-US"/>
              <a:t>. This is a team tool, not a personal one. When someone makes a change, everyone sees it immediately. </a:t>
            </a:r>
          </a:p>
          <a:p>
            <a:r>
              <a:rPr lang="en-US"/>
              <a:t>This collaboration must be backed by </a:t>
            </a:r>
            <a:r>
              <a:rPr lang="en-US" b="1"/>
              <a:t>version control </a:t>
            </a:r>
            <a:r>
              <a:rPr lang="en-US"/>
              <a:t>where you are able to look back and see what changed, when it changed, and who changed it.</a:t>
            </a:r>
          </a:p>
          <a:p>
            <a:endParaRPr lang="en-US"/>
          </a:p>
          <a:p>
            <a:r>
              <a:rPr lang="en-US"/>
              <a:t>These requirements are what we used to evaluate the tools we're going to show you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89E7-479C-A7AB-90E0-F9F3AE06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C4BEB-4FF7-753E-FEC7-DFED08F79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2B0D0-B2B1-6133-16E9-7FFBE7B74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64748B"/>
                </a:solidFill>
              </a:rPr>
              <a:t>Before exploring the different tools we can use for this task, I want to show that in real projects RACI matrix is not an independent tool but it usually is created from the BPMN Process Diagram or EPC Diagram. </a:t>
            </a:r>
            <a:endParaRPr lang="en-US"/>
          </a:p>
          <a:p>
            <a:endParaRPr lang="en-US">
              <a:solidFill>
                <a:srgbClr val="64748B"/>
              </a:solidFill>
            </a:endParaRPr>
          </a:p>
          <a:p>
            <a:r>
              <a:rPr lang="en-US">
                <a:solidFill>
                  <a:srgbClr val="64748B"/>
                </a:solidFill>
              </a:rPr>
              <a:t>Using Visual Paradigm as an example, here is a BPMN, or Business Process Model and Notation. This is the standard graphical representation for specifying and mapping out business processes.</a:t>
            </a:r>
            <a:endParaRPr lang="en-US"/>
          </a:p>
          <a:p>
            <a:endParaRPr lang="en-US">
              <a:solidFill>
                <a:srgbClr val="64748B"/>
              </a:solidFill>
            </a:endParaRPr>
          </a:p>
          <a:p>
            <a:r>
              <a:rPr lang="en-US">
                <a:solidFill>
                  <a:srgbClr val="64748B"/>
                </a:solidFill>
              </a:rPr>
              <a:t>As you can see, the different roles are represented as blue lanes, and the specific tasks assigned to them are shown in yellow.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E5974-0344-DA03-6E95-39CFEA430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29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0BB8-4B09-57C2-997D-E26D0A14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56764-E5F9-F19C-BDBD-07705E482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DB2C4-F854-131A-92D3-8F055C9FF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this example, I used Visual Paradigm Standard to automate the core of the RACI matrix.</a:t>
            </a:r>
          </a:p>
          <a:p>
            <a:endParaRPr lang="en-US"/>
          </a:p>
          <a:p>
            <a:r>
              <a:rPr lang="en-US"/>
              <a:t>Instead of building it manually, you can simply right-click the diagram, navigate to Utilities, and select Generate RACI Diagram. This automatically maps the 'Responsible' party for every task, leaving you only to fill in the remaining roles.</a:t>
            </a:r>
          </a:p>
          <a:p>
            <a:endParaRPr lang="en-US"/>
          </a:p>
          <a:p>
            <a:r>
              <a:rPr lang="en-US"/>
              <a:t>From there, it's fully customizable, you can easily modify the symbols, colors, and layout to fit your needs.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B150E-A68B-824C-2E27-A084F0418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09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2615-22C0-38F1-F917-7E8D04CA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1274B-27D5-6A63-FA01-B8269469E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4A84E-8595-EC6D-F124-F9A5C9433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Online template (</a:t>
            </a:r>
            <a:r>
              <a:rPr lang="en-US" err="1"/>
              <a:t>xlxs</a:t>
            </a:r>
            <a:r>
              <a:rPr lang="en-US"/>
              <a:t>): https://online.visual-paradigm.com/app/office/#proj=0&amp;type=Spreadsheet&amp;import=The-RACI-Matrix.xlsx</a:t>
            </a:r>
          </a:p>
          <a:p>
            <a:endParaRPr lang="en-US"/>
          </a:p>
          <a:p>
            <a:r>
              <a:rPr lang="en-US"/>
              <a:t>So, we've covered what a RACI matrix is, why it matters, and what a project manager needs from it.</a:t>
            </a:r>
          </a:p>
          <a:p>
            <a:r>
              <a:rPr lang="en-US"/>
              <a:t>Now the question becomes: </a:t>
            </a:r>
            <a:r>
              <a:rPr lang="en-US" b="1"/>
              <a:t>what software do we use to build and maintain it?</a:t>
            </a:r>
          </a:p>
          <a:p>
            <a:r>
              <a:rPr lang="en-US"/>
              <a:t>In the next slides I'll walk you through the </a:t>
            </a:r>
            <a:r>
              <a:rPr lang="en-US" b="1"/>
              <a:t>functional requirements</a:t>
            </a:r>
            <a:r>
              <a:rPr lang="en-US"/>
              <a:t> we defined, how we </a:t>
            </a:r>
            <a:r>
              <a:rPr lang="en-US" b="1"/>
              <a:t>evaluated the available tools</a:t>
            </a:r>
            <a:r>
              <a:rPr lang="en-US"/>
              <a:t>, and </a:t>
            </a:r>
            <a:r>
              <a:rPr lang="en-US" b="1"/>
              <a:t>which one we will use and why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06162-C4AC-003E-938D-CCBB10692A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2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</a:t>
            </a:r>
            <a:r>
              <a:rPr lang="en-US" b="1"/>
              <a:t>define</a:t>
            </a:r>
            <a:r>
              <a:rPr lang="en-US"/>
              <a:t> </a:t>
            </a:r>
            <a:r>
              <a:rPr lang="en-US" b="1"/>
              <a:t>what the software must do</a:t>
            </a:r>
            <a:r>
              <a:rPr lang="en-US"/>
              <a:t>, we use the </a:t>
            </a:r>
            <a:r>
              <a:rPr lang="en-US" b="1" err="1"/>
              <a:t>MoSCoW</a:t>
            </a:r>
            <a:r>
              <a:rPr lang="en-US" b="1"/>
              <a:t> method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Matrix Grid Editor: Must Have. The </a:t>
            </a:r>
            <a:r>
              <a:rPr lang="en-US" b="1"/>
              <a:t>2D table structure is the foundation of any RACI tool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Role &amp; Task Management: Must Have. </a:t>
            </a:r>
            <a:r>
              <a:rPr lang="en-US" b="1"/>
              <a:t>Projects evolve - the tool must handle that without breaking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Cell Assignment Logic: Must Have. </a:t>
            </a:r>
            <a:r>
              <a:rPr lang="en-US" b="1"/>
              <a:t>Click a cell, pick R/A/C/I from a dropdown. Fast and consistent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Data Validation Rules: Should Have. Warns you when a task has no Accountable or has two. </a:t>
            </a:r>
            <a:r>
              <a:rPr lang="en-US" b="1"/>
              <a:t>Prevents errors before they become real problems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Real-Time Updates: Should Have. </a:t>
            </a:r>
            <a:r>
              <a:rPr lang="en-US" b="1"/>
              <a:t>Multiple users editing simultaneously</a:t>
            </a:r>
            <a:r>
              <a:rPr lang="en-US"/>
              <a:t>, no version conflicts.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Export to PDF/Excel: Must Have. </a:t>
            </a:r>
            <a:r>
              <a:rPr lang="en-US" b="1"/>
              <a:t>At some point you need to share this outside the tool </a:t>
            </a:r>
            <a:r>
              <a:rPr lang="en-US"/>
              <a:t>- two clicks and it's done.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Comments on Cells: Could Have. </a:t>
            </a:r>
            <a:r>
              <a:rPr lang="en-US" b="1"/>
              <a:t>Documenting why each assignment was made adds valuable context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Template Library: Could Have. </a:t>
            </a:r>
            <a:r>
              <a:rPr lang="en-US" b="1"/>
              <a:t>Pre-built structures for common project types </a:t>
            </a:r>
            <a:r>
              <a:rPr lang="en-US"/>
              <a:t>speed up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Version History: Should Have. </a:t>
            </a:r>
            <a:r>
              <a:rPr lang="en-US" b="1"/>
              <a:t>Who changed what, and when </a:t>
            </a:r>
            <a:r>
              <a:rPr lang="en-US"/>
              <a:t>- essential for resolving disputes.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Cloud Storage Sync: Must Have. </a:t>
            </a:r>
            <a:r>
              <a:rPr lang="en-US" b="1"/>
              <a:t>One place, always accessible, never lost on someone's laptop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PM Tool Integration: Could Have. </a:t>
            </a:r>
            <a:r>
              <a:rPr lang="en-US" b="1"/>
              <a:t>Syncing with Asana or Jira keeps the matrix aligned with actual execution</a:t>
            </a:r>
            <a:r>
              <a:rPr lang="en-US"/>
              <a:t>, but it's complex to set up.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Key takeaway: </a:t>
            </a:r>
            <a:r>
              <a:rPr lang="en-US" b="1"/>
              <a:t>cloud storage and export are non-negotiable</a:t>
            </a:r>
            <a:r>
              <a:rPr lang="en-US"/>
              <a:t>. Everything else adds value as the team matures.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err="1"/>
              <a:t>We</a:t>
            </a:r>
            <a:r>
              <a:rPr lang="es-ES"/>
              <a:t> </a:t>
            </a:r>
            <a:r>
              <a:rPr lang="es-ES" err="1"/>
              <a:t>evaluated</a:t>
            </a:r>
            <a:r>
              <a:rPr lang="es-ES"/>
              <a:t> </a:t>
            </a:r>
            <a:r>
              <a:rPr lang="es-ES" err="1"/>
              <a:t>five</a:t>
            </a:r>
            <a:r>
              <a:rPr lang="es-ES"/>
              <a:t> </a:t>
            </a:r>
            <a:r>
              <a:rPr lang="es-ES" err="1"/>
              <a:t>tools</a:t>
            </a:r>
            <a:r>
              <a:rPr lang="es-ES"/>
              <a:t> </a:t>
            </a:r>
            <a:r>
              <a:rPr lang="es-ES" err="1"/>
              <a:t>against</a:t>
            </a:r>
            <a:r>
              <a:rPr lang="es-ES"/>
              <a:t> </a:t>
            </a:r>
            <a:r>
              <a:rPr lang="es-ES" err="1"/>
              <a:t>our</a:t>
            </a:r>
            <a:r>
              <a:rPr lang="es-ES"/>
              <a:t> </a:t>
            </a:r>
            <a:r>
              <a:rPr lang="es-ES" err="1"/>
              <a:t>requirements</a:t>
            </a:r>
            <a:r>
              <a:rPr lang="es-ES"/>
              <a:t>, </a:t>
            </a:r>
            <a:r>
              <a:rPr lang="es-ES" b="1" err="1"/>
              <a:t>with</a:t>
            </a:r>
            <a:r>
              <a:rPr lang="es-ES" b="1"/>
              <a:t> a </a:t>
            </a:r>
            <a:r>
              <a:rPr lang="es-ES" b="1" err="1"/>
              <a:t>specific</a:t>
            </a:r>
            <a:r>
              <a:rPr lang="es-ES" b="1"/>
              <a:t> </a:t>
            </a:r>
            <a:r>
              <a:rPr lang="es-ES" b="1" err="1"/>
              <a:t>constraint</a:t>
            </a:r>
            <a:r>
              <a:rPr lang="es-ES"/>
              <a:t>: a 45-minute </a:t>
            </a:r>
            <a:r>
              <a:rPr lang="es-ES" err="1"/>
              <a:t>lab</a:t>
            </a:r>
            <a:r>
              <a:rPr lang="es-ES"/>
              <a:t> </a:t>
            </a:r>
            <a:r>
              <a:rPr lang="es-ES" err="1"/>
              <a:t>session</a:t>
            </a:r>
            <a:r>
              <a:rPr lang="es-ES"/>
              <a:t>, </a:t>
            </a:r>
            <a:r>
              <a:rPr lang="es-ES" err="1"/>
              <a:t>students</a:t>
            </a:r>
            <a:r>
              <a:rPr lang="es-ES"/>
              <a:t>, </a:t>
            </a:r>
            <a:r>
              <a:rPr lang="es-ES" err="1"/>
              <a:t>zero</a:t>
            </a:r>
            <a:r>
              <a:rPr lang="es-ES"/>
              <a:t> Budget, and no </a:t>
            </a:r>
            <a:r>
              <a:rPr lang="es-ES" err="1"/>
              <a:t>licensing</a:t>
            </a:r>
            <a:r>
              <a:rPr lang="es-ES"/>
              <a:t> </a:t>
            </a:r>
            <a:r>
              <a:rPr lang="es-ES" err="1"/>
              <a:t>problems</a:t>
            </a:r>
            <a:r>
              <a:rPr lang="es-E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/>
              <a:t>Excel / Google </a:t>
            </a:r>
            <a:r>
              <a:rPr lang="es-ES" err="1"/>
              <a:t>Sheets</a:t>
            </a:r>
            <a:r>
              <a:rPr lang="es-ES"/>
              <a:t>: </a:t>
            </a:r>
            <a:r>
              <a:rPr lang="es-ES" b="1"/>
              <a:t>familiar</a:t>
            </a:r>
            <a:r>
              <a:rPr lang="es-ES"/>
              <a:t>, </a:t>
            </a:r>
            <a:r>
              <a:rPr lang="es-ES" b="1" err="1"/>
              <a:t>zero</a:t>
            </a:r>
            <a:r>
              <a:rPr lang="es-ES" b="1"/>
              <a:t> </a:t>
            </a:r>
            <a:r>
              <a:rPr lang="es-ES" b="1" err="1"/>
              <a:t>learning</a:t>
            </a:r>
            <a:r>
              <a:rPr lang="es-ES" b="1"/>
              <a:t> curve</a:t>
            </a:r>
            <a:r>
              <a:rPr lang="es-ES"/>
              <a:t>, </a:t>
            </a:r>
            <a:r>
              <a:rPr lang="es-ES" b="1" err="1"/>
              <a:t>grid</a:t>
            </a:r>
            <a:r>
              <a:rPr lang="es-ES" b="1"/>
              <a:t> </a:t>
            </a:r>
            <a:r>
              <a:rPr lang="es-ES" b="1" err="1"/>
              <a:t>maps</a:t>
            </a:r>
            <a:r>
              <a:rPr lang="es-ES" b="1"/>
              <a:t> </a:t>
            </a:r>
            <a:r>
              <a:rPr lang="es-ES" b="1" err="1"/>
              <a:t>perfect</a:t>
            </a:r>
            <a:r>
              <a:rPr lang="es-ES" b="1"/>
              <a:t> </a:t>
            </a:r>
            <a:r>
              <a:rPr lang="es-ES" b="1" err="1"/>
              <a:t>for</a:t>
            </a:r>
            <a:r>
              <a:rPr lang="es-ES" b="1"/>
              <a:t> RACI</a:t>
            </a:r>
            <a:r>
              <a:rPr lang="es-E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/>
              <a:t>Asana / Monday.com: </a:t>
            </a:r>
            <a:r>
              <a:rPr lang="es-ES" b="1" err="1"/>
              <a:t>powerful</a:t>
            </a:r>
            <a:r>
              <a:rPr lang="es-ES"/>
              <a:t> PM suites, </a:t>
            </a:r>
            <a:r>
              <a:rPr lang="es-ES" err="1"/>
              <a:t>but</a:t>
            </a:r>
            <a:r>
              <a:rPr lang="es-ES"/>
              <a:t> </a:t>
            </a:r>
            <a:r>
              <a:rPr lang="es-ES" b="1" err="1"/>
              <a:t>overkill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RACI-</a:t>
            </a:r>
            <a:r>
              <a:rPr lang="es-ES" err="1"/>
              <a:t>only</a:t>
            </a:r>
            <a:r>
              <a:rPr lang="es-ES"/>
              <a:t> use in a short </a:t>
            </a:r>
            <a:r>
              <a:rPr lang="es-ES" err="1"/>
              <a:t>session</a:t>
            </a:r>
            <a:r>
              <a:rPr lang="es-E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err="1"/>
              <a:t>Lucidchart</a:t>
            </a:r>
            <a:r>
              <a:rPr lang="es-ES"/>
              <a:t>: </a:t>
            </a:r>
            <a:r>
              <a:rPr lang="es-ES" err="1"/>
              <a:t>great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</a:t>
            </a:r>
            <a:r>
              <a:rPr lang="es-ES" err="1"/>
              <a:t>diagrams</a:t>
            </a:r>
            <a:r>
              <a:rPr lang="es-ES"/>
              <a:t>, </a:t>
            </a:r>
            <a:r>
              <a:rPr lang="es-ES" err="1"/>
              <a:t>but</a:t>
            </a:r>
            <a:r>
              <a:rPr lang="es-ES"/>
              <a:t> </a:t>
            </a:r>
            <a:r>
              <a:rPr lang="es-ES" b="1" err="1"/>
              <a:t>not</a:t>
            </a:r>
            <a:r>
              <a:rPr lang="es-ES" b="1"/>
              <a:t> </a:t>
            </a:r>
            <a:r>
              <a:rPr lang="es-ES" b="1" err="1"/>
              <a:t>built</a:t>
            </a:r>
            <a:r>
              <a:rPr lang="es-ES" b="1"/>
              <a:t> </a:t>
            </a:r>
            <a:r>
              <a:rPr lang="es-ES" b="1" err="1"/>
              <a:t>for</a:t>
            </a:r>
            <a:r>
              <a:rPr lang="es-ES" b="1"/>
              <a:t> </a:t>
            </a:r>
            <a:r>
              <a:rPr lang="es-ES" b="1" err="1"/>
              <a:t>matrix-style</a:t>
            </a:r>
            <a:r>
              <a:rPr lang="es-ES" b="1"/>
              <a:t> input</a:t>
            </a:r>
            <a:r>
              <a:rPr lang="es-E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/>
              <a:t>Miro: flexible </a:t>
            </a:r>
            <a:r>
              <a:rPr lang="es-ES" err="1"/>
              <a:t>canvas</a:t>
            </a:r>
            <a:r>
              <a:rPr lang="es-ES"/>
              <a:t>, </a:t>
            </a:r>
            <a:r>
              <a:rPr lang="es-ES" err="1"/>
              <a:t>but</a:t>
            </a:r>
            <a:r>
              <a:rPr lang="es-ES"/>
              <a:t> </a:t>
            </a:r>
            <a:r>
              <a:rPr lang="es-ES" b="1" err="1"/>
              <a:t>too</a:t>
            </a:r>
            <a:r>
              <a:rPr lang="es-ES" b="1"/>
              <a:t> </a:t>
            </a:r>
            <a:r>
              <a:rPr lang="es-ES" b="1" err="1"/>
              <a:t>unstructured</a:t>
            </a:r>
            <a:r>
              <a:rPr lang="es-ES" b="1"/>
              <a:t> </a:t>
            </a:r>
            <a:r>
              <a:rPr lang="es-ES" err="1"/>
              <a:t>for</a:t>
            </a:r>
            <a:r>
              <a:rPr lang="es-ES"/>
              <a:t> a </a:t>
            </a:r>
            <a:r>
              <a:rPr lang="es-ES" err="1"/>
              <a:t>clean</a:t>
            </a:r>
            <a:r>
              <a:rPr lang="es-ES"/>
              <a:t>, </a:t>
            </a:r>
            <a:r>
              <a:rPr lang="es-ES" err="1"/>
              <a:t>readable</a:t>
            </a:r>
            <a:r>
              <a:rPr lang="es-ES"/>
              <a:t> RACI </a:t>
            </a:r>
            <a:r>
              <a:rPr lang="es-ES" err="1"/>
              <a:t>grid</a:t>
            </a:r>
            <a:r>
              <a:rPr lang="es-E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Google Sheets wins on every dimension that matters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Grid layout maps directly to RACI - </a:t>
            </a:r>
            <a:r>
              <a:rPr lang="en-US" b="1"/>
              <a:t>no translation needed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Fully free, no-account setup beyond a </a:t>
            </a:r>
            <a:r>
              <a:rPr lang="en-US" b="1"/>
              <a:t>Google login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Everyone already knows </a:t>
            </a:r>
            <a:r>
              <a:rPr lang="en-US"/>
              <a:t>how to use a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Real-time collaboration </a:t>
            </a:r>
            <a:r>
              <a:rPr lang="en-US"/>
              <a:t>and </a:t>
            </a:r>
            <a:r>
              <a:rPr lang="en-US" b="1"/>
              <a:t>export</a:t>
            </a:r>
            <a:r>
              <a:rPr lang="en-US"/>
              <a:t> work out of the box.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Conditional formatting enables color-coded R/A/C/I cells instantly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b="1"/>
              <a:t>other tools </a:t>
            </a:r>
            <a:r>
              <a:rPr lang="en-US"/>
              <a:t>either </a:t>
            </a:r>
            <a:r>
              <a:rPr lang="en-US" b="1"/>
              <a:t>require installation</a:t>
            </a:r>
            <a:r>
              <a:rPr lang="en-US"/>
              <a:t>, have </a:t>
            </a:r>
            <a:r>
              <a:rPr lang="en-US" b="1"/>
              <a:t>steep learning curves</a:t>
            </a:r>
            <a:r>
              <a:rPr lang="en-US"/>
              <a:t>, or are </a:t>
            </a:r>
            <a:r>
              <a:rPr lang="en-US" b="1"/>
              <a:t>simply not designed for this task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quick orientation before the exercise.</a:t>
            </a:r>
          </a:p>
          <a:p>
            <a:r>
              <a:rPr lang="en-US"/>
              <a:t>Google Sheets is browser-based — nothing to install, works on any device.</a:t>
            </a:r>
          </a:p>
          <a:p>
            <a:r>
              <a:rPr lang="en-US"/>
              <a:t>We use the Vertex42 RACI template, pre-adapted for today. No building from scratch.</a:t>
            </a:r>
          </a:p>
          <a:p>
            <a:r>
              <a:rPr lang="en-US"/>
              <a:t>Share via the Share button — everyone edits and views in real time.</a:t>
            </a:r>
          </a:p>
          <a:p>
            <a:r>
              <a:rPr lang="en-US"/>
              <a:t>Export via File → Download → PDF or Excel when finished.</a:t>
            </a:r>
          </a:p>
          <a:p>
            <a:r>
              <a:rPr lang="en-US"/>
              <a:t>Set up conditional formatting via Format → Conditional formatting to auto-color R, A, C, and I cells.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Scenario: Website Redesign Project.</a:t>
            </a:r>
          </a:p>
          <a:p>
            <a:r>
              <a:rPr lang="en-US"/>
              <a:t>Roles: Project Manager, Designer, Developer, Client. Tasks: Define Requirements, Create Mockups, Code Frontend, Code Backend, User Testing, Deploy.</a:t>
            </a:r>
          </a:p>
          <a:p>
            <a:r>
              <a:rPr lang="en-US"/>
              <a:t>Download the shared template and open it in Google Sheets via File → Import.</a:t>
            </a:r>
          </a:p>
          <a:p>
            <a:r>
              <a:rPr lang="en-US"/>
              <a:t>Replace placeholder roles and tasks with the ones above.</a:t>
            </a:r>
          </a:p>
          <a:p>
            <a:r>
              <a:rPr lang="en-US"/>
              <a:t>Fill every cell. Keep the color coding. Rules: exactly one A per task, at least one R, C and I only where genuinely needed.</a:t>
            </a:r>
          </a:p>
          <a:p>
            <a:r>
              <a:rPr lang="en-US"/>
              <a:t>Rename the file Lab6_RACI and add a comment to at least two cells explaining your reasoning.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Once the matrix is complete, export it in two formats and generate a shareable link.</a:t>
            </a:r>
          </a:p>
          <a:p>
            <a:r>
              <a:rPr lang="en-US"/>
              <a:t>PDF: File → Download → PDF Document. Select current sheet, click Export.</a:t>
            </a:r>
          </a:p>
          <a:p>
            <a:r>
              <a:rPr lang="en-US"/>
              <a:t>Excel: File → Download → Microsoft Excel. Keep it as a backup.</a:t>
            </a:r>
          </a:p>
          <a:p>
            <a:r>
              <a:rPr lang="en-US"/>
              <a:t>Link: Share → Anyone with the link can view → Copy and submit alongside the files.</a:t>
            </a:r>
          </a:p>
          <a:p>
            <a:r>
              <a:rPr lang="en-US"/>
              <a:t>Reflection questions to answer directly in the spreadsheet:</a:t>
            </a:r>
          </a:p>
          <a:p>
            <a:r>
              <a:rPr lang="en-US"/>
              <a:t>Q1: What differences do you notice between PDF and Excel? Which would you send to a client?</a:t>
            </a:r>
          </a:p>
          <a:p>
            <a:r>
              <a:rPr lang="en-US"/>
              <a:t>Q2: What context would someone need that the template alone doesn't provide? How would you add it?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apply RACI to something you actually know.</a:t>
            </a:r>
          </a:p>
          <a:p>
            <a:r>
              <a:rPr lang="en-US"/>
              <a:t>Step 1: Choose your own scenario — an event, a group project, a club, a hackathon. Anything real.</a:t>
            </a:r>
          </a:p>
          <a:p>
            <a:r>
              <a:rPr lang="en-US"/>
              <a:t>Step 2: Build from scratch. Minimum 4 roles, minimum 6 tasks. One A per task, R where work is done, C and I used strategically.</a:t>
            </a:r>
          </a:p>
          <a:p>
            <a:r>
              <a:rPr lang="en-US"/>
              <a:t>Step 3: Document your rationale for at least one task. Why is this person accountable? Who else was considered? Who needs consultation vs. just notification?</a:t>
            </a:r>
          </a:p>
          <a:p>
            <a:r>
              <a:rPr lang="en-US"/>
              <a:t>This is where the concept becomes a real skill.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0" y="4572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</a:t>
            </a:r>
            <a:endParaRPr lang="en-US" sz="1400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Software to Create</a:t>
            </a:r>
            <a:endParaRPr lang="en-US" sz="3600"/>
          </a:p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Maintain a RACI Matrix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through Responsibility Assignment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226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DBEAFE"/>
                </a:solidFill>
                <a:latin typeface="Calibri"/>
                <a:ea typeface="Calibri"/>
                <a:cs typeface="Calibri"/>
              </a:rPr>
              <a:t>Presenters: Jose Daniel Moya Moreno, Álvaro Puebla Ruisánchez     |     Date: 14/04/2026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8">
            <a:extLst>
              <a:ext uri="{FF2B5EF4-FFF2-40B4-BE49-F238E27FC236}">
                <a16:creationId xmlns:a16="http://schemas.microsoft.com/office/drawing/2014/main" id="{038F6BDB-E9B5-ED27-3201-20B54595409F}"/>
              </a:ext>
            </a:extLst>
          </p:cNvPr>
          <p:cNvSpPr/>
          <p:nvPr/>
        </p:nvSpPr>
        <p:spPr>
          <a:xfrm>
            <a:off x="4657204" y="3487188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8272F43E-A3AE-63E9-359F-BE7766059ACD}"/>
              </a:ext>
            </a:extLst>
          </p:cNvPr>
          <p:cNvSpPr/>
          <p:nvPr/>
        </p:nvSpPr>
        <p:spPr>
          <a:xfrm>
            <a:off x="4657203" y="2323405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" name="Shape 0"/>
          <p:cNvSpPr/>
          <p:nvPr/>
        </p:nvSpPr>
        <p:spPr>
          <a:xfrm>
            <a:off x="0" y="51954"/>
            <a:ext cx="9071264" cy="687879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Projects Fail Without a RACI Matrix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805" y="2313016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805" y="2313016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8397" y="2386168"/>
            <a:ext cx="39776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1B3A6B"/>
                </a:solidFill>
                <a:ea typeface="+mn-lt"/>
                <a:cs typeface="+mn-lt"/>
              </a:rPr>
              <a:t>Unclear Role Assignments</a:t>
            </a: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397" y="2660488"/>
            <a:ext cx="3950208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Nobody knows who is actually responsible for what. </a:t>
            </a:r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Some tasks have no owner at all. Nobody picks them up because everyone assumes someone else is handling it.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53049" y="2321329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48814" y="2394481"/>
            <a:ext cx="39776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Duplicate Work</a:t>
            </a:r>
          </a:p>
        </p:txBody>
      </p:sp>
      <p:sp>
        <p:nvSpPr>
          <p:cNvPr id="17" name="Text 15"/>
          <p:cNvSpPr/>
          <p:nvPr/>
        </p:nvSpPr>
        <p:spPr>
          <a:xfrm>
            <a:off x="4848814" y="2668801"/>
            <a:ext cx="3950208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Two or more people unknowingly perform the same task, wasting time and resources.</a:t>
            </a:r>
          </a:p>
        </p:txBody>
      </p:sp>
      <p:sp>
        <p:nvSpPr>
          <p:cNvPr id="18" name="Shape 16"/>
          <p:cNvSpPr/>
          <p:nvPr/>
        </p:nvSpPr>
        <p:spPr>
          <a:xfrm>
            <a:off x="313805" y="3485111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13805" y="3485111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8397" y="3558263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Confusion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88788" y="3832583"/>
            <a:ext cx="3950208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When something goes wrong (which eventually will happen), there's no single person who owns it. Blame starts shifting around the team.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53050" y="3493424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744906" y="3556186"/>
            <a:ext cx="4243647" cy="37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Decision Paths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848814" y="3830505"/>
            <a:ext cx="3831752" cy="69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The work is done, it's ready to be approved, but nobody knows whose sign-off is actually needed. So, it just waits.</a:t>
            </a:r>
          </a:p>
          <a:p>
            <a:pPr marL="0" indent="0">
              <a:buNone/>
            </a:pPr>
            <a:endParaRPr lang="en-US" sz="1100">
              <a:solidFill>
                <a:srgbClr val="64748B"/>
              </a:solidFill>
              <a:ea typeface="Calibri"/>
              <a:cs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E54309-ECD5-E7A8-9540-339B56B900AE}"/>
              </a:ext>
            </a:extLst>
          </p:cNvPr>
          <p:cNvGrpSpPr/>
          <p:nvPr/>
        </p:nvGrpSpPr>
        <p:grpSpPr>
          <a:xfrm>
            <a:off x="5343002" y="957928"/>
            <a:ext cx="2281848" cy="1357166"/>
            <a:chOff x="968429" y="978711"/>
            <a:chExt cx="2281848" cy="1357166"/>
          </a:xfrm>
        </p:grpSpPr>
        <p:sp>
          <p:nvSpPr>
            <p:cNvPr id="5" name="Text 3"/>
            <p:cNvSpPr/>
            <p:nvPr/>
          </p:nvSpPr>
          <p:spPr>
            <a:xfrm>
              <a:off x="968429" y="1932709"/>
              <a:ext cx="2281848" cy="40316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300">
                  <a:solidFill>
                    <a:srgbClr val="64748B"/>
                  </a:solidFill>
                  <a:ea typeface="+mn-lt"/>
                  <a:cs typeface="+mn-lt"/>
                </a:rPr>
                <a:t>Multiple people involved</a:t>
              </a:r>
              <a:endParaRPr lang="en-US"/>
            </a:p>
          </p:txBody>
        </p:sp>
        <p:pic>
          <p:nvPicPr>
            <p:cNvPr id="28" name="Picture 27" descr="What is Project Management, Your Ultimate Guide on learning the Art - nTask">
              <a:extLst>
                <a:ext uri="{FF2B5EF4-FFF2-40B4-BE49-F238E27FC236}">
                  <a16:creationId xmlns:a16="http://schemas.microsoft.com/office/drawing/2014/main" id="{32BF410C-A2BF-8A9B-4D8A-F6BBC1406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92" y="978711"/>
              <a:ext cx="1901535" cy="1045551"/>
            </a:xfrm>
            <a:prstGeom prst="rect">
              <a:avLst/>
            </a:prstGeom>
          </p:spPr>
        </p:pic>
      </p:grpSp>
      <p:sp>
        <p:nvSpPr>
          <p:cNvPr id="31" name="Text 3">
            <a:extLst>
              <a:ext uri="{FF2B5EF4-FFF2-40B4-BE49-F238E27FC236}">
                <a16:creationId xmlns:a16="http://schemas.microsoft.com/office/drawing/2014/main" id="{FFA68D57-E544-6608-BE60-79097E66857A}"/>
              </a:ext>
            </a:extLst>
          </p:cNvPr>
          <p:cNvSpPr/>
          <p:nvPr/>
        </p:nvSpPr>
        <p:spPr>
          <a:xfrm>
            <a:off x="677485" y="1818409"/>
            <a:ext cx="3850872" cy="3948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C00000"/>
                </a:solidFill>
                <a:ea typeface="+mn-lt"/>
                <a:cs typeface="+mn-lt"/>
              </a:rPr>
              <a:t>Problems: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RACI Matrix?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1E293B"/>
                </a:solidFill>
                <a:ea typeface="+mn-lt"/>
                <a:cs typeface="+mn-lt"/>
              </a:rPr>
              <a:t>RACI is an acronym. It stands for </a:t>
            </a:r>
            <a:r>
              <a:rPr lang="en-US" sz="1300" b="1" dirty="0">
                <a:solidFill>
                  <a:srgbClr val="1E293B"/>
                </a:solidFill>
                <a:ea typeface="+mn-lt"/>
                <a:cs typeface="+mn-lt"/>
              </a:rPr>
              <a:t>R</a:t>
            </a:r>
            <a:r>
              <a:rPr lang="en-US" sz="1300" dirty="0">
                <a:solidFill>
                  <a:srgbClr val="1E293B"/>
                </a:solidFill>
                <a:ea typeface="+mn-lt"/>
                <a:cs typeface="+mn-lt"/>
              </a:rPr>
              <a:t>esponsible, </a:t>
            </a:r>
            <a:r>
              <a:rPr lang="en-US" sz="1300" b="1" dirty="0">
                <a:solidFill>
                  <a:srgbClr val="1E293B"/>
                </a:solidFill>
                <a:ea typeface="+mn-lt"/>
                <a:cs typeface="+mn-lt"/>
              </a:rPr>
              <a:t>A</a:t>
            </a:r>
            <a:r>
              <a:rPr lang="en-US" sz="1300" dirty="0">
                <a:solidFill>
                  <a:srgbClr val="1E293B"/>
                </a:solidFill>
                <a:ea typeface="+mn-lt"/>
                <a:cs typeface="+mn-lt"/>
              </a:rPr>
              <a:t>ccountable, </a:t>
            </a:r>
            <a:r>
              <a:rPr lang="en-US" sz="1300" b="1" dirty="0">
                <a:solidFill>
                  <a:srgbClr val="1E293B"/>
                </a:solidFill>
                <a:ea typeface="+mn-lt"/>
                <a:cs typeface="+mn-lt"/>
              </a:rPr>
              <a:t>C</a:t>
            </a:r>
            <a:r>
              <a:rPr lang="en-US" sz="1300" dirty="0">
                <a:solidFill>
                  <a:srgbClr val="1E293B"/>
                </a:solidFill>
                <a:ea typeface="+mn-lt"/>
                <a:cs typeface="+mn-lt"/>
              </a:rPr>
              <a:t>onsulted, and </a:t>
            </a:r>
            <a:r>
              <a:rPr lang="en-US" sz="1300" b="1" dirty="0">
                <a:solidFill>
                  <a:srgbClr val="1E293B"/>
                </a:solidFill>
                <a:ea typeface="+mn-lt"/>
                <a:cs typeface="+mn-lt"/>
              </a:rPr>
              <a:t>I</a:t>
            </a:r>
            <a:r>
              <a:rPr lang="en-US" sz="1300" dirty="0">
                <a:solidFill>
                  <a:srgbClr val="1E293B"/>
                </a:solidFill>
                <a:ea typeface="+mn-lt"/>
                <a:cs typeface="+mn-lt"/>
              </a:rPr>
              <a:t>nformed. And it maps every single task in your project to one of these four roles for each stakeholder.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011680" cy="30175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520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93192" y="3154680"/>
            <a:ext cx="1865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Doer</a:t>
            </a:r>
            <a:endParaRPr lang="en-US" sz="1150"/>
          </a:p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work for the task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2011680" cy="3017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200"/>
          </a:p>
        </p:txBody>
      </p:sp>
      <p:sp>
        <p:nvSpPr>
          <p:cNvPr id="13" name="Text 11"/>
          <p:cNvSpPr/>
          <p:nvPr/>
        </p:nvSpPr>
        <p:spPr>
          <a:xfrm>
            <a:off x="246888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542032" y="3154680"/>
            <a:ext cx="1865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Decision-Maker</a:t>
            </a:r>
            <a:endParaRPr lang="en-US" sz="1150"/>
          </a:p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&amp; ownership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617720" y="1737360"/>
            <a:ext cx="2011680" cy="30175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17720" y="1783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200"/>
          </a:p>
        </p:txBody>
      </p:sp>
      <p:sp>
        <p:nvSpPr>
          <p:cNvPr id="17" name="Text 15"/>
          <p:cNvSpPr/>
          <p:nvPr/>
        </p:nvSpPr>
        <p:spPr>
          <a:xfrm>
            <a:off x="461772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690872" y="3154680"/>
            <a:ext cx="1865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</a:t>
            </a:r>
            <a:endParaRPr lang="en-US" sz="1150"/>
          </a:p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expertise &amp; input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6766560" y="1737360"/>
            <a:ext cx="2011680" cy="30175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766560" y="17830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200"/>
          </a:p>
        </p:txBody>
      </p:sp>
      <p:sp>
        <p:nvSpPr>
          <p:cNvPr id="21" name="Text 19"/>
          <p:cNvSpPr/>
          <p:nvPr/>
        </p:nvSpPr>
        <p:spPr>
          <a:xfrm>
            <a:off x="676656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839712" y="3154680"/>
            <a:ext cx="18653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</a:t>
            </a:r>
            <a:endParaRPr lang="en-US" sz="1150"/>
          </a:p>
          <a:p>
            <a:pPr marL="0" indent="0" algn="ctr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updated on progress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Manager's Perspective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Project Managers, our job is not just to track tasks - it's to ensure everyone knows exactly where they stand.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38328" y="1618488"/>
            <a:ext cx="8531352" cy="72237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005840" y="16550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Accountability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005840" y="1943100"/>
            <a:ext cx="8220456" cy="3794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DBEAFE"/>
                </a:solidFill>
                <a:ea typeface="+mn-lt"/>
                <a:cs typeface="+mn-lt"/>
              </a:rPr>
              <a:t>Every task needs one owner. Not a team, not a group, just one person who is ultimately responsible for that task being delivered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" y="2482596"/>
            <a:ext cx="8535924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2496312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1005840" y="25054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Clarity Over Process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005840" y="2779776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DBEAFE"/>
                </a:solidFill>
                <a:ea typeface="+mn-lt"/>
                <a:cs typeface="+mn-lt"/>
              </a:rPr>
              <a:t>Don't add too many roles, too many columns, too much details. The best RACI matrix is the simplest one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4612" y="3319272"/>
            <a:ext cx="8545068" cy="72237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4048" y="3346704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1005840" y="33558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Single Source of Truth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005840" y="3630168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DBEAFE"/>
                </a:solidFill>
                <a:ea typeface="+mn-lt"/>
                <a:cs typeface="+mn-lt"/>
              </a:rPr>
              <a:t>It should not be in someone's email, notes, or verbal agreement, it needs to be one document, one place, that everyone refers to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4169664"/>
            <a:ext cx="854964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" y="4197096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1005840" y="4206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Visibility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005840" y="4480560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DBEAFE"/>
                </a:solidFill>
                <a:ea typeface="+mn-lt"/>
                <a:cs typeface="+mn-lt"/>
              </a:rPr>
              <a:t>The team should be able to open the document and find the answer in seconds. Anytime, from anywhere</a:t>
            </a:r>
          </a:p>
          <a:p>
            <a:pPr marL="0" indent="0">
              <a:buNone/>
            </a:pPr>
            <a:endParaRPr lang="en-US" sz="1150">
              <a:solidFill>
                <a:srgbClr val="DBEAFE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Needs: What Must the Software Deliver?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265176" y="9189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Manager's perspective, the ideal RACI tool must fulfill these core business requirements: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65176" y="1376172"/>
            <a:ext cx="420624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02336" y="14676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Clarity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02336" y="1760220"/>
            <a:ext cx="3913632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The matrix needs to be immediately readable, no manual needed. 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0016" y="1376172"/>
            <a:ext cx="4206240" cy="105156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37176" y="14676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Editing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837176" y="1760220"/>
            <a:ext cx="3913632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Projects are living things. As they evolve, we need to add or remove roles and tasks in seconds without the layout breaking.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5176" y="2546604"/>
            <a:ext cx="420624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02336" y="26380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402336" y="2930652"/>
            <a:ext cx="3913632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Every responsibility assignment lives in one centralized place. Not in emails, not in papers.</a:t>
            </a:r>
          </a:p>
          <a:p>
            <a:pPr marL="0" indent="0">
              <a:buNone/>
            </a:pPr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0016" y="2546604"/>
            <a:ext cx="420624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65176" y="3717036"/>
            <a:ext cx="4206240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37176" y="2610612"/>
            <a:ext cx="32232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Capability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837176" y="2930652"/>
            <a:ext cx="3913632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At some point you need to communicate this to stakeholders who are not in the tool. You need to be able to generate a clean PDF or XSLX.</a:t>
            </a:r>
          </a:p>
          <a:p>
            <a:pPr marL="0" indent="0">
              <a:buNone/>
            </a:pPr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0016" y="3717036"/>
            <a:ext cx="420624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37176" y="38084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837176" y="4101084"/>
            <a:ext cx="3913632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100">
              <a:solidFill>
                <a:srgbClr val="1E293B"/>
              </a:solidFill>
              <a:ea typeface="+mn-lt"/>
              <a:cs typeface="+mn-lt"/>
            </a:endParaRPr>
          </a:p>
          <a:p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This collaboration must be backed by version control where you are able to look back and see what changed, when it changed, and who changed it.</a:t>
            </a:r>
          </a:p>
          <a:p>
            <a:endParaRPr lang="en-US" sz="110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" y="4101084"/>
            <a:ext cx="3913632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This is a team tool, not a personal one. When someone makes a change, everyone sees it immediately. </a:t>
            </a:r>
          </a:p>
          <a:p>
            <a:pPr marL="0" indent="0">
              <a:buNone/>
            </a:pPr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" y="38084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E3517-0261-34DF-E248-DA2DEC94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07C470-EE9A-25ED-3104-23CB630BB6DF}"/>
              </a:ext>
            </a:extLst>
          </p:cNvPr>
          <p:cNvSpPr/>
          <p:nvPr/>
        </p:nvSpPr>
        <p:spPr>
          <a:xfrm>
            <a:off x="0" y="0"/>
            <a:ext cx="9144000" cy="740664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B66166-2CF1-F10D-C8E4-AA6AE3C77EC4}"/>
              </a:ext>
            </a:extLst>
          </p:cNvPr>
          <p:cNvSpPr/>
          <p:nvPr/>
        </p:nvSpPr>
        <p:spPr>
          <a:xfrm>
            <a:off x="365760" y="244013"/>
            <a:ext cx="8412480" cy="676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Business Process Model and Notation (Visual Paradigm)</a:t>
            </a:r>
          </a:p>
          <a:p>
            <a:pPr marL="0" indent="0">
              <a:buNone/>
            </a:pPr>
            <a:endParaRPr lang="en-US" sz="2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5A3C2A-F4F3-56D8-31DB-3ABC2FF1E5D9}"/>
              </a:ext>
            </a:extLst>
          </p:cNvPr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F1EEEC-5789-440B-1782-FBAB52FBC024}"/>
              </a:ext>
            </a:extLst>
          </p:cNvPr>
          <p:cNvSpPr/>
          <p:nvPr/>
        </p:nvSpPr>
        <p:spPr>
          <a:xfrm>
            <a:off x="196596" y="580644"/>
            <a:ext cx="8417052" cy="9692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30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25" name="Picture 24" descr="A diagram of a process&#10;&#10;AI-generated content may be incorrect.">
            <a:extLst>
              <a:ext uri="{FF2B5EF4-FFF2-40B4-BE49-F238E27FC236}">
                <a16:creationId xmlns:a16="http://schemas.microsoft.com/office/drawing/2014/main" id="{A478B7F7-C941-8CAD-3C1B-38F73CCE8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3" b="2869"/>
          <a:stretch>
            <a:fillRect/>
          </a:stretch>
        </p:blipFill>
        <p:spPr>
          <a:xfrm>
            <a:off x="507303" y="921283"/>
            <a:ext cx="8178600" cy="3961344"/>
          </a:xfrm>
          <a:prstGeom prst="rect">
            <a:avLst/>
          </a:prstGeom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A277239C-D2E8-8947-5542-668188059E47}"/>
              </a:ext>
            </a:extLst>
          </p:cNvPr>
          <p:cNvSpPr/>
          <p:nvPr/>
        </p:nvSpPr>
        <p:spPr>
          <a:xfrm>
            <a:off x="590340" y="745669"/>
            <a:ext cx="5859135" cy="645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00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21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4BFBE-8463-4451-59F1-BB5C18D3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937C79-1190-3AFD-E6C0-745AE382E134}"/>
              </a:ext>
            </a:extLst>
          </p:cNvPr>
          <p:cNvSpPr/>
          <p:nvPr/>
        </p:nvSpPr>
        <p:spPr>
          <a:xfrm>
            <a:off x="0" y="0"/>
            <a:ext cx="9144000" cy="740664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D89000-326F-EDBA-4443-6381C3E07309}"/>
              </a:ext>
            </a:extLst>
          </p:cNvPr>
          <p:cNvSpPr/>
          <p:nvPr/>
        </p:nvSpPr>
        <p:spPr>
          <a:xfrm>
            <a:off x="365760" y="244013"/>
            <a:ext cx="8412480" cy="676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Generate RACI Diagram Automatically (Visual Paradigm)</a:t>
            </a:r>
            <a:endParaRPr lang="en-US"/>
          </a:p>
          <a:p>
            <a:pPr marL="0" indent="0">
              <a:buNone/>
            </a:pPr>
            <a:endParaRPr lang="en-US" sz="2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DF58D3-A456-C8A7-86FB-31E47CE12511}"/>
              </a:ext>
            </a:extLst>
          </p:cNvPr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467BDD-2E5D-5A22-EF4B-9B427EBE6208}"/>
              </a:ext>
            </a:extLst>
          </p:cNvPr>
          <p:cNvSpPr/>
          <p:nvPr/>
        </p:nvSpPr>
        <p:spPr>
          <a:xfrm>
            <a:off x="196596" y="580644"/>
            <a:ext cx="8417052" cy="9692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30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116182F0-2241-3B66-D2D0-05989E85C450}"/>
              </a:ext>
            </a:extLst>
          </p:cNvPr>
          <p:cNvSpPr/>
          <p:nvPr/>
        </p:nvSpPr>
        <p:spPr>
          <a:xfrm>
            <a:off x="590340" y="745669"/>
            <a:ext cx="5859135" cy="645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00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360F7A-CCA7-98A8-567C-314909E69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54" y="1284402"/>
            <a:ext cx="3136547" cy="2939986"/>
          </a:xfrm>
          <a:prstGeom prst="rect">
            <a:avLst/>
          </a:prstGeom>
        </p:spPr>
      </p:pic>
      <p:pic>
        <p:nvPicPr>
          <p:cNvPr id="7" name="Picture 6" descr="A screenshot of a software project&#10;&#10;AI-generated content may be incorrect.">
            <a:extLst>
              <a:ext uri="{FF2B5EF4-FFF2-40B4-BE49-F238E27FC236}">
                <a16:creationId xmlns:a16="http://schemas.microsoft.com/office/drawing/2014/main" id="{67A3FD6F-6B34-9557-B3B9-346546F9D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964" y="1284254"/>
            <a:ext cx="3379312" cy="294027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A0916EC-061E-F53E-FD4B-58196AE89010}"/>
              </a:ext>
            </a:extLst>
          </p:cNvPr>
          <p:cNvSpPr/>
          <p:nvPr/>
        </p:nvSpPr>
        <p:spPr>
          <a:xfrm>
            <a:off x="4013374" y="2590128"/>
            <a:ext cx="839802" cy="3094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4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344DD-38EA-C6C9-19DC-E545B99D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BAF57E-0AD3-2921-E321-CEC5D65C3E2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28A663-EFF8-591F-EA52-B769CC1405F5}"/>
              </a:ext>
            </a:extLst>
          </p:cNvPr>
          <p:cNvSpPr/>
          <p:nvPr/>
        </p:nvSpPr>
        <p:spPr>
          <a:xfrm>
            <a:off x="164592" y="0"/>
            <a:ext cx="8979408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71CED1-BC06-345A-4D92-5FC0E1E53C66}"/>
              </a:ext>
            </a:extLst>
          </p:cNvPr>
          <p:cNvSpPr/>
          <p:nvPr/>
        </p:nvSpPr>
        <p:spPr>
          <a:xfrm>
            <a:off x="598932" y="1303020"/>
            <a:ext cx="685800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FFFFF"/>
                </a:solidFill>
                <a:ea typeface="+mn-lt"/>
                <a:cs typeface="+mn-lt"/>
              </a:rPr>
              <a:t>Choosing the right tool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021D35D-D8FA-B42C-AB21-94F15035AFBA}"/>
              </a:ext>
            </a:extLst>
          </p:cNvPr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226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685B72A-C677-C1BE-16F8-F6470B37729E}"/>
              </a:ext>
            </a:extLst>
          </p:cNvPr>
          <p:cNvSpPr/>
          <p:nvPr/>
        </p:nvSpPr>
        <p:spPr>
          <a:xfrm>
            <a:off x="5029200" y="4572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</a:t>
            </a:r>
            <a:endParaRPr lang="en-US" sz="1400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FFEC9F7-ACF4-9380-6B63-184996783DA1}"/>
              </a:ext>
            </a:extLst>
          </p:cNvPr>
          <p:cNvSpPr/>
          <p:nvPr/>
        </p:nvSpPr>
        <p:spPr>
          <a:xfrm>
            <a:off x="4572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through Responsibility Assignment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0985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Specifications (1 of 3): Core Functionality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Method: Must Have | Should Have | Could Have | Won't Have</a:t>
            </a:r>
            <a:endParaRPr lang="en-US" sz="11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895559"/>
              </p:ext>
            </p:extLst>
          </p:nvPr>
        </p:nvGraphicFramePr>
        <p:xfrm>
          <a:off x="320040" y="1234440"/>
          <a:ext cx="8732520" cy="3749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MoSCoW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Matrix Grid Editor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Drag/drop roles (columns) &amp; tasks (rows)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Editable 2D RACI matrix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Creates the fundamental RACI structure with R/A/C/I cell assignments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5803D"/>
                          </a:solidFill>
                        </a:rPr>
                        <a:t>Must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Role &amp; Task Management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Add/remove/rename roles and tasks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Updated matrix reflecting all changes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Allows flexibility as project scope and team composition evolve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5803D"/>
                          </a:solidFill>
                        </a:rPr>
                        <a:t>Must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Cell Assignment Logic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Click cell → select R/A/C/I from dropdown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Matrix cell populated with assignment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Enables rapid, consistent responsibility assignment across the team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5803D"/>
                          </a:solidFill>
                        </a:rPr>
                        <a:t>Must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Data Validation Rules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Constraints: each task needs exactly ONE 'A'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Error warnings on invalid assignments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Prevents accountability ambiguity before it becomes a project issue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45309"/>
                          </a:solidFill>
                        </a:rPr>
                        <a:t>Should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Specifications (2 of 3): Collaboration &amp; Export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Method: Must Have | Should Have | Could Have | Won't Have</a:t>
            </a:r>
            <a:endParaRPr lang="en-US" sz="11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732520" cy="3749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MoSCoW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Real-Time Updates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Multiple users editing the matrix simultaneously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All users immediately see live changes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Team collaborates on assignment decisions without version conflicts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45309"/>
                          </a:solidFill>
                        </a:rPr>
                        <a:t>Should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Export to PDF/Excel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User selects export format and clicks export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Professional, stakeholder-ready document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Enables formal communication of responsibility assignments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5803D"/>
                          </a:solidFill>
                        </a:rPr>
                        <a:t>Must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Comments on Cells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Hover over assignment, add rationale note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Persistent notes visible on hover/click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Documents WHY each responsibility decision was made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369A1"/>
                          </a:solidFill>
                        </a:rPr>
                        <a:t>Could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Template Library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Select from pre-built RACI templates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Pre-populated matrix for common project types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Accelerates matrix setup for standard project categories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369A1"/>
                          </a:solidFill>
                        </a:rPr>
                        <a:t>Could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Specifications (3 of 3): Integration &amp; Maintenance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Method: Must Have | Should Have | Could Have | Won't Have</a:t>
            </a:r>
            <a:endParaRPr lang="en-US" sz="1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73252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Functionality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MoSCoW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Version History / Audit Trail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Automatic logging of all edits and changes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Chronological record: who changed what and when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Tracks responsibility evolution and resolves assignment disputes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45309"/>
                          </a:solidFill>
                        </a:rPr>
                        <a:t>Should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Cloud Storage Sync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Save the matrix; link to Google Drive/OneDrive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Secure, hosted file accessible anytime, anywhere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Prevents data loss and enables remote/distributed team access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5803D"/>
                          </a:solidFill>
                        </a:rPr>
                        <a:t>Must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Integration with PM Tools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Connect to Asana, Monday.com, or Jira task lists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RACI matrix synced with live project tasks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Keeps responsibility assignments aligned with actual execution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369A1"/>
                          </a:solidFill>
                        </a:rPr>
                        <a:t>Could Have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251960"/>
            <a:ext cx="8321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0292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Cloud storage and basic export are non-negotiable (Must Have). Version history and PM tool integration provide strategic value as the team matures their RACI practices.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Analysis: Comparative Tool Evaluation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evaluated tools based on PM priorities: 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real-time collaboration, 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options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and learning curve for a 45-minute lab session.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120517"/>
              </p:ext>
            </p:extLst>
          </p:nvPr>
        </p:nvGraphicFramePr>
        <p:xfrm>
          <a:off x="320040" y="1325880"/>
          <a:ext cx="8503920" cy="3657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Producer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Price (USD)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</a:rPr>
                        <a:t>Microsoft Excel / Google Sheets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Spreadsheet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Microsoft / Google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Free (For real)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Simple, familiar matrices - no learning curve; limited real-time collaboration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</a:rPr>
                        <a:t>Asana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Project Management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Asana Inc.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Free (2 users) / $10.99-$24.99/user/mo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Full PM suite with RACI views - powerful but complex for RACI-only use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</a:rPr>
                        <a:t>Monday.com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Project Management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monday.com Inc.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Free (2 users – 3 boards) / $9-$19/user/mo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Visual RACI + workflow automation - feature-rich but steep learning curve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</a:rPr>
                        <a:t>Lucidchart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Diagramming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Lucid Software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Free (3 documents) / $7.95-$9/mo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Professional diagram visuals - not designed for responsibility matrices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</a:rPr>
                        <a:t>Miro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Collaboration Canvas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Miro Inc.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</a:rPr>
                        <a:t>Free (3 boards) / $8-$16/user/mo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Real-time collaboration canvas - flexible but unstructured for RACI work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Tool: Google Sheets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Selected for: Simplicity + Accessibility + RACI-ready structure + Zero cost to students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 SHEETS?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0233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grid layout maps directly to RACI structure (roles = columns, tasks = rows)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0233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collaboration: entire class edits and views simultaneously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" y="2944368"/>
            <a:ext cx="40233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980944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 and Excel in two clicks - stakeholder-ready output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40233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with any Google account - no credit card, no trial expiry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40233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familiar with spreadsheets - minimal learning curve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320040" y="4370832"/>
            <a:ext cx="40233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4407408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enables color-coded R/A/C/I cells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72000" y="16276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OTHERS?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572000" y="1993392"/>
            <a:ext cx="4251960" cy="53035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709160" y="203911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(Desktop)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709160" y="224942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collaboration in free version; requires installation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572000" y="2596896"/>
            <a:ext cx="4251960" cy="53035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09160" y="264261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/ Monday.com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709160" y="28529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RACI-only needs; 45 minutes isn't enough to learn the platform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4251960" cy="53035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709160" y="324612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709160" y="34564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diagrams - tables require workarounds; not intuitive for matrix input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572000" y="3803904"/>
            <a:ext cx="4251960" cy="53035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09160" y="384962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4709160" y="405993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canvas makes RACI grids hard to align and read in presentation context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4572000" y="4407408"/>
            <a:ext cx="4251960" cy="53035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A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709160" y="445312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4709160" y="466344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Developer-focused; requires admin setup and organizational accounts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Google Sheets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overview of Google Sheets as your RACI tool for this lab.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Google Sheets?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148840" y="137160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is a free, browser-based spreadsheet application. Its grid layout maps perfectly to a RACI matrix - no installation needed, accessible from any device.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1883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22960" y="1901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 for RACI?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2148840" y="190195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collaboration, easy sharing, built-in export to PDF and Excel, and conditional formatting for color-coded R/A/C/I cells - all for free with any Google account.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2414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822960" y="24323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Use It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2148840" y="2432304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 we use the Vertex42 RACI Matrix template modified to our needs (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us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a ready-made spreadsheet you download, open in Google Sheets, fill in, and export. No setup from scratch required.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320040" y="2944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00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822960" y="29626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Google Sheets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2148840" y="2962656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sheets.google.com and sign in with any Google or Gmail account. It is completely free - no credit card or trial period required.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822960" y="3493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Collaboration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2148840" y="34930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Share button (top right) to invite teammates. Everyone sees changes in real time - ideal for filling in a RACI matrix as a group during class.</a:t>
            </a:r>
            <a:endParaRPr lang="en-US" sz="115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0040" y="4005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Your Work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2148840" y="402336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finished, use File &gt; Download to export as PDF or Excel (.xlsx). These formats are suitable for submitting your work or sharing with stakeholders.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320040" y="453542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32004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822960" y="4553712"/>
            <a:ext cx="1440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2148840" y="455371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color rules via Format &gt; Conditional formatting to auto-color R/A/C/I cells. This makes your matrix instantly readable at a glance - a key visual best practice.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- Task 1: Download &amp; Fill the Template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905256"/>
            <a:ext cx="8229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Website Redesign Project  |  Use the Vertex42 RACI Matrix template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</a:t>
            </a:r>
            <a:r>
              <a:rPr lang="en-US" sz="1150" u="sng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shared RACI Matrix.xlsx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download the free RACI Matrix template. 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Google Sheets via File &gt; Import &gt; Upload &gt; Examine my PC</a:t>
            </a:r>
            <a:endParaRPr lang="en-US" sz="1150" b="1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4023360" cy="94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template's placeholder roles (columns) with: 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Manager, Designer, Developer, Client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tasks (rows) with: 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 | Create Mockups | Code Frontend | Code Backend | User Testing | Deploy</a:t>
            </a:r>
            <a:endParaRPr lang="en-US" sz="1150" b="1"/>
          </a:p>
        </p:txBody>
      </p:sp>
      <p:sp>
        <p:nvSpPr>
          <p:cNvPr id="10" name="Text 8"/>
          <p:cNvSpPr/>
          <p:nvPr/>
        </p:nvSpPr>
        <p:spPr>
          <a:xfrm>
            <a:off x="320040" y="3459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each cell with 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A, C, or I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Follow the template’s built-in color coding. Rules: 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needs exactly ONE A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C/I used only where genuinely needed.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320040" y="41452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your file to Lab6_RACI (click the filename at top). Then add a short comment next to at least two cells explaining your reasoning - use Insert &gt; Comment in Google Sheets.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'Create Mockups' Row</a:t>
            </a:r>
            <a:endParaRPr lang="en-US" sz="13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327540"/>
              </p:ext>
            </p:extLst>
          </p:nvPr>
        </p:nvGraphicFramePr>
        <p:xfrm>
          <a:off x="4572000" y="1665732"/>
          <a:ext cx="4251960" cy="18470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Assignment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Designer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D4ED8"/>
                          </a:solidFill>
                        </a:rPr>
                        <a:t>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Does the design work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Project Manager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5803D"/>
                          </a:solidFill>
                        </a:rPr>
                        <a:t>A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Approves final mockups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Developer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45309"/>
                          </a:solidFill>
                        </a:rPr>
                        <a:t>C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Consulted on feasibility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Client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45309"/>
                          </a:solidFill>
                        </a:rPr>
                        <a:t>C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1E293B"/>
                          </a:solidFill>
                        </a:rPr>
                        <a:t>Consulted on vision/brand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0" y="3552444"/>
            <a:ext cx="4114800" cy="1408176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4709160" y="35661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Tips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4709160" y="385876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template already includes color coding - keep it; it makes your matrix instantly readable
• Only ONE 'A' per row - if you want two, decide who truly owns the outcome
• Use comments (Insert &gt; Comment) to justify at least 2 of your assignment choices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- Task 2: Export &amp; Documentation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905256"/>
            <a:ext cx="8229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completed modified template from Task 1 in multiple formats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432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417320" y="14636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417320" y="14636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29768" y="2359152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Google Sheets: File → Download → PDF Document (.pdf)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"Current sheet" is selected. Click Export.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74320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297680" y="1463620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97680" y="14636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3291840" y="19933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Excel (.xlsx)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310128" y="2359152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Google Sheets: File → Download → Microsoft Excel (.xlsx)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downloads instantly - keep it as a backup of your original template work.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74320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178040" y="14636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178040" y="14636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6172200" y="19933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Link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190488" y="2359152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Share (top right) → Change access to "Anyone with the link can view" → Copy the link. Submit this link along with your exported PDF and Excel files.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320040" y="3483864"/>
            <a:ext cx="8503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7200" y="35112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Questions - Add Your Answers as a Comment or Text Box in the Spreadsheet: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57200" y="38953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differences do you notice between the PDF and Excel exports? Which format would you send to a client and why?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sharing your matrix with someone who was not in the room, what context would they need that the template alone does not provide? How could you add that context?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- Task 3: Real-World Application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905256"/>
            <a:ext cx="8229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Group Activity  | Be creative - use a scenario you know!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Choose Your Scenario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situation you are familiar with. You will build a RACI matrix around it from scratch.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ideas: Planning a student event  |  Building a group class project  |  Organizing a hackathon  |  Launching a small online store  |  Running a sports tournament  |  Setting up a campus club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20040" y="2679192"/>
            <a:ext cx="85039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Build Your RACI Matrix (Minimum Requirements)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02920" y="307238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4 roles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(e.g., Organizer, Sponsor, Volunteers, Participants)  </a:t>
            </a: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6 tasks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(plan your scenario comprehensively)
</a:t>
            </a: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 R/A/C/I distribution: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task has exactly ONE A, most have an R, and C/I are used strategically (not as defaults)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Document Your Rationale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02920" y="4233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text box or comment column, answer: 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[Person] accountable for [Task]? Who else was considered?  Who needs consultation vs. just notification? </a:t>
            </a:r>
            <a:r>
              <a:rPr lang="en-US" sz="1200" u="sng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 for one task of your choice)</a:t>
            </a:r>
            <a:endParaRPr lang="en-US" sz="120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4542</Words>
  <Application>Microsoft Office PowerPoint</Application>
  <PresentationFormat>Presentación en pantalla (16:9)</PresentationFormat>
  <Paragraphs>429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Utilizing Software to Create and Maintain a RACI Matrix</dc:title>
  <dc:subject>PptxGenJS Presentation</dc:subject>
  <dc:creator>PptxGenJS</dc:creator>
  <cp:lastModifiedBy>Alvaro Puebla Ruisanchez (293867)</cp:lastModifiedBy>
  <cp:revision>1</cp:revision>
  <dcterms:created xsi:type="dcterms:W3CDTF">2026-03-27T12:56:57Z</dcterms:created>
  <dcterms:modified xsi:type="dcterms:W3CDTF">2026-04-13T18:22:45Z</dcterms:modified>
</cp:coreProperties>
</file>