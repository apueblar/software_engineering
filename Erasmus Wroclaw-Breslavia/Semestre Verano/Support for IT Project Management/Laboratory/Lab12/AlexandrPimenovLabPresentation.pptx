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0" r:id="rId1"/>
  </p:sldMasterIdLst>
  <p:notesMasterIdLst>
    <p:notesMasterId r:id="rId14"/>
  </p:notesMasterIdLst>
  <p:sldIdLst>
    <p:sldId id="256" r:id="rId2"/>
    <p:sldId id="280" r:id="rId3"/>
    <p:sldId id="258" r:id="rId4"/>
    <p:sldId id="259" r:id="rId5"/>
    <p:sldId id="260" r:id="rId6"/>
    <p:sldId id="262" r:id="rId7"/>
    <p:sldId id="264" r:id="rId8"/>
    <p:sldId id="265" r:id="rId9"/>
    <p:sldId id="271" r:id="rId10"/>
    <p:sldId id="282" r:id="rId11"/>
    <p:sldId id="283" r:id="rId12"/>
    <p:sldId id="281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1CC"/>
    <a:srgbClr val="7A5A00"/>
    <a:srgbClr val="FFF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9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A361B6-9A2A-4C93-9DB0-99EC18C23C17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5DD2DA-A98A-443C-A584-9C3880153563}">
      <dgm:prSet phldrT="[Text]" phldr="0"/>
      <dgm:spPr/>
      <dgm:t>
        <a:bodyPr/>
        <a:lstStyle/>
        <a:p>
          <a:r>
            <a:rPr lang="pl-PL" dirty="0"/>
            <a:t>Identify</a:t>
          </a:r>
          <a:endParaRPr lang="en-US" dirty="0"/>
        </a:p>
      </dgm:t>
    </dgm:pt>
    <dgm:pt modelId="{84C63C15-4E34-46AB-8A1C-691518B1AE9E}" type="parTrans" cxnId="{C4DD8DB5-71B0-49EC-8007-592D31A2365A}">
      <dgm:prSet/>
      <dgm:spPr/>
      <dgm:t>
        <a:bodyPr/>
        <a:lstStyle/>
        <a:p>
          <a:endParaRPr lang="en-US"/>
        </a:p>
      </dgm:t>
    </dgm:pt>
    <dgm:pt modelId="{79523097-BEB8-458C-94FB-2DF40708D469}" type="sibTrans" cxnId="{C4DD8DB5-71B0-49EC-8007-592D31A2365A}">
      <dgm:prSet/>
      <dgm:spPr/>
      <dgm:t>
        <a:bodyPr/>
        <a:lstStyle/>
        <a:p>
          <a:endParaRPr lang="en-US"/>
        </a:p>
      </dgm:t>
    </dgm:pt>
    <dgm:pt modelId="{BC63BCDC-0831-4BDD-A7A0-6BCB8D828360}">
      <dgm:prSet phldrT="[Text]" phldr="0"/>
      <dgm:spPr/>
      <dgm:t>
        <a:bodyPr/>
        <a:lstStyle/>
        <a:p>
          <a:r>
            <a:rPr lang="pl-PL" dirty="0"/>
            <a:t>Analyze</a:t>
          </a:r>
          <a:endParaRPr lang="en-US" dirty="0"/>
        </a:p>
      </dgm:t>
    </dgm:pt>
    <dgm:pt modelId="{CC497321-F47C-40DE-8275-53E287ACBF33}" type="parTrans" cxnId="{08F489D9-7257-45E8-99A6-D1E98D68DAB2}">
      <dgm:prSet/>
      <dgm:spPr/>
      <dgm:t>
        <a:bodyPr/>
        <a:lstStyle/>
        <a:p>
          <a:endParaRPr lang="en-US"/>
        </a:p>
      </dgm:t>
    </dgm:pt>
    <dgm:pt modelId="{0FA37F86-94EB-4000-835A-26191B8A1955}" type="sibTrans" cxnId="{08F489D9-7257-45E8-99A6-D1E98D68DAB2}">
      <dgm:prSet/>
      <dgm:spPr/>
      <dgm:t>
        <a:bodyPr/>
        <a:lstStyle/>
        <a:p>
          <a:endParaRPr lang="en-US"/>
        </a:p>
      </dgm:t>
    </dgm:pt>
    <dgm:pt modelId="{2B7D4670-CBAB-419A-A9A8-3775FD401148}">
      <dgm:prSet phldrT="[Text]" phldr="0"/>
      <dgm:spPr/>
      <dgm:t>
        <a:bodyPr/>
        <a:lstStyle/>
        <a:p>
          <a:r>
            <a:rPr lang="pl-PL" dirty="0"/>
            <a:t>Track</a:t>
          </a:r>
          <a:endParaRPr lang="en-US" dirty="0"/>
        </a:p>
      </dgm:t>
    </dgm:pt>
    <dgm:pt modelId="{8614393B-42DC-48C1-9D14-30E390F3152D}" type="parTrans" cxnId="{9B239CED-4A6C-4837-878A-8F1E93C07ABC}">
      <dgm:prSet/>
      <dgm:spPr/>
      <dgm:t>
        <a:bodyPr/>
        <a:lstStyle/>
        <a:p>
          <a:endParaRPr lang="en-US"/>
        </a:p>
      </dgm:t>
    </dgm:pt>
    <dgm:pt modelId="{57012AB0-CFB0-4EB8-B77E-586F8DD7E9CA}" type="sibTrans" cxnId="{9B239CED-4A6C-4837-878A-8F1E93C07ABC}">
      <dgm:prSet/>
      <dgm:spPr/>
      <dgm:t>
        <a:bodyPr/>
        <a:lstStyle/>
        <a:p>
          <a:endParaRPr lang="en-US"/>
        </a:p>
      </dgm:t>
    </dgm:pt>
    <dgm:pt modelId="{4F0934C8-DAFB-4225-BD70-57824F9DA0C6}">
      <dgm:prSet phldrT="[Text]" phldr="0"/>
      <dgm:spPr/>
      <dgm:t>
        <a:bodyPr/>
        <a:lstStyle/>
        <a:p>
          <a:r>
            <a:rPr lang="pl-PL"/>
            <a:t>Control</a:t>
          </a:r>
          <a:endParaRPr lang="en-US" dirty="0"/>
        </a:p>
      </dgm:t>
    </dgm:pt>
    <dgm:pt modelId="{CAFEC000-CF34-4F2C-9EAA-667FFBF82F02}" type="parTrans" cxnId="{A83A6A1A-72E1-469C-96FF-7BDA21AA7546}">
      <dgm:prSet/>
      <dgm:spPr/>
      <dgm:t>
        <a:bodyPr/>
        <a:lstStyle/>
        <a:p>
          <a:endParaRPr lang="en-US"/>
        </a:p>
      </dgm:t>
    </dgm:pt>
    <dgm:pt modelId="{8CEB017A-B3A3-43AC-B2AD-07DB6023BF2A}" type="sibTrans" cxnId="{A83A6A1A-72E1-469C-96FF-7BDA21AA7546}">
      <dgm:prSet/>
      <dgm:spPr/>
      <dgm:t>
        <a:bodyPr/>
        <a:lstStyle/>
        <a:p>
          <a:endParaRPr lang="en-US"/>
        </a:p>
      </dgm:t>
    </dgm:pt>
    <dgm:pt modelId="{B251326A-A0D5-4BCC-A7AE-9154FB799011}">
      <dgm:prSet phldrT="[Text]" phldr="0"/>
      <dgm:spPr/>
      <dgm:t>
        <a:bodyPr/>
        <a:lstStyle/>
        <a:p>
          <a:r>
            <a:rPr lang="pl-PL"/>
            <a:t>Plan</a:t>
          </a:r>
          <a:endParaRPr lang="en-US" dirty="0"/>
        </a:p>
      </dgm:t>
    </dgm:pt>
    <dgm:pt modelId="{01259926-9789-4A47-9BA6-371A20E6FB41}" type="parTrans" cxnId="{8B58D9F2-DA38-478B-A3AC-7796ECA1416E}">
      <dgm:prSet/>
      <dgm:spPr/>
      <dgm:t>
        <a:bodyPr/>
        <a:lstStyle/>
        <a:p>
          <a:endParaRPr lang="en-US"/>
        </a:p>
      </dgm:t>
    </dgm:pt>
    <dgm:pt modelId="{2C59E7CE-FDE5-4C00-9304-F8DB314B5C8B}" type="sibTrans" cxnId="{8B58D9F2-DA38-478B-A3AC-7796ECA1416E}">
      <dgm:prSet/>
      <dgm:spPr/>
      <dgm:t>
        <a:bodyPr/>
        <a:lstStyle/>
        <a:p>
          <a:endParaRPr lang="en-US"/>
        </a:p>
      </dgm:t>
    </dgm:pt>
    <dgm:pt modelId="{A33E60FD-22FB-4FCF-9C62-DA2CAE4B138D}" type="pres">
      <dgm:prSet presAssocID="{C3A361B6-9A2A-4C93-9DB0-99EC18C23C17}" presName="Name0" presStyleCnt="0">
        <dgm:presLayoutVars>
          <dgm:dir/>
          <dgm:resizeHandles val="exact"/>
        </dgm:presLayoutVars>
      </dgm:prSet>
      <dgm:spPr/>
    </dgm:pt>
    <dgm:pt modelId="{E0AB2816-1A2E-43E1-A814-D4F78C749C2F}" type="pres">
      <dgm:prSet presAssocID="{C3A361B6-9A2A-4C93-9DB0-99EC18C23C17}" presName="cycle" presStyleCnt="0"/>
      <dgm:spPr/>
    </dgm:pt>
    <dgm:pt modelId="{04C7BF96-5402-4FB5-A9AF-210022C547EB}" type="pres">
      <dgm:prSet presAssocID="{D65DD2DA-A98A-443C-A584-9C3880153563}" presName="nodeFirstNode" presStyleLbl="node1" presStyleIdx="0" presStyleCnt="5">
        <dgm:presLayoutVars>
          <dgm:bulletEnabled val="1"/>
        </dgm:presLayoutVars>
      </dgm:prSet>
      <dgm:spPr/>
    </dgm:pt>
    <dgm:pt modelId="{E665B93C-9582-40BE-ABD9-B3A8C30ACBAD}" type="pres">
      <dgm:prSet presAssocID="{79523097-BEB8-458C-94FB-2DF40708D469}" presName="sibTransFirstNode" presStyleLbl="bgShp" presStyleIdx="0" presStyleCnt="1"/>
      <dgm:spPr/>
    </dgm:pt>
    <dgm:pt modelId="{5EDDFACF-C02E-4C23-B444-91C7D78D2099}" type="pres">
      <dgm:prSet presAssocID="{BC63BCDC-0831-4BDD-A7A0-6BCB8D828360}" presName="nodeFollowingNodes" presStyleLbl="node1" presStyleIdx="1" presStyleCnt="5">
        <dgm:presLayoutVars>
          <dgm:bulletEnabled val="1"/>
        </dgm:presLayoutVars>
      </dgm:prSet>
      <dgm:spPr/>
    </dgm:pt>
    <dgm:pt modelId="{350C224C-241D-42C9-97BF-0BF9E38C0CFC}" type="pres">
      <dgm:prSet presAssocID="{B251326A-A0D5-4BCC-A7AE-9154FB799011}" presName="nodeFollowingNodes" presStyleLbl="node1" presStyleIdx="2" presStyleCnt="5">
        <dgm:presLayoutVars>
          <dgm:bulletEnabled val="1"/>
        </dgm:presLayoutVars>
      </dgm:prSet>
      <dgm:spPr/>
    </dgm:pt>
    <dgm:pt modelId="{A4F0FB10-4F9F-4F61-8FED-AD2552DE58AA}" type="pres">
      <dgm:prSet presAssocID="{2B7D4670-CBAB-419A-A9A8-3775FD401148}" presName="nodeFollowingNodes" presStyleLbl="node1" presStyleIdx="3" presStyleCnt="5">
        <dgm:presLayoutVars>
          <dgm:bulletEnabled val="1"/>
        </dgm:presLayoutVars>
      </dgm:prSet>
      <dgm:spPr/>
    </dgm:pt>
    <dgm:pt modelId="{77A98D47-1443-42DB-BB95-017B993B580C}" type="pres">
      <dgm:prSet presAssocID="{4F0934C8-DAFB-4225-BD70-57824F9DA0C6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A83A6A1A-72E1-469C-96FF-7BDA21AA7546}" srcId="{C3A361B6-9A2A-4C93-9DB0-99EC18C23C17}" destId="{4F0934C8-DAFB-4225-BD70-57824F9DA0C6}" srcOrd="4" destOrd="0" parTransId="{CAFEC000-CF34-4F2C-9EAA-667FFBF82F02}" sibTransId="{8CEB017A-B3A3-43AC-B2AD-07DB6023BF2A}"/>
    <dgm:cxn modelId="{69793132-ECAF-42A3-A601-B4502E9606A5}" type="presOf" srcId="{4F0934C8-DAFB-4225-BD70-57824F9DA0C6}" destId="{77A98D47-1443-42DB-BB95-017B993B580C}" srcOrd="0" destOrd="0" presId="urn:microsoft.com/office/officeart/2005/8/layout/cycle3"/>
    <dgm:cxn modelId="{BDACBF48-E18D-492B-B0D1-5231D0BF0794}" type="presOf" srcId="{D65DD2DA-A98A-443C-A584-9C3880153563}" destId="{04C7BF96-5402-4FB5-A9AF-210022C547EB}" srcOrd="0" destOrd="0" presId="urn:microsoft.com/office/officeart/2005/8/layout/cycle3"/>
    <dgm:cxn modelId="{795F516C-2BC9-403E-AF34-5990A8EF5B1E}" type="presOf" srcId="{BC63BCDC-0831-4BDD-A7A0-6BCB8D828360}" destId="{5EDDFACF-C02E-4C23-B444-91C7D78D2099}" srcOrd="0" destOrd="0" presId="urn:microsoft.com/office/officeart/2005/8/layout/cycle3"/>
    <dgm:cxn modelId="{C38F266F-B2EE-4F2E-9CAA-775B6DF77365}" type="presOf" srcId="{79523097-BEB8-458C-94FB-2DF40708D469}" destId="{E665B93C-9582-40BE-ABD9-B3A8C30ACBAD}" srcOrd="0" destOrd="0" presId="urn:microsoft.com/office/officeart/2005/8/layout/cycle3"/>
    <dgm:cxn modelId="{500C7687-8906-43CF-9C6B-2720DCB97D2B}" type="presOf" srcId="{2B7D4670-CBAB-419A-A9A8-3775FD401148}" destId="{A4F0FB10-4F9F-4F61-8FED-AD2552DE58AA}" srcOrd="0" destOrd="0" presId="urn:microsoft.com/office/officeart/2005/8/layout/cycle3"/>
    <dgm:cxn modelId="{DAF4B6A8-A240-47F5-B153-E1369453A8AF}" type="presOf" srcId="{B251326A-A0D5-4BCC-A7AE-9154FB799011}" destId="{350C224C-241D-42C9-97BF-0BF9E38C0CFC}" srcOrd="0" destOrd="0" presId="urn:microsoft.com/office/officeart/2005/8/layout/cycle3"/>
    <dgm:cxn modelId="{C4DD8DB5-71B0-49EC-8007-592D31A2365A}" srcId="{C3A361B6-9A2A-4C93-9DB0-99EC18C23C17}" destId="{D65DD2DA-A98A-443C-A584-9C3880153563}" srcOrd="0" destOrd="0" parTransId="{84C63C15-4E34-46AB-8A1C-691518B1AE9E}" sibTransId="{79523097-BEB8-458C-94FB-2DF40708D469}"/>
    <dgm:cxn modelId="{202EAABE-9B3B-4FD9-A530-EE968E3FDCD0}" type="presOf" srcId="{C3A361B6-9A2A-4C93-9DB0-99EC18C23C17}" destId="{A33E60FD-22FB-4FCF-9C62-DA2CAE4B138D}" srcOrd="0" destOrd="0" presId="urn:microsoft.com/office/officeart/2005/8/layout/cycle3"/>
    <dgm:cxn modelId="{08F489D9-7257-45E8-99A6-D1E98D68DAB2}" srcId="{C3A361B6-9A2A-4C93-9DB0-99EC18C23C17}" destId="{BC63BCDC-0831-4BDD-A7A0-6BCB8D828360}" srcOrd="1" destOrd="0" parTransId="{CC497321-F47C-40DE-8275-53E287ACBF33}" sibTransId="{0FA37F86-94EB-4000-835A-26191B8A1955}"/>
    <dgm:cxn modelId="{9B239CED-4A6C-4837-878A-8F1E93C07ABC}" srcId="{C3A361B6-9A2A-4C93-9DB0-99EC18C23C17}" destId="{2B7D4670-CBAB-419A-A9A8-3775FD401148}" srcOrd="3" destOrd="0" parTransId="{8614393B-42DC-48C1-9D14-30E390F3152D}" sibTransId="{57012AB0-CFB0-4EB8-B77E-586F8DD7E9CA}"/>
    <dgm:cxn modelId="{8B58D9F2-DA38-478B-A3AC-7796ECA1416E}" srcId="{C3A361B6-9A2A-4C93-9DB0-99EC18C23C17}" destId="{B251326A-A0D5-4BCC-A7AE-9154FB799011}" srcOrd="2" destOrd="0" parTransId="{01259926-9789-4A47-9BA6-371A20E6FB41}" sibTransId="{2C59E7CE-FDE5-4C00-9304-F8DB314B5C8B}"/>
    <dgm:cxn modelId="{DD74ABFE-EA07-4DB9-B140-72A3412E9E03}" type="presParOf" srcId="{A33E60FD-22FB-4FCF-9C62-DA2CAE4B138D}" destId="{E0AB2816-1A2E-43E1-A814-D4F78C749C2F}" srcOrd="0" destOrd="0" presId="urn:microsoft.com/office/officeart/2005/8/layout/cycle3"/>
    <dgm:cxn modelId="{8FE4669A-46CA-4981-9DB6-D710760BC7C4}" type="presParOf" srcId="{E0AB2816-1A2E-43E1-A814-D4F78C749C2F}" destId="{04C7BF96-5402-4FB5-A9AF-210022C547EB}" srcOrd="0" destOrd="0" presId="urn:microsoft.com/office/officeart/2005/8/layout/cycle3"/>
    <dgm:cxn modelId="{3D61A43B-3C01-4D70-AD3B-2591593CFF3C}" type="presParOf" srcId="{E0AB2816-1A2E-43E1-A814-D4F78C749C2F}" destId="{E665B93C-9582-40BE-ABD9-B3A8C30ACBAD}" srcOrd="1" destOrd="0" presId="urn:microsoft.com/office/officeart/2005/8/layout/cycle3"/>
    <dgm:cxn modelId="{07B1AC2F-719F-4526-A8BB-9957B9733612}" type="presParOf" srcId="{E0AB2816-1A2E-43E1-A814-D4F78C749C2F}" destId="{5EDDFACF-C02E-4C23-B444-91C7D78D2099}" srcOrd="2" destOrd="0" presId="urn:microsoft.com/office/officeart/2005/8/layout/cycle3"/>
    <dgm:cxn modelId="{0BEA3675-D485-4E11-8C1F-FBEA47489D7D}" type="presParOf" srcId="{E0AB2816-1A2E-43E1-A814-D4F78C749C2F}" destId="{350C224C-241D-42C9-97BF-0BF9E38C0CFC}" srcOrd="3" destOrd="0" presId="urn:microsoft.com/office/officeart/2005/8/layout/cycle3"/>
    <dgm:cxn modelId="{701432CE-E557-4ED4-AAFE-8D3B1D5FEC39}" type="presParOf" srcId="{E0AB2816-1A2E-43E1-A814-D4F78C749C2F}" destId="{A4F0FB10-4F9F-4F61-8FED-AD2552DE58AA}" srcOrd="4" destOrd="0" presId="urn:microsoft.com/office/officeart/2005/8/layout/cycle3"/>
    <dgm:cxn modelId="{A9C08245-867B-4725-92D9-5F55FE13664B}" type="presParOf" srcId="{E0AB2816-1A2E-43E1-A814-D4F78C749C2F}" destId="{77A98D47-1443-42DB-BB95-017B993B580C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65B93C-9582-40BE-ABD9-B3A8C30ACBAD}">
      <dsp:nvSpPr>
        <dsp:cNvPr id="0" name=""/>
        <dsp:cNvSpPr/>
      </dsp:nvSpPr>
      <dsp:spPr>
        <a:xfrm>
          <a:off x="1113600" y="-26199"/>
          <a:ext cx="4592633" cy="4592633"/>
        </a:xfrm>
        <a:prstGeom prst="circularArrow">
          <a:avLst>
            <a:gd name="adj1" fmla="val 5544"/>
            <a:gd name="adj2" fmla="val 330680"/>
            <a:gd name="adj3" fmla="val 13796766"/>
            <a:gd name="adj4" fmla="val 17373293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C7BF96-5402-4FB5-A9AF-210022C547EB}">
      <dsp:nvSpPr>
        <dsp:cNvPr id="0" name=""/>
        <dsp:cNvSpPr/>
      </dsp:nvSpPr>
      <dsp:spPr>
        <a:xfrm>
          <a:off x="2344317" y="1481"/>
          <a:ext cx="2131198" cy="1065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900" kern="1200" dirty="0"/>
            <a:t>Identify</a:t>
          </a:r>
          <a:endParaRPr lang="en-US" sz="3900" kern="1200" dirty="0"/>
        </a:p>
      </dsp:txBody>
      <dsp:txXfrm>
        <a:off x="2396335" y="53499"/>
        <a:ext cx="2027162" cy="961563"/>
      </dsp:txXfrm>
    </dsp:sp>
    <dsp:sp modelId="{5EDDFACF-C02E-4C23-B444-91C7D78D2099}">
      <dsp:nvSpPr>
        <dsp:cNvPr id="0" name=""/>
        <dsp:cNvSpPr/>
      </dsp:nvSpPr>
      <dsp:spPr>
        <a:xfrm>
          <a:off x="4206942" y="1354757"/>
          <a:ext cx="2131198" cy="1065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900" kern="1200" dirty="0"/>
            <a:t>Analyze</a:t>
          </a:r>
          <a:endParaRPr lang="en-US" sz="3900" kern="1200" dirty="0"/>
        </a:p>
      </dsp:txBody>
      <dsp:txXfrm>
        <a:off x="4258960" y="1406775"/>
        <a:ext cx="2027162" cy="961563"/>
      </dsp:txXfrm>
    </dsp:sp>
    <dsp:sp modelId="{350C224C-241D-42C9-97BF-0BF9E38C0CFC}">
      <dsp:nvSpPr>
        <dsp:cNvPr id="0" name=""/>
        <dsp:cNvSpPr/>
      </dsp:nvSpPr>
      <dsp:spPr>
        <a:xfrm>
          <a:off x="3495483" y="3544403"/>
          <a:ext cx="2131198" cy="1065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900" kern="1200"/>
            <a:t>Plan</a:t>
          </a:r>
          <a:endParaRPr lang="en-US" sz="3900" kern="1200" dirty="0"/>
        </a:p>
      </dsp:txBody>
      <dsp:txXfrm>
        <a:off x="3547501" y="3596421"/>
        <a:ext cx="2027162" cy="961563"/>
      </dsp:txXfrm>
    </dsp:sp>
    <dsp:sp modelId="{A4F0FB10-4F9F-4F61-8FED-AD2552DE58AA}">
      <dsp:nvSpPr>
        <dsp:cNvPr id="0" name=""/>
        <dsp:cNvSpPr/>
      </dsp:nvSpPr>
      <dsp:spPr>
        <a:xfrm>
          <a:off x="1193152" y="3544403"/>
          <a:ext cx="2131198" cy="1065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900" kern="1200" dirty="0"/>
            <a:t>Track</a:t>
          </a:r>
          <a:endParaRPr lang="en-US" sz="3900" kern="1200" dirty="0"/>
        </a:p>
      </dsp:txBody>
      <dsp:txXfrm>
        <a:off x="1245170" y="3596421"/>
        <a:ext cx="2027162" cy="961563"/>
      </dsp:txXfrm>
    </dsp:sp>
    <dsp:sp modelId="{77A98D47-1443-42DB-BB95-017B993B580C}">
      <dsp:nvSpPr>
        <dsp:cNvPr id="0" name=""/>
        <dsp:cNvSpPr/>
      </dsp:nvSpPr>
      <dsp:spPr>
        <a:xfrm>
          <a:off x="481693" y="1354757"/>
          <a:ext cx="2131198" cy="1065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900" kern="1200"/>
            <a:t>Control</a:t>
          </a:r>
          <a:endParaRPr lang="en-US" sz="3900" kern="1200" dirty="0"/>
        </a:p>
      </dsp:txBody>
      <dsp:txXfrm>
        <a:off x="533711" y="1406775"/>
        <a:ext cx="2027162" cy="961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33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DDA1-9759-BCC3-7F99-AF469261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81474-CB7C-9C6D-811F-ACAAE50B4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5868C-CD2E-046B-C01A-BA773C95E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0D997-0437-E4AD-3926-8170B78DF8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63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20365-A588-EA3B-3B99-AA14D12B3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D1189-ED2B-FB90-EBD8-4D0F847B4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4BAAC-31BA-6F0C-9347-652F43DFA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D5DB6-9303-E060-FE01-26B493E2E2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88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1B676-A36B-A2ED-056C-3D8CF79C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18D94-4948-A440-97B6-89C1AD3EA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8C484-FFCD-431F-981E-C0A1F3A39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4F437-FE63-2E75-6C1B-3457ED4046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61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02817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7427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57827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6464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63869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67517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61446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34128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62192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9219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26696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72583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510863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98597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67365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78033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445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03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1889185"/>
            <a:ext cx="8422142" cy="710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2E4A"/>
                </a:solidFill>
                <a:latin typeface="Arial" pitchFamily="34" charset="0"/>
                <a:cs typeface="Arial" pitchFamily="34" charset="-120"/>
              </a:rPr>
              <a:t>Utilizing software for risk management</a:t>
            </a:r>
          </a:p>
        </p:txBody>
      </p:sp>
      <p:sp>
        <p:nvSpPr>
          <p:cNvPr id="5" name="Text 3"/>
          <p:cNvSpPr/>
          <p:nvPr/>
        </p:nvSpPr>
        <p:spPr>
          <a:xfrm>
            <a:off x="713231" y="2697996"/>
            <a:ext cx="5786456" cy="463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4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IT Project Management - </a:t>
            </a:r>
            <a:r>
              <a:rPr lang="pl-PL" sz="2000" b="1" dirty="0">
                <a:solidFill>
                  <a:srgbClr val="0B4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Labaratory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1" y="5063876"/>
            <a:ext cx="4185946" cy="884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Alexandr Pimenov 282611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3232" y="5432653"/>
            <a:ext cx="3956887" cy="374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pl-PL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02.06.2026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 baseline used for evaluation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386762" y="1635704"/>
            <a:ext cx="3796350" cy="148205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56714" y="1769364"/>
            <a:ext cx="358923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56714" y="2034105"/>
            <a:ext cx="3589238" cy="9678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document/database for identified risks, owners, probability and impact analysis, response plans, status and lifecycle control.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86762" y="3183426"/>
            <a:ext cx="3796350" cy="148205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56714" y="3317086"/>
            <a:ext cx="358923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matrix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56714" y="3581827"/>
            <a:ext cx="3589238" cy="9678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prioritization mechanism that maps likelihood/probability against impact/severity and communicates priority visually.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86762" y="4797342"/>
            <a:ext cx="3796350" cy="148205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56714" y="4931002"/>
            <a:ext cx="358923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responses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456714" y="5195743"/>
            <a:ext cx="3589238" cy="9678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responses: avoid, mitigate/reduce, transfer, accept. </a:t>
            </a:r>
            <a:endParaRPr lang="ru-RU" sz="14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2" name="Diagram 61">
            <a:extLst>
              <a:ext uri="{FF2B5EF4-FFF2-40B4-BE49-F238E27FC236}">
                <a16:creationId xmlns:a16="http://schemas.microsoft.com/office/drawing/2014/main" id="{4F6BF46A-11BD-085B-B887-3D62E9C69C1D}"/>
              </a:ext>
            </a:extLst>
          </p:cNvPr>
          <p:cNvGraphicFramePr/>
          <p:nvPr/>
        </p:nvGraphicFramePr>
        <p:xfrm>
          <a:off x="566928" y="1526848"/>
          <a:ext cx="6819834" cy="4611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5669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needs mapped to software functionalities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" y="1078992"/>
            <a:ext cx="292608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9" name="Text 7"/>
          <p:cNvSpPr/>
          <p:nvPr/>
        </p:nvSpPr>
        <p:spPr>
          <a:xfrm>
            <a:off x="649224" y="1088136"/>
            <a:ext cx="29077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need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66160" y="1078992"/>
            <a:ext cx="800100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1" name="Text 9"/>
          <p:cNvSpPr/>
          <p:nvPr/>
        </p:nvSpPr>
        <p:spPr>
          <a:xfrm>
            <a:off x="3575304" y="1088136"/>
            <a:ext cx="798271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426464"/>
            <a:ext cx="29260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3" name="Text 11"/>
          <p:cNvSpPr/>
          <p:nvPr/>
        </p:nvSpPr>
        <p:spPr>
          <a:xfrm>
            <a:off x="649224" y="1435608"/>
            <a:ext cx="290779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1426464"/>
            <a:ext cx="80010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5" name="Text 13"/>
          <p:cNvSpPr/>
          <p:nvPr/>
        </p:nvSpPr>
        <p:spPr>
          <a:xfrm>
            <a:off x="3575304" y="1435608"/>
            <a:ext cx="798271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Risk Register: centralized database capturing risk titles, causes and effects.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1874520"/>
            <a:ext cx="2926080" cy="448056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7" name="Text 15"/>
          <p:cNvSpPr/>
          <p:nvPr/>
        </p:nvSpPr>
        <p:spPr>
          <a:xfrm>
            <a:off x="649224" y="1883664"/>
            <a:ext cx="290779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grouping and filtering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6160" y="1874520"/>
            <a:ext cx="8001000" cy="448056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9" name="Text 17"/>
          <p:cNvSpPr/>
          <p:nvPr/>
        </p:nvSpPr>
        <p:spPr>
          <a:xfrm>
            <a:off x="3575304" y="1883664"/>
            <a:ext cx="798271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Classification: group and filter risks using WBS/RBS or project categories.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2322576"/>
            <a:ext cx="29260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1" name="Text 19"/>
          <p:cNvSpPr/>
          <p:nvPr/>
        </p:nvSpPr>
        <p:spPr>
          <a:xfrm>
            <a:off x="649224" y="2331720"/>
            <a:ext cx="290779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accountability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66160" y="2322576"/>
            <a:ext cx="80010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3" name="Text 21"/>
          <p:cNvSpPr/>
          <p:nvPr/>
        </p:nvSpPr>
        <p:spPr>
          <a:xfrm>
            <a:off x="3575304" y="2331720"/>
            <a:ext cx="798271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Ownership: assign specific owners to individual risks for clear accountability.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2770632"/>
            <a:ext cx="2926080" cy="448056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5" name="Text 23"/>
          <p:cNvSpPr/>
          <p:nvPr/>
        </p:nvSpPr>
        <p:spPr>
          <a:xfrm>
            <a:off x="649224" y="2779776"/>
            <a:ext cx="290779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prioritization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66160" y="2770632"/>
            <a:ext cx="8001000" cy="448056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7" name="Text 25"/>
          <p:cNvSpPr/>
          <p:nvPr/>
        </p:nvSpPr>
        <p:spPr>
          <a:xfrm>
            <a:off x="3575304" y="2779776"/>
            <a:ext cx="798271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Assessment: rank risks by evaluating probability and impact.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3218688"/>
            <a:ext cx="29260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9" name="Text 27"/>
          <p:cNvSpPr/>
          <p:nvPr/>
        </p:nvSpPr>
        <p:spPr>
          <a:xfrm>
            <a:off x="649224" y="3227832"/>
            <a:ext cx="290779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visual communication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66160" y="3218688"/>
            <a:ext cx="80010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1" name="Text 29"/>
          <p:cNvSpPr/>
          <p:nvPr/>
        </p:nvSpPr>
        <p:spPr>
          <a:xfrm>
            <a:off x="3575304" y="3227832"/>
            <a:ext cx="798271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Risk Matrix: display risk exposure visually on a color-coded grid.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3666744"/>
            <a:ext cx="2926080" cy="448056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3" name="Text 31"/>
          <p:cNvSpPr/>
          <p:nvPr/>
        </p:nvSpPr>
        <p:spPr>
          <a:xfrm>
            <a:off x="649224" y="3675888"/>
            <a:ext cx="290779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response logic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566160" y="3666744"/>
            <a:ext cx="8001000" cy="448056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3575304" y="3675888"/>
            <a:ext cx="798271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Strategies: assign strategies such as mitigate, avoid or exploit to risks.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114800"/>
            <a:ext cx="29260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7" name="Text 35"/>
          <p:cNvSpPr/>
          <p:nvPr/>
        </p:nvSpPr>
        <p:spPr>
          <a:xfrm>
            <a:off x="649224" y="4123944"/>
            <a:ext cx="290779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 mitigation work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566160" y="4114800"/>
            <a:ext cx="80010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9" name="Text 37"/>
          <p:cNvSpPr/>
          <p:nvPr/>
        </p:nvSpPr>
        <p:spPr>
          <a:xfrm>
            <a:off x="3575304" y="4123944"/>
            <a:ext cx="798271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Workflow: convert response strategies into executable, tracked work tasks.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" y="4562856"/>
            <a:ext cx="2926080" cy="448056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1" name="Text 39"/>
          <p:cNvSpPr/>
          <p:nvPr/>
        </p:nvSpPr>
        <p:spPr>
          <a:xfrm>
            <a:off x="649224" y="4572000"/>
            <a:ext cx="290779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control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566160" y="4562856"/>
            <a:ext cx="8001000" cy="448056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3" name="Text 41"/>
          <p:cNvSpPr/>
          <p:nvPr/>
        </p:nvSpPr>
        <p:spPr>
          <a:xfrm>
            <a:off x="3575304" y="4572000"/>
            <a:ext cx="798271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 Triggers: monitor statuses, review dates and risk triggers.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40080" y="5010912"/>
            <a:ext cx="29260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5" name="Text 43"/>
          <p:cNvSpPr/>
          <p:nvPr/>
        </p:nvSpPr>
        <p:spPr>
          <a:xfrm>
            <a:off x="649224" y="5020056"/>
            <a:ext cx="290779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exposure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566160" y="5010912"/>
            <a:ext cx="80010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7" name="Text 45"/>
          <p:cNvSpPr/>
          <p:nvPr/>
        </p:nvSpPr>
        <p:spPr>
          <a:xfrm>
            <a:off x="3575304" y="5020056"/>
            <a:ext cx="798271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Analysis: numerical schedule and cost risk modeling.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40080" y="5458968"/>
            <a:ext cx="2926080" cy="448056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9" name="Text 47"/>
          <p:cNvSpPr/>
          <p:nvPr/>
        </p:nvSpPr>
        <p:spPr>
          <a:xfrm>
            <a:off x="649224" y="5468112"/>
            <a:ext cx="290779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visibility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566160" y="5458968"/>
            <a:ext cx="8001000" cy="448056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51" name="Text 49"/>
          <p:cNvSpPr/>
          <p:nvPr/>
        </p:nvSpPr>
        <p:spPr>
          <a:xfrm>
            <a:off x="3575304" y="5468112"/>
            <a:ext cx="7982712" cy="429768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 Reports: provide management visibility through clear reporting.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D74AA"/>
          </a:solidFill>
          <a:ln w="12700">
            <a:solidFill>
              <a:srgbClr val="1D7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02920" y="265176"/>
            <a:ext cx="1737360" cy="210312"/>
          </a:xfrm>
          <a:prstGeom prst="roundRect">
            <a:avLst>
              <a:gd name="adj" fmla="val 26087"/>
            </a:avLst>
          </a:prstGeom>
          <a:solidFill>
            <a:srgbClr val="E3F0FA"/>
          </a:solidFill>
          <a:ln w="12700">
            <a:solidFill>
              <a:srgbClr val="E3F0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576072" y="315468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0B4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 SPECIFICATION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 table - register, structure and assessment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93192" y="1097280"/>
            <a:ext cx="205740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9" name="Text 7"/>
          <p:cNvSpPr/>
          <p:nvPr/>
        </p:nvSpPr>
        <p:spPr>
          <a:xfrm>
            <a:off x="402336" y="1106424"/>
            <a:ext cx="203911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1097280"/>
            <a:ext cx="297180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1" name="Text 9"/>
          <p:cNvSpPr/>
          <p:nvPr/>
        </p:nvSpPr>
        <p:spPr>
          <a:xfrm>
            <a:off x="2459736" y="1106424"/>
            <a:ext cx="295351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22392" y="1097280"/>
            <a:ext cx="251460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3" name="Text 11"/>
          <p:cNvSpPr/>
          <p:nvPr/>
        </p:nvSpPr>
        <p:spPr>
          <a:xfrm>
            <a:off x="5431536" y="1106424"/>
            <a:ext cx="249631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36992" y="1097280"/>
            <a:ext cx="278892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5" name="Text 13"/>
          <p:cNvSpPr/>
          <p:nvPr/>
        </p:nvSpPr>
        <p:spPr>
          <a:xfrm>
            <a:off x="7946136" y="1106424"/>
            <a:ext cx="277063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725912" y="1097280"/>
            <a:ext cx="105156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7" name="Text 15"/>
          <p:cNvSpPr/>
          <p:nvPr/>
        </p:nvSpPr>
        <p:spPr>
          <a:xfrm>
            <a:off x="10735056" y="1106424"/>
            <a:ext cx="103327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3192" y="1444752"/>
            <a:ext cx="20574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9" name="Text 17"/>
          <p:cNvSpPr/>
          <p:nvPr/>
        </p:nvSpPr>
        <p:spPr>
          <a:xfrm>
            <a:off x="402336" y="1453896"/>
            <a:ext cx="20391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Risk Register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50592" y="1444752"/>
            <a:ext cx="29718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1" name="Text 19"/>
          <p:cNvSpPr/>
          <p:nvPr/>
        </p:nvSpPr>
        <p:spPr>
          <a:xfrm>
            <a:off x="2459736" y="1453896"/>
            <a:ext cx="29535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title, cause, effect, project, date, owner, status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22392" y="1444752"/>
            <a:ext cx="25146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3" name="Text 21"/>
          <p:cNvSpPr/>
          <p:nvPr/>
        </p:nvSpPr>
        <p:spPr>
          <a:xfrm>
            <a:off x="5431536" y="1453896"/>
            <a:ext cx="24963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record in a central register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36992" y="1444752"/>
            <a:ext cx="27889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5" name="Text 23"/>
          <p:cNvSpPr/>
          <p:nvPr/>
        </p:nvSpPr>
        <p:spPr>
          <a:xfrm>
            <a:off x="7946136" y="1453896"/>
            <a:ext cx="277063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Single, auditable risk database.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725912" y="1444752"/>
            <a:ext cx="1051560" cy="850392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7" name="Text 25"/>
          <p:cNvSpPr/>
          <p:nvPr/>
        </p:nvSpPr>
        <p:spPr>
          <a:xfrm>
            <a:off x="10735056" y="1453896"/>
            <a:ext cx="103327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3192" y="2295144"/>
            <a:ext cx="205740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9" name="Text 27"/>
          <p:cNvSpPr/>
          <p:nvPr/>
        </p:nvSpPr>
        <p:spPr>
          <a:xfrm>
            <a:off x="402336" y="2304288"/>
            <a:ext cx="20391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Classification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450592" y="2295144"/>
            <a:ext cx="297180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1" name="Text 29"/>
          <p:cNvSpPr/>
          <p:nvPr/>
        </p:nvSpPr>
        <p:spPr>
          <a:xfrm>
            <a:off x="2459736" y="2304288"/>
            <a:ext cx="29535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WBS/RBS code, category, deliverable, discipline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22392" y="2295144"/>
            <a:ext cx="251460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3" name="Text 31"/>
          <p:cNvSpPr/>
          <p:nvPr/>
        </p:nvSpPr>
        <p:spPr>
          <a:xfrm>
            <a:off x="5431536" y="2304288"/>
            <a:ext cx="24963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Filters, roll-ups and category reports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36992" y="2295144"/>
            <a:ext cx="278892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5" name="Text 33"/>
          <p:cNvSpPr/>
          <p:nvPr/>
        </p:nvSpPr>
        <p:spPr>
          <a:xfrm>
            <a:off x="7946136" y="2304288"/>
            <a:ext cx="277063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risk to project structure.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725912" y="2295144"/>
            <a:ext cx="1051560" cy="850392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7" name="Text 35"/>
          <p:cNvSpPr/>
          <p:nvPr/>
        </p:nvSpPr>
        <p:spPr>
          <a:xfrm>
            <a:off x="10735056" y="2304288"/>
            <a:ext cx="103327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93192" y="3145536"/>
            <a:ext cx="20574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9" name="Text 37"/>
          <p:cNvSpPr/>
          <p:nvPr/>
        </p:nvSpPr>
        <p:spPr>
          <a:xfrm>
            <a:off x="402336" y="3154680"/>
            <a:ext cx="20391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Ownership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450592" y="3145536"/>
            <a:ext cx="29718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1" name="Text 39"/>
          <p:cNvSpPr/>
          <p:nvPr/>
        </p:nvSpPr>
        <p:spPr>
          <a:xfrm>
            <a:off x="2459736" y="3154680"/>
            <a:ext cx="29535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role, backup, escalation path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22392" y="3145536"/>
            <a:ext cx="25146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5431536" y="3154680"/>
            <a:ext cx="24963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owner and accountability trail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936992" y="3145536"/>
            <a:ext cx="27889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5" name="Text 43"/>
          <p:cNvSpPr/>
          <p:nvPr/>
        </p:nvSpPr>
        <p:spPr>
          <a:xfrm>
            <a:off x="7946136" y="3154680"/>
            <a:ext cx="277063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monitoring accountable.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725912" y="3145536"/>
            <a:ext cx="1051560" cy="850392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7" name="Text 45"/>
          <p:cNvSpPr/>
          <p:nvPr/>
        </p:nvSpPr>
        <p:spPr>
          <a:xfrm>
            <a:off x="10735056" y="3154680"/>
            <a:ext cx="103327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93192" y="3995928"/>
            <a:ext cx="205740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 dirty="0"/>
          </a:p>
        </p:txBody>
      </p:sp>
      <p:sp>
        <p:nvSpPr>
          <p:cNvPr id="49" name="Text 47"/>
          <p:cNvSpPr/>
          <p:nvPr/>
        </p:nvSpPr>
        <p:spPr>
          <a:xfrm>
            <a:off x="402336" y="4005072"/>
            <a:ext cx="20391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Assessment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450592" y="3995928"/>
            <a:ext cx="297180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1" name="Text 49"/>
          <p:cNvSpPr/>
          <p:nvPr/>
        </p:nvSpPr>
        <p:spPr>
          <a:xfrm>
            <a:off x="2459736" y="4005072"/>
            <a:ext cx="29535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Probability, impact, thresholds, pre/post values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22392" y="3995928"/>
            <a:ext cx="251460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3" name="Text 51"/>
          <p:cNvSpPr/>
          <p:nvPr/>
        </p:nvSpPr>
        <p:spPr>
          <a:xfrm>
            <a:off x="5431536" y="4005072"/>
            <a:ext cx="24963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× I score, priority and rating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936992" y="3995928"/>
            <a:ext cx="278892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5" name="Text 53"/>
          <p:cNvSpPr/>
          <p:nvPr/>
        </p:nvSpPr>
        <p:spPr>
          <a:xfrm>
            <a:off x="7946136" y="4005072"/>
            <a:ext cx="277063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exposure consistently.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0725912" y="3995928"/>
            <a:ext cx="1051560" cy="850392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7" name="Text 55"/>
          <p:cNvSpPr/>
          <p:nvPr/>
        </p:nvSpPr>
        <p:spPr>
          <a:xfrm>
            <a:off x="10735056" y="4005072"/>
            <a:ext cx="103327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93192" y="4846320"/>
            <a:ext cx="20574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9" name="Text 57"/>
          <p:cNvSpPr/>
          <p:nvPr/>
        </p:nvSpPr>
        <p:spPr>
          <a:xfrm>
            <a:off x="402336" y="4855464"/>
            <a:ext cx="20391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Risk Matrix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450592" y="4846320"/>
            <a:ext cx="29718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1" name="Text 59"/>
          <p:cNvSpPr/>
          <p:nvPr/>
        </p:nvSpPr>
        <p:spPr>
          <a:xfrm>
            <a:off x="2459736" y="4855464"/>
            <a:ext cx="29535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P/I score, scales and color thresholds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422392" y="4846320"/>
            <a:ext cx="25146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3" name="Text 61"/>
          <p:cNvSpPr/>
          <p:nvPr/>
        </p:nvSpPr>
        <p:spPr>
          <a:xfrm>
            <a:off x="5431536" y="4855464"/>
            <a:ext cx="24963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Heat-map position and color priority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936992" y="4846320"/>
            <a:ext cx="27889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5" name="Text 63"/>
          <p:cNvSpPr/>
          <p:nvPr/>
        </p:nvSpPr>
        <p:spPr>
          <a:xfrm>
            <a:off x="7946136" y="4855464"/>
            <a:ext cx="277063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urgency visually.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725912" y="4846320"/>
            <a:ext cx="1051560" cy="850392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7" name="Text 65"/>
          <p:cNvSpPr/>
          <p:nvPr/>
        </p:nvSpPr>
        <p:spPr>
          <a:xfrm>
            <a:off x="10735056" y="4855464"/>
            <a:ext cx="103327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5669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 table - response, control and reporting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93192" y="1097280"/>
            <a:ext cx="205740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402336" y="1106424"/>
            <a:ext cx="203911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097280"/>
            <a:ext cx="297180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1" name="Text 9"/>
          <p:cNvSpPr/>
          <p:nvPr/>
        </p:nvSpPr>
        <p:spPr>
          <a:xfrm>
            <a:off x="2459736" y="1106424"/>
            <a:ext cx="295351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22392" y="1097280"/>
            <a:ext cx="251460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3" name="Text 11"/>
          <p:cNvSpPr/>
          <p:nvPr/>
        </p:nvSpPr>
        <p:spPr>
          <a:xfrm>
            <a:off x="5431536" y="1106424"/>
            <a:ext cx="249631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36992" y="1097280"/>
            <a:ext cx="278892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5" name="Text 13"/>
          <p:cNvSpPr/>
          <p:nvPr/>
        </p:nvSpPr>
        <p:spPr>
          <a:xfrm>
            <a:off x="7946136" y="1106424"/>
            <a:ext cx="277063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25912" y="1097280"/>
            <a:ext cx="1051560" cy="34747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7" name="Text 15"/>
          <p:cNvSpPr/>
          <p:nvPr/>
        </p:nvSpPr>
        <p:spPr>
          <a:xfrm>
            <a:off x="10735056" y="1106424"/>
            <a:ext cx="103327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" y="1444752"/>
            <a:ext cx="20574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9" name="Text 17"/>
          <p:cNvSpPr/>
          <p:nvPr/>
        </p:nvSpPr>
        <p:spPr>
          <a:xfrm>
            <a:off x="402336" y="1453896"/>
            <a:ext cx="20391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Strategies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50592" y="1444752"/>
            <a:ext cx="29718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1" name="Text 19"/>
          <p:cNvSpPr/>
          <p:nvPr/>
        </p:nvSpPr>
        <p:spPr>
          <a:xfrm>
            <a:off x="2459736" y="1453896"/>
            <a:ext cx="29535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type, score, constraints, possible strategy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22392" y="1444752"/>
            <a:ext cx="25146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3" name="Text 21"/>
          <p:cNvSpPr/>
          <p:nvPr/>
        </p:nvSpPr>
        <p:spPr>
          <a:xfrm>
            <a:off x="5431536" y="1453896"/>
            <a:ext cx="24963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response for threat or opportunity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36992" y="1444752"/>
            <a:ext cx="27889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5" name="Text 23"/>
          <p:cNvSpPr/>
          <p:nvPr/>
        </p:nvSpPr>
        <p:spPr>
          <a:xfrm>
            <a:off x="7946136" y="1453896"/>
            <a:ext cx="277063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treatment logic.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725912" y="1444752"/>
            <a:ext cx="1051560" cy="850392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7" name="Text 25"/>
          <p:cNvSpPr/>
          <p:nvPr/>
        </p:nvSpPr>
        <p:spPr>
          <a:xfrm>
            <a:off x="10735056" y="1453896"/>
            <a:ext cx="103327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" y="2295144"/>
            <a:ext cx="205740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9" name="Text 27"/>
          <p:cNvSpPr/>
          <p:nvPr/>
        </p:nvSpPr>
        <p:spPr>
          <a:xfrm>
            <a:off x="402336" y="2304288"/>
            <a:ext cx="20391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Workflow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50592" y="2295144"/>
            <a:ext cx="297180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1" name="Text 29"/>
          <p:cNvSpPr/>
          <p:nvPr/>
        </p:nvSpPr>
        <p:spPr>
          <a:xfrm>
            <a:off x="2459736" y="2304288"/>
            <a:ext cx="29535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Tasks, owners, due dates, cost, approvals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22392" y="2295144"/>
            <a:ext cx="251460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3" name="Text 31"/>
          <p:cNvSpPr/>
          <p:nvPr/>
        </p:nvSpPr>
        <p:spPr>
          <a:xfrm>
            <a:off x="5431536" y="2304288"/>
            <a:ext cx="24963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actions, reminders, escalation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36992" y="2295144"/>
            <a:ext cx="278892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5" name="Text 33"/>
          <p:cNvSpPr/>
          <p:nvPr/>
        </p:nvSpPr>
        <p:spPr>
          <a:xfrm>
            <a:off x="7946136" y="2304288"/>
            <a:ext cx="277063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response into work.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725912" y="2295144"/>
            <a:ext cx="1051560" cy="8503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7" name="Text 35"/>
          <p:cNvSpPr/>
          <p:nvPr/>
        </p:nvSpPr>
        <p:spPr>
          <a:xfrm>
            <a:off x="10735056" y="2304288"/>
            <a:ext cx="103327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pl-PL" sz="1100" b="1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Could</a:t>
            </a:r>
            <a:endParaRPr lang="en-US" sz="11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93192" y="3145536"/>
            <a:ext cx="20574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9" name="Text 37"/>
          <p:cNvSpPr/>
          <p:nvPr/>
        </p:nvSpPr>
        <p:spPr>
          <a:xfrm>
            <a:off x="402336" y="3154680"/>
            <a:ext cx="20391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 Triggers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50592" y="3145536"/>
            <a:ext cx="29718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1" name="Text 39"/>
          <p:cNvSpPr/>
          <p:nvPr/>
        </p:nvSpPr>
        <p:spPr>
          <a:xfrm>
            <a:off x="2459736" y="3154680"/>
            <a:ext cx="29535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trigger criteria, review dates, actual events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22392" y="3145536"/>
            <a:ext cx="25146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3" name="Text 41"/>
          <p:cNvSpPr/>
          <p:nvPr/>
        </p:nvSpPr>
        <p:spPr>
          <a:xfrm>
            <a:off x="5431536" y="3154680"/>
            <a:ext cx="24963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Alerts, updates, escalation history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36992" y="3145536"/>
            <a:ext cx="27889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5" name="Text 43"/>
          <p:cNvSpPr/>
          <p:nvPr/>
        </p:nvSpPr>
        <p:spPr>
          <a:xfrm>
            <a:off x="7946136" y="3154680"/>
            <a:ext cx="277063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register live.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725912" y="3145536"/>
            <a:ext cx="1051560" cy="850392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7" name="Text 45"/>
          <p:cNvSpPr/>
          <p:nvPr/>
        </p:nvSpPr>
        <p:spPr>
          <a:xfrm>
            <a:off x="10735056" y="3154680"/>
            <a:ext cx="103327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93192" y="3995928"/>
            <a:ext cx="205740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9" name="Text 47"/>
          <p:cNvSpPr/>
          <p:nvPr/>
        </p:nvSpPr>
        <p:spPr>
          <a:xfrm>
            <a:off x="402336" y="4005072"/>
            <a:ext cx="20391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Analysis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50592" y="3995928"/>
            <a:ext cx="297180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1" name="Text 49"/>
          <p:cNvSpPr/>
          <p:nvPr/>
        </p:nvSpPr>
        <p:spPr>
          <a:xfrm>
            <a:off x="2459736" y="4005072"/>
            <a:ext cx="29535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Schedule/cost model, distributions, scenarios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22392" y="3995928"/>
            <a:ext cx="251460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3" name="Text 51"/>
          <p:cNvSpPr/>
          <p:nvPr/>
        </p:nvSpPr>
        <p:spPr>
          <a:xfrm>
            <a:off x="5431536" y="4005072"/>
            <a:ext cx="24963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P-curves, contingency, risk-adjusted dates/costs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936992" y="3995928"/>
            <a:ext cx="2788920" cy="850392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5" name="Text 53"/>
          <p:cNvSpPr/>
          <p:nvPr/>
        </p:nvSpPr>
        <p:spPr>
          <a:xfrm>
            <a:off x="7946136" y="4005072"/>
            <a:ext cx="277063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numerical exposure.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725912" y="3995928"/>
            <a:ext cx="1051560" cy="850392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7" name="Text 55"/>
          <p:cNvSpPr/>
          <p:nvPr/>
        </p:nvSpPr>
        <p:spPr>
          <a:xfrm>
            <a:off x="10735056" y="4005072"/>
            <a:ext cx="103327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93192" y="4846320"/>
            <a:ext cx="20574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9" name="Text 57"/>
          <p:cNvSpPr/>
          <p:nvPr/>
        </p:nvSpPr>
        <p:spPr>
          <a:xfrm>
            <a:off x="402336" y="4855464"/>
            <a:ext cx="20391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 Reports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450592" y="4846320"/>
            <a:ext cx="29718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61" name="Text 59"/>
          <p:cNvSpPr/>
          <p:nvPr/>
        </p:nvSpPr>
        <p:spPr>
          <a:xfrm>
            <a:off x="2459736" y="4855464"/>
            <a:ext cx="29535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fields, scores, ownership, action data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422392" y="4846320"/>
            <a:ext cx="25146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63" name="Text 61"/>
          <p:cNvSpPr/>
          <p:nvPr/>
        </p:nvSpPr>
        <p:spPr>
          <a:xfrm>
            <a:off x="5431536" y="4855464"/>
            <a:ext cx="249631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Dashboards, exports, management reports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936992" y="4846320"/>
            <a:ext cx="27889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65" name="Text 63"/>
          <p:cNvSpPr/>
          <p:nvPr/>
        </p:nvSpPr>
        <p:spPr>
          <a:xfrm>
            <a:off x="7946136" y="4855464"/>
            <a:ext cx="277063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management decisions.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0725912" y="4846320"/>
            <a:ext cx="1051560" cy="850392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67" name="Text 65"/>
          <p:cNvSpPr/>
          <p:nvPr/>
        </p:nvSpPr>
        <p:spPr>
          <a:xfrm>
            <a:off x="10735056" y="4855464"/>
            <a:ext cx="1033272" cy="832104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5669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programs analyzed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1832" y="1316736"/>
            <a:ext cx="2743200" cy="384048"/>
          </a:xfrm>
          <a:prstGeom prst="rect">
            <a:avLst/>
          </a:prstGeom>
          <a:solidFill>
            <a:srgbClr val="0B4778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9" name="Text 7"/>
          <p:cNvSpPr/>
          <p:nvPr/>
        </p:nvSpPr>
        <p:spPr>
          <a:xfrm>
            <a:off x="950976" y="1325880"/>
            <a:ext cx="2724912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program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85032" y="1316736"/>
            <a:ext cx="4831082" cy="3840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1" name="Text 9"/>
          <p:cNvSpPr/>
          <p:nvPr/>
        </p:nvSpPr>
        <p:spPr>
          <a:xfrm>
            <a:off x="3694176" y="1325880"/>
            <a:ext cx="51937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19397" y="1325880"/>
            <a:ext cx="1836834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/ provider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1832" y="1700784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5" name="Text 13"/>
          <p:cNvSpPr/>
          <p:nvPr/>
        </p:nvSpPr>
        <p:spPr>
          <a:xfrm>
            <a:off x="950976" y="1709928"/>
            <a:ext cx="2724912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Risk Manager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85032" y="1700784"/>
            <a:ext cx="483108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7" name="Text 15"/>
          <p:cNvSpPr/>
          <p:nvPr/>
        </p:nvSpPr>
        <p:spPr>
          <a:xfrm>
            <a:off x="3694176" y="1709928"/>
            <a:ext cx="5193792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Web, programme and enterprise risk platform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10253" y="1700784"/>
            <a:ext cx="185294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9" name="Text 17"/>
          <p:cNvSpPr/>
          <p:nvPr/>
        </p:nvSpPr>
        <p:spPr>
          <a:xfrm>
            <a:off x="8519397" y="1709928"/>
            <a:ext cx="1836834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Riskonnect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1832" y="2267712"/>
            <a:ext cx="2743200" cy="566928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1" name="Text 19"/>
          <p:cNvSpPr/>
          <p:nvPr/>
        </p:nvSpPr>
        <p:spPr>
          <a:xfrm>
            <a:off x="950976" y="2276856"/>
            <a:ext cx="2724912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Safran Risk Manager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85032" y="2267712"/>
            <a:ext cx="4831082" cy="566928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3" name="Text 21"/>
          <p:cNvSpPr/>
          <p:nvPr/>
        </p:nvSpPr>
        <p:spPr>
          <a:xfrm>
            <a:off x="3694176" y="2276856"/>
            <a:ext cx="5193792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web-based risk management application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10253" y="2267712"/>
            <a:ext cx="1852947" cy="566928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5" name="Text 23"/>
          <p:cNvSpPr/>
          <p:nvPr/>
        </p:nvSpPr>
        <p:spPr>
          <a:xfrm>
            <a:off x="8519397" y="2276856"/>
            <a:ext cx="1836834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Safran Software Solutions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1832" y="283464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7" name="Text 25"/>
          <p:cNvSpPr/>
          <p:nvPr/>
        </p:nvSpPr>
        <p:spPr>
          <a:xfrm>
            <a:off x="950976" y="2843784"/>
            <a:ext cx="2724912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RiskyProject Professional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85032" y="2834640"/>
            <a:ext cx="483108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9" name="Text 27"/>
          <p:cNvSpPr/>
          <p:nvPr/>
        </p:nvSpPr>
        <p:spPr>
          <a:xfrm>
            <a:off x="3694176" y="2843784"/>
            <a:ext cx="5193792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desktop application and Microsoft Project add-in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10253" y="2834640"/>
            <a:ext cx="185294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1" name="Text 29"/>
          <p:cNvSpPr/>
          <p:nvPr/>
        </p:nvSpPr>
        <p:spPr>
          <a:xfrm>
            <a:off x="8519397" y="2843784"/>
            <a:ext cx="1836834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Intaver Institute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1832" y="3401568"/>
            <a:ext cx="2743200" cy="566928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3" name="Text 31"/>
          <p:cNvSpPr/>
          <p:nvPr/>
        </p:nvSpPr>
        <p:spPr>
          <a:xfrm>
            <a:off x="950976" y="3410712"/>
            <a:ext cx="2724912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Primavera Cloud Risk Management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85032" y="3401568"/>
            <a:ext cx="4831082" cy="566928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5" name="Text 33"/>
          <p:cNvSpPr/>
          <p:nvPr/>
        </p:nvSpPr>
        <p:spPr>
          <a:xfrm>
            <a:off x="3694176" y="3410712"/>
            <a:ext cx="5193792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risk module inside Primavera Cloud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10253" y="3401568"/>
            <a:ext cx="1852947" cy="566928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7" name="Text 35"/>
          <p:cNvSpPr/>
          <p:nvPr/>
        </p:nvSpPr>
        <p:spPr>
          <a:xfrm>
            <a:off x="8507674" y="3410712"/>
            <a:ext cx="1836834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41832" y="396849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9" name="Text 37"/>
          <p:cNvSpPr/>
          <p:nvPr/>
        </p:nvSpPr>
        <p:spPr>
          <a:xfrm>
            <a:off x="950976" y="3977640"/>
            <a:ext cx="2724912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work management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85032" y="3968496"/>
            <a:ext cx="483108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1" name="Text 39"/>
          <p:cNvSpPr/>
          <p:nvPr/>
        </p:nvSpPr>
        <p:spPr>
          <a:xfrm>
            <a:off x="3694176" y="3977640"/>
            <a:ext cx="5193792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work-management platform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510253" y="3968496"/>
            <a:ext cx="185294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3" name="Text 41"/>
          <p:cNvSpPr/>
          <p:nvPr/>
        </p:nvSpPr>
        <p:spPr>
          <a:xfrm>
            <a:off x="8507674" y="3977640"/>
            <a:ext cx="1836834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monday.com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41832" y="4535424"/>
            <a:ext cx="2743200" cy="566928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5" name="Text 43"/>
          <p:cNvSpPr/>
          <p:nvPr/>
        </p:nvSpPr>
        <p:spPr>
          <a:xfrm>
            <a:off x="950976" y="4544568"/>
            <a:ext cx="2724912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pl-PL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685032" y="4535424"/>
            <a:ext cx="4831082" cy="566928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7" name="Text 45"/>
          <p:cNvSpPr/>
          <p:nvPr/>
        </p:nvSpPr>
        <p:spPr>
          <a:xfrm>
            <a:off x="3694176" y="4544568"/>
            <a:ext cx="5193792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collaborative spreadsheet platform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510253" y="4535424"/>
            <a:ext cx="1852947" cy="566928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9" name="Text 47"/>
          <p:cNvSpPr/>
          <p:nvPr/>
        </p:nvSpPr>
        <p:spPr>
          <a:xfrm>
            <a:off x="8507674" y="4544568"/>
            <a:ext cx="1836834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pl-PL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LLC</a:t>
            </a:r>
            <a:endParaRPr lang="en-US" sz="1200" dirty="0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283FFF4B-B8EE-0407-7577-D7F2E9BE41E2}"/>
              </a:ext>
            </a:extLst>
          </p:cNvPr>
          <p:cNvSpPr/>
          <p:nvPr/>
        </p:nvSpPr>
        <p:spPr>
          <a:xfrm>
            <a:off x="10374923" y="1325880"/>
            <a:ext cx="1283677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200" dirty="0"/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EEF941A4-B04A-3D04-3F88-2E415E769A15}"/>
              </a:ext>
            </a:extLst>
          </p:cNvPr>
          <p:cNvSpPr/>
          <p:nvPr/>
        </p:nvSpPr>
        <p:spPr>
          <a:xfrm>
            <a:off x="10365780" y="1700784"/>
            <a:ext cx="129493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9D501AFF-3030-2D7F-2080-3592BB127189}"/>
              </a:ext>
            </a:extLst>
          </p:cNvPr>
          <p:cNvSpPr/>
          <p:nvPr/>
        </p:nvSpPr>
        <p:spPr>
          <a:xfrm>
            <a:off x="10374923" y="1709928"/>
            <a:ext cx="1283677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r>
              <a:rPr lang="en-US" sz="1200" dirty="0">
                <a:solidFill>
                  <a:srgbClr val="4B5B6A"/>
                </a:solidFill>
                <a:latin typeface="Arial" pitchFamily="34" charset="0"/>
                <a:cs typeface="Arial" pitchFamily="34" charset="-120"/>
              </a:rPr>
              <a:t>Not listed</a:t>
            </a:r>
            <a:endParaRPr lang="en-US" sz="1200" dirty="0"/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7A10A238-24AE-27CC-B679-7F16B14DEDA8}"/>
              </a:ext>
            </a:extLst>
          </p:cNvPr>
          <p:cNvSpPr/>
          <p:nvPr/>
        </p:nvSpPr>
        <p:spPr>
          <a:xfrm>
            <a:off x="10365780" y="2267712"/>
            <a:ext cx="1294938" cy="566928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0C254721-91CF-ADCE-FEBF-4A900CBF2E79}"/>
              </a:ext>
            </a:extLst>
          </p:cNvPr>
          <p:cNvSpPr/>
          <p:nvPr/>
        </p:nvSpPr>
        <p:spPr>
          <a:xfrm>
            <a:off x="10374923" y="2276856"/>
            <a:ext cx="1283677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listed</a:t>
            </a:r>
            <a:endParaRPr lang="en-US" sz="1200" dirty="0"/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FFA3A674-F2B7-6402-C16A-E64278054D94}"/>
              </a:ext>
            </a:extLst>
          </p:cNvPr>
          <p:cNvSpPr/>
          <p:nvPr/>
        </p:nvSpPr>
        <p:spPr>
          <a:xfrm>
            <a:off x="10365780" y="2834640"/>
            <a:ext cx="129493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C6813727-145F-F260-8B73-3E78790FEEDA}"/>
              </a:ext>
            </a:extLst>
          </p:cNvPr>
          <p:cNvSpPr/>
          <p:nvPr/>
        </p:nvSpPr>
        <p:spPr>
          <a:xfrm>
            <a:off x="10374923" y="2843784"/>
            <a:ext cx="1283677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r>
              <a:rPr lang="en-US" sz="120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$979 yearly</a:t>
            </a:r>
            <a:endParaRPr lang="en-US" sz="1200" dirty="0"/>
          </a:p>
        </p:txBody>
      </p:sp>
      <p:sp>
        <p:nvSpPr>
          <p:cNvPr id="66" name="Shape 34">
            <a:extLst>
              <a:ext uri="{FF2B5EF4-FFF2-40B4-BE49-F238E27FC236}">
                <a16:creationId xmlns:a16="http://schemas.microsoft.com/office/drawing/2014/main" id="{6695E813-92C4-9250-8738-56F537454E2C}"/>
              </a:ext>
            </a:extLst>
          </p:cNvPr>
          <p:cNvSpPr/>
          <p:nvPr/>
        </p:nvSpPr>
        <p:spPr>
          <a:xfrm>
            <a:off x="10365780" y="3401568"/>
            <a:ext cx="1294938" cy="566928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7" name="Text 35">
            <a:extLst>
              <a:ext uri="{FF2B5EF4-FFF2-40B4-BE49-F238E27FC236}">
                <a16:creationId xmlns:a16="http://schemas.microsoft.com/office/drawing/2014/main" id="{916D9021-B348-AE17-5253-F8FBC562D5CE}"/>
              </a:ext>
            </a:extLst>
          </p:cNvPr>
          <p:cNvSpPr/>
          <p:nvPr/>
        </p:nvSpPr>
        <p:spPr>
          <a:xfrm>
            <a:off x="10363200" y="3410712"/>
            <a:ext cx="1283677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 lnSpcReduction="10000"/>
          </a:bodyPr>
          <a:lstStyle/>
          <a:p>
            <a:r>
              <a:rPr lang="en-US" sz="120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5-user annual starter pack at US$7,800</a:t>
            </a:r>
            <a:endParaRPr lang="en-US" sz="1200" dirty="0"/>
          </a:p>
        </p:txBody>
      </p:sp>
      <p:sp>
        <p:nvSpPr>
          <p:cNvPr id="68" name="Shape 40">
            <a:extLst>
              <a:ext uri="{FF2B5EF4-FFF2-40B4-BE49-F238E27FC236}">
                <a16:creationId xmlns:a16="http://schemas.microsoft.com/office/drawing/2014/main" id="{F2E4DCC3-2C9F-E8B4-BD89-DF88185EAF93}"/>
              </a:ext>
            </a:extLst>
          </p:cNvPr>
          <p:cNvSpPr/>
          <p:nvPr/>
        </p:nvSpPr>
        <p:spPr>
          <a:xfrm>
            <a:off x="10365780" y="3968496"/>
            <a:ext cx="129493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9" name="Text 41">
            <a:extLst>
              <a:ext uri="{FF2B5EF4-FFF2-40B4-BE49-F238E27FC236}">
                <a16:creationId xmlns:a16="http://schemas.microsoft.com/office/drawing/2014/main" id="{F143B48A-89A0-49DB-4C35-785B630989A1}"/>
              </a:ext>
            </a:extLst>
          </p:cNvPr>
          <p:cNvSpPr/>
          <p:nvPr/>
        </p:nvSpPr>
        <p:spPr>
          <a:xfrm>
            <a:off x="10363200" y="3977640"/>
            <a:ext cx="1283677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 fontScale="92500"/>
          </a:bodyPr>
          <a:lstStyle/>
          <a:p>
            <a:r>
              <a:rPr lang="en-US" sz="120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€9, Standard €12 and Pro €19 per seat/month</a:t>
            </a:r>
            <a:endParaRPr lang="en-US" sz="1200" dirty="0"/>
          </a:p>
        </p:txBody>
      </p:sp>
      <p:sp>
        <p:nvSpPr>
          <p:cNvPr id="70" name="Shape 46">
            <a:extLst>
              <a:ext uri="{FF2B5EF4-FFF2-40B4-BE49-F238E27FC236}">
                <a16:creationId xmlns:a16="http://schemas.microsoft.com/office/drawing/2014/main" id="{9627EE7F-8F7D-46D3-1E17-09F790CB6573}"/>
              </a:ext>
            </a:extLst>
          </p:cNvPr>
          <p:cNvSpPr/>
          <p:nvPr/>
        </p:nvSpPr>
        <p:spPr>
          <a:xfrm>
            <a:off x="10365780" y="4535424"/>
            <a:ext cx="1294938" cy="566928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1" name="Text 47">
            <a:extLst>
              <a:ext uri="{FF2B5EF4-FFF2-40B4-BE49-F238E27FC236}">
                <a16:creationId xmlns:a16="http://schemas.microsoft.com/office/drawing/2014/main" id="{97E9DB4F-D191-EA37-8A62-90722531D212}"/>
              </a:ext>
            </a:extLst>
          </p:cNvPr>
          <p:cNvSpPr/>
          <p:nvPr/>
        </p:nvSpPr>
        <p:spPr>
          <a:xfrm>
            <a:off x="10363200" y="4544568"/>
            <a:ext cx="1283677" cy="548640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 lnSpcReduction="10000"/>
          </a:bodyPr>
          <a:lstStyle/>
          <a:p>
            <a:r>
              <a:rPr lang="en-US" sz="120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7$ to 22$ per user per month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5669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Functionalities comparison matrix - register and assessment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4048" y="1115568"/>
            <a:ext cx="2212848" cy="40233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9" name="Text 7"/>
          <p:cNvSpPr/>
          <p:nvPr/>
        </p:nvSpPr>
        <p:spPr>
          <a:xfrm>
            <a:off x="393192" y="1124712"/>
            <a:ext cx="2194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96896" y="1115568"/>
            <a:ext cx="1839773" cy="40233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1" name="Text 9"/>
          <p:cNvSpPr/>
          <p:nvPr/>
        </p:nvSpPr>
        <p:spPr>
          <a:xfrm>
            <a:off x="2606040" y="1124712"/>
            <a:ext cx="1821485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6669" y="1115568"/>
            <a:ext cx="1839773" cy="402336"/>
          </a:xfrm>
          <a:prstGeom prst="rect">
            <a:avLst/>
          </a:prstGeom>
          <a:solidFill>
            <a:srgbClr val="0B4778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3" name="Text 11"/>
          <p:cNvSpPr/>
          <p:nvPr/>
        </p:nvSpPr>
        <p:spPr>
          <a:xfrm>
            <a:off x="4445813" y="1124712"/>
            <a:ext cx="1821485" cy="384048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76442" y="1115568"/>
            <a:ext cx="1839773" cy="40233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5" name="Text 13"/>
          <p:cNvSpPr/>
          <p:nvPr/>
        </p:nvSpPr>
        <p:spPr>
          <a:xfrm>
            <a:off x="6285586" y="1124712"/>
            <a:ext cx="1821485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16214" y="1115568"/>
            <a:ext cx="1839773" cy="40233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7" name="Text 15"/>
          <p:cNvSpPr/>
          <p:nvPr/>
        </p:nvSpPr>
        <p:spPr>
          <a:xfrm>
            <a:off x="8125358" y="1124712"/>
            <a:ext cx="1821485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955987" y="1115568"/>
            <a:ext cx="1839773" cy="40233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9" name="Text 17"/>
          <p:cNvSpPr/>
          <p:nvPr/>
        </p:nvSpPr>
        <p:spPr>
          <a:xfrm>
            <a:off x="9965131" y="1124712"/>
            <a:ext cx="1821485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risk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4048" y="1517904"/>
            <a:ext cx="2212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1" name="Text 19"/>
          <p:cNvSpPr/>
          <p:nvPr/>
        </p:nvSpPr>
        <p:spPr>
          <a:xfrm>
            <a:off x="393192" y="1527048"/>
            <a:ext cx="2194560" cy="621792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Risk Manager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96896" y="151790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3" name="Text 21"/>
          <p:cNvSpPr/>
          <p:nvPr/>
        </p:nvSpPr>
        <p:spPr>
          <a:xfrm>
            <a:off x="2606040" y="15270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register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36669" y="151790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5" name="Text 23"/>
          <p:cNvSpPr/>
          <p:nvPr/>
        </p:nvSpPr>
        <p:spPr>
          <a:xfrm>
            <a:off x="4445813" y="15270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ru-RU" sz="1400" b="1" dirty="0">
              <a:solidFill>
                <a:srgbClr val="7A5A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76442" y="151790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7" name="Text 25"/>
          <p:cNvSpPr/>
          <p:nvPr/>
        </p:nvSpPr>
        <p:spPr>
          <a:xfrm>
            <a:off x="6285586" y="15270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owner fields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16214" y="151790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9" name="Text 27"/>
          <p:cNvSpPr/>
          <p:nvPr/>
        </p:nvSpPr>
        <p:spPr>
          <a:xfrm>
            <a:off x="8125358" y="15270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scoring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955987" y="151790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1" name="Text 29"/>
          <p:cNvSpPr/>
          <p:nvPr/>
        </p:nvSpPr>
        <p:spPr>
          <a:xfrm>
            <a:off x="9965131" y="15270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heat maps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84048" y="2157984"/>
            <a:ext cx="2212848" cy="640080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3" name="Text 31"/>
          <p:cNvSpPr/>
          <p:nvPr/>
        </p:nvSpPr>
        <p:spPr>
          <a:xfrm>
            <a:off x="393192" y="2167128"/>
            <a:ext cx="2194560" cy="621792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Safran Risk Manager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596896" y="215798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5" name="Text 33"/>
          <p:cNvSpPr/>
          <p:nvPr/>
        </p:nvSpPr>
        <p:spPr>
          <a:xfrm>
            <a:off x="2606040" y="216712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common database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436669" y="215798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7" name="Text 35"/>
          <p:cNvSpPr/>
          <p:nvPr/>
        </p:nvSpPr>
        <p:spPr>
          <a:xfrm>
            <a:off x="4445813" y="216712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categories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76442" y="215798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9" name="Text 37"/>
          <p:cNvSpPr/>
          <p:nvPr/>
        </p:nvSpPr>
        <p:spPr>
          <a:xfrm>
            <a:off x="6285586" y="216712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roles &amp; status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116214" y="215798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1" name="Text 39"/>
          <p:cNvSpPr/>
          <p:nvPr/>
        </p:nvSpPr>
        <p:spPr>
          <a:xfrm>
            <a:off x="8125358" y="216712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scoring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955987" y="215798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3" name="Text 41"/>
          <p:cNvSpPr/>
          <p:nvPr/>
        </p:nvSpPr>
        <p:spPr>
          <a:xfrm>
            <a:off x="9965131" y="216712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dashboards/matrix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84048" y="2798064"/>
            <a:ext cx="2212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5" name="Text 43"/>
          <p:cNvSpPr/>
          <p:nvPr/>
        </p:nvSpPr>
        <p:spPr>
          <a:xfrm>
            <a:off x="393192" y="2807208"/>
            <a:ext cx="2194560" cy="621792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RiskyProject Professional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596896" y="279806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7" name="Text 45"/>
          <p:cNvSpPr/>
          <p:nvPr/>
        </p:nvSpPr>
        <p:spPr>
          <a:xfrm>
            <a:off x="2606040" y="280720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register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436669" y="279806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9" name="Text 47"/>
          <p:cNvSpPr/>
          <p:nvPr/>
        </p:nvSpPr>
        <p:spPr>
          <a:xfrm>
            <a:off x="4445813" y="280720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ru-RU" sz="1400" b="1" dirty="0">
              <a:solidFill>
                <a:srgbClr val="1F5A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 links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276442" y="279806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51" name="Text 49"/>
          <p:cNvSpPr/>
          <p:nvPr/>
        </p:nvSpPr>
        <p:spPr>
          <a:xfrm>
            <a:off x="6285586" y="280720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owner field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116214" y="279806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53" name="Text 51"/>
          <p:cNvSpPr/>
          <p:nvPr/>
        </p:nvSpPr>
        <p:spPr>
          <a:xfrm>
            <a:off x="8125358" y="280720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scoring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955987" y="279806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55" name="Text 53"/>
          <p:cNvSpPr/>
          <p:nvPr/>
        </p:nvSpPr>
        <p:spPr>
          <a:xfrm>
            <a:off x="9965131" y="280720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configurable matrix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84048" y="3438144"/>
            <a:ext cx="2212848" cy="640080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57" name="Text 55"/>
          <p:cNvSpPr/>
          <p:nvPr/>
        </p:nvSpPr>
        <p:spPr>
          <a:xfrm>
            <a:off x="393192" y="3447288"/>
            <a:ext cx="2194560" cy="621792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Primavera Cloud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2596896" y="343814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59" name="Text 57"/>
          <p:cNvSpPr/>
          <p:nvPr/>
        </p:nvSpPr>
        <p:spPr>
          <a:xfrm>
            <a:off x="2606040" y="344728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register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436669" y="343814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61" name="Text 59"/>
          <p:cNvSpPr/>
          <p:nvPr/>
        </p:nvSpPr>
        <p:spPr>
          <a:xfrm>
            <a:off x="4445813" y="344728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pl-PL" sz="14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to projects</a:t>
            </a:r>
            <a:endParaRPr lang="ru-RU" sz="1400" b="1" dirty="0">
              <a:solidFill>
                <a:srgbClr val="7A5A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276442" y="343814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63" name="Text 61"/>
          <p:cNvSpPr/>
          <p:nvPr/>
        </p:nvSpPr>
        <p:spPr>
          <a:xfrm>
            <a:off x="6285586" y="344728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ownership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8116214" y="343814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65" name="Text 63"/>
          <p:cNvSpPr/>
          <p:nvPr/>
        </p:nvSpPr>
        <p:spPr>
          <a:xfrm>
            <a:off x="8125358" y="344728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scoring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9955987" y="343814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67" name="Text 65"/>
          <p:cNvSpPr/>
          <p:nvPr/>
        </p:nvSpPr>
        <p:spPr>
          <a:xfrm>
            <a:off x="9965131" y="344728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risk matrix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384048" y="4078224"/>
            <a:ext cx="2212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69" name="Text 67"/>
          <p:cNvSpPr/>
          <p:nvPr/>
        </p:nvSpPr>
        <p:spPr>
          <a:xfrm>
            <a:off x="393192" y="4087368"/>
            <a:ext cx="2194560" cy="621792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work management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2596896" y="407822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71" name="Text 69"/>
          <p:cNvSpPr/>
          <p:nvPr/>
        </p:nvSpPr>
        <p:spPr>
          <a:xfrm>
            <a:off x="2606040" y="408736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board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4436669" y="407822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73" name="Text 71"/>
          <p:cNvSpPr/>
          <p:nvPr/>
        </p:nvSpPr>
        <p:spPr>
          <a:xfrm>
            <a:off x="4445813" y="408736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columns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276442" y="407822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 dirty="0"/>
          </a:p>
        </p:txBody>
      </p:sp>
      <p:sp>
        <p:nvSpPr>
          <p:cNvPr id="75" name="Text 73"/>
          <p:cNvSpPr/>
          <p:nvPr/>
        </p:nvSpPr>
        <p:spPr>
          <a:xfrm>
            <a:off x="6285586" y="408736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column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8116214" y="4078224"/>
            <a:ext cx="1839773" cy="640080"/>
          </a:xfrm>
          <a:prstGeom prst="rect">
            <a:avLst/>
          </a:prstGeom>
          <a:solidFill>
            <a:srgbClr val="F7D1CC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>
              <a:solidFill>
                <a:srgbClr val="F7D1CC"/>
              </a:solidFill>
            </a:endParaRPr>
          </a:p>
        </p:txBody>
      </p:sp>
      <p:sp>
        <p:nvSpPr>
          <p:cNvPr id="77" name="Text 75"/>
          <p:cNvSpPr/>
          <p:nvPr/>
        </p:nvSpPr>
        <p:spPr>
          <a:xfrm>
            <a:off x="8125358" y="408736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scoring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78" name="Shape 76"/>
          <p:cNvSpPr/>
          <p:nvPr/>
        </p:nvSpPr>
        <p:spPr>
          <a:xfrm>
            <a:off x="9955987" y="407822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79" name="Text 77"/>
          <p:cNvSpPr/>
          <p:nvPr/>
        </p:nvSpPr>
        <p:spPr>
          <a:xfrm>
            <a:off x="9965131" y="408736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dashboard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384048" y="4718304"/>
            <a:ext cx="2212848" cy="640080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81" name="Text 79"/>
          <p:cNvSpPr/>
          <p:nvPr/>
        </p:nvSpPr>
        <p:spPr>
          <a:xfrm>
            <a:off x="393192" y="4727448"/>
            <a:ext cx="2194560" cy="621792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pl-PL" sz="14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2596896" y="471830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83" name="Text 81"/>
          <p:cNvSpPr/>
          <p:nvPr/>
        </p:nvSpPr>
        <p:spPr>
          <a:xfrm>
            <a:off x="2606040" y="47274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sheet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4436669" y="471830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85" name="Text 83"/>
          <p:cNvSpPr/>
          <p:nvPr/>
        </p:nvSpPr>
        <p:spPr>
          <a:xfrm>
            <a:off x="4445813" y="47274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Columns/filters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6276442" y="471830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87" name="Text 85"/>
          <p:cNvSpPr/>
          <p:nvPr/>
        </p:nvSpPr>
        <p:spPr>
          <a:xfrm>
            <a:off x="6285586" y="47274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pl-PL" sz="14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r>
              <a:rPr lang="en-US" sz="14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8125358" y="4727448"/>
            <a:ext cx="1839773" cy="640080"/>
          </a:xfrm>
          <a:prstGeom prst="rect">
            <a:avLst/>
          </a:prstGeom>
          <a:solidFill>
            <a:srgbClr val="F7D1CC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>
              <a:solidFill>
                <a:srgbClr val="F7D1CC"/>
              </a:solidFill>
            </a:endParaRPr>
          </a:p>
        </p:txBody>
      </p:sp>
      <p:sp>
        <p:nvSpPr>
          <p:cNvPr id="89" name="Text 87"/>
          <p:cNvSpPr/>
          <p:nvPr/>
        </p:nvSpPr>
        <p:spPr>
          <a:xfrm>
            <a:off x="8125358" y="47274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scoring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90" name="Shape 88"/>
          <p:cNvSpPr/>
          <p:nvPr/>
        </p:nvSpPr>
        <p:spPr>
          <a:xfrm>
            <a:off x="9955987" y="471830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91" name="Text 89"/>
          <p:cNvSpPr/>
          <p:nvPr/>
        </p:nvSpPr>
        <p:spPr>
          <a:xfrm>
            <a:off x="9965131" y="47274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Template/conditional format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658368" y="58155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DDEED9"/>
          </a:solidFill>
          <a:ln w="12700">
            <a:solidFill>
              <a:srgbClr val="DDEED9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3" name="Text 91"/>
          <p:cNvSpPr/>
          <p:nvPr/>
        </p:nvSpPr>
        <p:spPr>
          <a:xfrm>
            <a:off x="868680" y="5811012"/>
            <a:ext cx="18288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2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 native / strong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715768" y="58155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0C2"/>
          </a:solidFill>
          <a:ln w="12700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5" name="Text 93"/>
          <p:cNvSpPr/>
          <p:nvPr/>
        </p:nvSpPr>
        <p:spPr>
          <a:xfrm>
            <a:off x="2926080" y="5811012"/>
            <a:ext cx="256032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pl-PL" sz="900" dirty="0">
                <a:solidFill>
                  <a:srgbClr val="72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r>
              <a:rPr lang="en-US" sz="900" dirty="0">
                <a:solidFill>
                  <a:srgbClr val="72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configurable / partial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504688" y="58155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7D1CC"/>
          </a:solidFill>
          <a:ln w="12700">
            <a:solidFill>
              <a:srgbClr val="F7D1C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7" name="Text 95"/>
          <p:cNvSpPr/>
          <p:nvPr/>
        </p:nvSpPr>
        <p:spPr>
          <a:xfrm>
            <a:off x="5715000" y="5811012"/>
            <a:ext cx="21945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2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missing / manual only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D74AA"/>
          </a:solidFill>
          <a:ln w="12700">
            <a:solidFill>
              <a:srgbClr val="1D7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502920" y="265176"/>
            <a:ext cx="1737360" cy="210312"/>
          </a:xfrm>
          <a:prstGeom prst="roundRect">
            <a:avLst>
              <a:gd name="adj" fmla="val 26087"/>
            </a:avLst>
          </a:prstGeom>
          <a:solidFill>
            <a:srgbClr val="E3F0FA"/>
          </a:solidFill>
          <a:ln w="12700">
            <a:solidFill>
              <a:srgbClr val="E3F0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76072" y="315468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B4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MATRIX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Functionalities comparison matrix - response, control and reporting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1115568"/>
            <a:ext cx="2212848" cy="40233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9" name="Text 7"/>
          <p:cNvSpPr/>
          <p:nvPr/>
        </p:nvSpPr>
        <p:spPr>
          <a:xfrm>
            <a:off x="393192" y="1124712"/>
            <a:ext cx="2194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96896" y="1115568"/>
            <a:ext cx="1839773" cy="40233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1" name="Text 9"/>
          <p:cNvSpPr/>
          <p:nvPr/>
        </p:nvSpPr>
        <p:spPr>
          <a:xfrm>
            <a:off x="2606040" y="1124712"/>
            <a:ext cx="1821485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6669" y="1115568"/>
            <a:ext cx="1839773" cy="40233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3" name="Text 11"/>
          <p:cNvSpPr/>
          <p:nvPr/>
        </p:nvSpPr>
        <p:spPr>
          <a:xfrm>
            <a:off x="4445813" y="1124712"/>
            <a:ext cx="1821485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6442" y="1115568"/>
            <a:ext cx="1839773" cy="40233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5" name="Text 13"/>
          <p:cNvSpPr/>
          <p:nvPr/>
        </p:nvSpPr>
        <p:spPr>
          <a:xfrm>
            <a:off x="6285586" y="1124712"/>
            <a:ext cx="1821485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6214" y="1115568"/>
            <a:ext cx="1839773" cy="40233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7" name="Text 15"/>
          <p:cNvSpPr/>
          <p:nvPr/>
        </p:nvSpPr>
        <p:spPr>
          <a:xfrm>
            <a:off x="8125358" y="1124712"/>
            <a:ext cx="1821485" cy="384048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55987" y="1115568"/>
            <a:ext cx="1839773" cy="40233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477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9" name="Text 17"/>
          <p:cNvSpPr/>
          <p:nvPr/>
        </p:nvSpPr>
        <p:spPr>
          <a:xfrm>
            <a:off x="9965131" y="1124712"/>
            <a:ext cx="1821485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" y="1517904"/>
            <a:ext cx="2212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1" name="Text 19"/>
          <p:cNvSpPr/>
          <p:nvPr/>
        </p:nvSpPr>
        <p:spPr>
          <a:xfrm>
            <a:off x="393192" y="1527048"/>
            <a:ext cx="2194560" cy="621792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Risk Manager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96896" y="151790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3" name="Text 21"/>
          <p:cNvSpPr/>
          <p:nvPr/>
        </p:nvSpPr>
        <p:spPr>
          <a:xfrm>
            <a:off x="2606040" y="15270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Native/configured strategies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6669" y="151790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5" name="Text 23"/>
          <p:cNvSpPr/>
          <p:nvPr/>
        </p:nvSpPr>
        <p:spPr>
          <a:xfrm>
            <a:off x="4445813" y="15270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workflow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76442" y="151790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7" name="Text 25"/>
          <p:cNvSpPr/>
          <p:nvPr/>
        </p:nvSpPr>
        <p:spPr>
          <a:xfrm>
            <a:off x="6285586" y="15270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r>
              <a:rPr lang="pl-PL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16214" y="151790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9" name="Text 27"/>
          <p:cNvSpPr/>
          <p:nvPr/>
        </p:nvSpPr>
        <p:spPr>
          <a:xfrm>
            <a:off x="8125358" y="15270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analysis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955987" y="151790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1" name="Text 29"/>
          <p:cNvSpPr/>
          <p:nvPr/>
        </p:nvSpPr>
        <p:spPr>
          <a:xfrm>
            <a:off x="9965131" y="15270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reports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4048" y="2157984"/>
            <a:ext cx="2212848" cy="640080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3" name="Text 31"/>
          <p:cNvSpPr/>
          <p:nvPr/>
        </p:nvSpPr>
        <p:spPr>
          <a:xfrm>
            <a:off x="393192" y="2167128"/>
            <a:ext cx="2194560" cy="621792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Safran Risk Manager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96896" y="215798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5" name="Text 33"/>
          <p:cNvSpPr/>
          <p:nvPr/>
        </p:nvSpPr>
        <p:spPr>
          <a:xfrm>
            <a:off x="2606040" y="216712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strategies/actions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36669" y="215798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7" name="Text 35"/>
          <p:cNvSpPr/>
          <p:nvPr/>
        </p:nvSpPr>
        <p:spPr>
          <a:xfrm>
            <a:off x="4445813" y="216712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workflow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76442" y="215798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6285586" y="216712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pl-PL" sz="1200" b="1" dirty="0">
                <a:solidFill>
                  <a:srgbClr val="1F5A22"/>
                </a:solidFill>
                <a:latin typeface="Arial" pitchFamily="34" charset="0"/>
                <a:cs typeface="Arial" pitchFamily="34" charset="-120"/>
              </a:rPr>
              <a:t>Triggers and history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16214" y="215798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1" name="Text 39"/>
          <p:cNvSpPr/>
          <p:nvPr/>
        </p:nvSpPr>
        <p:spPr>
          <a:xfrm>
            <a:off x="8125358" y="216712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analysis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955987" y="215798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3" name="Text 41"/>
          <p:cNvSpPr/>
          <p:nvPr/>
        </p:nvSpPr>
        <p:spPr>
          <a:xfrm>
            <a:off x="9965131" y="216712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dashboards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84048" y="2798064"/>
            <a:ext cx="2212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5" name="Text 43"/>
          <p:cNvSpPr/>
          <p:nvPr/>
        </p:nvSpPr>
        <p:spPr>
          <a:xfrm>
            <a:off x="393192" y="2807208"/>
            <a:ext cx="2194560" cy="621792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RiskyProject Professional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96896" y="279806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7" name="Text 45"/>
          <p:cNvSpPr/>
          <p:nvPr/>
        </p:nvSpPr>
        <p:spPr>
          <a:xfrm>
            <a:off x="2606040" y="280720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planning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436669" y="279806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9" name="Text 47"/>
          <p:cNvSpPr/>
          <p:nvPr/>
        </p:nvSpPr>
        <p:spPr>
          <a:xfrm>
            <a:off x="4445813" y="280720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action plan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276442" y="279806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 dirty="0"/>
          </a:p>
        </p:txBody>
      </p:sp>
      <p:sp>
        <p:nvSpPr>
          <p:cNvPr id="51" name="Text 49"/>
          <p:cNvSpPr/>
          <p:nvPr/>
        </p:nvSpPr>
        <p:spPr>
          <a:xfrm>
            <a:off x="6285586" y="280720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pl-PL" sz="1200" b="1" dirty="0">
                <a:solidFill>
                  <a:srgbClr val="1F5A22"/>
                </a:solidFill>
                <a:latin typeface="Arial" pitchFamily="34" charset="0"/>
                <a:cs typeface="Arial" pitchFamily="34" charset="-120"/>
              </a:rPr>
              <a:t>Triggers and history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116214" y="279806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3" name="Text 51"/>
          <p:cNvSpPr/>
          <p:nvPr/>
        </p:nvSpPr>
        <p:spPr>
          <a:xfrm>
            <a:off x="8125358" y="280720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analysis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955987" y="279806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5" name="Text 53"/>
          <p:cNvSpPr/>
          <p:nvPr/>
        </p:nvSpPr>
        <p:spPr>
          <a:xfrm>
            <a:off x="9965131" y="280720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Reports; desktop oriented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84048" y="3438144"/>
            <a:ext cx="2212848" cy="640080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7" name="Text 55"/>
          <p:cNvSpPr/>
          <p:nvPr/>
        </p:nvSpPr>
        <p:spPr>
          <a:xfrm>
            <a:off x="393192" y="3447288"/>
            <a:ext cx="2194560" cy="621792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Primavera Cloud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596896" y="343814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9" name="Text 57"/>
          <p:cNvSpPr/>
          <p:nvPr/>
        </p:nvSpPr>
        <p:spPr>
          <a:xfrm>
            <a:off x="2606040" y="344728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Threat/opportunity responses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436669" y="343814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1" name="Text 59"/>
          <p:cNvSpPr/>
          <p:nvPr/>
        </p:nvSpPr>
        <p:spPr>
          <a:xfrm>
            <a:off x="4445813" y="344728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actions + activity links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276442" y="343814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 dirty="0"/>
          </a:p>
        </p:txBody>
      </p:sp>
      <p:sp>
        <p:nvSpPr>
          <p:cNvPr id="63" name="Text 61"/>
          <p:cNvSpPr/>
          <p:nvPr/>
        </p:nvSpPr>
        <p:spPr>
          <a:xfrm>
            <a:off x="6285586" y="344728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r>
              <a:rPr lang="pl-PL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116214" y="343814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 dirty="0"/>
          </a:p>
        </p:txBody>
      </p:sp>
      <p:sp>
        <p:nvSpPr>
          <p:cNvPr id="65" name="Text 63"/>
          <p:cNvSpPr/>
          <p:nvPr/>
        </p:nvSpPr>
        <p:spPr>
          <a:xfrm>
            <a:off x="8125358" y="344728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analysis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955987" y="343814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7" name="Text 65"/>
          <p:cNvSpPr/>
          <p:nvPr/>
        </p:nvSpPr>
        <p:spPr>
          <a:xfrm>
            <a:off x="9965131" y="344728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dashboards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84048" y="4078224"/>
            <a:ext cx="2212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9" name="Text 67"/>
          <p:cNvSpPr/>
          <p:nvPr/>
        </p:nvSpPr>
        <p:spPr>
          <a:xfrm>
            <a:off x="393192" y="4087368"/>
            <a:ext cx="2194560" cy="621792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work management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2596896" y="407822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1" name="Text 69"/>
          <p:cNvSpPr/>
          <p:nvPr/>
        </p:nvSpPr>
        <p:spPr>
          <a:xfrm>
            <a:off x="2606040" y="408736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Template/configured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436669" y="407822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3" name="Text 71"/>
          <p:cNvSpPr/>
          <p:nvPr/>
        </p:nvSpPr>
        <p:spPr>
          <a:xfrm>
            <a:off x="4445813" y="408736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+ automations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276442" y="407822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5" name="Text 73"/>
          <p:cNvSpPr/>
          <p:nvPr/>
        </p:nvSpPr>
        <p:spPr>
          <a:xfrm>
            <a:off x="6285586" y="408736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r>
              <a:rPr lang="pl-PL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manual </a:t>
            </a:r>
            <a:r>
              <a:rPr lang="en-US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8116214" y="4078224"/>
            <a:ext cx="1839773" cy="640080"/>
          </a:xfrm>
          <a:prstGeom prst="rect">
            <a:avLst/>
          </a:prstGeom>
          <a:solidFill>
            <a:srgbClr val="F7D1CC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7" name="Text 75"/>
          <p:cNvSpPr/>
          <p:nvPr/>
        </p:nvSpPr>
        <p:spPr>
          <a:xfrm>
            <a:off x="8125358" y="408736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pl-PL" sz="1200" b="1" dirty="0">
                <a:solidFill>
                  <a:srgbClr val="84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961462" y="4083699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9" name="Text 77"/>
          <p:cNvSpPr/>
          <p:nvPr/>
        </p:nvSpPr>
        <p:spPr>
          <a:xfrm>
            <a:off x="9965131" y="408736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dashboards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384048" y="4718304"/>
            <a:ext cx="2212848" cy="640080"/>
          </a:xfrm>
          <a:prstGeom prst="rect">
            <a:avLst/>
          </a:prstGeom>
          <a:solidFill>
            <a:srgbClr val="ED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81" name="Text 79"/>
          <p:cNvSpPr/>
          <p:nvPr/>
        </p:nvSpPr>
        <p:spPr>
          <a:xfrm>
            <a:off x="393192" y="4727448"/>
            <a:ext cx="2194560" cy="621792"/>
          </a:xfrm>
          <a:prstGeom prst="rect">
            <a:avLst/>
          </a:prstGeom>
          <a:noFill/>
          <a:ln/>
        </p:spPr>
        <p:txBody>
          <a:bodyPr wrap="square" lIns="699" tIns="699" rIns="699" bIns="699" rtlCol="0" anchor="ctr">
            <a:normAutofit/>
          </a:bodyPr>
          <a:lstStyle/>
          <a:p>
            <a:r>
              <a:rPr lang="pl-PL" sz="1200" b="1" dirty="0">
                <a:solidFill>
                  <a:srgbClr val="18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2596896" y="471830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83" name="Text 81"/>
          <p:cNvSpPr/>
          <p:nvPr/>
        </p:nvSpPr>
        <p:spPr>
          <a:xfrm>
            <a:off x="2606040" y="47274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plans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4436669" y="471830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85" name="Text 83"/>
          <p:cNvSpPr/>
          <p:nvPr/>
        </p:nvSpPr>
        <p:spPr>
          <a:xfrm>
            <a:off x="4445813" y="47274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+ automations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276442" y="4718304"/>
            <a:ext cx="1839773" cy="640080"/>
          </a:xfrm>
          <a:prstGeom prst="rect">
            <a:avLst/>
          </a:prstGeom>
          <a:solidFill>
            <a:srgbClr val="FFF0C2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87" name="Text 85"/>
          <p:cNvSpPr/>
          <p:nvPr/>
        </p:nvSpPr>
        <p:spPr>
          <a:xfrm>
            <a:off x="6285586" y="47274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r>
              <a:rPr lang="pl-PL" sz="12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automation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8116214" y="4718304"/>
            <a:ext cx="1839773" cy="640080"/>
          </a:xfrm>
          <a:prstGeom prst="rect">
            <a:avLst/>
          </a:prstGeom>
          <a:solidFill>
            <a:srgbClr val="F7D1CC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89" name="Text 87"/>
          <p:cNvSpPr/>
          <p:nvPr/>
        </p:nvSpPr>
        <p:spPr>
          <a:xfrm>
            <a:off x="8125358" y="47274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42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9955987" y="4718304"/>
            <a:ext cx="1839773" cy="640080"/>
          </a:xfrm>
          <a:prstGeom prst="rect">
            <a:avLst/>
          </a:prstGeom>
          <a:solidFill>
            <a:srgbClr val="DDEED9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91" name="Text 89"/>
          <p:cNvSpPr/>
          <p:nvPr/>
        </p:nvSpPr>
        <p:spPr>
          <a:xfrm>
            <a:off x="9965131" y="4727448"/>
            <a:ext cx="1821485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dashboards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658368" y="58155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DDEED9"/>
          </a:solidFill>
          <a:ln w="12700">
            <a:solidFill>
              <a:srgbClr val="DDEED9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3" name="Text 91"/>
          <p:cNvSpPr/>
          <p:nvPr/>
        </p:nvSpPr>
        <p:spPr>
          <a:xfrm>
            <a:off x="868680" y="5811012"/>
            <a:ext cx="182880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2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 native / strong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715768" y="58155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0C2"/>
          </a:solidFill>
          <a:ln w="12700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5" name="Text 93"/>
          <p:cNvSpPr/>
          <p:nvPr/>
        </p:nvSpPr>
        <p:spPr>
          <a:xfrm>
            <a:off x="2926080" y="5811012"/>
            <a:ext cx="256032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pl-PL" sz="900" dirty="0">
                <a:solidFill>
                  <a:srgbClr val="72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r>
              <a:rPr lang="en-US" sz="900" dirty="0">
                <a:solidFill>
                  <a:srgbClr val="72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configurable / partial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504688" y="581558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7D1CC"/>
          </a:solidFill>
          <a:ln w="12700">
            <a:solidFill>
              <a:srgbClr val="F7D1C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7" name="Text 95"/>
          <p:cNvSpPr/>
          <p:nvPr/>
        </p:nvSpPr>
        <p:spPr>
          <a:xfrm>
            <a:off x="5715000" y="5811012"/>
            <a:ext cx="21945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2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missing / manual only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D74AA"/>
          </a:solidFill>
          <a:ln w="12700">
            <a:solidFill>
              <a:srgbClr val="1D7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software: </a:t>
            </a:r>
            <a:r>
              <a:rPr lang="pl-PL" sz="2400" b="1" dirty="0">
                <a:solidFill>
                  <a:srgbClr val="0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40080" y="1627632"/>
            <a:ext cx="510235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3" name="Text 10"/>
          <p:cNvSpPr/>
          <p:nvPr/>
        </p:nvSpPr>
        <p:spPr>
          <a:xfrm>
            <a:off x="749808" y="1709928"/>
            <a:ext cx="4882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team fit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9808" y="190195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pl-PL" sz="105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1050" dirty="0" err="1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roject</a:t>
            </a:r>
            <a:r>
              <a:rPr lang="en-US" sz="105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team wanting forms, formulas, reports and dashboards with low transition friction.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2542032"/>
            <a:ext cx="510235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6" name="Text 13"/>
          <p:cNvSpPr/>
          <p:nvPr/>
        </p:nvSpPr>
        <p:spPr>
          <a:xfrm>
            <a:off x="749808" y="2624328"/>
            <a:ext cx="4882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High-confidence capabilities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9808" y="2816352"/>
            <a:ext cx="48828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</a:t>
            </a:r>
            <a:r>
              <a:rPr lang="en-US" sz="1050" dirty="0">
                <a:solidFill>
                  <a:srgbClr val="18344F"/>
                </a:solidFill>
                <a:latin typeface="Arial" pitchFamily="34" charset="0"/>
                <a:cs typeface="Arial" pitchFamily="34" charset="-120"/>
              </a:rPr>
              <a:t>risk</a:t>
            </a:r>
            <a:r>
              <a:rPr lang="en-US" sz="105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intake through forms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Formulas and conditional formatting for scoring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Dashboards for high-priority risks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Many risk-register and matrix templates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3785616"/>
            <a:ext cx="5102352" cy="713232"/>
          </a:xfrm>
          <a:prstGeom prst="roundRect">
            <a:avLst>
              <a:gd name="adj" fmla="val 7692"/>
            </a:avLst>
          </a:prstGeom>
          <a:solidFill>
            <a:srgbClr val="FFFDF5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9" name="Text 16"/>
          <p:cNvSpPr/>
          <p:nvPr/>
        </p:nvSpPr>
        <p:spPr>
          <a:xfrm>
            <a:off x="749808" y="3867912"/>
            <a:ext cx="4882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limitations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49808" y="4059936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for tracking, but advanced risk-method support is template/formula driven rather than native.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4690872"/>
            <a:ext cx="5102352" cy="877824"/>
          </a:xfrm>
          <a:prstGeom prst="roundRect">
            <a:avLst>
              <a:gd name="adj" fmla="val 6250"/>
            </a:avLst>
          </a:prstGeom>
          <a:solidFill>
            <a:srgbClr val="FFF7DC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2" name="Text 19"/>
          <p:cNvSpPr/>
          <p:nvPr/>
        </p:nvSpPr>
        <p:spPr>
          <a:xfrm>
            <a:off x="749808" y="4773168"/>
            <a:ext cx="4882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E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/ pricing note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49808" y="4965192"/>
            <a:ext cx="4882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free version for personal use.</a:t>
            </a:r>
            <a:br>
              <a:rPr lang="en-US" sz="100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00" dirty="0">
                <a:solidFill>
                  <a:srgbClr val="4B5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7$ to 22$ per user per month for business. Comes in google suit for business with a lot of additional features besides sheets (for example google disk space) </a:t>
            </a:r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DCBF6-1432-1331-B26A-08E5472CA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91" y="2525719"/>
            <a:ext cx="5520626" cy="2830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0DDED8-4811-A94F-9424-AC5690600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511" y="722376"/>
            <a:ext cx="1143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6F194-DDFD-98BD-DD7C-21DF43451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43FE74-C985-DFF9-9391-C77DBC5084A1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D74AA"/>
          </a:solidFill>
          <a:ln w="12700">
            <a:solidFill>
              <a:srgbClr val="1D7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57E9F3-DFAF-92DD-BBC2-8ABE7E750185}"/>
              </a:ext>
            </a:extLst>
          </p:cNvPr>
          <p:cNvSpPr/>
          <p:nvPr/>
        </p:nvSpPr>
        <p:spPr>
          <a:xfrm>
            <a:off x="502920" y="5669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E2E4A"/>
                </a:solidFill>
                <a:latin typeface="Arial" pitchFamily="34" charset="0"/>
                <a:cs typeface="Arial" pitchFamily="34" charset="-120"/>
              </a:rPr>
              <a:t>Why Google sheets?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1A44A-DD87-E897-BE83-DB60FA807CC9}"/>
              </a:ext>
            </a:extLst>
          </p:cNvPr>
          <p:cNvSpPr txBox="1"/>
          <p:nvPr/>
        </p:nvSpPr>
        <p:spPr>
          <a:xfrm>
            <a:off x="502920" y="1207698"/>
            <a:ext cx="91759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8344F"/>
                </a:solidFill>
                <a:latin typeface="Arial" pitchFamily="34" charset="0"/>
                <a:cs typeface="Arial" pitchFamily="34" charset="-120"/>
              </a:rPr>
              <a:t>Free access without demo requests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8344F"/>
                </a:solidFill>
                <a:latin typeface="Arial" pitchFamily="34" charset="0"/>
                <a:cs typeface="Arial" pitchFamily="34" charset="-120"/>
              </a:rPr>
              <a:t>Enough for lab to edit Risk register and review 5x5 Risk matrix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8344F"/>
                </a:solidFill>
                <a:latin typeface="Arial" pitchFamily="34" charset="0"/>
                <a:cs typeface="Arial" pitchFamily="34" charset="-120"/>
              </a:rPr>
              <a:t>Familiar to students</a:t>
            </a:r>
          </a:p>
        </p:txBody>
      </p:sp>
    </p:spTree>
    <p:extLst>
      <p:ext uri="{BB962C8B-B14F-4D97-AF65-F5344CB8AC3E}">
        <p14:creationId xmlns:p14="http://schemas.microsoft.com/office/powerpoint/2010/main" val="2908452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83C04-88BE-2928-EF3F-8894B2897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86CD39-B11B-AD3A-81E6-4C3D50A793C3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D74AA"/>
          </a:solidFill>
          <a:ln w="12700">
            <a:solidFill>
              <a:srgbClr val="1D7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5881D0-0142-1C6F-9578-99617D0EC4B2}"/>
              </a:ext>
            </a:extLst>
          </p:cNvPr>
          <p:cNvSpPr/>
          <p:nvPr/>
        </p:nvSpPr>
        <p:spPr>
          <a:xfrm>
            <a:off x="502920" y="5669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E2E4A"/>
                </a:solidFill>
                <a:latin typeface="Arial" pitchFamily="34" charset="0"/>
                <a:cs typeface="Arial" pitchFamily="34" charset="-120"/>
              </a:rPr>
              <a:t>Preparation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FD8A1-95D7-3163-6685-88A25DD2166C}"/>
              </a:ext>
            </a:extLst>
          </p:cNvPr>
          <p:cNvSpPr txBox="1"/>
          <p:nvPr/>
        </p:nvSpPr>
        <p:spPr>
          <a:xfrm>
            <a:off x="502920" y="1207698"/>
            <a:ext cx="91759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rgbClr val="18344F"/>
                </a:solidFill>
                <a:latin typeface="Arial" pitchFamily="34" charset="0"/>
                <a:cs typeface="Arial" pitchFamily="34" charset="-120"/>
              </a:rPr>
              <a:t>Go to </a:t>
            </a:r>
            <a:r>
              <a:rPr lang="en-US" sz="2800" dirty="0" err="1">
                <a:solidFill>
                  <a:srgbClr val="18344F"/>
                </a:solidFill>
                <a:latin typeface="Arial" pitchFamily="34" charset="0"/>
                <a:cs typeface="Arial" pitchFamily="34" charset="-120"/>
              </a:rPr>
              <a:t>sheets.new</a:t>
            </a:r>
            <a:r>
              <a:rPr lang="en-US" sz="2800" dirty="0">
                <a:solidFill>
                  <a:srgbClr val="18344F"/>
                </a:solidFill>
                <a:latin typeface="Arial" pitchFamily="34" charset="0"/>
                <a:cs typeface="Arial" pitchFamily="34" charset="-12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rgbClr val="18344F"/>
                </a:solidFill>
                <a:latin typeface="Arial" pitchFamily="34" charset="0"/>
                <a:cs typeface="Arial" pitchFamily="34" charset="-120"/>
              </a:rPr>
              <a:t>File &gt; Import &gt; Pick the downloaded template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rgbClr val="18344F"/>
                </a:solidFill>
                <a:latin typeface="Arial" pitchFamily="34" charset="0"/>
                <a:cs typeface="Arial" pitchFamily="34" charset="-120"/>
              </a:rPr>
              <a:t>Observe two sheets: Risk Register, 5x5 Risk matrix</a:t>
            </a:r>
          </a:p>
        </p:txBody>
      </p:sp>
    </p:spTree>
    <p:extLst>
      <p:ext uri="{BB962C8B-B14F-4D97-AF65-F5344CB8AC3E}">
        <p14:creationId xmlns:p14="http://schemas.microsoft.com/office/powerpoint/2010/main" val="3514114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CDEBA-2B00-FD22-B877-E553FF22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A42F21-C7BB-CF1F-98BC-0AD48D23F176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D74AA"/>
          </a:solidFill>
          <a:ln w="12700">
            <a:solidFill>
              <a:srgbClr val="1D74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7342C7-491E-9046-AEBC-941AD9A69089}"/>
              </a:ext>
            </a:extLst>
          </p:cNvPr>
          <p:cNvSpPr/>
          <p:nvPr/>
        </p:nvSpPr>
        <p:spPr>
          <a:xfrm>
            <a:off x="502920" y="5669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E2E4A"/>
                </a:solidFill>
                <a:latin typeface="Arial" pitchFamily="34" charset="0"/>
                <a:cs typeface="Arial" pitchFamily="34" charset="-120"/>
              </a:rPr>
              <a:t>Practical tasks (Google sheets):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FC925-62CF-340C-0114-0071D1FBBB4E}"/>
              </a:ext>
            </a:extLst>
          </p:cNvPr>
          <p:cNvSpPr txBox="1"/>
          <p:nvPr/>
        </p:nvSpPr>
        <p:spPr>
          <a:xfrm>
            <a:off x="502920" y="1207698"/>
            <a:ext cx="91759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rgbClr val="18344F"/>
                </a:solidFill>
                <a:latin typeface="Arial" pitchFamily="34" charset="0"/>
                <a:cs typeface="Arial" pitchFamily="34" charset="-120"/>
              </a:rPr>
              <a:t>In the provided .xlsx template delete the existing risks. Add 10 risks.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rgbClr val="18344F"/>
                </a:solidFill>
                <a:latin typeface="Arial" pitchFamily="34" charset="0"/>
                <a:cs typeface="Arial" pitchFamily="34" charset="-120"/>
              </a:rPr>
              <a:t>For each risk add probability and impact.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rgbClr val="18344F"/>
                </a:solidFill>
                <a:latin typeface="Arial" pitchFamily="34" charset="0"/>
                <a:cs typeface="Arial" pitchFamily="34" charset="-120"/>
              </a:rPr>
              <a:t>Show how this risks are displayed in 5x5 matrix and interpret what it means. 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638987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457</TotalTime>
  <Words>1104</Words>
  <Application>Microsoft Office PowerPoint</Application>
  <PresentationFormat>Widescreen</PresentationFormat>
  <Paragraphs>269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Risk Management Software</dc:title>
  <dc:subject>Comparative analysis of risk management software</dc:subject>
  <dc:creator>OpenAI</dc:creator>
  <cp:lastModifiedBy>alex pim</cp:lastModifiedBy>
  <cp:revision>15</cp:revision>
  <dcterms:created xsi:type="dcterms:W3CDTF">2026-05-25T08:14:12Z</dcterms:created>
  <dcterms:modified xsi:type="dcterms:W3CDTF">2026-06-02T06:57:53Z</dcterms:modified>
</cp:coreProperties>
</file>