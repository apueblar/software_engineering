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9" r:id="rId7"/>
    <p:sldId id="272" r:id="rId8"/>
    <p:sldId id="273" r:id="rId9"/>
    <p:sldId id="274" r:id="rId10"/>
    <p:sldId id="275" r:id="rId11"/>
    <p:sldId id="276" r:id="rId12"/>
    <p:sldId id="261" r:id="rId13"/>
    <p:sldId id="264" r:id="rId14"/>
    <p:sldId id="271" r:id="rId15"/>
    <p:sldId id="268" r:id="rId16"/>
    <p:sldId id="270" r:id="rId17"/>
    <p:sldId id="267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ACAE"/>
    <a:srgbClr val="FFFFA5"/>
    <a:srgbClr val="FFFFD1"/>
    <a:srgbClr val="FFFF7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577"/>
    <p:restoredTop sz="94733"/>
  </p:normalViewPr>
  <p:slideViewPr>
    <p:cSldViewPr snapToGrid="0">
      <p:cViewPr>
        <p:scale>
          <a:sx n="127" d="100"/>
          <a:sy n="127" d="100"/>
        </p:scale>
        <p:origin x="-4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4C3BED-A0C1-6643-AFBC-68E758C8CE51}" type="datetimeFigureOut">
              <a:rPr lang="en-US" smtClean="0"/>
              <a:t>4/20/26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C2517B-7A2A-A04D-95D1-D50B149B2F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86232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C2517B-7A2A-A04D-95D1-D50B149B2FB1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9038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09EC3B-1C75-CBDB-4878-57F281BB34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158019-CF3D-F66E-3374-967F663827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C5DC6E-60EF-7622-4027-93968F4263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7CB2F-2B68-3C43-BA6F-F89267F04F02}" type="datetimeFigureOut">
              <a:rPr lang="en-US" smtClean="0"/>
              <a:t>4/20/26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3F8B71-2738-CB4B-114B-BBE9D1DF61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1DC52B-EB93-9260-8759-69EFF24D5E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7455B-FEA7-834A-8E1F-893BE1F5AE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61668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DA8680-7D69-ABFD-92A3-E8737C43CD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7289FF-3234-96DB-3CEF-889E7AC459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60AB69-1A4D-DD86-89C9-9751902E89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7CB2F-2B68-3C43-BA6F-F89267F04F02}" type="datetimeFigureOut">
              <a:rPr lang="en-US" smtClean="0"/>
              <a:t>4/20/26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08265E-8C3D-882F-D207-60B922831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C4B747-379E-72B8-690F-5D3DCE5F5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7455B-FEA7-834A-8E1F-893BE1F5AE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81475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9C5625-D7D5-61AF-23B2-F33D12DE36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2C60B9-6779-6479-F1E5-0A7DF1C47A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8980C8-80D3-A0CD-02C5-E125A52DFC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7CB2F-2B68-3C43-BA6F-F89267F04F02}" type="datetimeFigureOut">
              <a:rPr lang="en-US" smtClean="0"/>
              <a:t>4/20/26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6E2E5E-55FB-4F73-FD4C-1252081657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975D77-4115-9562-404D-966E9254F6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7455B-FEA7-834A-8E1F-893BE1F5AE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24160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9BF15-DB51-AFAE-EBD1-FC8431C2D3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B73857-FBFF-1924-ECF1-F3EF72A630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CAD845-BF28-8E3E-5C87-6D2DFA8D06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3F4258-FB5A-6208-CB4C-82462607E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7CB2F-2B68-3C43-BA6F-F89267F04F02}" type="datetimeFigureOut">
              <a:rPr lang="en-US" smtClean="0"/>
              <a:t>4/20/26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46CA98-39BB-F77E-DED5-D295BE83A2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A17661-E91D-2C31-5671-13755D2D6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7455B-FEA7-834A-8E1F-893BE1F5AE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72781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8F0051-F331-26CD-D717-48970D8482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A553D1-3F80-BB34-3FDD-9F4F59BB66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D4A9C2-A159-73A2-14A5-86518798D2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7D8B543-2AC8-E545-D1B2-6E27B2E011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EA9D939-3DCA-FAEB-4F67-7C9C7C2C6D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EC15A7-B66F-6BA3-DCC1-830617F97A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7CB2F-2B68-3C43-BA6F-F89267F04F02}" type="datetimeFigureOut">
              <a:rPr lang="en-US" smtClean="0"/>
              <a:t>4/20/26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E88CF84-B689-3107-38AC-7C09DE6D1F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25AF5E-7689-079D-28F3-EA9C7A50B7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7455B-FEA7-834A-8E1F-893BE1F5AE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42880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79C880-32DC-3205-5BFA-83B2AED84F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20760B5-B924-DD85-2FBE-29DCA5C279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7CB2F-2B68-3C43-BA6F-F89267F04F02}" type="datetimeFigureOut">
              <a:rPr lang="en-US" smtClean="0"/>
              <a:t>4/20/26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3DDE3E-B2A1-092C-4A00-0CDD5F312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CC0E82-0454-964E-817A-53E119B48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7455B-FEA7-834A-8E1F-893BE1F5AE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93892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8A21F64-A67D-5112-D0D1-A8A0CA012E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7CB2F-2B68-3C43-BA6F-F89267F04F02}" type="datetimeFigureOut">
              <a:rPr lang="en-US" smtClean="0"/>
              <a:t>4/20/26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2D04B7F-2D41-3D64-F2D5-1992538154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25E58D-4567-6839-FD48-54797B0DDD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7455B-FEA7-834A-8E1F-893BE1F5AE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08356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AA0838-FFD0-25FE-633F-797084E07E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82BEA7-583A-FC0A-E595-00EDCB7874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9BCE41-52A8-8E88-2040-4C8B9AC9D8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7FB258-826F-FF6B-46F3-5BC2988D3D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7CB2F-2B68-3C43-BA6F-F89267F04F02}" type="datetimeFigureOut">
              <a:rPr lang="en-US" smtClean="0"/>
              <a:t>4/20/26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681BC9-379F-0AFC-0A95-45C6568F6D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2793CE-A1CD-485A-F308-1E302E065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7455B-FEA7-834A-8E1F-893BE1F5AE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73902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3C6039-D48B-D7A1-776D-FF9842DA6D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9F07C6F-4546-1E6E-709A-F07F2A79094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3D2718-DAD8-E7F0-4625-5EB0AFDA7E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C89261-F5B2-7B95-6664-904073FB76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7CB2F-2B68-3C43-BA6F-F89267F04F02}" type="datetimeFigureOut">
              <a:rPr lang="en-US" smtClean="0"/>
              <a:t>4/20/26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6D7F45-2167-CE41-0EAA-BB1885C5EB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9B8995-FD96-F963-C670-2EF5C2D496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7455B-FEA7-834A-8E1F-893BE1F5AE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99661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A1581B-1E2C-3DDD-EA8D-B5663B73EB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BD90BB-573D-C33A-D9B7-CD98204A88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024F4-C166-174F-7C85-0587E895D9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7CB2F-2B68-3C43-BA6F-F89267F04F02}" type="datetimeFigureOut">
              <a:rPr lang="en-US" smtClean="0"/>
              <a:t>4/20/26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DC34AA-2F78-40A8-FDD5-8A5C50096F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BD4B7B-E299-0425-8EC3-EA937655D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7455B-FEA7-834A-8E1F-893BE1F5AE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6012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BF6D916-C2B3-3011-FB1F-3AF91A5F589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945EA0-F4E5-85DD-2AD0-4620E061E9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91497C-C6B6-01E8-C639-BD7BA226E2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7CB2F-2B68-3C43-BA6F-F89267F04F02}" type="datetimeFigureOut">
              <a:rPr lang="en-US" smtClean="0"/>
              <a:t>4/20/26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F87A2B-FB51-E55E-E3EF-04BD9DF545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E34139-275D-4B6E-3BAC-206DEF9917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7455B-FEA7-834A-8E1F-893BE1F5AE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20505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04CFD1-FC63-0630-277C-28D69F1D3D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B75F0B-B5E2-E20E-31F5-E1CD53DDDC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51CE6A-E88A-18DB-6AA1-3354F3A8B3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C7CB2F-2B68-3C43-BA6F-F89267F04F02}" type="datetimeFigureOut">
              <a:rPr lang="en-US" smtClean="0"/>
              <a:t>4/20/26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AE412F-A028-31FA-EC23-ABC8E38129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BC0E16-224B-8CB5-D8FB-49E75D1772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197455B-FEA7-834A-8E1F-893BE1F5AE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92080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93BAF14-E316-1670-F9F8-537E68F8026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By Antoni Chorążyczewski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D1974003-96F0-BC69-0A49-D4D8CD53853A}"/>
              </a:ext>
            </a:extLst>
          </p:cNvPr>
          <p:cNvSpPr txBox="1">
            <a:spLocks/>
          </p:cNvSpPr>
          <p:nvPr/>
        </p:nvSpPr>
        <p:spPr>
          <a:xfrm>
            <a:off x="1524000" y="1344475"/>
            <a:ext cx="9144000" cy="2084525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6600" dirty="0"/>
              <a:t>Utilizing software to schedule an IT project.</a:t>
            </a:r>
          </a:p>
        </p:txBody>
      </p:sp>
    </p:spTree>
    <p:extLst>
      <p:ext uri="{BB962C8B-B14F-4D97-AF65-F5344CB8AC3E}">
        <p14:creationId xmlns:p14="http://schemas.microsoft.com/office/powerpoint/2010/main" val="29864222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C7114C-FFC8-03E3-F918-DAE21764EC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Without project scheduling software, the projects often fall short of missing the deadlines</a:t>
            </a:r>
          </a:p>
          <a:p>
            <a:r>
              <a:rPr lang="en-US" dirty="0"/>
              <a:t>Sometimes project scope might get too big, and without it is hard to notice, how much time is actually needed</a:t>
            </a:r>
          </a:p>
          <a:p>
            <a:r>
              <a:rPr lang="en-US" dirty="0"/>
              <a:t>It is often also useful to see the progress the project is making, it can even raise the team's morale to see the bar moving to completion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7B3B903-9447-46C1-DE23-1501A53B0249}"/>
              </a:ext>
            </a:extLst>
          </p:cNvPr>
          <p:cNvSpPr txBox="1">
            <a:spLocks/>
          </p:cNvSpPr>
          <p:nvPr/>
        </p:nvSpPr>
        <p:spPr>
          <a:xfrm>
            <a:off x="838200" y="522041"/>
            <a:ext cx="10515600" cy="101173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200" dirty="0"/>
              <a:t>Why do we need project scheduling software?</a:t>
            </a:r>
          </a:p>
        </p:txBody>
      </p:sp>
    </p:spTree>
    <p:extLst>
      <p:ext uri="{BB962C8B-B14F-4D97-AF65-F5344CB8AC3E}">
        <p14:creationId xmlns:p14="http://schemas.microsoft.com/office/powerpoint/2010/main" val="28864511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B45B13-8D36-171A-A642-FD880B4F84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plan tasks</a:t>
            </a:r>
          </a:p>
          <a:p>
            <a:r>
              <a:rPr lang="en-US" dirty="0"/>
              <a:t>assign deadlines</a:t>
            </a:r>
          </a:p>
          <a:p>
            <a:r>
              <a:rPr lang="en-US" dirty="0"/>
              <a:t>manage dependencies</a:t>
            </a:r>
          </a:p>
          <a:p>
            <a:r>
              <a:rPr lang="en-US" dirty="0"/>
              <a:t>allocate resources</a:t>
            </a:r>
          </a:p>
          <a:p>
            <a:r>
              <a:rPr lang="en-US" dirty="0"/>
              <a:t>track milestones</a:t>
            </a:r>
          </a:p>
          <a:p>
            <a:r>
              <a:rPr lang="en-US" dirty="0"/>
              <a:t>monitor critical paths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F8D8C2A-35E9-1CC0-114D-7FA243AB542B}"/>
              </a:ext>
            </a:extLst>
          </p:cNvPr>
          <p:cNvSpPr txBox="1">
            <a:spLocks/>
          </p:cNvSpPr>
          <p:nvPr/>
        </p:nvSpPr>
        <p:spPr>
          <a:xfrm>
            <a:off x="838200" y="522041"/>
            <a:ext cx="10515600" cy="101173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200" dirty="0"/>
              <a:t>What is Project Scheduling Software used for?</a:t>
            </a:r>
          </a:p>
        </p:txBody>
      </p:sp>
    </p:spTree>
    <p:extLst>
      <p:ext uri="{BB962C8B-B14F-4D97-AF65-F5344CB8AC3E}">
        <p14:creationId xmlns:p14="http://schemas.microsoft.com/office/powerpoint/2010/main" val="8121946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3AF4E4-9B6E-C2D0-0A5E-6967E2E533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Visual project timeline (Gantt Chart)</a:t>
            </a:r>
          </a:p>
          <a:p>
            <a:r>
              <a:rPr lang="en-US" dirty="0"/>
              <a:t>Task dependency management</a:t>
            </a:r>
          </a:p>
          <a:p>
            <a:r>
              <a:rPr lang="en-US" dirty="0"/>
              <a:t>Resource allocation</a:t>
            </a:r>
          </a:p>
          <a:p>
            <a:r>
              <a:rPr lang="en-US" dirty="0"/>
              <a:t>Deadline tracking</a:t>
            </a:r>
          </a:p>
          <a:p>
            <a:r>
              <a:rPr lang="en-US" dirty="0"/>
              <a:t>Team collaboration</a:t>
            </a:r>
          </a:p>
          <a:p>
            <a:r>
              <a:rPr lang="en-US" dirty="0"/>
              <a:t>Progress monitoring</a:t>
            </a:r>
          </a:p>
          <a:p>
            <a:r>
              <a:rPr lang="en-US" dirty="0"/>
              <a:t>Export reports (PDF/Excel)</a:t>
            </a:r>
          </a:p>
          <a:p>
            <a:r>
              <a:rPr lang="en-US" dirty="0"/>
              <a:t>Cloud access</a:t>
            </a:r>
          </a:p>
          <a:p>
            <a:r>
              <a:rPr lang="en-US" dirty="0"/>
              <a:t>Notifications &amp; reminders</a:t>
            </a:r>
          </a:p>
          <a:p>
            <a:r>
              <a:rPr lang="en-US" dirty="0"/>
              <a:t>Free or affordable pricing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DC18D70-D9B3-6721-2356-E7A1D8DBE3EA}"/>
              </a:ext>
            </a:extLst>
          </p:cNvPr>
          <p:cNvSpPr txBox="1">
            <a:spLocks/>
          </p:cNvSpPr>
          <p:nvPr/>
        </p:nvSpPr>
        <p:spPr>
          <a:xfrm>
            <a:off x="838200" y="398217"/>
            <a:ext cx="10515600" cy="101173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200" dirty="0"/>
              <a:t>User Needs: What Must the Software Deliver?</a:t>
            </a:r>
          </a:p>
        </p:txBody>
      </p:sp>
    </p:spTree>
    <p:extLst>
      <p:ext uri="{BB962C8B-B14F-4D97-AF65-F5344CB8AC3E}">
        <p14:creationId xmlns:p14="http://schemas.microsoft.com/office/powerpoint/2010/main" val="17838152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6A14195-0602-6043-D60F-C17F43150C2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15089790"/>
              </p:ext>
            </p:extLst>
          </p:nvPr>
        </p:nvGraphicFramePr>
        <p:xfrm>
          <a:off x="818578" y="1827323"/>
          <a:ext cx="10554843" cy="4470680"/>
        </p:xfrm>
        <a:graphic>
          <a:graphicData uri="http://schemas.openxmlformats.org/drawingml/2006/table">
            <a:tbl>
              <a:tblPr/>
              <a:tblGrid>
                <a:gridCol w="2142363">
                  <a:extLst>
                    <a:ext uri="{9D8B030D-6E8A-4147-A177-3AD203B41FA5}">
                      <a16:colId xmlns:a16="http://schemas.microsoft.com/office/drawing/2014/main" val="4013356708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06596268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252618448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69203173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668461898"/>
                    </a:ext>
                  </a:extLst>
                </a:gridCol>
              </a:tblGrid>
              <a:tr h="3335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/>
                        <a:t>Functionality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/>
                        <a:t>Purpose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/>
                        <a:t>Input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/>
                        <a:t>Output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 err="1"/>
                        <a:t>MoSCoW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066535"/>
                  </a:ext>
                </a:extLst>
              </a:tr>
              <a:tr h="5669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Gantt Chart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Visualize project schedule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Tasks + dates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Timeline view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Must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3810761"/>
                  </a:ext>
                </a:extLst>
              </a:tr>
              <a:tr h="5669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Task Dependencies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Prevent scheduling conflicts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Linked tasks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Logical sequence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Must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8767833"/>
                  </a:ext>
                </a:extLst>
              </a:tr>
              <a:tr h="3335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Milestones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Track major deadlines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Milestone definition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Key delivery points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Must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3259094"/>
                  </a:ext>
                </a:extLst>
              </a:tr>
              <a:tr h="3335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Calendar View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Easy deadline overview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Tasks + dates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Calendar schedule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Should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6002814"/>
                  </a:ext>
                </a:extLst>
              </a:tr>
              <a:tr h="3335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Team Assignment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Allocate work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Team members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Assigned responsibilities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Must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632708"/>
                  </a:ext>
                </a:extLst>
              </a:tr>
              <a:tr h="3335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Notifications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Prevent delays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Deadline changes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Alerts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Should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5903805"/>
                  </a:ext>
                </a:extLst>
              </a:tr>
              <a:tr h="3335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Comments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Improve communication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User notes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Shared feedback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Could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4864440"/>
                  </a:ext>
                </a:extLst>
              </a:tr>
              <a:tr h="3335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Progress Tracking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Monitor execution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Task status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Completion 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Must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372631"/>
                  </a:ext>
                </a:extLst>
              </a:tr>
              <a:tr h="3335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PDF/Excel Export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Stakeholder reports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Export command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Formal reports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Should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0002434"/>
                  </a:ext>
                </a:extLst>
              </a:tr>
              <a:tr h="3335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Version History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Change tracking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Automatic logs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Audit trail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Should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5395031"/>
                  </a:ext>
                </a:extLst>
              </a:tr>
              <a:tr h="3335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Dashboard Reports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PM visibility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Live project data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KPI overview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Could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5964313"/>
                  </a:ext>
                </a:extLst>
              </a:tr>
            </a:tbl>
          </a:graphicData>
        </a:graphic>
      </p:graphicFrame>
      <p:sp>
        <p:nvSpPr>
          <p:cNvPr id="3" name="Title 1">
            <a:extLst>
              <a:ext uri="{FF2B5EF4-FFF2-40B4-BE49-F238E27FC236}">
                <a16:creationId xmlns:a16="http://schemas.microsoft.com/office/drawing/2014/main" id="{8615BE74-1BCE-3C42-A6EA-C5CE16E193CD}"/>
              </a:ext>
            </a:extLst>
          </p:cNvPr>
          <p:cNvSpPr txBox="1">
            <a:spLocks/>
          </p:cNvSpPr>
          <p:nvPr/>
        </p:nvSpPr>
        <p:spPr>
          <a:xfrm>
            <a:off x="818578" y="559997"/>
            <a:ext cx="10515600" cy="101173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dirty="0"/>
              <a:t>Functional Specifications </a:t>
            </a:r>
          </a:p>
        </p:txBody>
      </p:sp>
    </p:spTree>
    <p:extLst>
      <p:ext uri="{BB962C8B-B14F-4D97-AF65-F5344CB8AC3E}">
        <p14:creationId xmlns:p14="http://schemas.microsoft.com/office/powerpoint/2010/main" val="5656162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210D592-7685-AC5E-3252-6953DEA6190F}"/>
              </a:ext>
            </a:extLst>
          </p:cNvPr>
          <p:cNvSpPr txBox="1">
            <a:spLocks/>
          </p:cNvSpPr>
          <p:nvPr/>
        </p:nvSpPr>
        <p:spPr>
          <a:xfrm>
            <a:off x="838200" y="2712545"/>
            <a:ext cx="10515600" cy="143291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6000" dirty="0"/>
              <a:t>Software options</a:t>
            </a:r>
          </a:p>
        </p:txBody>
      </p:sp>
    </p:spTree>
    <p:extLst>
      <p:ext uri="{BB962C8B-B14F-4D97-AF65-F5344CB8AC3E}">
        <p14:creationId xmlns:p14="http://schemas.microsoft.com/office/powerpoint/2010/main" val="26892573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B85CE4-4D7E-0EDB-9798-F5B6B533AD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8D9D0F-D29F-27BE-759A-07F394BF1A7B}"/>
              </a:ext>
            </a:extLst>
          </p:cNvPr>
          <p:cNvSpPr txBox="1">
            <a:spLocks/>
          </p:cNvSpPr>
          <p:nvPr/>
        </p:nvSpPr>
        <p:spPr>
          <a:xfrm>
            <a:off x="838200" y="416910"/>
            <a:ext cx="10515600" cy="101173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Microsoft Project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81509AF-63A7-15E3-5CEA-C38E4731B05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108" t="14300"/>
          <a:stretch>
            <a:fillRect/>
          </a:stretch>
        </p:blipFill>
        <p:spPr>
          <a:xfrm>
            <a:off x="5332970" y="1971855"/>
            <a:ext cx="6020830" cy="4469235"/>
          </a:xfrm>
          <a:prstGeom prst="roundRect">
            <a:avLst>
              <a:gd name="adj" fmla="val 15891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D4D19D2-3747-D782-A1B5-AF4F758937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6460982"/>
              </p:ext>
            </p:extLst>
          </p:nvPr>
        </p:nvGraphicFramePr>
        <p:xfrm>
          <a:off x="838200" y="1947624"/>
          <a:ext cx="3965028" cy="449346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24821">
                  <a:extLst>
                    <a:ext uri="{9D8B030D-6E8A-4147-A177-3AD203B41FA5}">
                      <a16:colId xmlns:a16="http://schemas.microsoft.com/office/drawing/2014/main" val="2022785825"/>
                    </a:ext>
                  </a:extLst>
                </a:gridCol>
                <a:gridCol w="2340207">
                  <a:extLst>
                    <a:ext uri="{9D8B030D-6E8A-4147-A177-3AD203B41FA5}">
                      <a16:colId xmlns:a16="http://schemas.microsoft.com/office/drawing/2014/main" val="3206910573"/>
                    </a:ext>
                  </a:extLst>
                </a:gridCol>
              </a:tblGrid>
              <a:tr h="748911">
                <a:tc>
                  <a:txBody>
                    <a:bodyPr/>
                    <a:lstStyle/>
                    <a:p>
                      <a:r>
                        <a:rPr lang="en-US" b="1" dirty="0"/>
                        <a:t>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 dirty="0"/>
                        <a:t>Desktop + Cloud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1724038"/>
                  </a:ext>
                </a:extLst>
              </a:tr>
              <a:tr h="748911">
                <a:tc>
                  <a:txBody>
                    <a:bodyPr/>
                    <a:lstStyle/>
                    <a:p>
                      <a:r>
                        <a:rPr lang="en-US" b="1"/>
                        <a:t>Producer</a:t>
                      </a:r>
                      <a:endParaRPr lang="en-US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Microsoft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5579403"/>
                  </a:ext>
                </a:extLst>
              </a:tr>
              <a:tr h="748911">
                <a:tc>
                  <a:txBody>
                    <a:bodyPr/>
                    <a:lstStyle/>
                    <a:p>
                      <a:r>
                        <a:rPr lang="en-US" b="1" dirty="0"/>
                        <a:t>Free Version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6218068"/>
                  </a:ext>
                </a:extLst>
              </a:tr>
              <a:tr h="748911">
                <a:tc>
                  <a:txBody>
                    <a:bodyPr/>
                    <a:lstStyle/>
                    <a:p>
                      <a:r>
                        <a:rPr lang="en-US" b="1"/>
                        <a:t>Premium Price</a:t>
                      </a:r>
                      <a:endParaRPr lang="en-US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 dirty="0"/>
                        <a:t>$10 - $55 per user/month</a:t>
                      </a:r>
                    </a:p>
                    <a:p>
                      <a:pPr algn="r">
                        <a:buNone/>
                      </a:pPr>
                      <a:r>
                        <a:rPr lang="en-US" sz="1400" dirty="0"/>
                        <a:t>Or</a:t>
                      </a:r>
                    </a:p>
                    <a:p>
                      <a:pPr algn="r">
                        <a:buNone/>
                      </a:pPr>
                      <a:r>
                        <a:rPr lang="en-US" sz="1400" dirty="0"/>
                        <a:t> $720-$1410 once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4078370"/>
                  </a:ext>
                </a:extLst>
              </a:tr>
              <a:tr h="748911">
                <a:tc>
                  <a:txBody>
                    <a:bodyPr/>
                    <a:lstStyle/>
                    <a:p>
                      <a:r>
                        <a:rPr lang="en-US" b="1"/>
                        <a:t>Main Strength</a:t>
                      </a:r>
                      <a:endParaRPr lang="en-US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 dirty="0"/>
                        <a:t>Big projects, Advanced scheduling, Critical Path, Resource planning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9811373"/>
                  </a:ext>
                </a:extLst>
              </a:tr>
              <a:tr h="748911">
                <a:tc>
                  <a:txBody>
                    <a:bodyPr/>
                    <a:lstStyle/>
                    <a:p>
                      <a:r>
                        <a:rPr lang="en-US" b="1"/>
                        <a:t>Main Weakness</a:t>
                      </a:r>
                      <a:endParaRPr lang="en-US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/>
                        <a:t>Expensive, difficult for beginners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39220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830730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005B3E-59B0-57CD-A142-6AFB051358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B142E3-0E43-9F38-0084-9FCACDA18B0B}"/>
              </a:ext>
            </a:extLst>
          </p:cNvPr>
          <p:cNvSpPr txBox="1">
            <a:spLocks/>
          </p:cNvSpPr>
          <p:nvPr/>
        </p:nvSpPr>
        <p:spPr>
          <a:xfrm>
            <a:off x="838200" y="416910"/>
            <a:ext cx="10515600" cy="101173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 err="1"/>
              <a:t>ClickUp</a:t>
            </a:r>
            <a:endParaRPr lang="en-US" dirty="0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82425C59-3EC5-FBCC-5EBF-DEA3F3036C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6357714"/>
              </p:ext>
            </p:extLst>
          </p:nvPr>
        </p:nvGraphicFramePr>
        <p:xfrm>
          <a:off x="838200" y="1947624"/>
          <a:ext cx="3965028" cy="449346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24821">
                  <a:extLst>
                    <a:ext uri="{9D8B030D-6E8A-4147-A177-3AD203B41FA5}">
                      <a16:colId xmlns:a16="http://schemas.microsoft.com/office/drawing/2014/main" val="2022785825"/>
                    </a:ext>
                  </a:extLst>
                </a:gridCol>
                <a:gridCol w="2340207">
                  <a:extLst>
                    <a:ext uri="{9D8B030D-6E8A-4147-A177-3AD203B41FA5}">
                      <a16:colId xmlns:a16="http://schemas.microsoft.com/office/drawing/2014/main" val="3206910573"/>
                    </a:ext>
                  </a:extLst>
                </a:gridCol>
              </a:tblGrid>
              <a:tr h="748911">
                <a:tc>
                  <a:txBody>
                    <a:bodyPr/>
                    <a:lstStyle/>
                    <a:p>
                      <a:r>
                        <a:rPr lang="en-US" b="1" dirty="0"/>
                        <a:t>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 dirty="0"/>
                        <a:t>Web Application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1724038"/>
                  </a:ext>
                </a:extLst>
              </a:tr>
              <a:tr h="748911">
                <a:tc>
                  <a:txBody>
                    <a:bodyPr/>
                    <a:lstStyle/>
                    <a:p>
                      <a:r>
                        <a:rPr lang="en-US" b="1"/>
                        <a:t>Producer</a:t>
                      </a:r>
                      <a:endParaRPr lang="en-US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err="1"/>
                        <a:t>ClickUp</a:t>
                      </a:r>
                      <a:r>
                        <a:rPr lang="en-US" sz="1400" dirty="0"/>
                        <a:t> Inc.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5579403"/>
                  </a:ext>
                </a:extLst>
              </a:tr>
              <a:tr h="748911">
                <a:tc>
                  <a:txBody>
                    <a:bodyPr/>
                    <a:lstStyle/>
                    <a:p>
                      <a:r>
                        <a:rPr lang="en-US" b="1"/>
                        <a:t>Free Version</a:t>
                      </a:r>
                      <a:endParaRPr lang="en-US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6218068"/>
                  </a:ext>
                </a:extLst>
              </a:tr>
              <a:tr h="748911">
                <a:tc>
                  <a:txBody>
                    <a:bodyPr/>
                    <a:lstStyle/>
                    <a:p>
                      <a:r>
                        <a:rPr lang="en-US" b="1"/>
                        <a:t>Premium Price</a:t>
                      </a:r>
                      <a:endParaRPr lang="en-US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$7 - $19 per user/month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4078370"/>
                  </a:ext>
                </a:extLst>
              </a:tr>
              <a:tr h="748911">
                <a:tc>
                  <a:txBody>
                    <a:bodyPr/>
                    <a:lstStyle/>
                    <a:p>
                      <a:r>
                        <a:rPr lang="en-US" b="1"/>
                        <a:t>Main Strength</a:t>
                      </a:r>
                      <a:endParaRPr lang="en-US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 dirty="0"/>
                        <a:t>Gantt charts, dependencies, collaboration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9811373"/>
                  </a:ext>
                </a:extLst>
              </a:tr>
              <a:tr h="748911">
                <a:tc>
                  <a:txBody>
                    <a:bodyPr/>
                    <a:lstStyle/>
                    <a:p>
                      <a:r>
                        <a:rPr lang="en-US" b="1"/>
                        <a:t>Main Weakness</a:t>
                      </a:r>
                      <a:endParaRPr lang="en-US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 dirty="0"/>
                        <a:t>Most of the features are paid, with a trail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3922057"/>
                  </a:ext>
                </a:extLst>
              </a:tr>
            </a:tbl>
          </a:graphicData>
        </a:graphic>
      </p:graphicFrame>
      <p:pic>
        <p:nvPicPr>
          <p:cNvPr id="15" name="Picture 14">
            <a:extLst>
              <a:ext uri="{FF2B5EF4-FFF2-40B4-BE49-F238E27FC236}">
                <a16:creationId xmlns:a16="http://schemas.microsoft.com/office/drawing/2014/main" id="{96EEFCD2-CFB0-AA7B-2F61-95EB395B89A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33" r="20509"/>
          <a:stretch>
            <a:fillRect/>
          </a:stretch>
        </p:blipFill>
        <p:spPr>
          <a:xfrm>
            <a:off x="5332970" y="1971855"/>
            <a:ext cx="6020830" cy="4469235"/>
          </a:xfrm>
          <a:prstGeom prst="roundRect">
            <a:avLst>
              <a:gd name="adj" fmla="val 15891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336006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5944E8-76D1-7C8D-4289-F2DA93356D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6FEB53-D87F-C497-9D9D-5B76D0FFD645}"/>
              </a:ext>
            </a:extLst>
          </p:cNvPr>
          <p:cNvSpPr txBox="1">
            <a:spLocks/>
          </p:cNvSpPr>
          <p:nvPr/>
        </p:nvSpPr>
        <p:spPr>
          <a:xfrm>
            <a:off x="838200" y="416910"/>
            <a:ext cx="10515600" cy="101173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Trello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1C2BA3F3-D176-4FF7-9D7B-970EDA3A65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7471084"/>
              </p:ext>
            </p:extLst>
          </p:nvPr>
        </p:nvGraphicFramePr>
        <p:xfrm>
          <a:off x="838200" y="1947624"/>
          <a:ext cx="3965028" cy="449346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24821">
                  <a:extLst>
                    <a:ext uri="{9D8B030D-6E8A-4147-A177-3AD203B41FA5}">
                      <a16:colId xmlns:a16="http://schemas.microsoft.com/office/drawing/2014/main" val="2022785825"/>
                    </a:ext>
                  </a:extLst>
                </a:gridCol>
                <a:gridCol w="2340207">
                  <a:extLst>
                    <a:ext uri="{9D8B030D-6E8A-4147-A177-3AD203B41FA5}">
                      <a16:colId xmlns:a16="http://schemas.microsoft.com/office/drawing/2014/main" val="3206910573"/>
                    </a:ext>
                  </a:extLst>
                </a:gridCol>
              </a:tblGrid>
              <a:tr h="748911">
                <a:tc>
                  <a:txBody>
                    <a:bodyPr/>
                    <a:lstStyle/>
                    <a:p>
                      <a:r>
                        <a:rPr lang="en-US" b="1" dirty="0"/>
                        <a:t>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 dirty="0"/>
                        <a:t>Web Application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1724038"/>
                  </a:ext>
                </a:extLst>
              </a:tr>
              <a:tr h="748911">
                <a:tc>
                  <a:txBody>
                    <a:bodyPr/>
                    <a:lstStyle/>
                    <a:p>
                      <a:r>
                        <a:rPr lang="en-US" b="1"/>
                        <a:t>Producer</a:t>
                      </a:r>
                      <a:endParaRPr lang="en-US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 dirty="0"/>
                        <a:t>Atlassian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5579403"/>
                  </a:ext>
                </a:extLst>
              </a:tr>
              <a:tr h="748911">
                <a:tc>
                  <a:txBody>
                    <a:bodyPr/>
                    <a:lstStyle/>
                    <a:p>
                      <a:r>
                        <a:rPr lang="en-US" b="1"/>
                        <a:t>Free Version</a:t>
                      </a:r>
                      <a:endParaRPr lang="en-US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6218068"/>
                  </a:ext>
                </a:extLst>
              </a:tr>
              <a:tr h="748911">
                <a:tc>
                  <a:txBody>
                    <a:bodyPr/>
                    <a:lstStyle/>
                    <a:p>
                      <a:r>
                        <a:rPr lang="en-US" b="1"/>
                        <a:t>Premium Price</a:t>
                      </a:r>
                      <a:endParaRPr lang="en-US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 dirty="0"/>
                        <a:t>$5 - $17.50 per user/month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4078370"/>
                  </a:ext>
                </a:extLst>
              </a:tr>
              <a:tr h="748911">
                <a:tc>
                  <a:txBody>
                    <a:bodyPr/>
                    <a:lstStyle/>
                    <a:p>
                      <a:r>
                        <a:rPr lang="en-US" b="1"/>
                        <a:t>Main Strength</a:t>
                      </a:r>
                      <a:endParaRPr lang="en-US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 dirty="0"/>
                        <a:t>Very simple and easy to use, powerful addons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9811373"/>
                  </a:ext>
                </a:extLst>
              </a:tr>
              <a:tr h="748911">
                <a:tc>
                  <a:txBody>
                    <a:bodyPr/>
                    <a:lstStyle/>
                    <a:p>
                      <a:r>
                        <a:rPr lang="en-US" b="1"/>
                        <a:t>Main Weakness</a:t>
                      </a:r>
                      <a:endParaRPr lang="en-US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 dirty="0"/>
                        <a:t>A lot of features have to be installed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3922057"/>
                  </a:ext>
                </a:extLst>
              </a:tr>
            </a:tbl>
          </a:graphicData>
        </a:graphic>
      </p:graphicFrame>
      <p:pic>
        <p:nvPicPr>
          <p:cNvPr id="15" name="Picture 14">
            <a:extLst>
              <a:ext uri="{FF2B5EF4-FFF2-40B4-BE49-F238E27FC236}">
                <a16:creationId xmlns:a16="http://schemas.microsoft.com/office/drawing/2014/main" id="{9630C6E2-D9E2-DAFE-BFBE-8961E6F78E7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60" t="4997" r="28562" b="4503"/>
          <a:stretch>
            <a:fillRect/>
          </a:stretch>
        </p:blipFill>
        <p:spPr>
          <a:xfrm>
            <a:off x="5332970" y="1971855"/>
            <a:ext cx="6020830" cy="4469235"/>
          </a:xfrm>
          <a:prstGeom prst="roundRect">
            <a:avLst>
              <a:gd name="adj" fmla="val 15891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2675771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A0F13B-C2C4-E0D6-6E41-5AE3CD6921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A22D37-A51A-4637-6E6B-232846EFBADB}"/>
              </a:ext>
            </a:extLst>
          </p:cNvPr>
          <p:cNvSpPr txBox="1">
            <a:spLocks/>
          </p:cNvSpPr>
          <p:nvPr/>
        </p:nvSpPr>
        <p:spPr>
          <a:xfrm>
            <a:off x="838200" y="416910"/>
            <a:ext cx="10515600" cy="101173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Asana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5423660F-E835-5FA2-98CF-2617F0E36B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8642400"/>
              </p:ext>
            </p:extLst>
          </p:nvPr>
        </p:nvGraphicFramePr>
        <p:xfrm>
          <a:off x="838200" y="1947624"/>
          <a:ext cx="3965028" cy="449346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24821">
                  <a:extLst>
                    <a:ext uri="{9D8B030D-6E8A-4147-A177-3AD203B41FA5}">
                      <a16:colId xmlns:a16="http://schemas.microsoft.com/office/drawing/2014/main" val="2022785825"/>
                    </a:ext>
                  </a:extLst>
                </a:gridCol>
                <a:gridCol w="2340207">
                  <a:extLst>
                    <a:ext uri="{9D8B030D-6E8A-4147-A177-3AD203B41FA5}">
                      <a16:colId xmlns:a16="http://schemas.microsoft.com/office/drawing/2014/main" val="3206910573"/>
                    </a:ext>
                  </a:extLst>
                </a:gridCol>
              </a:tblGrid>
              <a:tr h="748911">
                <a:tc>
                  <a:txBody>
                    <a:bodyPr/>
                    <a:lstStyle/>
                    <a:p>
                      <a:r>
                        <a:rPr lang="en-US" b="1" dirty="0"/>
                        <a:t>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 dirty="0"/>
                        <a:t>Web Application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1724038"/>
                  </a:ext>
                </a:extLst>
              </a:tr>
              <a:tr h="748911">
                <a:tc>
                  <a:txBody>
                    <a:bodyPr/>
                    <a:lstStyle/>
                    <a:p>
                      <a:r>
                        <a:rPr lang="en-US" b="1"/>
                        <a:t>Producer</a:t>
                      </a:r>
                      <a:endParaRPr lang="en-US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Asana Inc.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5579403"/>
                  </a:ext>
                </a:extLst>
              </a:tr>
              <a:tr h="748911">
                <a:tc>
                  <a:txBody>
                    <a:bodyPr/>
                    <a:lstStyle/>
                    <a:p>
                      <a:r>
                        <a:rPr lang="en-US" b="1" dirty="0"/>
                        <a:t>Free Version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6218068"/>
                  </a:ext>
                </a:extLst>
              </a:tr>
              <a:tr h="748911">
                <a:tc>
                  <a:txBody>
                    <a:bodyPr/>
                    <a:lstStyle/>
                    <a:p>
                      <a:r>
                        <a:rPr lang="en-US" b="1"/>
                        <a:t>Premium Price</a:t>
                      </a:r>
                      <a:endParaRPr lang="en-US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 dirty="0"/>
                        <a:t>$11 - $25 per user/month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4078370"/>
                  </a:ext>
                </a:extLst>
              </a:tr>
              <a:tr h="748911">
                <a:tc>
                  <a:txBody>
                    <a:bodyPr/>
                    <a:lstStyle/>
                    <a:p>
                      <a:r>
                        <a:rPr lang="en-US" b="1"/>
                        <a:t>Main Strength</a:t>
                      </a:r>
                      <a:endParaRPr lang="en-US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 dirty="0"/>
                        <a:t>Strong timeline and collaboration tools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9811373"/>
                  </a:ext>
                </a:extLst>
              </a:tr>
              <a:tr h="748911">
                <a:tc>
                  <a:txBody>
                    <a:bodyPr/>
                    <a:lstStyle/>
                    <a:p>
                      <a:r>
                        <a:rPr lang="en-US" b="1"/>
                        <a:t>Main Weakness</a:t>
                      </a:r>
                      <a:endParaRPr lang="en-US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 dirty="0"/>
                        <a:t>Timeline features limited in free plan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3922057"/>
                  </a:ext>
                </a:extLst>
              </a:tr>
            </a:tbl>
          </a:graphicData>
        </a:graphic>
      </p:graphicFrame>
      <p:pic>
        <p:nvPicPr>
          <p:cNvPr id="15" name="Picture 14">
            <a:extLst>
              <a:ext uri="{FF2B5EF4-FFF2-40B4-BE49-F238E27FC236}">
                <a16:creationId xmlns:a16="http://schemas.microsoft.com/office/drawing/2014/main" id="{790F772D-1E0B-C06D-49BB-01C6E3F341F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109" t="4" r="20513" b="-4"/>
          <a:stretch>
            <a:fillRect/>
          </a:stretch>
        </p:blipFill>
        <p:spPr>
          <a:xfrm>
            <a:off x="5332970" y="1971855"/>
            <a:ext cx="6020830" cy="4469235"/>
          </a:xfrm>
          <a:prstGeom prst="roundRect">
            <a:avLst>
              <a:gd name="adj" fmla="val 15891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118774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E3E1D9-2505-E1B3-9645-BFCD13ECE3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BFCC75-29C6-C8F4-95AD-26DF4C7729FF}"/>
              </a:ext>
            </a:extLst>
          </p:cNvPr>
          <p:cNvSpPr txBox="1">
            <a:spLocks/>
          </p:cNvSpPr>
          <p:nvPr/>
        </p:nvSpPr>
        <p:spPr>
          <a:xfrm>
            <a:off x="838200" y="416910"/>
            <a:ext cx="10515600" cy="101173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Primavera P6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F6F0D3BF-C332-E0B9-B323-CA337F85A1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4645961"/>
              </p:ext>
            </p:extLst>
          </p:nvPr>
        </p:nvGraphicFramePr>
        <p:xfrm>
          <a:off x="838200" y="1947624"/>
          <a:ext cx="3965028" cy="449346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24821">
                  <a:extLst>
                    <a:ext uri="{9D8B030D-6E8A-4147-A177-3AD203B41FA5}">
                      <a16:colId xmlns:a16="http://schemas.microsoft.com/office/drawing/2014/main" val="2022785825"/>
                    </a:ext>
                  </a:extLst>
                </a:gridCol>
                <a:gridCol w="2340207">
                  <a:extLst>
                    <a:ext uri="{9D8B030D-6E8A-4147-A177-3AD203B41FA5}">
                      <a16:colId xmlns:a16="http://schemas.microsoft.com/office/drawing/2014/main" val="3206910573"/>
                    </a:ext>
                  </a:extLst>
                </a:gridCol>
              </a:tblGrid>
              <a:tr h="748911">
                <a:tc>
                  <a:txBody>
                    <a:bodyPr/>
                    <a:lstStyle/>
                    <a:p>
                      <a:r>
                        <a:rPr lang="en-US" b="1" dirty="0"/>
                        <a:t>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 dirty="0"/>
                        <a:t>Desktop Application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1724038"/>
                  </a:ext>
                </a:extLst>
              </a:tr>
              <a:tr h="748911">
                <a:tc>
                  <a:txBody>
                    <a:bodyPr/>
                    <a:lstStyle/>
                    <a:p>
                      <a:r>
                        <a:rPr lang="en-US" b="1"/>
                        <a:t>Producer</a:t>
                      </a:r>
                      <a:endParaRPr lang="en-US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Oracle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5579403"/>
                  </a:ext>
                </a:extLst>
              </a:tr>
              <a:tr h="748911">
                <a:tc>
                  <a:txBody>
                    <a:bodyPr/>
                    <a:lstStyle/>
                    <a:p>
                      <a:r>
                        <a:rPr lang="en-US" b="1" dirty="0"/>
                        <a:t>Free Version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6218068"/>
                  </a:ext>
                </a:extLst>
              </a:tr>
              <a:tr h="748911">
                <a:tc>
                  <a:txBody>
                    <a:bodyPr/>
                    <a:lstStyle/>
                    <a:p>
                      <a:r>
                        <a:rPr lang="en-US" b="1"/>
                        <a:t>Premium Price</a:t>
                      </a:r>
                      <a:endParaRPr lang="en-US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 dirty="0"/>
                        <a:t>$3,520 per user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4078370"/>
                  </a:ext>
                </a:extLst>
              </a:tr>
              <a:tr h="748911">
                <a:tc>
                  <a:txBody>
                    <a:bodyPr/>
                    <a:lstStyle/>
                    <a:p>
                      <a:r>
                        <a:rPr lang="en-US" b="1"/>
                        <a:t>Main Strength</a:t>
                      </a:r>
                      <a:endParaRPr lang="en-US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 dirty="0"/>
                        <a:t>Easier than it looks, recommended by many project managers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9811373"/>
                  </a:ext>
                </a:extLst>
              </a:tr>
              <a:tr h="748911">
                <a:tc>
                  <a:txBody>
                    <a:bodyPr/>
                    <a:lstStyle/>
                    <a:p>
                      <a:r>
                        <a:rPr lang="en-US" b="1"/>
                        <a:t>Main Weakness</a:t>
                      </a:r>
                      <a:endParaRPr lang="en-US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 dirty="0"/>
                        <a:t>Expensive, outdated look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3922057"/>
                  </a:ext>
                </a:extLst>
              </a:tr>
            </a:tbl>
          </a:graphicData>
        </a:graphic>
      </p:graphicFrame>
      <p:pic>
        <p:nvPicPr>
          <p:cNvPr id="15" name="Picture 14">
            <a:extLst>
              <a:ext uri="{FF2B5EF4-FFF2-40B4-BE49-F238E27FC236}">
                <a16:creationId xmlns:a16="http://schemas.microsoft.com/office/drawing/2014/main" id="{EBC6D203-235F-A284-A853-94C0FA50531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890" t="13598" r="26547" b="16297"/>
          <a:stretch>
            <a:fillRect/>
          </a:stretch>
        </p:blipFill>
        <p:spPr>
          <a:xfrm>
            <a:off x="5332970" y="1971855"/>
            <a:ext cx="6020830" cy="4469235"/>
          </a:xfrm>
          <a:prstGeom prst="roundRect">
            <a:avLst>
              <a:gd name="adj" fmla="val 15891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2538388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C6719506-C92B-8DC1-E98B-FCCE3C49F8A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90712860"/>
              </p:ext>
            </p:extLst>
          </p:nvPr>
        </p:nvGraphicFramePr>
        <p:xfrm>
          <a:off x="838200" y="1657679"/>
          <a:ext cx="10515596" cy="4796386"/>
        </p:xfrm>
        <a:graphic>
          <a:graphicData uri="http://schemas.openxmlformats.org/drawingml/2006/table">
            <a:tbl>
              <a:tblPr/>
              <a:tblGrid>
                <a:gridCol w="1502228">
                  <a:extLst>
                    <a:ext uri="{9D8B030D-6E8A-4147-A177-3AD203B41FA5}">
                      <a16:colId xmlns:a16="http://schemas.microsoft.com/office/drawing/2014/main" val="905063570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274835148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2053099360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1724739512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2335641297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562127481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2616288582"/>
                    </a:ext>
                  </a:extLst>
                </a:gridCol>
              </a:tblGrid>
              <a:tr h="3905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/>
                        <a:t>Program Name</a:t>
                      </a:r>
                      <a:endParaRPr lang="en-US" sz="1600" dirty="0"/>
                    </a:p>
                  </a:txBody>
                  <a:tcPr marL="55786" marR="55786" marT="27893" marB="2789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/>
                        <a:t>Type</a:t>
                      </a:r>
                      <a:endParaRPr lang="en-US" sz="1600" dirty="0"/>
                    </a:p>
                  </a:txBody>
                  <a:tcPr marL="55786" marR="55786" marT="27893" marB="2789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/>
                        <a:t>Producer</a:t>
                      </a:r>
                      <a:endParaRPr lang="en-US" sz="1600" dirty="0"/>
                    </a:p>
                  </a:txBody>
                  <a:tcPr marL="55786" marR="55786" marT="27893" marB="2789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/>
                        <a:t>Free Version</a:t>
                      </a:r>
                      <a:endParaRPr lang="en-US" sz="1600" dirty="0"/>
                    </a:p>
                  </a:txBody>
                  <a:tcPr marL="55786" marR="55786" marT="27893" marB="2789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/>
                        <a:t>Premium Price</a:t>
                      </a:r>
                      <a:endParaRPr lang="en-US" sz="1600" dirty="0"/>
                    </a:p>
                  </a:txBody>
                  <a:tcPr marL="55786" marR="55786" marT="27893" marB="2789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/>
                        <a:t>Main Strength</a:t>
                      </a:r>
                      <a:endParaRPr lang="en-US" sz="1600" dirty="0"/>
                    </a:p>
                  </a:txBody>
                  <a:tcPr marL="55786" marR="55786" marT="27893" marB="2789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/>
                        <a:t>Main Weakness</a:t>
                      </a:r>
                      <a:endParaRPr lang="en-US" sz="1600" dirty="0"/>
                    </a:p>
                  </a:txBody>
                  <a:tcPr marL="55786" marR="55786" marT="27893" marB="2789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5681506"/>
                  </a:ext>
                </a:extLst>
              </a:tr>
              <a:tr h="8925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Microsoft Project</a:t>
                      </a:r>
                    </a:p>
                  </a:txBody>
                  <a:tcPr marL="55786" marR="55786" marT="27893" marB="2789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Desktop + Cloud</a:t>
                      </a:r>
                    </a:p>
                  </a:txBody>
                  <a:tcPr marL="55786" marR="55786" marT="27893" marB="2789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Microsoft</a:t>
                      </a:r>
                    </a:p>
                  </a:txBody>
                  <a:tcPr marL="55786" marR="55786" marT="27893" marB="2789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No</a:t>
                      </a:r>
                    </a:p>
                  </a:txBody>
                  <a:tcPr marL="55786" marR="55786" marT="27893" marB="2789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/>
                        <a:t>$10 - $55 per user/month</a:t>
                      </a:r>
                    </a:p>
                    <a:p>
                      <a:pPr algn="ctr">
                        <a:buNone/>
                      </a:pPr>
                      <a:r>
                        <a:rPr lang="en-US" sz="1400" dirty="0"/>
                        <a:t>Or</a:t>
                      </a:r>
                    </a:p>
                    <a:p>
                      <a:pPr algn="ctr">
                        <a:buNone/>
                      </a:pPr>
                      <a:r>
                        <a:rPr lang="en-US" sz="1400" dirty="0"/>
                        <a:t> $720-$1410 once</a:t>
                      </a:r>
                    </a:p>
                  </a:txBody>
                  <a:tcPr marL="55786" marR="55786" marT="27893" marB="2789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Advanced scheduling, Critical Path, Resource planning</a:t>
                      </a:r>
                    </a:p>
                  </a:txBody>
                  <a:tcPr marL="55786" marR="55786" marT="27893" marB="2789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Expensive, difficult for beginners</a:t>
                      </a:r>
                    </a:p>
                  </a:txBody>
                  <a:tcPr marL="55786" marR="55786" marT="27893" marB="2789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0756105"/>
                  </a:ext>
                </a:extLst>
              </a:tr>
              <a:tr h="7252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 err="1"/>
                        <a:t>ClickUp</a:t>
                      </a:r>
                      <a:endParaRPr lang="en-US" sz="1400" dirty="0"/>
                    </a:p>
                  </a:txBody>
                  <a:tcPr marL="55786" marR="55786" marT="27893" marB="2789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Web Application</a:t>
                      </a:r>
                    </a:p>
                  </a:txBody>
                  <a:tcPr marL="55786" marR="55786" marT="27893" marB="2789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 err="1"/>
                        <a:t>ClickUp</a:t>
                      </a:r>
                      <a:r>
                        <a:rPr lang="en-US" sz="1400" dirty="0"/>
                        <a:t> Inc.</a:t>
                      </a:r>
                    </a:p>
                  </a:txBody>
                  <a:tcPr marL="55786" marR="55786" marT="27893" marB="2789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Yes</a:t>
                      </a:r>
                    </a:p>
                  </a:txBody>
                  <a:tcPr marL="55786" marR="55786" marT="27893" marB="2789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/>
                        <a:t>$7 - $19 per user/month</a:t>
                      </a:r>
                    </a:p>
                  </a:txBody>
                  <a:tcPr marL="55786" marR="55786" marT="27893" marB="2789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Gantt charts, dependencies, collaboration</a:t>
                      </a:r>
                    </a:p>
                  </a:txBody>
                  <a:tcPr marL="55786" marR="55786" marT="27893" marB="2789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Most of the features are paid, with a trail</a:t>
                      </a:r>
                    </a:p>
                  </a:txBody>
                  <a:tcPr marL="55786" marR="55786" marT="27893" marB="2789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8232072"/>
                  </a:ext>
                </a:extLst>
              </a:tr>
              <a:tr h="8925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Trello</a:t>
                      </a:r>
                    </a:p>
                  </a:txBody>
                  <a:tcPr marL="55786" marR="55786" marT="27893" marB="2789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Web Application</a:t>
                      </a:r>
                    </a:p>
                  </a:txBody>
                  <a:tcPr marL="55786" marR="55786" marT="27893" marB="2789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Atlassian</a:t>
                      </a:r>
                    </a:p>
                  </a:txBody>
                  <a:tcPr marL="55786" marR="55786" marT="27893" marB="2789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Yes</a:t>
                      </a:r>
                    </a:p>
                  </a:txBody>
                  <a:tcPr marL="55786" marR="55786" marT="27893" marB="2789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/>
                        <a:t>$5 - $17.50 per user/month</a:t>
                      </a:r>
                    </a:p>
                  </a:txBody>
                  <a:tcPr marL="55786" marR="55786" marT="27893" marB="2789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Very simple and easy to use, powerful addons</a:t>
                      </a:r>
                    </a:p>
                  </a:txBody>
                  <a:tcPr marL="55786" marR="55786" marT="27893" marB="2789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A lot of features have to be installed</a:t>
                      </a:r>
                    </a:p>
                  </a:txBody>
                  <a:tcPr marL="55786" marR="55786" marT="27893" marB="2789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8389827"/>
                  </a:ext>
                </a:extLst>
              </a:tr>
              <a:tr h="7252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Asana</a:t>
                      </a:r>
                    </a:p>
                  </a:txBody>
                  <a:tcPr marL="55786" marR="55786" marT="27893" marB="2789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Web Application</a:t>
                      </a:r>
                    </a:p>
                  </a:txBody>
                  <a:tcPr marL="55786" marR="55786" marT="27893" marB="2789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Asana Inc.</a:t>
                      </a:r>
                    </a:p>
                  </a:txBody>
                  <a:tcPr marL="55786" marR="55786" marT="27893" marB="2789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Yes</a:t>
                      </a:r>
                    </a:p>
                  </a:txBody>
                  <a:tcPr marL="55786" marR="55786" marT="27893" marB="2789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/>
                        <a:t>$11 - $25 per user/month</a:t>
                      </a:r>
                    </a:p>
                  </a:txBody>
                  <a:tcPr marL="55786" marR="55786" marT="27893" marB="2789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Strong timeline and collaboration tools</a:t>
                      </a:r>
                    </a:p>
                  </a:txBody>
                  <a:tcPr marL="55786" marR="55786" marT="27893" marB="2789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Timeline features limited in free plan</a:t>
                      </a:r>
                    </a:p>
                  </a:txBody>
                  <a:tcPr marL="55786" marR="55786" marT="27893" marB="2789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6429841"/>
                  </a:ext>
                </a:extLst>
              </a:tr>
              <a:tr h="7252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Primavera P6</a:t>
                      </a:r>
                    </a:p>
                  </a:txBody>
                  <a:tcPr marL="55786" marR="55786" marT="27893" marB="2789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Desktop Application</a:t>
                      </a:r>
                    </a:p>
                  </a:txBody>
                  <a:tcPr marL="55786" marR="55786" marT="27893" marB="2789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Oracle</a:t>
                      </a:r>
                    </a:p>
                  </a:txBody>
                  <a:tcPr marL="55786" marR="55786" marT="27893" marB="2789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Trail</a:t>
                      </a:r>
                    </a:p>
                  </a:txBody>
                  <a:tcPr marL="55786" marR="55786" marT="27893" marB="2789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/>
                        <a:t>$3,520 per user</a:t>
                      </a:r>
                    </a:p>
                  </a:txBody>
                  <a:tcPr marL="55786" marR="55786" marT="27893" marB="2789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/>
                        <a:t>Easier than it looks, recommended by many project managers</a:t>
                      </a:r>
                    </a:p>
                  </a:txBody>
                  <a:tcPr marL="55786" marR="55786" marT="27893" marB="2789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Expensive, outdated look</a:t>
                      </a:r>
                    </a:p>
                  </a:txBody>
                  <a:tcPr marL="55786" marR="55786" marT="27893" marB="2789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9580061"/>
                  </a:ext>
                </a:extLst>
              </a:tr>
            </a:tbl>
          </a:graphicData>
        </a:graphic>
      </p:graphicFrame>
      <p:sp>
        <p:nvSpPr>
          <p:cNvPr id="4" name="Title 1">
            <a:extLst>
              <a:ext uri="{FF2B5EF4-FFF2-40B4-BE49-F238E27FC236}">
                <a16:creationId xmlns:a16="http://schemas.microsoft.com/office/drawing/2014/main" id="{D34ABD8A-FDB4-A718-EB60-12DCCCB90753}"/>
              </a:ext>
            </a:extLst>
          </p:cNvPr>
          <p:cNvSpPr txBox="1">
            <a:spLocks/>
          </p:cNvSpPr>
          <p:nvPr/>
        </p:nvSpPr>
        <p:spPr>
          <a:xfrm>
            <a:off x="838196" y="437113"/>
            <a:ext cx="10515600" cy="101173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dirty="0"/>
              <a:t>Software options (one table)</a:t>
            </a:r>
          </a:p>
        </p:txBody>
      </p:sp>
    </p:spTree>
    <p:extLst>
      <p:ext uri="{BB962C8B-B14F-4D97-AF65-F5344CB8AC3E}">
        <p14:creationId xmlns:p14="http://schemas.microsoft.com/office/powerpoint/2010/main" val="41764680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B05A47-8A6D-9C87-D67E-6EAE1D1B15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4616"/>
            <a:ext cx="10515600" cy="101173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 algn="ctr"/>
            <a:r>
              <a:rPr lang="en-US" sz="4000" dirty="0"/>
              <a:t>Functional Comparison of Scheduling Features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0802BD2-26F2-C000-800B-7EE0A2CEBE5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99770250"/>
              </p:ext>
            </p:extLst>
          </p:nvPr>
        </p:nvGraphicFramePr>
        <p:xfrm>
          <a:off x="838200" y="1575074"/>
          <a:ext cx="10515600" cy="4681482"/>
        </p:xfrm>
        <a:graphic>
          <a:graphicData uri="http://schemas.openxmlformats.org/drawingml/2006/table">
            <a:tbl>
              <a:tblPr/>
              <a:tblGrid>
                <a:gridCol w="1752600">
                  <a:extLst>
                    <a:ext uri="{9D8B030D-6E8A-4147-A177-3AD203B41FA5}">
                      <a16:colId xmlns:a16="http://schemas.microsoft.com/office/drawing/2014/main" val="651537591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025882616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1419349796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4272329947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995291584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3562806721"/>
                    </a:ext>
                  </a:extLst>
                </a:gridCol>
              </a:tblGrid>
              <a:tr h="3752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dirty="0"/>
                        <a:t>Functionality</a:t>
                      </a:r>
                      <a:endParaRPr lang="en-US" sz="1200" dirty="0"/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dirty="0"/>
                        <a:t>MS Project</a:t>
                      </a:r>
                      <a:endParaRPr lang="en-US" sz="1200" dirty="0"/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dirty="0" err="1"/>
                        <a:t>ClickUp</a:t>
                      </a:r>
                      <a:endParaRPr lang="en-US" sz="1200" dirty="0"/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dirty="0"/>
                        <a:t>Trello</a:t>
                      </a:r>
                      <a:endParaRPr lang="en-US" sz="1200" dirty="0"/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dirty="0"/>
                        <a:t>Asana</a:t>
                      </a:r>
                      <a:endParaRPr lang="en-US" sz="1200" dirty="0"/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dirty="0"/>
                        <a:t>Primavera P6</a:t>
                      </a:r>
                      <a:endParaRPr lang="en-US" sz="1200" dirty="0"/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3699276"/>
                  </a:ext>
                </a:extLst>
              </a:tr>
              <a:tr h="3752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Gantt Chart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Whole program is paid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A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60 trial uses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A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Power-up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A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Paid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A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Whole program is paid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6737973"/>
                  </a:ext>
                </a:extLst>
              </a:tr>
              <a:tr h="3752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Task Dependencies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Whole program is paid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A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Available for free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Power-up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A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Paid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A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Whole program is paid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0314587"/>
                  </a:ext>
                </a:extLst>
              </a:tr>
              <a:tr h="3752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Milestones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Whole program is paid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Available for free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Paid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A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Paid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A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Whole program is paid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872088"/>
                  </a:ext>
                </a:extLst>
              </a:tr>
              <a:tr h="3752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Calendar View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Whole program is paid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A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Available for free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Paid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A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Available for free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Whole program is paid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2064466"/>
                  </a:ext>
                </a:extLst>
              </a:tr>
              <a:tr h="3752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Team Assignment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Whole program is paid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A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Limited number of teams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A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Available for free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2 users for free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A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Whole program is paid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1037198"/>
                  </a:ext>
                </a:extLst>
              </a:tr>
              <a:tr h="3752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Notifications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Whole program is paid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A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Need premium to connect to google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Available for free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Available for free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Whole program is paid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1687508"/>
                  </a:ext>
                </a:extLst>
              </a:tr>
              <a:tr h="3752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Comments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Whole program is paid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A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Available for free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Available for free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Available for free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Whole program is paid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018743"/>
                  </a:ext>
                </a:extLst>
              </a:tr>
              <a:tr h="3752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Progress Tracking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Whole program is paid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A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Available for free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Power-up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A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Available for free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Whole program is paid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9631168"/>
                  </a:ext>
                </a:extLst>
              </a:tr>
              <a:tr h="3752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PDF/Excel Export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Whole program is paid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Need premium to export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A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Power-up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A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Add-on (Additional payment)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A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Whole program is paid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1729593"/>
                  </a:ext>
                </a:extLst>
              </a:tr>
              <a:tr h="3752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Version History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Whole program is paid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A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Simple undo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CA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Power-up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A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Simple undo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CA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Whole program is paid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1614358"/>
                  </a:ext>
                </a:extLst>
              </a:tr>
              <a:tr h="3752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Dashboard Reports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Whole program is paid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A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Need premium to export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A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Power-up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A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Paid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A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Whole program is paid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78374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651531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125FE6-1A60-D9B0-A8B1-94CF826C80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323A4C6-EB5D-AC2D-8ECD-2CFD499D4A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Best balance of features and simplicity</a:t>
            </a:r>
          </a:p>
          <a:p>
            <a:r>
              <a:rPr lang="en-US" dirty="0"/>
              <a:t>Real Gantt Chart support</a:t>
            </a:r>
          </a:p>
          <a:p>
            <a:r>
              <a:rPr lang="en-US" dirty="0"/>
              <a:t>Task dependencies and milestones</a:t>
            </a:r>
          </a:p>
          <a:p>
            <a:r>
              <a:rPr lang="en-US" dirty="0"/>
              <a:t>Mostly free (paid features have enough of a trail</a:t>
            </a:r>
          </a:p>
          <a:p>
            <a:r>
              <a:rPr lang="en-US" dirty="0"/>
              <a:t>Browser-based (no installation)</a:t>
            </a:r>
          </a:p>
          <a:p>
            <a:r>
              <a:rPr lang="en-US" dirty="0"/>
              <a:t>No features that require installing power-ups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0257AF2-C58A-2C58-F0CC-CBEF7F611D75}"/>
              </a:ext>
            </a:extLst>
          </p:cNvPr>
          <p:cNvSpPr txBox="1">
            <a:spLocks/>
          </p:cNvSpPr>
          <p:nvPr/>
        </p:nvSpPr>
        <p:spPr>
          <a:xfrm>
            <a:off x="838200" y="416910"/>
            <a:ext cx="10515600" cy="101173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Selected program for exercise - </a:t>
            </a:r>
            <a:r>
              <a:rPr lang="en-US" dirty="0" err="1"/>
              <a:t>ClickUp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88331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4EFED8-CCCB-1C35-2B26-D3BE4EAEC3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089635" cy="4351338"/>
          </a:xfrm>
        </p:spPr>
        <p:txBody>
          <a:bodyPr>
            <a:normAutofit/>
          </a:bodyPr>
          <a:lstStyle/>
          <a:p>
            <a:r>
              <a:rPr lang="en-US" dirty="0"/>
              <a:t>Go to </a:t>
            </a:r>
            <a:r>
              <a:rPr lang="en-US" u="sng" dirty="0">
                <a:solidFill>
                  <a:schemeClr val="tx2">
                    <a:lumMod val="75000"/>
                    <a:lumOff val="25000"/>
                  </a:schemeClr>
                </a:solidFill>
              </a:rPr>
              <a:t>clickup.com</a:t>
            </a: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</a:t>
            </a:r>
            <a:r>
              <a:rPr lang="en-US" dirty="0"/>
              <a:t>and click signup.</a:t>
            </a:r>
          </a:p>
          <a:p>
            <a:r>
              <a:rPr lang="en-US" dirty="0"/>
              <a:t>Use your student google account for the sign up</a:t>
            </a:r>
          </a:p>
          <a:p>
            <a:r>
              <a:rPr lang="en-US" dirty="0"/>
              <a:t>Create a new task list</a:t>
            </a:r>
          </a:p>
          <a:p>
            <a:pPr marL="0" indent="0">
              <a:buNone/>
            </a:pPr>
            <a:endParaRPr lang="en-US" u="sng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4A0C731-EDB3-D34E-24D1-7922CA17C0F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9594"/>
          <a:stretch>
            <a:fillRect/>
          </a:stretch>
        </p:blipFill>
        <p:spPr>
          <a:xfrm>
            <a:off x="7260180" y="522780"/>
            <a:ext cx="3944504" cy="3063875"/>
          </a:xfrm>
          <a:prstGeom prst="roundRect">
            <a:avLst>
              <a:gd name="adj" fmla="val 8696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EE101BD-6070-6148-3ECF-58A398AE76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7835" y="3012799"/>
            <a:ext cx="4255375" cy="3080081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4612CEC9-E8B8-619F-7169-6BB5B32FF648}"/>
              </a:ext>
            </a:extLst>
          </p:cNvPr>
          <p:cNvSpPr txBox="1">
            <a:spLocks/>
          </p:cNvSpPr>
          <p:nvPr/>
        </p:nvSpPr>
        <p:spPr>
          <a:xfrm>
            <a:off x="838200" y="522780"/>
            <a:ext cx="6272864" cy="101173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dirty="0"/>
              <a:t>Signup + task list creation</a:t>
            </a:r>
          </a:p>
        </p:txBody>
      </p:sp>
    </p:spTree>
    <p:extLst>
      <p:ext uri="{BB962C8B-B14F-4D97-AF65-F5344CB8AC3E}">
        <p14:creationId xmlns:p14="http://schemas.microsoft.com/office/powerpoint/2010/main" val="37599034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D3008F-8C52-0AD5-C1CC-EBE62FBB5D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3D25F86D-2A39-2C45-C7BD-7D0BD312FEC7}"/>
              </a:ext>
            </a:extLst>
          </p:cNvPr>
          <p:cNvSpPr txBox="1">
            <a:spLocks/>
          </p:cNvSpPr>
          <p:nvPr/>
        </p:nvSpPr>
        <p:spPr>
          <a:xfrm>
            <a:off x="838200" y="2712545"/>
            <a:ext cx="10515600" cy="143291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6000" dirty="0"/>
              <a:t>Demo exercise here</a:t>
            </a:r>
          </a:p>
        </p:txBody>
      </p:sp>
    </p:spTree>
    <p:extLst>
      <p:ext uri="{BB962C8B-B14F-4D97-AF65-F5344CB8AC3E}">
        <p14:creationId xmlns:p14="http://schemas.microsoft.com/office/powerpoint/2010/main" val="13181338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838053-D41D-EC1F-B578-BBC7CB08D5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06286"/>
            <a:ext cx="10515600" cy="4351338"/>
          </a:xfrm>
        </p:spPr>
        <p:txBody>
          <a:bodyPr numCol="1">
            <a:normAutofit fontScale="92500" lnSpcReduction="1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dirty="0"/>
              <a:t>Imagine your team has been hired to develop a small online store for a client who wants to sell products through a website. As project managers, your task is to create a realistic project schedule that helps the team deliver the project on time and avoid delays.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/>
              <a:t>Minimum 8 </a:t>
            </a:r>
            <a:r>
              <a:rPr lang="en-US" dirty="0"/>
              <a:t>tasks related to the development of the online store</a:t>
            </a:r>
          </a:p>
          <a:p>
            <a:r>
              <a:rPr lang="en-US" dirty="0"/>
              <a:t>Minimum 2 task dependencies</a:t>
            </a:r>
          </a:p>
          <a:p>
            <a:r>
              <a:rPr lang="en-US" dirty="0"/>
              <a:t>Minimum 2 milestones representing major project goals</a:t>
            </a:r>
          </a:p>
          <a:p>
            <a:r>
              <a:rPr lang="en-US" dirty="0"/>
              <a:t>Move some task to progress, some to complete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5C030B4-EA9E-048F-2FDA-BB308B5D93E2}"/>
              </a:ext>
            </a:extLst>
          </p:cNvPr>
          <p:cNvSpPr txBox="1">
            <a:spLocks/>
          </p:cNvSpPr>
          <p:nvPr/>
        </p:nvSpPr>
        <p:spPr>
          <a:xfrm>
            <a:off x="838200" y="522041"/>
            <a:ext cx="10515600" cy="101173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5400" dirty="0"/>
              <a:t>Exercise for you</a:t>
            </a:r>
          </a:p>
        </p:txBody>
      </p:sp>
    </p:spTree>
    <p:extLst>
      <p:ext uri="{BB962C8B-B14F-4D97-AF65-F5344CB8AC3E}">
        <p14:creationId xmlns:p14="http://schemas.microsoft.com/office/powerpoint/2010/main" val="30338161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2086</TotalTime>
  <Words>993</Words>
  <Application>Microsoft Macintosh PowerPoint</Application>
  <PresentationFormat>Widescreen</PresentationFormat>
  <Paragraphs>294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Functional Comparison of Scheduling Features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McAntek</dc:creator>
  <cp:lastModifiedBy>McAntek</cp:lastModifiedBy>
  <cp:revision>74</cp:revision>
  <dcterms:created xsi:type="dcterms:W3CDTF">2026-04-18T15:45:10Z</dcterms:created>
  <dcterms:modified xsi:type="dcterms:W3CDTF">2026-04-20T12:28:10Z</dcterms:modified>
</cp:coreProperties>
</file>