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0704F6-B265-4798-B1E7-7131007C0192}">
  <a:tblStyle styleId="{D00704F6-B265-4798-B1E7-7131007C01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bc35db0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bc35db0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bc35db0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bc35db0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bc35db0d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bc35db0d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da818412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bda818412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bc35db0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bc35db0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c35db0d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bc35db0d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bc35db0d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bc35db0d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bc35db0d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bc35db0d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bc35db0d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bc35db0d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c2184d21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c2184d2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c35db0d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bc35db0d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c2184d2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c2184d2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bc35db0d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bc35db0d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bda8184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bda8184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c2184d21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c2184d21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c373c0d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c373c0d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c2184d21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c2184d21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Utilizing </a:t>
            </a:r>
            <a:r>
              <a:rPr lang="pl"/>
              <a:t>software to monitor project performance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Why do we need monitoring?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Monitoring project performance helps with: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tracking project progress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identifying delays and risks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improving decision-making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controlling deadlines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increasing team efficiency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User needs 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As a project manager I should be able to: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track project progress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monitor task completion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analyze team performance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detect delays and bottlenecks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monitor deadlines and milestones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view reports and dashboards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/>
              <a:t>track time and resource usage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Software functionalities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10299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{D00704F6-B265-4798-B1E7-7131007C0192}</a:tableStyleId>
              </a:tblPr>
              <a:tblGrid>
                <a:gridCol w="1144900"/>
                <a:gridCol w="1144900"/>
                <a:gridCol w="1144900"/>
                <a:gridCol w="1144900"/>
                <a:gridCol w="1144900"/>
                <a:gridCol w="1144900"/>
              </a:tblGrid>
              <a:tr h="762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No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Functionality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Input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Output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Purpose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MoSCoW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4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Track task status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Task updates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Status info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Monitor progress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Must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Time tracking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Time logs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Time reports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Measure effort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Must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Dashboard view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Task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Visual overview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Quick monitoring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Must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3009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975900" y="815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{D00704F6-B265-4798-B1E7-7131007C0192}</a:tableStyleId>
              </a:tblPr>
              <a:tblGrid>
                <a:gridCol w="1198700"/>
                <a:gridCol w="1198700"/>
                <a:gridCol w="1198700"/>
                <a:gridCol w="1198700"/>
                <a:gridCol w="1198700"/>
                <a:gridCol w="1198700"/>
              </a:tblGrid>
              <a:tr h="344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No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Functionality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Input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Output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Purpose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MoSCoW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4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Generate reports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Project 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Reports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Performance analysis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Should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Notifications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Deadlines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Alerts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Stay updated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Could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Task dependencies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Task links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Workflow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Control execution order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Must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Timeline / Gantt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Task 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Timeline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Monitor schedule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Should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9" name="Google Shape;119;p18"/>
          <p:cNvGraphicFramePr/>
          <p:nvPr/>
        </p:nvGraphicFramePr>
        <p:xfrm>
          <a:off x="1061450" y="72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{D00704F6-B265-4798-B1E7-7131007C0192}</a:tableStyleId>
              </a:tblPr>
              <a:tblGrid>
                <a:gridCol w="1164125"/>
                <a:gridCol w="1290200"/>
                <a:gridCol w="1227150"/>
                <a:gridCol w="1227150"/>
                <a:gridCol w="1227150"/>
                <a:gridCol w="1227150"/>
              </a:tblGrid>
              <a:tr h="584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No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Functionality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Input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Output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Purpose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MoSCoW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Performance analytics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Task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Metrics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Analyze productivity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Should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Progress tracking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Status updates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Progress view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Monitor completion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Must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Update history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Task changes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History log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Track changes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Could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Resource tracking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Resource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Usage report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Optimize workload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/>
                        <a:t>Should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2124350" y="19019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Comparative price analysis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46537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Asana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Producer: Asana Inc.</a:t>
            </a:r>
            <a:br>
              <a:rPr lang="pl">
                <a:solidFill>
                  <a:srgbClr val="000000"/>
                </a:solidFill>
              </a:rPr>
            </a:br>
            <a:r>
              <a:rPr lang="pl">
                <a:solidFill>
                  <a:srgbClr val="000000"/>
                </a:solidFill>
              </a:rPr>
              <a:t> Platform: Web-based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Free plan: Available (basic task and project management features)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Paid plans:</a:t>
            </a:r>
            <a:endParaRPr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pl">
                <a:solidFill>
                  <a:srgbClr val="000000"/>
                </a:solidFill>
              </a:rPr>
              <a:t>Starter: €10.99 per user/month (annual billing)</a:t>
            </a:r>
            <a:endParaRPr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pl">
                <a:solidFill>
                  <a:srgbClr val="000000"/>
                </a:solidFill>
              </a:rPr>
              <a:t>Advanced: €24.99 per user/month (annual billing)</a:t>
            </a:r>
            <a:endParaRPr>
              <a:solidFill>
                <a:srgbClr val="000000"/>
              </a:solidFill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Char char="●"/>
            </a:pPr>
            <a:r>
              <a:rPr lang="pl">
                <a:solidFill>
                  <a:srgbClr val="000000"/>
                </a:solidFill>
              </a:rPr>
              <a:t>Enterprise: custom pricing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Offers advanced task and project management, workflow automation, reporting, and AI-powered features. Higher tiers unlock tools like timelines, portfolios, goals, and deeper integrations.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Key advantage: Strong collaboration and task management features</a:t>
            </a:r>
            <a:br>
              <a:rPr lang="pl">
                <a:solidFill>
                  <a:srgbClr val="000000"/>
                </a:solidFill>
              </a:rPr>
            </a:br>
            <a:r>
              <a:rPr lang="pl">
                <a:solidFill>
                  <a:srgbClr val="000000"/>
                </a:solidFill>
              </a:rPr>
              <a:t> Main drawback: Pricing structure can become expensive as teams scale (per-user model)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monday.com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pl" sz="1290">
                <a:solidFill>
                  <a:srgbClr val="000000"/>
                </a:solidFill>
              </a:rPr>
              <a:t>Producer: monday.com</a:t>
            </a:r>
            <a:br>
              <a:rPr lang="pl" sz="1290">
                <a:solidFill>
                  <a:srgbClr val="000000"/>
                </a:solidFill>
              </a:rPr>
            </a:br>
            <a:r>
              <a:rPr lang="pl" sz="1290">
                <a:solidFill>
                  <a:srgbClr val="000000"/>
                </a:solidFill>
              </a:rPr>
              <a:t>Platform: Web-based</a:t>
            </a:r>
            <a:br>
              <a:rPr lang="pl" sz="1290">
                <a:solidFill>
                  <a:srgbClr val="000000"/>
                </a:solidFill>
              </a:rPr>
            </a:br>
            <a:r>
              <a:rPr lang="pl" sz="1290">
                <a:solidFill>
                  <a:srgbClr val="000000"/>
                </a:solidFill>
              </a:rPr>
              <a:t>Free plan: Available (limited to 2 users)</a:t>
            </a:r>
            <a:endParaRPr sz="12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pl" sz="1290">
                <a:solidFill>
                  <a:srgbClr val="000000"/>
                </a:solidFill>
              </a:rPr>
              <a:t>Paid plans:</a:t>
            </a:r>
            <a:endParaRPr sz="1290">
              <a:solidFill>
                <a:srgbClr val="000000"/>
              </a:solidFill>
            </a:endParaRPr>
          </a:p>
          <a:p>
            <a:pPr indent="-286068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5"/>
              <a:buFont typeface="Arial"/>
              <a:buChar char="●"/>
            </a:pPr>
            <a:r>
              <a:rPr lang="pl" sz="1290">
                <a:solidFill>
                  <a:srgbClr val="000000"/>
                </a:solidFill>
              </a:rPr>
              <a:t>Basic: ~€8–11 per user/month</a:t>
            </a:r>
            <a:endParaRPr sz="1290">
              <a:solidFill>
                <a:srgbClr val="000000"/>
              </a:solidFill>
            </a:endParaRPr>
          </a:p>
          <a:p>
            <a:pPr indent="-28606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5"/>
              <a:buFont typeface="Arial"/>
              <a:buChar char="●"/>
            </a:pPr>
            <a:r>
              <a:rPr lang="pl" sz="1290">
                <a:solidFill>
                  <a:srgbClr val="000000"/>
                </a:solidFill>
              </a:rPr>
              <a:t>Standard: ~€11–14 per user/month</a:t>
            </a:r>
            <a:endParaRPr sz="1290">
              <a:solidFill>
                <a:srgbClr val="000000"/>
              </a:solidFill>
            </a:endParaRPr>
          </a:p>
          <a:p>
            <a:pPr indent="-28606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5"/>
              <a:buFont typeface="Arial"/>
              <a:buChar char="●"/>
            </a:pPr>
            <a:r>
              <a:rPr lang="pl" sz="1290">
                <a:solidFill>
                  <a:srgbClr val="000000"/>
                </a:solidFill>
              </a:rPr>
              <a:t>Pro: ~€18–24 per user/month</a:t>
            </a:r>
            <a:endParaRPr sz="1290">
              <a:solidFill>
                <a:srgbClr val="000000"/>
              </a:solidFill>
            </a:endParaRPr>
          </a:p>
          <a:p>
            <a:pPr indent="-28606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5"/>
              <a:buFont typeface="Arial"/>
              <a:buChar char="●"/>
            </a:pPr>
            <a:r>
              <a:rPr lang="pl" sz="1290">
                <a:solidFill>
                  <a:srgbClr val="000000"/>
                </a:solidFill>
              </a:rPr>
              <a:t>Enterprise: custom pricing</a:t>
            </a:r>
            <a:endParaRPr sz="12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pl" sz="1290">
                <a:solidFill>
                  <a:srgbClr val="000000"/>
                </a:solidFill>
              </a:rPr>
              <a:t>Offers advanced automation, customizable workflows, dashboards, and collaboration tools, with higher tiers unlocking more integrations, reporting, and automation limits.</a:t>
            </a:r>
            <a:endParaRPr sz="12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pl" sz="1290">
                <a:solidFill>
                  <a:srgbClr val="000000"/>
                </a:solidFill>
              </a:rPr>
              <a:t>Key advantage: Highly customizable and visual project management interface</a:t>
            </a:r>
            <a:br>
              <a:rPr lang="pl" sz="1290">
                <a:solidFill>
                  <a:srgbClr val="000000"/>
                </a:solidFill>
              </a:rPr>
            </a:br>
            <a:r>
              <a:rPr lang="pl" sz="1290">
                <a:solidFill>
                  <a:srgbClr val="000000"/>
                </a:solidFill>
              </a:rPr>
              <a:t>Main drawback: Pricing scales quickly with team size due to per-user (seat-based) model</a:t>
            </a:r>
            <a:endParaRPr sz="129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9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Jira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3715">
                <a:solidFill>
                  <a:srgbClr val="000000"/>
                </a:solidFill>
              </a:rPr>
              <a:t>Producer: Atlassian</a:t>
            </a:r>
            <a:br>
              <a:rPr lang="pl" sz="3715">
                <a:solidFill>
                  <a:srgbClr val="000000"/>
                </a:solidFill>
              </a:rPr>
            </a:br>
            <a:r>
              <a:rPr lang="pl" sz="3715">
                <a:solidFill>
                  <a:srgbClr val="000000"/>
                </a:solidFill>
              </a:rPr>
              <a:t>Platform: Web-based (Cloud; also available as self-hosted/Data Center)</a:t>
            </a:r>
            <a:endParaRPr sz="371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3715">
                <a:solidFill>
                  <a:srgbClr val="000000"/>
                </a:solidFill>
              </a:rPr>
              <a:t>Free plan: Available (for up to 10 users, includes basic Scrum/Kanban boards and reporting)</a:t>
            </a:r>
            <a:endParaRPr sz="371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3715">
                <a:solidFill>
                  <a:srgbClr val="000000"/>
                </a:solidFill>
              </a:rPr>
              <a:t>Paid plans:</a:t>
            </a:r>
            <a:endParaRPr sz="3715">
              <a:solidFill>
                <a:srgbClr val="000000"/>
              </a:solidFill>
            </a:endParaRPr>
          </a:p>
          <a:p>
            <a:pPr indent="-305276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3715">
                <a:solidFill>
                  <a:srgbClr val="000000"/>
                </a:solidFill>
              </a:rPr>
              <a:t>Standard: ~€7–9 per user/month</a:t>
            </a:r>
            <a:endParaRPr sz="3715">
              <a:solidFill>
                <a:srgbClr val="000000"/>
              </a:solidFill>
            </a:endParaRPr>
          </a:p>
          <a:p>
            <a:pPr indent="-30527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3715">
                <a:solidFill>
                  <a:srgbClr val="000000"/>
                </a:solidFill>
              </a:rPr>
              <a:t>Premium: ~€14–18 per user/month</a:t>
            </a:r>
            <a:endParaRPr sz="3715">
              <a:solidFill>
                <a:srgbClr val="000000"/>
              </a:solidFill>
            </a:endParaRPr>
          </a:p>
          <a:p>
            <a:pPr indent="-30527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3715">
                <a:solidFill>
                  <a:srgbClr val="000000"/>
                </a:solidFill>
              </a:rPr>
              <a:t>Enterprise: custom pricing</a:t>
            </a:r>
            <a:endParaRPr sz="371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3715">
                <a:solidFill>
                  <a:srgbClr val="000000"/>
                </a:solidFill>
              </a:rPr>
              <a:t>Offers advanced issue tracking, agile project management (Scrum/Kanban), automation, reporting, and deep integration with the Atlassian ecosystem. Higher tiers unlock features like advanced roadmaps, automation limits, and enterprise-grade controls.</a:t>
            </a:r>
            <a:endParaRPr sz="371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3715">
                <a:solidFill>
                  <a:srgbClr val="000000"/>
                </a:solidFill>
              </a:rPr>
              <a:t>Key advantage: Powerful and highly flexible for agile software development</a:t>
            </a:r>
            <a:br>
              <a:rPr lang="pl" sz="3715">
                <a:solidFill>
                  <a:srgbClr val="000000"/>
                </a:solidFill>
              </a:rPr>
            </a:br>
            <a:r>
              <a:rPr lang="pl" sz="3715">
                <a:solidFill>
                  <a:srgbClr val="000000"/>
                </a:solidFill>
              </a:rPr>
              <a:t>Main drawback: Steep learning curve and can be difficult to set up and manage</a:t>
            </a:r>
            <a:endParaRPr sz="371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2084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Functional comparision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149700" y="261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790488" y="45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{D00704F6-B265-4798-B1E7-7131007C0192}</a:tableStyleId>
              </a:tblPr>
              <a:tblGrid>
                <a:gridCol w="1931200"/>
                <a:gridCol w="1877275"/>
                <a:gridCol w="1877275"/>
                <a:gridCol w="1884650"/>
              </a:tblGrid>
              <a:tr h="29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monday.com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Jira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Asana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07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Track status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Tasks have customizable status columns that clearly show progress and can be updated in real time.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Status is managed through workflows and issue states, which can be customized but are more complex.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Tasks can be marked as complete or organized into sections representing different stages.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9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Time tracking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Time tracking is available through integrations or built-in features in higher plans.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Time tracking is supported and can be extended with plugins for detailed reporting.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Time tracking is limited and mostly available in paid plans or through integrations.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07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Reports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Dashboards provide visual reports with charts and metrics for monitoring performance.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Advanced reporting with customizable dashboards and detailed analytics is available.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Reports are available through dashboards, but some advanced features require paid plans.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3" name="Google Shape;163;p25"/>
          <p:cNvGraphicFramePr/>
          <p:nvPr/>
        </p:nvGraphicFramePr>
        <p:xfrm>
          <a:off x="851250" y="4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{D00704F6-B265-4798-B1E7-7131007C0192}</a:tableStyleId>
              </a:tblPr>
              <a:tblGrid>
                <a:gridCol w="1860375"/>
                <a:gridCol w="1860375"/>
                <a:gridCol w="1860375"/>
                <a:gridCol w="186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Feature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monday.com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Jira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100"/>
                        <a:t>Asana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Dashboard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Highly visual dashboards allow easy monitoring of project performance and team workload.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Dashboards are powerful but more technical and require configuration.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Dashboards are simple and easy to use, focused on task overview and progress.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Dependencies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Dependencies can be set between tasks and visualized in timeline views.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Dependencies are supported and can be managed within issue linking and planning tools.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200"/>
                        <a:t>Dependencies can be created, especially in timeline view, to manage task order.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Software chosen - monday.com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2703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includes free tier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web-based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very visual interface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strong monitoring 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easy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ideal for dashboards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21193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Software demonstration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92700" y="39973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09999"/>
            <a:ext cx="7885350" cy="328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10001"/>
            <a:ext cx="8044107" cy="333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Tasks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2519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Task 1.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Create a board in monday.com, add 6–8 tasks, and assign status, deadlines, and team members. Add custom fields such as task difficulty and estimated time.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Task 2.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</a:rPr>
              <a:t>Create a dashboard, add basic widgets, and analyze task progress, delays, and workload distribution.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