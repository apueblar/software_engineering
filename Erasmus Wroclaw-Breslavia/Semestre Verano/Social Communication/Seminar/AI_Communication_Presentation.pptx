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4"/>
  </p:notesMasterIdLst>
  <p:handoutMasterIdLst>
    <p:handoutMasterId r:id="rId15"/>
  </p:handout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63529" autoAdjust="0"/>
  </p:normalViewPr>
  <p:slideViewPr>
    <p:cSldViewPr snapToGrid="0" snapToObjects="1">
      <p:cViewPr varScale="1">
        <p:scale>
          <a:sx n="69" d="100"/>
          <a:sy n="69" d="100"/>
        </p:scale>
        <p:origin x="1858"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2" d="100"/>
          <a:sy n="62" d="100"/>
        </p:scale>
        <p:origin x="360"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8C1C6A7-5CA8-B9D8-F30C-59EB1A5F41C1}"/>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52381B82-6F48-D9EE-962F-A8767D97CAA4}"/>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DBED9496-5149-4074-A156-29E9620978D2}" type="datetimeFigureOut">
              <a:rPr lang="es-ES" smtClean="0"/>
              <a:t>16/03/2026</a:t>
            </a:fld>
            <a:endParaRPr lang="es-ES"/>
          </a:p>
        </p:txBody>
      </p:sp>
      <p:sp>
        <p:nvSpPr>
          <p:cNvPr id="4" name="Marcador de pie de página 3">
            <a:extLst>
              <a:ext uri="{FF2B5EF4-FFF2-40B4-BE49-F238E27FC236}">
                <a16:creationId xmlns:a16="http://schemas.microsoft.com/office/drawing/2014/main" id="{C160E8EF-A05E-3BA0-317B-0A60E901B042}"/>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317D98C-9EAE-8D7B-71B2-21E9E6A973AB}"/>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93E456BC-C6DA-4FB4-9771-73425DB6D7E6}" type="slidenum">
              <a:rPr lang="es-ES" smtClean="0"/>
              <a:t>‹Nº›</a:t>
            </a:fld>
            <a:endParaRPr lang="es-ES"/>
          </a:p>
        </p:txBody>
      </p:sp>
    </p:spTree>
    <p:extLst>
      <p:ext uri="{BB962C8B-B14F-4D97-AF65-F5344CB8AC3E}">
        <p14:creationId xmlns:p14="http://schemas.microsoft.com/office/powerpoint/2010/main" val="3735573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1431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 0:00-1:30
[Pause. Let the slide sink in for 5 full seconds. Look at the audience.]
"While you slept last night, your AI answered 27 messages. It used your name. It matched your tone. It made commitments on your behalf. And not a single person noticed it.</a:t>
            </a:r>
          </a:p>
          <a:p>
            <a:r>
              <a:rPr lang="en-US" dirty="0"/>
              <a:t>So let me ask you a simple, uncomfortable question - was that still… you?"
[Let the silence work.]
That scenario is not science fiction. It is already happening in corporate inboxes, dating apps, LinkedIn, customer service queues. And today I am here to discuss and present you that new reality - not to reject it, not to celebrate it, but to think critically about what it means for who we are as communicators / professionals even as human beings.
My name is Álvaro Puebla. I research for some days the intersection of artificial intelligence and social communication. And over the next 15 minutes, I want to make you think about every assumption you hold about how we connect with each other.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THESIS — 1:30-2:30
"Today's presentation is built around three converging questions.</a:t>
            </a:r>
          </a:p>
          <a:p>
            <a:r>
              <a:rPr lang="en-US" dirty="0"/>
              <a:t>Can AI agents communicate as us? That's a capability question, and we'll see the answer is increasingly yes.</a:t>
            </a:r>
          </a:p>
          <a:p>
            <a:r>
              <a:rPr lang="en-US" dirty="0"/>
              <a:t>Should they? That's an ethical question, and the answer is genuinely uncertain.</a:t>
            </a:r>
          </a:p>
          <a:p>
            <a:r>
              <a:rPr lang="en-US" dirty="0"/>
              <a:t>And what does it mean if they do? That's the existential question - for communication, for professional identity, for what it means to be human in relationships.
These three pillars - capability, ethics, future - will guide our journey."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AGENTS — 2:30-4:00
"Let's start with the basics, because precision matters here. When I say AI agent, I don't just mean a chatbot that answers questions. An AI agent is a system that perceives its environment, makes decisions, and acts - autonomously, continuously, without needing you to approve every single step.
Think of it as the difference between a calculator and a personal assistant. The calculator waits for you. The AI agent works while you sleep.
Modern agents can read your emails, understand the context, decide whether to reply or escalate, write a response in your voice, send it, and log the interaction - all without a single human keystroke. The four properties you see on the right - perceive, decide, act, learn - are what separate a true agent from a simple automation script.
And here's what makes this particularly relevant to communication: these agents are getting better at reading human subtle actions - tone, urgency, relationship context - faster than we anticipated."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ACTING AS US — 4:00-5:30
"So, where does this show up in real life? The answer is Everywhere. 
Email: Microsoft Copilot and Gmail's AI drafts already compose responses in your writing style. You read; you click send. Sometimes you don't even read.
Social media: Tools like Buffer AI or LinkedIn's writing assistant generate posts, replies, and even direct messages that go out under your name.
Customer service: When you message Amazon at 2am, you're almost certainly talking to an AI that has been trained to sound like a human customer representative - warm, attentive, helpful.
And perhaps most striking - in personal communications, apps like Replika and emerging features in dating platforms are helping people craft messages, suggest responses, even maintain relationships.
The AI is not just helping you communicate anymore. In many cases, it is communicating for you. The question is: does anyone know the difference? And does it matter?"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INVISIBLE AGENT — 5:30-6:30
"There is a design philosophy that guides the best AI communication systems - and it is perhaps the most philosophically unsettling one. The goal is invisibility.
The ideal AI agent does not draw attention to itself. It does not add 'This message was written with AI assistance.' It does not hesitate. It does not use robotic language. It sounds exactly like you - because it has been trained on you.
The three design principles - ambient, adaptive, autonomous - are not just technical attributes. They are a manifest for a new kind of communicator. One that works in the background, learns your voice, and acts on your behalf without ever asking for permission.
Now, some of you are nodding - this sounds incredibly useful. And it is. But some of you are feeling something else. That slight sense of unease. Hold onto that feeling. We're going to examine it very carefully."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UTOPIAN VS. REALISTIC — 6:30-8:00
"Now we get to the heart of the critical debate. Because how you feel about AI agents in communication depends enormously on which of these two lenses you use.
The </a:t>
            </a:r>
            <a:r>
              <a:rPr lang="en-US" b="1" dirty="0"/>
              <a:t>utopian view </a:t>
            </a:r>
            <a:r>
              <a:rPr lang="en-US" dirty="0"/>
              <a:t>says: imagine never missing an important message. Imagine a world where language barriers disappear, where people with social anxiety can communicate confidently, where your professional presence is consistent and always thoughtful.
I find this genuinely compelling. There are real accessibility benefits here. There are populations - people with autism, people with social anxiety disorders, non-native speakers - for whom AI communication assistance is genuinely emancipatory.
But the </a:t>
            </a:r>
            <a:r>
              <a:rPr lang="en-US" b="1" dirty="0"/>
              <a:t>realistic view </a:t>
            </a:r>
            <a:r>
              <a:rPr lang="en-US" dirty="0"/>
              <a:t>forces us to confront what we lose. When your AI is responding to someone who matters to you - a colleague, a partner, a friend - and they don't know, something real is missing. Not just from the interaction, but from the relationship itself.
And then there's the question of accountability. If your AI makes a commitment in your name that causes harm - who is responsible? You? The AI company? The platform?
These are not hypothetical questions. They are legal and ethical questions that we are completely unprepared for."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FAULT LINES — 8:00-9:30
"I want to focus our ethical lens on three specific fault lines - places where AI in communication creates irreducible tension.
First: Authenticity. When you receive a heartfelt message from a friend that was actually written by their AI - did you receive something real? Communication is not just information transfer. It is an act of presence. Of choosing to invest your time and attention in another person. AI agents undermine that at the root.
Second: Privacy. For an AI to communicate in your voice, it must have consumed vast amounts of your communication data - your emails, your messages, your writing patterns. Who owns that data? Who has access to it? What happens when that system is breached?
Third: Accountability. This is perhaps the most legally and professionally urgent. We already have cases where AI-generated communications have created legal obligations, made false claims, and caused reputational damage. In every case, determining responsibility is extraordinarily complex.
These three fault lines are not edge cases. They are the central challenges of our field."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IMPLICATIONS — 9:30-11:00
"The implications ripple outward into both social and professional spheres, and I want you to take both seriously.
Socially, AI is redefining what we expect from communication. If your AI can respond instantly, the expectation for response time from human communication gets compressed. We're already seeing this - people feel anxious if they don't respond within minutes, because the bar has been set by systems that never sleep.
More deeply: what happens to the art of listening? Of composing a thoughtful reply? If AI handles most of our communications, we may collectively atrophy the very skills that define meaningful relationship.
Professionally, the field of communication is undergoing structural transformation. The communicator of 2030 is not primarily a writer. They are an architect of AI communication systems. They set the tone, train the models, review the outputs, and take responsibility for what goes out under their brand.
The good news: this is an opportunity. The professionals in this room who learn to work fluently with AI agents will have enormous competitive advantage.</a:t>
            </a:r>
          </a:p>
          <a:p>
            <a:r>
              <a:rPr lang="en-US" dirty="0"/>
              <a:t>The risk: those who don't adapt may find their roles diminished."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FRAMEWORK — 11:00-12:30
"So where does this leave us? I want to give you something practical - not just critique, but a framework.
Four principles for navigating AI communication responsibly.
Transparency: In significant personal or professional interactions, the use of AI should be disclosed. This is already becoming a legal requirement in several jurisdictions. More importantly, it is the ethical foundation of trust.
Consent: Just as we have established norms around recording conversations, we need social norms around AI representation. Your contacts should be able to know - and ideally consent to - AI communicating on your behalf.
Human Override: There are categories of communication that must remain human. Medical conversations. Conflict resolution. Romantic relationships. Hiring decisions. We need to define these categories carefully and protect them.
Literacy: Ultimately, this requires a society-wide education effort. If people cannot recognize AI-generated communication, they cannot give informed responses to it. AI literacy is fast becoming a basic civil competency.
These four principles will not solve everything. But they give us a starting architecture for an ethical communication ecosystem."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 12:30-14:30
[Slow down. Let the weight of the statement land.]
"I want to leave you with a reframe. We have been asking the wrong question.
We keep asking: 'Can AI communicate as us?' And the answer is: increasingly, yes. The technology is here. The capability is expanding. That question is almost settled.
The question that matters - the one that will define the next decade of communication - is this: Should we let it? And if so, when? Under what conditions? With whose knowledge?
These are not technology questions. They are human questions. Communication is how we construct relationships, trust, identity, and community. When we delegate that to machines, we are making a choice about what kind of society we want to live in.
[Pause. Look around the room.]
I leave you with three questions - not to answer now, but to carry with you. What messages are only meaningful if you write them yourself? Who deserves to know when AI speaks in your name? And what kind of communicator do you want AI to help you become?
Because the future of communication will indeed be defined by those who can ethically harness AI. But first, we must decide what ethics requires of us.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676E1-3F1A-A928-AE4D-9134616842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6D6C20-A11A-6D79-919D-007EFE7188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521D77-A6E3-5FAB-E761-3029AE6E04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538ABF-6023-8E04-11A9-6C0C91A04AF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836620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 14:30-15:00
[Smile. Breathe.]
"I'll open the floor now. But I want to propose one seed question to get us started - because I find it focuses the conversation beautifully:
What is one interaction in your life that you would never delegate to AI - and why?
That 'why' is everything. Your answer to that question tells us what you truly believe communication is for."
[Engage with confidence. You have done your homework. You know this terrain. Own the room.]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82F66474-7F85-D044-C39A-C704754248DB}"/>
              </a:ext>
            </a:extLst>
          </p:cNvPr>
          <p:cNvSpPr>
            <a:spLocks noGrp="1"/>
          </p:cNvSpPr>
          <p:nvPr>
            <p:ph type="sldNum" sz="quarter" idx="4"/>
          </p:nvPr>
        </p:nvSpPr>
        <p:spPr>
          <a:xfrm>
            <a:off x="8201890" y="4868863"/>
            <a:ext cx="942109" cy="274637"/>
          </a:xfrm>
          <a:prstGeom prst="rect">
            <a:avLst/>
          </a:prstGeom>
        </p:spPr>
        <p:txBody>
          <a:bodyPr vert="horz" lIns="91440" tIns="45720" rIns="91440" bIns="45720" rtlCol="0" anchor="ctr"/>
          <a:lstStyle>
            <a:lvl1pPr algn="r">
              <a:defRPr sz="1200">
                <a:solidFill>
                  <a:schemeClr val="tx1">
                    <a:tint val="82000"/>
                  </a:schemeClr>
                </a:solidFill>
              </a:defRPr>
            </a:lvl1pPr>
          </a:lstStyle>
          <a:p>
            <a:r>
              <a:rPr lang="en-US" b="1" dirty="0">
                <a:solidFill>
                  <a:srgbClr val="FFFFFF"/>
                </a:solidFill>
                <a:latin typeface="Georgia" pitchFamily="34" charset="0"/>
                <a:ea typeface="Georgia" pitchFamily="34" charset="-122"/>
                <a:cs typeface="Georgia" pitchFamily="34" charset="-120"/>
              </a:rPr>
              <a:t>‹Nº›</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CF089D17-4905-410E-91BD-CA6CD1C93605}"/>
              </a:ext>
            </a:extLst>
          </p:cNvPr>
          <p:cNvSpPr>
            <a:spLocks noGrp="1"/>
          </p:cNvSpPr>
          <p:nvPr>
            <p:ph type="sldNum" sz="quarter" idx="4"/>
          </p:nvPr>
        </p:nvSpPr>
        <p:spPr>
          <a:xfrm>
            <a:off x="8201890" y="4868863"/>
            <a:ext cx="942109" cy="274637"/>
          </a:xfrm>
          <a:prstGeom prst="rect">
            <a:avLst/>
          </a:prstGeom>
        </p:spPr>
        <p:txBody>
          <a:bodyPr vert="horz" lIns="91440" tIns="45720" rIns="91440" bIns="45720" rtlCol="0" anchor="ctr"/>
          <a:lstStyle>
            <a:lvl1pPr algn="r">
              <a:defRPr sz="1200">
                <a:solidFill>
                  <a:schemeClr val="tx1">
                    <a:tint val="82000"/>
                  </a:schemeClr>
                </a:solidFill>
              </a:defRPr>
            </a:lvl1pPr>
          </a:lstStyle>
          <a:p>
            <a:r>
              <a:rPr lang="en-US" b="1" dirty="0">
                <a:solidFill>
                  <a:srgbClr val="FFFFFF"/>
                </a:solidFill>
                <a:latin typeface="Georgia" pitchFamily="34" charset="0"/>
                <a:ea typeface="Georgia" pitchFamily="34" charset="-122"/>
                <a:cs typeface="Georgia" pitchFamily="34" charset="-120"/>
              </a:rPr>
              <a:t>‹Nº›</a:t>
            </a:r>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B84B"/>
          </a:solidFill>
          <a:ln w="12700">
            <a:solidFill>
              <a:srgbClr val="E8B84B"/>
            </a:solidFill>
            <a:prstDash val="solid"/>
          </a:ln>
        </p:spPr>
        <p:txBody>
          <a:bodyPr/>
          <a:lstStyle/>
          <a:p>
            <a:endParaRPr lang="es-ES"/>
          </a:p>
        </p:txBody>
      </p:sp>
      <p:sp>
        <p:nvSpPr>
          <p:cNvPr id="4" name="Text 2"/>
          <p:cNvSpPr/>
          <p:nvPr/>
        </p:nvSpPr>
        <p:spPr>
          <a:xfrm>
            <a:off x="548640" y="772668"/>
            <a:ext cx="4114800" cy="731520"/>
          </a:xfrm>
          <a:prstGeom prst="rect">
            <a:avLst/>
          </a:prstGeom>
          <a:noFill/>
          <a:ln/>
        </p:spPr>
        <p:txBody>
          <a:bodyPr wrap="square" lIns="0" tIns="0" rIns="0" bIns="0" rtlCol="0" anchor="ctr"/>
          <a:lstStyle/>
          <a:p>
            <a:pPr marL="0" indent="0">
              <a:buNone/>
            </a:pPr>
            <a:r>
              <a:rPr lang="en-US" sz="2600" i="1" dirty="0">
                <a:solidFill>
                  <a:srgbClr val="8FA3B8"/>
                </a:solidFill>
                <a:latin typeface="Georgia" pitchFamily="34" charset="0"/>
                <a:ea typeface="Georgia" pitchFamily="34" charset="-122"/>
                <a:cs typeface="Georgia" pitchFamily="34" charset="-120"/>
              </a:rPr>
              <a:t>While you slept,</a:t>
            </a:r>
            <a:endParaRPr lang="en-US" sz="2600" dirty="0"/>
          </a:p>
        </p:txBody>
      </p:sp>
      <p:sp>
        <p:nvSpPr>
          <p:cNvPr id="5" name="Text 3"/>
          <p:cNvSpPr/>
          <p:nvPr/>
        </p:nvSpPr>
        <p:spPr>
          <a:xfrm>
            <a:off x="548640" y="1458468"/>
            <a:ext cx="4114800" cy="164592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your AI answered</a:t>
            </a:r>
            <a:endParaRPr lang="en-US" sz="4000" dirty="0"/>
          </a:p>
          <a:p>
            <a:pPr marL="0" indent="0">
              <a:buNone/>
            </a:pPr>
            <a:r>
              <a:rPr lang="en-US" sz="4000" b="1" dirty="0">
                <a:solidFill>
                  <a:srgbClr val="FFFFFF"/>
                </a:solidFill>
                <a:latin typeface="Georgia" pitchFamily="34" charset="0"/>
                <a:ea typeface="Georgia" pitchFamily="34" charset="-122"/>
                <a:cs typeface="Georgia" pitchFamily="34" charset="-120"/>
              </a:rPr>
              <a:t>27 messages.</a:t>
            </a:r>
            <a:endParaRPr lang="en-US" sz="4000" dirty="0"/>
          </a:p>
        </p:txBody>
      </p:sp>
      <p:sp>
        <p:nvSpPr>
          <p:cNvPr id="6" name="Text 4"/>
          <p:cNvSpPr/>
          <p:nvPr/>
        </p:nvSpPr>
        <p:spPr>
          <a:xfrm>
            <a:off x="548640" y="3150108"/>
            <a:ext cx="4114800" cy="594360"/>
          </a:xfrm>
          <a:prstGeom prst="rect">
            <a:avLst/>
          </a:prstGeom>
          <a:noFill/>
          <a:ln/>
        </p:spPr>
        <p:txBody>
          <a:bodyPr wrap="square" lIns="0" tIns="0" rIns="0" bIns="0" rtlCol="0" anchor="ctr"/>
          <a:lstStyle/>
          <a:p>
            <a:pPr marL="0" indent="0">
              <a:buNone/>
            </a:pPr>
            <a:r>
              <a:rPr lang="en-US" sz="2200" i="1" dirty="0">
                <a:solidFill>
                  <a:srgbClr val="E8B84B"/>
                </a:solidFill>
                <a:latin typeface="Georgia" pitchFamily="34" charset="0"/>
                <a:ea typeface="Georgia" pitchFamily="34" charset="-122"/>
                <a:cs typeface="Georgia" pitchFamily="34" charset="-120"/>
              </a:rPr>
              <a:t>Was that still… you?</a:t>
            </a:r>
            <a:endParaRPr lang="en-US" sz="2200" dirty="0"/>
          </a:p>
        </p:txBody>
      </p:sp>
      <p:sp>
        <p:nvSpPr>
          <p:cNvPr id="7" name="Shape 5"/>
          <p:cNvSpPr/>
          <p:nvPr/>
        </p:nvSpPr>
        <p:spPr>
          <a:xfrm>
            <a:off x="5486400" y="457200"/>
            <a:ext cx="3200400" cy="502920"/>
          </a:xfrm>
          <a:prstGeom prst="roundRect">
            <a:avLst>
              <a:gd name="adj" fmla="val 27273"/>
            </a:avLst>
          </a:prstGeom>
          <a:solidFill>
            <a:srgbClr val="1E6FBF"/>
          </a:solidFill>
          <a:ln w="12700">
            <a:solidFill>
              <a:srgbClr val="1E6FBF"/>
            </a:solidFill>
            <a:prstDash val="solid"/>
          </a:ln>
        </p:spPr>
        <p:txBody>
          <a:bodyPr/>
          <a:lstStyle/>
          <a:p>
            <a:endParaRPr lang="es-ES"/>
          </a:p>
        </p:txBody>
      </p:sp>
      <p:sp>
        <p:nvSpPr>
          <p:cNvPr id="8" name="Text 6"/>
          <p:cNvSpPr/>
          <p:nvPr/>
        </p:nvSpPr>
        <p:spPr>
          <a:xfrm>
            <a:off x="5577840" y="530352"/>
            <a:ext cx="3017520" cy="36576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Re: Project deadline confirmed ✓</a:t>
            </a:r>
            <a:endParaRPr lang="en-US" sz="1000" dirty="0"/>
          </a:p>
        </p:txBody>
      </p:sp>
      <p:sp>
        <p:nvSpPr>
          <p:cNvPr id="9" name="Shape 7"/>
          <p:cNvSpPr/>
          <p:nvPr/>
        </p:nvSpPr>
        <p:spPr>
          <a:xfrm>
            <a:off x="5029200" y="1280160"/>
            <a:ext cx="2560320" cy="502920"/>
          </a:xfrm>
          <a:prstGeom prst="roundRect">
            <a:avLst>
              <a:gd name="adj" fmla="val 27273"/>
            </a:avLst>
          </a:prstGeom>
          <a:solidFill>
            <a:srgbClr val="1A2C42"/>
          </a:solidFill>
          <a:ln w="12700">
            <a:solidFill>
              <a:srgbClr val="1A2C42"/>
            </a:solidFill>
            <a:prstDash val="solid"/>
          </a:ln>
        </p:spPr>
        <p:txBody>
          <a:bodyPr/>
          <a:lstStyle/>
          <a:p>
            <a:endParaRPr lang="es-ES"/>
          </a:p>
        </p:txBody>
      </p:sp>
      <p:sp>
        <p:nvSpPr>
          <p:cNvPr id="10" name="Text 8"/>
          <p:cNvSpPr/>
          <p:nvPr/>
        </p:nvSpPr>
        <p:spPr>
          <a:xfrm>
            <a:off x="5120640" y="1353312"/>
            <a:ext cx="2377440" cy="365760"/>
          </a:xfrm>
          <a:prstGeom prst="rect">
            <a:avLst/>
          </a:prstGeom>
          <a:noFill/>
          <a:ln/>
        </p:spPr>
        <p:txBody>
          <a:bodyPr wrap="square" lIns="0" tIns="0" rIns="0" bIns="0" rtlCol="0" anchor="ctr"/>
          <a:lstStyle/>
          <a:p>
            <a:pPr marL="0" indent="0">
              <a:buNone/>
            </a:pPr>
            <a:r>
              <a:rPr lang="en-US" sz="1000" dirty="0">
                <a:solidFill>
                  <a:srgbClr val="B8D9F0"/>
                </a:solidFill>
                <a:latin typeface="Calibri" pitchFamily="34" charset="0"/>
                <a:ea typeface="Calibri" pitchFamily="34" charset="-122"/>
                <a:cs typeface="Calibri" pitchFamily="34" charset="-120"/>
              </a:rPr>
              <a:t>Thanks for reaching out!</a:t>
            </a:r>
            <a:endParaRPr lang="en-US" sz="1000" dirty="0"/>
          </a:p>
        </p:txBody>
      </p:sp>
      <p:sp>
        <p:nvSpPr>
          <p:cNvPr id="11" name="Shape 9"/>
          <p:cNvSpPr/>
          <p:nvPr/>
        </p:nvSpPr>
        <p:spPr>
          <a:xfrm>
            <a:off x="5212080" y="2103120"/>
            <a:ext cx="3474720" cy="502920"/>
          </a:xfrm>
          <a:prstGeom prst="roundRect">
            <a:avLst>
              <a:gd name="adj" fmla="val 27273"/>
            </a:avLst>
          </a:prstGeom>
          <a:solidFill>
            <a:srgbClr val="1E6FBF"/>
          </a:solidFill>
          <a:ln w="12700">
            <a:solidFill>
              <a:srgbClr val="1E6FBF"/>
            </a:solidFill>
            <a:prstDash val="solid"/>
          </a:ln>
        </p:spPr>
        <p:txBody>
          <a:bodyPr/>
          <a:lstStyle/>
          <a:p>
            <a:endParaRPr lang="es-ES"/>
          </a:p>
        </p:txBody>
      </p:sp>
      <p:sp>
        <p:nvSpPr>
          <p:cNvPr id="12" name="Text 10"/>
          <p:cNvSpPr/>
          <p:nvPr/>
        </p:nvSpPr>
        <p:spPr>
          <a:xfrm>
            <a:off x="5303520" y="2176272"/>
            <a:ext cx="3291840" cy="36576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Meeting rescheduled to Thursday ✓</a:t>
            </a:r>
            <a:endParaRPr lang="en-US" sz="1000" dirty="0"/>
          </a:p>
        </p:txBody>
      </p:sp>
      <p:sp>
        <p:nvSpPr>
          <p:cNvPr id="13" name="Shape 11"/>
          <p:cNvSpPr/>
          <p:nvPr/>
        </p:nvSpPr>
        <p:spPr>
          <a:xfrm>
            <a:off x="5029200" y="2926080"/>
            <a:ext cx="2377440" cy="502920"/>
          </a:xfrm>
          <a:prstGeom prst="roundRect">
            <a:avLst>
              <a:gd name="adj" fmla="val 27273"/>
            </a:avLst>
          </a:prstGeom>
          <a:solidFill>
            <a:srgbClr val="1A2C42"/>
          </a:solidFill>
          <a:ln w="12700">
            <a:solidFill>
              <a:srgbClr val="1A2C42"/>
            </a:solidFill>
            <a:prstDash val="solid"/>
          </a:ln>
        </p:spPr>
        <p:txBody>
          <a:bodyPr/>
          <a:lstStyle/>
          <a:p>
            <a:endParaRPr lang="es-ES"/>
          </a:p>
        </p:txBody>
      </p:sp>
      <p:sp>
        <p:nvSpPr>
          <p:cNvPr id="14" name="Text 12"/>
          <p:cNvSpPr/>
          <p:nvPr/>
        </p:nvSpPr>
        <p:spPr>
          <a:xfrm>
            <a:off x="5120640" y="2999232"/>
            <a:ext cx="2194560" cy="365760"/>
          </a:xfrm>
          <a:prstGeom prst="rect">
            <a:avLst/>
          </a:prstGeom>
          <a:noFill/>
          <a:ln/>
        </p:spPr>
        <p:txBody>
          <a:bodyPr wrap="square" lIns="0" tIns="0" rIns="0" bIns="0" rtlCol="0" anchor="ctr"/>
          <a:lstStyle/>
          <a:p>
            <a:pPr marL="0" indent="0">
              <a:buNone/>
            </a:pPr>
            <a:r>
              <a:rPr lang="en-US" sz="1000" dirty="0">
                <a:solidFill>
                  <a:srgbClr val="B8D9F0"/>
                </a:solidFill>
                <a:latin typeface="Calibri" pitchFamily="34" charset="0"/>
                <a:ea typeface="Calibri" pitchFamily="34" charset="-122"/>
                <a:cs typeface="Calibri" pitchFamily="34" charset="-120"/>
              </a:rPr>
              <a:t>Sounds great, see you then!</a:t>
            </a:r>
            <a:endParaRPr lang="en-US" sz="1000" dirty="0"/>
          </a:p>
        </p:txBody>
      </p:sp>
      <p:sp>
        <p:nvSpPr>
          <p:cNvPr id="15" name="Shape 13"/>
          <p:cNvSpPr/>
          <p:nvPr/>
        </p:nvSpPr>
        <p:spPr>
          <a:xfrm>
            <a:off x="5760720" y="3749040"/>
            <a:ext cx="2926080" cy="502920"/>
          </a:xfrm>
          <a:prstGeom prst="roundRect">
            <a:avLst>
              <a:gd name="adj" fmla="val 27273"/>
            </a:avLst>
          </a:prstGeom>
          <a:solidFill>
            <a:srgbClr val="1E6FBF"/>
          </a:solidFill>
          <a:ln w="12700">
            <a:solidFill>
              <a:srgbClr val="1E6FBF"/>
            </a:solidFill>
            <a:prstDash val="solid"/>
          </a:ln>
        </p:spPr>
        <p:txBody>
          <a:bodyPr/>
          <a:lstStyle/>
          <a:p>
            <a:endParaRPr lang="es-ES"/>
          </a:p>
        </p:txBody>
      </p:sp>
      <p:sp>
        <p:nvSpPr>
          <p:cNvPr id="16" name="Text 14"/>
          <p:cNvSpPr/>
          <p:nvPr/>
        </p:nvSpPr>
        <p:spPr>
          <a:xfrm>
            <a:off x="5852160" y="3822192"/>
            <a:ext cx="2743200" cy="36576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Invoice approved and sent ✓</a:t>
            </a:r>
            <a:endParaRPr lang="en-US" sz="1000" dirty="0"/>
          </a:p>
        </p:txBody>
      </p:sp>
      <p:sp>
        <p:nvSpPr>
          <p:cNvPr id="17" name="Shape 15"/>
          <p:cNvSpPr/>
          <p:nvPr/>
        </p:nvSpPr>
        <p:spPr>
          <a:xfrm>
            <a:off x="5029200" y="4434840"/>
            <a:ext cx="1097280" cy="320040"/>
          </a:xfrm>
          <a:prstGeom prst="roundRect">
            <a:avLst>
              <a:gd name="adj" fmla="val 22857"/>
            </a:avLst>
          </a:prstGeom>
          <a:solidFill>
            <a:srgbClr val="E8B84B"/>
          </a:solidFill>
          <a:ln w="12700">
            <a:solidFill>
              <a:srgbClr val="E8B84B"/>
            </a:solidFill>
            <a:prstDash val="solid"/>
          </a:ln>
        </p:spPr>
        <p:txBody>
          <a:bodyPr/>
          <a:lstStyle/>
          <a:p>
            <a:endParaRPr lang="es-ES"/>
          </a:p>
        </p:txBody>
      </p:sp>
      <p:sp>
        <p:nvSpPr>
          <p:cNvPr id="18" name="Text 16"/>
          <p:cNvSpPr/>
          <p:nvPr/>
        </p:nvSpPr>
        <p:spPr>
          <a:xfrm>
            <a:off x="5029200" y="4462272"/>
            <a:ext cx="1097280"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AI Agent</a:t>
            </a:r>
            <a:endParaRPr lang="en-US" sz="1000" dirty="0"/>
          </a:p>
        </p:txBody>
      </p:sp>
      <p:sp>
        <p:nvSpPr>
          <p:cNvPr id="19" name="Text 17"/>
          <p:cNvSpPr/>
          <p:nvPr/>
        </p:nvSpPr>
        <p:spPr>
          <a:xfrm>
            <a:off x="0" y="4754880"/>
            <a:ext cx="9144000" cy="384048"/>
          </a:xfrm>
          <a:prstGeom prst="rect">
            <a:avLst/>
          </a:prstGeom>
          <a:noFill/>
          <a:ln/>
        </p:spPr>
        <p:txBody>
          <a:bodyPr wrap="square" lIns="0" tIns="0" rIns="0" bIns="0" rtlCol="0" anchor="ctr"/>
          <a:lstStyle/>
          <a:p>
            <a:pPr marL="0" indent="0" algn="ctr">
              <a:buNone/>
            </a:pPr>
            <a:r>
              <a:rPr lang="en-US" sz="900" kern="0" spc="300" dirty="0">
                <a:solidFill>
                  <a:srgbClr val="8FA3B8"/>
                </a:solidFill>
                <a:latin typeface="Calibri" pitchFamily="34" charset="0"/>
                <a:ea typeface="Calibri" pitchFamily="34" charset="-122"/>
                <a:cs typeface="Calibri" pitchFamily="34" charset="-120"/>
              </a:rPr>
              <a:t>ÁLVARO PUEBLA RUISÁNCHEZ  ·  AI in SOCIAL COMMUNICATION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C42"/>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B84B"/>
          </a:solidFill>
          <a:ln w="12700">
            <a:solidFill>
              <a:srgbClr val="E8B84B"/>
            </a:solidFill>
            <a:prstDash val="solid"/>
          </a:ln>
        </p:spPr>
        <p:txBody>
          <a:bodyPr/>
          <a:lstStyle/>
          <a:p>
            <a:endParaRPr lang="es-ES"/>
          </a:p>
        </p:txBody>
      </p:sp>
      <p:sp>
        <p:nvSpPr>
          <p:cNvPr id="3" name="Text 1"/>
          <p:cNvSpPr/>
          <p:nvPr/>
        </p:nvSpPr>
        <p:spPr>
          <a:xfrm>
            <a:off x="457200" y="274320"/>
            <a:ext cx="2743200" cy="320040"/>
          </a:xfrm>
          <a:prstGeom prst="rect">
            <a:avLst/>
          </a:prstGeom>
          <a:noFill/>
          <a:ln/>
        </p:spPr>
        <p:txBody>
          <a:bodyPr wrap="square" lIns="0" tIns="0" rIns="0" bIns="0" rtlCol="0" anchor="ctr"/>
          <a:lstStyle/>
          <a:p>
            <a:pPr marL="0" indent="0">
              <a:buNone/>
            </a:pPr>
            <a:r>
              <a:rPr lang="en-US" sz="900" b="1" kern="0" spc="400" dirty="0">
                <a:solidFill>
                  <a:srgbClr val="E8B84B"/>
                </a:solidFill>
                <a:latin typeface="Calibri" pitchFamily="34" charset="0"/>
                <a:ea typeface="Calibri" pitchFamily="34" charset="-122"/>
                <a:cs typeface="Calibri" pitchFamily="34" charset="-120"/>
              </a:rPr>
              <a:t>THESIS</a:t>
            </a:r>
            <a:endParaRPr lang="en-US" sz="900" dirty="0"/>
          </a:p>
        </p:txBody>
      </p:sp>
      <p:sp>
        <p:nvSpPr>
          <p:cNvPr id="4" name="Text 2"/>
          <p:cNvSpPr/>
          <p:nvPr/>
        </p:nvSpPr>
        <p:spPr>
          <a:xfrm>
            <a:off x="457200" y="685800"/>
            <a:ext cx="8229600" cy="1645920"/>
          </a:xfrm>
          <a:prstGeom prst="rect">
            <a:avLst/>
          </a:prstGeom>
          <a:noFill/>
          <a:ln/>
        </p:spPr>
        <p:txBody>
          <a:bodyPr wrap="square" lIns="0" tIns="0" rIns="0" bIns="0" rtlCol="0" anchor="ctr"/>
          <a:lstStyle/>
          <a:p>
            <a:pPr marL="0" indent="0" algn="l">
              <a:buNone/>
            </a:pPr>
            <a:r>
              <a:rPr lang="en-US" sz="3600" dirty="0">
                <a:solidFill>
                  <a:srgbClr val="FFFFFF"/>
                </a:solidFill>
                <a:latin typeface="Georgia" pitchFamily="34" charset="0"/>
                <a:ea typeface="Georgia" pitchFamily="34" charset="-122"/>
                <a:cs typeface="Georgia" pitchFamily="34" charset="-120"/>
              </a:rPr>
              <a:t>Can an AI communicate as you …</a:t>
            </a:r>
            <a:endParaRPr lang="en-US" sz="3600" dirty="0"/>
          </a:p>
          <a:p>
            <a:pPr marL="0" indent="0" algn="l">
              <a:buNone/>
            </a:pPr>
            <a:r>
              <a:rPr lang="en-US" sz="3600" dirty="0">
                <a:solidFill>
                  <a:srgbClr val="FFFFFF"/>
                </a:solidFill>
                <a:latin typeface="Georgia" pitchFamily="34" charset="0"/>
                <a:ea typeface="Georgia" pitchFamily="34" charset="-122"/>
                <a:cs typeface="Georgia" pitchFamily="34" charset="-120"/>
              </a:rPr>
              <a:t>and should it?</a:t>
            </a:r>
            <a:endParaRPr lang="en-US" sz="3600" dirty="0"/>
          </a:p>
        </p:txBody>
      </p:sp>
      <p:sp>
        <p:nvSpPr>
          <p:cNvPr id="5" name="Shape 3"/>
          <p:cNvSpPr/>
          <p:nvPr/>
        </p:nvSpPr>
        <p:spPr>
          <a:xfrm>
            <a:off x="457200" y="2560320"/>
            <a:ext cx="2560320" cy="2194560"/>
          </a:xfrm>
          <a:prstGeom prst="rect">
            <a:avLst/>
          </a:prstGeom>
          <a:solidFill>
            <a:srgbClr val="111929"/>
          </a:solidFill>
          <a:ln w="12700">
            <a:solidFill>
              <a:srgbClr val="111929"/>
            </a:solidFill>
            <a:prstDash val="solid"/>
          </a:ln>
          <a:effectLst>
            <a:outerShdw blurRad="127000" dist="38100" dir="8100000" algn="bl" rotWithShape="0">
              <a:srgbClr val="000000">
                <a:alpha val="25000"/>
              </a:srgbClr>
            </a:outerShdw>
          </a:effectLst>
        </p:spPr>
        <p:txBody>
          <a:bodyPr/>
          <a:lstStyle/>
          <a:p>
            <a:endParaRPr lang="es-ES"/>
          </a:p>
        </p:txBody>
      </p:sp>
      <p:sp>
        <p:nvSpPr>
          <p:cNvPr id="6" name="Shape 4"/>
          <p:cNvSpPr/>
          <p:nvPr/>
        </p:nvSpPr>
        <p:spPr>
          <a:xfrm>
            <a:off x="457200" y="2560320"/>
            <a:ext cx="2560320" cy="64008"/>
          </a:xfrm>
          <a:prstGeom prst="rect">
            <a:avLst/>
          </a:prstGeom>
          <a:solidFill>
            <a:srgbClr val="5AB4E5"/>
          </a:solidFill>
          <a:ln w="12700">
            <a:solidFill>
              <a:srgbClr val="5AB4E5"/>
            </a:solidFill>
            <a:prstDash val="solid"/>
          </a:ln>
        </p:spPr>
        <p:txBody>
          <a:bodyPr/>
          <a:lstStyle/>
          <a:p>
            <a:endParaRPr lang="es-ES"/>
          </a:p>
        </p:txBody>
      </p:sp>
      <p:sp>
        <p:nvSpPr>
          <p:cNvPr id="7" name="Text 5"/>
          <p:cNvSpPr/>
          <p:nvPr/>
        </p:nvSpPr>
        <p:spPr>
          <a:xfrm>
            <a:off x="594360" y="2743200"/>
            <a:ext cx="2286000" cy="365760"/>
          </a:xfrm>
          <a:prstGeom prst="rect">
            <a:avLst/>
          </a:prstGeom>
          <a:noFill/>
          <a:ln/>
        </p:spPr>
        <p:txBody>
          <a:bodyPr wrap="square" lIns="0" tIns="0" rIns="0" bIns="0" rtlCol="0" anchor="ctr"/>
          <a:lstStyle/>
          <a:p>
            <a:pPr marL="0" indent="0">
              <a:buNone/>
            </a:pPr>
            <a:r>
              <a:rPr lang="en-US" sz="1200" b="1" kern="0" spc="200" dirty="0">
                <a:solidFill>
                  <a:srgbClr val="5AB4E5"/>
                </a:solidFill>
                <a:latin typeface="Calibri" pitchFamily="34" charset="0"/>
                <a:ea typeface="Calibri" pitchFamily="34" charset="-122"/>
                <a:cs typeface="Calibri" pitchFamily="34" charset="-120"/>
              </a:rPr>
              <a:t>CAPABILITY</a:t>
            </a:r>
            <a:endParaRPr lang="en-US" sz="1200" dirty="0"/>
          </a:p>
        </p:txBody>
      </p:sp>
      <p:sp>
        <p:nvSpPr>
          <p:cNvPr id="8" name="Text 6"/>
          <p:cNvSpPr/>
          <p:nvPr/>
        </p:nvSpPr>
        <p:spPr>
          <a:xfrm>
            <a:off x="594360" y="3200400"/>
            <a:ext cx="2286000" cy="1097280"/>
          </a:xfrm>
          <a:prstGeom prst="rect">
            <a:avLst/>
          </a:prstGeom>
          <a:noFill/>
          <a:ln/>
        </p:spPr>
        <p:txBody>
          <a:bodyPr wrap="square" lIns="0" tIns="0" rIns="0" bIns="0" rtlCol="0" anchor="ctr"/>
          <a:lstStyle/>
          <a:p>
            <a:pPr marL="0" indent="0">
              <a:buNone/>
            </a:pPr>
            <a:r>
              <a:rPr lang="en-US" sz="1600" i="1" dirty="0">
                <a:solidFill>
                  <a:srgbClr val="E8EFF7"/>
                </a:solidFill>
                <a:latin typeface="Georgia" pitchFamily="34" charset="0"/>
                <a:ea typeface="Georgia" pitchFamily="34" charset="-122"/>
                <a:cs typeface="Georgia" pitchFamily="34" charset="-120"/>
              </a:rPr>
              <a:t>AI agents already do this</a:t>
            </a:r>
            <a:endParaRPr lang="en-US" sz="1600" dirty="0"/>
          </a:p>
        </p:txBody>
      </p:sp>
      <p:sp>
        <p:nvSpPr>
          <p:cNvPr id="9" name="Shape 7"/>
          <p:cNvSpPr/>
          <p:nvPr/>
        </p:nvSpPr>
        <p:spPr>
          <a:xfrm>
            <a:off x="3246120" y="2560320"/>
            <a:ext cx="2560320" cy="2194560"/>
          </a:xfrm>
          <a:prstGeom prst="rect">
            <a:avLst/>
          </a:prstGeom>
          <a:solidFill>
            <a:srgbClr val="111929"/>
          </a:solidFill>
          <a:ln w="12700">
            <a:solidFill>
              <a:srgbClr val="111929"/>
            </a:solidFill>
            <a:prstDash val="solid"/>
          </a:ln>
          <a:effectLst>
            <a:outerShdw blurRad="127000" dist="38100" dir="8100000" algn="bl" rotWithShape="0">
              <a:srgbClr val="000000">
                <a:alpha val="25000"/>
              </a:srgbClr>
            </a:outerShdw>
          </a:effectLst>
        </p:spPr>
        <p:txBody>
          <a:bodyPr/>
          <a:lstStyle/>
          <a:p>
            <a:endParaRPr lang="es-ES"/>
          </a:p>
        </p:txBody>
      </p:sp>
      <p:sp>
        <p:nvSpPr>
          <p:cNvPr id="10" name="Shape 8"/>
          <p:cNvSpPr/>
          <p:nvPr/>
        </p:nvSpPr>
        <p:spPr>
          <a:xfrm>
            <a:off x="3246120" y="2560320"/>
            <a:ext cx="2560320" cy="64008"/>
          </a:xfrm>
          <a:prstGeom prst="rect">
            <a:avLst/>
          </a:prstGeom>
          <a:solidFill>
            <a:srgbClr val="E8B84B"/>
          </a:solidFill>
          <a:ln w="12700">
            <a:solidFill>
              <a:srgbClr val="E8B84B"/>
            </a:solidFill>
            <a:prstDash val="solid"/>
          </a:ln>
        </p:spPr>
        <p:txBody>
          <a:bodyPr/>
          <a:lstStyle/>
          <a:p>
            <a:endParaRPr lang="es-ES"/>
          </a:p>
        </p:txBody>
      </p:sp>
      <p:sp>
        <p:nvSpPr>
          <p:cNvPr id="11" name="Text 9"/>
          <p:cNvSpPr/>
          <p:nvPr/>
        </p:nvSpPr>
        <p:spPr>
          <a:xfrm>
            <a:off x="3383280" y="2743200"/>
            <a:ext cx="2286000" cy="365760"/>
          </a:xfrm>
          <a:prstGeom prst="rect">
            <a:avLst/>
          </a:prstGeom>
          <a:noFill/>
          <a:ln/>
        </p:spPr>
        <p:txBody>
          <a:bodyPr wrap="square" lIns="0" tIns="0" rIns="0" bIns="0" rtlCol="0" anchor="ctr"/>
          <a:lstStyle/>
          <a:p>
            <a:pPr marL="0" indent="0">
              <a:buNone/>
            </a:pPr>
            <a:r>
              <a:rPr lang="en-US" sz="1200" b="1" kern="0" spc="200" dirty="0">
                <a:solidFill>
                  <a:srgbClr val="E8B84B"/>
                </a:solidFill>
                <a:latin typeface="Calibri" pitchFamily="34" charset="0"/>
                <a:ea typeface="Calibri" pitchFamily="34" charset="-122"/>
                <a:cs typeface="Calibri" pitchFamily="34" charset="-120"/>
              </a:rPr>
              <a:t>ETHICS</a:t>
            </a:r>
            <a:endParaRPr lang="en-US" sz="1200" dirty="0"/>
          </a:p>
        </p:txBody>
      </p:sp>
      <p:sp>
        <p:nvSpPr>
          <p:cNvPr id="12" name="Text 10"/>
          <p:cNvSpPr/>
          <p:nvPr/>
        </p:nvSpPr>
        <p:spPr>
          <a:xfrm>
            <a:off x="3383280" y="3200400"/>
            <a:ext cx="2286000" cy="1097280"/>
          </a:xfrm>
          <a:prstGeom prst="rect">
            <a:avLst/>
          </a:prstGeom>
          <a:noFill/>
          <a:ln/>
        </p:spPr>
        <p:txBody>
          <a:bodyPr wrap="square" lIns="0" tIns="0" rIns="0" bIns="0" rtlCol="0" anchor="ctr"/>
          <a:lstStyle/>
          <a:p>
            <a:pPr marL="0" indent="0">
              <a:buNone/>
            </a:pPr>
            <a:r>
              <a:rPr lang="en-US" sz="1600" i="1" dirty="0">
                <a:solidFill>
                  <a:srgbClr val="E8EFF7"/>
                </a:solidFill>
                <a:latin typeface="Georgia" pitchFamily="34" charset="0"/>
                <a:ea typeface="Georgia" pitchFamily="34" charset="-122"/>
                <a:cs typeface="Georgia" pitchFamily="34" charset="-120"/>
              </a:rPr>
              <a:t>But should they?</a:t>
            </a:r>
            <a:endParaRPr lang="en-US" sz="1600" dirty="0"/>
          </a:p>
        </p:txBody>
      </p:sp>
      <p:sp>
        <p:nvSpPr>
          <p:cNvPr id="13" name="Shape 11"/>
          <p:cNvSpPr/>
          <p:nvPr/>
        </p:nvSpPr>
        <p:spPr>
          <a:xfrm>
            <a:off x="6035040" y="2560320"/>
            <a:ext cx="2560320" cy="2194560"/>
          </a:xfrm>
          <a:prstGeom prst="rect">
            <a:avLst/>
          </a:prstGeom>
          <a:solidFill>
            <a:srgbClr val="111929"/>
          </a:solidFill>
          <a:ln w="12700">
            <a:solidFill>
              <a:srgbClr val="111929"/>
            </a:solidFill>
            <a:prstDash val="solid"/>
          </a:ln>
          <a:effectLst>
            <a:outerShdw blurRad="127000" dist="38100" dir="8100000" algn="bl" rotWithShape="0">
              <a:srgbClr val="000000">
                <a:alpha val="25000"/>
              </a:srgbClr>
            </a:outerShdw>
          </a:effectLst>
        </p:spPr>
        <p:txBody>
          <a:bodyPr/>
          <a:lstStyle/>
          <a:p>
            <a:endParaRPr lang="es-ES"/>
          </a:p>
        </p:txBody>
      </p:sp>
      <p:sp>
        <p:nvSpPr>
          <p:cNvPr id="14" name="Shape 12"/>
          <p:cNvSpPr/>
          <p:nvPr/>
        </p:nvSpPr>
        <p:spPr>
          <a:xfrm>
            <a:off x="6035040" y="2560320"/>
            <a:ext cx="2560320" cy="64008"/>
          </a:xfrm>
          <a:prstGeom prst="rect">
            <a:avLst/>
          </a:prstGeom>
          <a:solidFill>
            <a:srgbClr val="E05A4E"/>
          </a:solidFill>
          <a:ln w="12700">
            <a:solidFill>
              <a:srgbClr val="E05A4E"/>
            </a:solidFill>
            <a:prstDash val="solid"/>
          </a:ln>
        </p:spPr>
        <p:txBody>
          <a:bodyPr/>
          <a:lstStyle/>
          <a:p>
            <a:endParaRPr lang="es-ES"/>
          </a:p>
        </p:txBody>
      </p:sp>
      <p:sp>
        <p:nvSpPr>
          <p:cNvPr id="15" name="Text 13"/>
          <p:cNvSpPr/>
          <p:nvPr/>
        </p:nvSpPr>
        <p:spPr>
          <a:xfrm>
            <a:off x="6172200" y="2743200"/>
            <a:ext cx="2286000" cy="365760"/>
          </a:xfrm>
          <a:prstGeom prst="rect">
            <a:avLst/>
          </a:prstGeom>
          <a:noFill/>
          <a:ln/>
        </p:spPr>
        <p:txBody>
          <a:bodyPr wrap="square" lIns="0" tIns="0" rIns="0" bIns="0" rtlCol="0" anchor="ctr"/>
          <a:lstStyle/>
          <a:p>
            <a:pPr marL="0" indent="0">
              <a:buNone/>
            </a:pPr>
            <a:r>
              <a:rPr lang="en-US" sz="1200" b="1" kern="0" spc="200" dirty="0">
                <a:solidFill>
                  <a:srgbClr val="E05A4E"/>
                </a:solidFill>
                <a:latin typeface="Calibri" pitchFamily="34" charset="0"/>
                <a:ea typeface="Calibri" pitchFamily="34" charset="-122"/>
                <a:cs typeface="Calibri" pitchFamily="34" charset="-120"/>
              </a:rPr>
              <a:t>FUTURE</a:t>
            </a:r>
            <a:endParaRPr lang="en-US" sz="1200" dirty="0"/>
          </a:p>
        </p:txBody>
      </p:sp>
      <p:sp>
        <p:nvSpPr>
          <p:cNvPr id="16" name="Text 14"/>
          <p:cNvSpPr/>
          <p:nvPr/>
        </p:nvSpPr>
        <p:spPr>
          <a:xfrm>
            <a:off x="6172200" y="3200400"/>
            <a:ext cx="2286000" cy="1097280"/>
          </a:xfrm>
          <a:prstGeom prst="rect">
            <a:avLst/>
          </a:prstGeom>
          <a:noFill/>
          <a:ln/>
        </p:spPr>
        <p:txBody>
          <a:bodyPr wrap="square" lIns="0" tIns="0" rIns="0" bIns="0" rtlCol="0" anchor="ctr"/>
          <a:lstStyle/>
          <a:p>
            <a:pPr marL="0" indent="0">
              <a:buNone/>
            </a:pPr>
            <a:r>
              <a:rPr lang="en-US" sz="1600" i="1" dirty="0">
                <a:solidFill>
                  <a:srgbClr val="E8EFF7"/>
                </a:solidFill>
                <a:latin typeface="Georgia" pitchFamily="34" charset="0"/>
                <a:ea typeface="Georgia" pitchFamily="34" charset="-122"/>
                <a:cs typeface="Georgia" pitchFamily="34" charset="-120"/>
              </a:rPr>
              <a:t>What does it mean for us?</a:t>
            </a:r>
            <a:endParaRPr lang="en-US" sz="1600" dirty="0"/>
          </a:p>
        </p:txBody>
      </p:sp>
      <p:sp>
        <p:nvSpPr>
          <p:cNvPr id="17" name="Marcador de número de diapositiva 5">
            <a:extLst>
              <a:ext uri="{FF2B5EF4-FFF2-40B4-BE49-F238E27FC236}">
                <a16:creationId xmlns:a16="http://schemas.microsoft.com/office/drawing/2014/main" id="{47BFEE05-0C95-AA81-2E1E-B6318C3FA5B9}"/>
              </a:ext>
            </a:extLst>
          </p:cNvPr>
          <p:cNvSpPr>
            <a:spLocks noGrp="1"/>
          </p:cNvSpPr>
          <p:nvPr>
            <p:ph type="sldNum" sz="quarter" idx="4"/>
          </p:nvPr>
        </p:nvSpPr>
        <p:spPr>
          <a:xfrm>
            <a:off x="8201890" y="4868863"/>
            <a:ext cx="942109" cy="274637"/>
          </a:xfrm>
          <a:prstGeom prst="rect">
            <a:avLst/>
          </a:prstGeom>
        </p:spPr>
        <p:txBody>
          <a:bodyPr vert="horz" lIns="91440" tIns="45720" rIns="91440" bIns="45720" rtlCol="0" anchor="ctr"/>
          <a:lstStyle>
            <a:lvl1pPr algn="r">
              <a:defRPr sz="1200">
                <a:solidFill>
                  <a:schemeClr val="tx1">
                    <a:tint val="82000"/>
                  </a:schemeClr>
                </a:solidFill>
              </a:defRPr>
            </a:lvl1pPr>
          </a:lstStyle>
          <a:p>
            <a:r>
              <a:rPr lang="en-US" b="1" dirty="0">
                <a:solidFill>
                  <a:srgbClr val="FFFFFF"/>
                </a:solidFill>
                <a:latin typeface="Georgia" pitchFamily="34" charset="0"/>
                <a:ea typeface="Georgia" pitchFamily="34" charset="-122"/>
                <a:cs typeface="Georgia" pitchFamily="34" charset="-120"/>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6FBF"/>
          </a:solidFill>
          <a:ln w="12700">
            <a:solidFill>
              <a:srgbClr val="1E6FBF"/>
            </a:solidFill>
            <a:prstDash val="solid"/>
          </a:ln>
        </p:spPr>
        <p:txBody>
          <a:bodyPr/>
          <a:lstStyle/>
          <a:p>
            <a:endParaRPr lang="es-ES"/>
          </a:p>
        </p:txBody>
      </p:sp>
      <p:sp>
        <p:nvSpPr>
          <p:cNvPr id="3" name="Text 1"/>
          <p:cNvSpPr/>
          <p:nvPr/>
        </p:nvSpPr>
        <p:spPr>
          <a:xfrm>
            <a:off x="457200" y="182880"/>
            <a:ext cx="4572000" cy="274320"/>
          </a:xfrm>
          <a:prstGeom prst="rect">
            <a:avLst/>
          </a:prstGeom>
          <a:noFill/>
          <a:ln/>
        </p:spPr>
        <p:txBody>
          <a:bodyPr wrap="square" lIns="0" tIns="0" rIns="0" bIns="0" rtlCol="0" anchor="ctr"/>
          <a:lstStyle/>
          <a:p>
            <a:pPr marL="0" indent="0">
              <a:buNone/>
            </a:pPr>
            <a:r>
              <a:rPr lang="en-US" sz="900" kern="0" spc="300" dirty="0">
                <a:solidFill>
                  <a:srgbClr val="5AB4E5"/>
                </a:solidFill>
                <a:latin typeface="Calibri" pitchFamily="34" charset="0"/>
                <a:ea typeface="Calibri" pitchFamily="34" charset="-122"/>
                <a:cs typeface="Calibri" pitchFamily="34" charset="-120"/>
              </a:rPr>
              <a:t>PART 1  ·  CAPABILITY</a:t>
            </a:r>
            <a:endParaRPr lang="en-US" sz="900" dirty="0"/>
          </a:p>
        </p:txBody>
      </p:sp>
      <p:sp>
        <p:nvSpPr>
          <p:cNvPr id="4" name="Text 2"/>
          <p:cNvSpPr/>
          <p:nvPr/>
        </p:nvSpPr>
        <p:spPr>
          <a:xfrm>
            <a:off x="457200" y="502920"/>
            <a:ext cx="4114800" cy="1463040"/>
          </a:xfrm>
          <a:prstGeom prst="rect">
            <a:avLst/>
          </a:prstGeom>
          <a:noFill/>
          <a:ln/>
        </p:spPr>
        <p:txBody>
          <a:bodyPr wrap="square" lIns="0" tIns="0" rIns="0" bIns="0"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What is an</a:t>
            </a:r>
            <a:endParaRPr lang="en-US" sz="4400" dirty="0"/>
          </a:p>
          <a:p>
            <a:pPr marL="0" indent="0">
              <a:buNone/>
            </a:pPr>
            <a:r>
              <a:rPr lang="en-US" sz="4400" b="1" dirty="0">
                <a:solidFill>
                  <a:srgbClr val="FFFFFF"/>
                </a:solidFill>
                <a:latin typeface="Georgia" pitchFamily="34" charset="0"/>
                <a:ea typeface="Georgia" pitchFamily="34" charset="-122"/>
                <a:cs typeface="Georgia" pitchFamily="34" charset="-120"/>
              </a:rPr>
              <a:t>AI Agent?</a:t>
            </a:r>
            <a:endParaRPr lang="en-US" sz="4400" dirty="0"/>
          </a:p>
        </p:txBody>
      </p:sp>
      <p:sp>
        <p:nvSpPr>
          <p:cNvPr id="5" name="Shape 3"/>
          <p:cNvSpPr/>
          <p:nvPr/>
        </p:nvSpPr>
        <p:spPr>
          <a:xfrm>
            <a:off x="457200" y="2103120"/>
            <a:ext cx="4114800" cy="146304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6" name="Shape 4"/>
          <p:cNvSpPr/>
          <p:nvPr/>
        </p:nvSpPr>
        <p:spPr>
          <a:xfrm>
            <a:off x="457200" y="2103120"/>
            <a:ext cx="54864" cy="1463040"/>
          </a:xfrm>
          <a:prstGeom prst="rect">
            <a:avLst/>
          </a:prstGeom>
          <a:solidFill>
            <a:srgbClr val="5AB4E5"/>
          </a:solidFill>
          <a:ln w="12700">
            <a:solidFill>
              <a:srgbClr val="5AB4E5"/>
            </a:solidFill>
            <a:prstDash val="solid"/>
          </a:ln>
        </p:spPr>
        <p:txBody>
          <a:bodyPr/>
          <a:lstStyle/>
          <a:p>
            <a:endParaRPr lang="es-ES"/>
          </a:p>
        </p:txBody>
      </p:sp>
      <p:sp>
        <p:nvSpPr>
          <p:cNvPr id="7" name="Text 5"/>
          <p:cNvSpPr/>
          <p:nvPr/>
        </p:nvSpPr>
        <p:spPr>
          <a:xfrm>
            <a:off x="640080" y="2194560"/>
            <a:ext cx="3749040" cy="1280160"/>
          </a:xfrm>
          <a:prstGeom prst="rect">
            <a:avLst/>
          </a:prstGeom>
          <a:noFill/>
          <a:ln/>
        </p:spPr>
        <p:txBody>
          <a:bodyPr wrap="square" lIns="0" tIns="0" rIns="0" bIns="0" rtlCol="0" anchor="ctr"/>
          <a:lstStyle/>
          <a:p>
            <a:pPr marL="0" indent="0">
              <a:buNone/>
            </a:pPr>
            <a:r>
              <a:rPr lang="en-US" sz="1400" dirty="0">
                <a:solidFill>
                  <a:srgbClr val="E8EFF7"/>
                </a:solidFill>
                <a:latin typeface="Calibri" pitchFamily="34" charset="0"/>
                <a:ea typeface="Calibri" pitchFamily="34" charset="-122"/>
                <a:cs typeface="Calibri" pitchFamily="34" charset="-120"/>
              </a:rPr>
              <a:t>A software system that perceives its environment, makes decisions, and acts autonomously, without requiring human input at every step.</a:t>
            </a:r>
            <a:endParaRPr lang="en-US" sz="1400" dirty="0"/>
          </a:p>
        </p:txBody>
      </p:sp>
      <p:sp>
        <p:nvSpPr>
          <p:cNvPr id="8" name="Shape 6"/>
          <p:cNvSpPr/>
          <p:nvPr/>
        </p:nvSpPr>
        <p:spPr>
          <a:xfrm>
            <a:off x="5029200" y="457200"/>
            <a:ext cx="3657600" cy="77724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9" name="Shape 7"/>
          <p:cNvSpPr/>
          <p:nvPr/>
        </p:nvSpPr>
        <p:spPr>
          <a:xfrm>
            <a:off x="5029200" y="457200"/>
            <a:ext cx="54864" cy="777240"/>
          </a:xfrm>
          <a:prstGeom prst="rect">
            <a:avLst/>
          </a:prstGeom>
          <a:solidFill>
            <a:srgbClr val="5AB4E5"/>
          </a:solidFill>
          <a:ln w="12700">
            <a:solidFill>
              <a:srgbClr val="5AB4E5"/>
            </a:solidFill>
            <a:prstDash val="solid"/>
          </a:ln>
        </p:spPr>
        <p:txBody>
          <a:bodyPr/>
          <a:lstStyle/>
          <a:p>
            <a:endParaRPr lang="es-ES"/>
          </a:p>
        </p:txBody>
      </p:sp>
      <p:sp>
        <p:nvSpPr>
          <p:cNvPr id="10" name="Text 8"/>
          <p:cNvSpPr/>
          <p:nvPr/>
        </p:nvSpPr>
        <p:spPr>
          <a:xfrm>
            <a:off x="5212080" y="548640"/>
            <a:ext cx="1371600" cy="274320"/>
          </a:xfrm>
          <a:prstGeom prst="rect">
            <a:avLst/>
          </a:prstGeom>
          <a:noFill/>
          <a:ln/>
        </p:spPr>
        <p:txBody>
          <a:bodyPr wrap="square" lIns="0" tIns="0" rIns="0" bIns="0" rtlCol="0" anchor="ctr"/>
          <a:lstStyle/>
          <a:p>
            <a:pPr marL="0" indent="0">
              <a:buNone/>
            </a:pPr>
            <a:r>
              <a:rPr lang="en-US" sz="1400" b="1" dirty="0">
                <a:solidFill>
                  <a:srgbClr val="5AB4E5"/>
                </a:solidFill>
                <a:latin typeface="Calibri" pitchFamily="34" charset="0"/>
                <a:ea typeface="Calibri" pitchFamily="34" charset="-122"/>
                <a:cs typeface="Calibri" pitchFamily="34" charset="-120"/>
              </a:rPr>
              <a:t>Perceives</a:t>
            </a:r>
            <a:endParaRPr lang="en-US" sz="1400" dirty="0"/>
          </a:p>
        </p:txBody>
      </p:sp>
      <p:sp>
        <p:nvSpPr>
          <p:cNvPr id="11" name="Text 9"/>
          <p:cNvSpPr/>
          <p:nvPr/>
        </p:nvSpPr>
        <p:spPr>
          <a:xfrm>
            <a:off x="5212080" y="841248"/>
            <a:ext cx="3291840" cy="292608"/>
          </a:xfrm>
          <a:prstGeom prst="rect">
            <a:avLst/>
          </a:prstGeom>
          <a:noFill/>
          <a:ln/>
        </p:spPr>
        <p:txBody>
          <a:bodyPr wrap="square" lIns="0" tIns="0" rIns="0" bIns="0" rtlCol="0" anchor="ctr"/>
          <a:lstStyle/>
          <a:p>
            <a:pPr marL="0" indent="0">
              <a:buNone/>
            </a:pPr>
            <a:r>
              <a:rPr lang="en-US" sz="1200" dirty="0">
                <a:solidFill>
                  <a:srgbClr val="8FA3B8"/>
                </a:solidFill>
                <a:latin typeface="Calibri" pitchFamily="34" charset="0"/>
                <a:ea typeface="Calibri" pitchFamily="34" charset="-122"/>
                <a:cs typeface="Calibri" pitchFamily="34" charset="-120"/>
              </a:rPr>
              <a:t>reads context &amp; data</a:t>
            </a:r>
            <a:endParaRPr lang="en-US" sz="1200" dirty="0"/>
          </a:p>
        </p:txBody>
      </p:sp>
      <p:sp>
        <p:nvSpPr>
          <p:cNvPr id="12" name="Shape 10"/>
          <p:cNvSpPr/>
          <p:nvPr/>
        </p:nvSpPr>
        <p:spPr>
          <a:xfrm>
            <a:off x="5029200" y="1417320"/>
            <a:ext cx="3657600" cy="77724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13" name="Shape 11"/>
          <p:cNvSpPr/>
          <p:nvPr/>
        </p:nvSpPr>
        <p:spPr>
          <a:xfrm>
            <a:off x="5029200" y="1417320"/>
            <a:ext cx="54864" cy="777240"/>
          </a:xfrm>
          <a:prstGeom prst="rect">
            <a:avLst/>
          </a:prstGeom>
          <a:solidFill>
            <a:srgbClr val="1E6FBF"/>
          </a:solidFill>
          <a:ln w="12700">
            <a:solidFill>
              <a:srgbClr val="1E6FBF"/>
            </a:solidFill>
            <a:prstDash val="solid"/>
          </a:ln>
        </p:spPr>
        <p:txBody>
          <a:bodyPr/>
          <a:lstStyle/>
          <a:p>
            <a:endParaRPr lang="es-ES"/>
          </a:p>
        </p:txBody>
      </p:sp>
      <p:sp>
        <p:nvSpPr>
          <p:cNvPr id="14" name="Text 12"/>
          <p:cNvSpPr/>
          <p:nvPr/>
        </p:nvSpPr>
        <p:spPr>
          <a:xfrm>
            <a:off x="5212080" y="1508760"/>
            <a:ext cx="1371600" cy="274320"/>
          </a:xfrm>
          <a:prstGeom prst="rect">
            <a:avLst/>
          </a:prstGeom>
          <a:noFill/>
          <a:ln/>
        </p:spPr>
        <p:txBody>
          <a:bodyPr wrap="square" lIns="0" tIns="0" rIns="0" bIns="0" rtlCol="0" anchor="ctr"/>
          <a:lstStyle/>
          <a:p>
            <a:pPr marL="0" indent="0">
              <a:buNone/>
            </a:pPr>
            <a:r>
              <a:rPr lang="en-US" sz="1400" b="1" dirty="0">
                <a:solidFill>
                  <a:srgbClr val="1E6FBF"/>
                </a:solidFill>
                <a:latin typeface="Calibri" pitchFamily="34" charset="0"/>
                <a:ea typeface="Calibri" pitchFamily="34" charset="-122"/>
                <a:cs typeface="Calibri" pitchFamily="34" charset="-120"/>
              </a:rPr>
              <a:t>Decides</a:t>
            </a:r>
            <a:endParaRPr lang="en-US" sz="1400" dirty="0"/>
          </a:p>
        </p:txBody>
      </p:sp>
      <p:sp>
        <p:nvSpPr>
          <p:cNvPr id="15" name="Text 13"/>
          <p:cNvSpPr/>
          <p:nvPr/>
        </p:nvSpPr>
        <p:spPr>
          <a:xfrm>
            <a:off x="5212080" y="1801368"/>
            <a:ext cx="3291840" cy="292608"/>
          </a:xfrm>
          <a:prstGeom prst="rect">
            <a:avLst/>
          </a:prstGeom>
          <a:noFill/>
          <a:ln/>
        </p:spPr>
        <p:txBody>
          <a:bodyPr wrap="square" lIns="0" tIns="0" rIns="0" bIns="0" rtlCol="0" anchor="ctr"/>
          <a:lstStyle/>
          <a:p>
            <a:pPr marL="0" indent="0">
              <a:buNone/>
            </a:pPr>
            <a:r>
              <a:rPr lang="en-US" sz="1200" dirty="0">
                <a:solidFill>
                  <a:srgbClr val="8FA3B8"/>
                </a:solidFill>
                <a:latin typeface="Calibri" pitchFamily="34" charset="0"/>
                <a:ea typeface="Calibri" pitchFamily="34" charset="-122"/>
                <a:cs typeface="Calibri" pitchFamily="34" charset="-120"/>
              </a:rPr>
              <a:t>chooses best action</a:t>
            </a:r>
            <a:endParaRPr lang="en-US" sz="1200" dirty="0"/>
          </a:p>
        </p:txBody>
      </p:sp>
      <p:sp>
        <p:nvSpPr>
          <p:cNvPr id="16" name="Shape 14"/>
          <p:cNvSpPr/>
          <p:nvPr/>
        </p:nvSpPr>
        <p:spPr>
          <a:xfrm>
            <a:off x="5029200" y="2377440"/>
            <a:ext cx="3657600" cy="77724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17" name="Shape 15"/>
          <p:cNvSpPr/>
          <p:nvPr/>
        </p:nvSpPr>
        <p:spPr>
          <a:xfrm>
            <a:off x="5029200" y="2377440"/>
            <a:ext cx="54864" cy="777240"/>
          </a:xfrm>
          <a:prstGeom prst="rect">
            <a:avLst/>
          </a:prstGeom>
          <a:solidFill>
            <a:srgbClr val="E8B84B"/>
          </a:solidFill>
          <a:ln w="12700">
            <a:solidFill>
              <a:srgbClr val="E8B84B"/>
            </a:solidFill>
            <a:prstDash val="solid"/>
          </a:ln>
        </p:spPr>
        <p:txBody>
          <a:bodyPr/>
          <a:lstStyle/>
          <a:p>
            <a:endParaRPr lang="es-ES"/>
          </a:p>
        </p:txBody>
      </p:sp>
      <p:sp>
        <p:nvSpPr>
          <p:cNvPr id="18" name="Text 16"/>
          <p:cNvSpPr/>
          <p:nvPr/>
        </p:nvSpPr>
        <p:spPr>
          <a:xfrm>
            <a:off x="5212080" y="2468880"/>
            <a:ext cx="1371600" cy="274320"/>
          </a:xfrm>
          <a:prstGeom prst="rect">
            <a:avLst/>
          </a:prstGeom>
          <a:noFill/>
          <a:ln/>
        </p:spPr>
        <p:txBody>
          <a:bodyPr wrap="square" lIns="0" tIns="0" rIns="0" bIns="0" rtlCol="0" anchor="ctr"/>
          <a:lstStyle/>
          <a:p>
            <a:pPr marL="0" indent="0">
              <a:buNone/>
            </a:pPr>
            <a:r>
              <a:rPr lang="en-US" sz="1400" b="1" dirty="0">
                <a:solidFill>
                  <a:srgbClr val="E8B84B"/>
                </a:solidFill>
                <a:latin typeface="Calibri" pitchFamily="34" charset="0"/>
                <a:ea typeface="Calibri" pitchFamily="34" charset="-122"/>
                <a:cs typeface="Calibri" pitchFamily="34" charset="-120"/>
              </a:rPr>
              <a:t>Acts</a:t>
            </a:r>
            <a:endParaRPr lang="en-US" sz="1400" dirty="0"/>
          </a:p>
        </p:txBody>
      </p:sp>
      <p:sp>
        <p:nvSpPr>
          <p:cNvPr id="19" name="Text 17"/>
          <p:cNvSpPr/>
          <p:nvPr/>
        </p:nvSpPr>
        <p:spPr>
          <a:xfrm>
            <a:off x="5212080" y="2761488"/>
            <a:ext cx="3291840" cy="292608"/>
          </a:xfrm>
          <a:prstGeom prst="rect">
            <a:avLst/>
          </a:prstGeom>
          <a:noFill/>
          <a:ln/>
        </p:spPr>
        <p:txBody>
          <a:bodyPr wrap="square" lIns="0" tIns="0" rIns="0" bIns="0" rtlCol="0" anchor="ctr"/>
          <a:lstStyle/>
          <a:p>
            <a:pPr marL="0" indent="0">
              <a:buNone/>
            </a:pPr>
            <a:r>
              <a:rPr lang="en-US" sz="1200" dirty="0">
                <a:solidFill>
                  <a:srgbClr val="8FA3B8"/>
                </a:solidFill>
                <a:latin typeface="Calibri" pitchFamily="34" charset="0"/>
                <a:ea typeface="Calibri" pitchFamily="34" charset="-122"/>
                <a:cs typeface="Calibri" pitchFamily="34" charset="-120"/>
              </a:rPr>
              <a:t>sends, schedules, posts</a:t>
            </a:r>
            <a:endParaRPr lang="en-US" sz="1200" dirty="0"/>
          </a:p>
        </p:txBody>
      </p:sp>
      <p:sp>
        <p:nvSpPr>
          <p:cNvPr id="20" name="Shape 18"/>
          <p:cNvSpPr/>
          <p:nvPr/>
        </p:nvSpPr>
        <p:spPr>
          <a:xfrm>
            <a:off x="5029200" y="3337560"/>
            <a:ext cx="3657600" cy="77724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21" name="Shape 19"/>
          <p:cNvSpPr/>
          <p:nvPr/>
        </p:nvSpPr>
        <p:spPr>
          <a:xfrm>
            <a:off x="5029200" y="3337560"/>
            <a:ext cx="54864" cy="777240"/>
          </a:xfrm>
          <a:prstGeom prst="rect">
            <a:avLst/>
          </a:prstGeom>
          <a:solidFill>
            <a:srgbClr val="E05A4E"/>
          </a:solidFill>
          <a:ln w="12700">
            <a:solidFill>
              <a:srgbClr val="E05A4E"/>
            </a:solidFill>
            <a:prstDash val="solid"/>
          </a:ln>
        </p:spPr>
        <p:txBody>
          <a:bodyPr/>
          <a:lstStyle/>
          <a:p>
            <a:endParaRPr lang="es-ES"/>
          </a:p>
        </p:txBody>
      </p:sp>
      <p:sp>
        <p:nvSpPr>
          <p:cNvPr id="22" name="Text 20"/>
          <p:cNvSpPr/>
          <p:nvPr/>
        </p:nvSpPr>
        <p:spPr>
          <a:xfrm>
            <a:off x="5212080" y="3429000"/>
            <a:ext cx="1371600" cy="274320"/>
          </a:xfrm>
          <a:prstGeom prst="rect">
            <a:avLst/>
          </a:prstGeom>
          <a:noFill/>
          <a:ln/>
        </p:spPr>
        <p:txBody>
          <a:bodyPr wrap="square" lIns="0" tIns="0" rIns="0" bIns="0" rtlCol="0" anchor="ctr"/>
          <a:lstStyle/>
          <a:p>
            <a:pPr marL="0" indent="0">
              <a:buNone/>
            </a:pPr>
            <a:r>
              <a:rPr lang="en-US" sz="1400" b="1" dirty="0">
                <a:solidFill>
                  <a:srgbClr val="E05A4E"/>
                </a:solidFill>
                <a:latin typeface="Calibri" pitchFamily="34" charset="0"/>
                <a:ea typeface="Calibri" pitchFamily="34" charset="-122"/>
                <a:cs typeface="Calibri" pitchFamily="34" charset="-120"/>
              </a:rPr>
              <a:t>Learns</a:t>
            </a:r>
            <a:endParaRPr lang="en-US" sz="1400" dirty="0"/>
          </a:p>
        </p:txBody>
      </p:sp>
      <p:sp>
        <p:nvSpPr>
          <p:cNvPr id="23" name="Text 21"/>
          <p:cNvSpPr/>
          <p:nvPr/>
        </p:nvSpPr>
        <p:spPr>
          <a:xfrm>
            <a:off x="5212080" y="3721608"/>
            <a:ext cx="3291840" cy="292608"/>
          </a:xfrm>
          <a:prstGeom prst="rect">
            <a:avLst/>
          </a:prstGeom>
          <a:noFill/>
          <a:ln/>
        </p:spPr>
        <p:txBody>
          <a:bodyPr wrap="square" lIns="0" tIns="0" rIns="0" bIns="0" rtlCol="0" anchor="ctr"/>
          <a:lstStyle/>
          <a:p>
            <a:pPr marL="0" indent="0">
              <a:buNone/>
            </a:pPr>
            <a:r>
              <a:rPr lang="en-US" sz="1200" dirty="0">
                <a:solidFill>
                  <a:srgbClr val="8FA3B8"/>
                </a:solidFill>
                <a:latin typeface="Calibri" pitchFamily="34" charset="0"/>
                <a:ea typeface="Calibri" pitchFamily="34" charset="-122"/>
                <a:cs typeface="Calibri" pitchFamily="34" charset="-120"/>
              </a:rPr>
              <a:t>improves over time</a:t>
            </a:r>
            <a:endParaRPr lang="en-US" sz="1200" dirty="0"/>
          </a:p>
        </p:txBody>
      </p:sp>
      <p:sp>
        <p:nvSpPr>
          <p:cNvPr id="25" name="Text 17">
            <a:extLst>
              <a:ext uri="{FF2B5EF4-FFF2-40B4-BE49-F238E27FC236}">
                <a16:creationId xmlns:a16="http://schemas.microsoft.com/office/drawing/2014/main" id="{1C718FF3-4F2E-D487-C660-24B42E82366A}"/>
              </a:ext>
            </a:extLst>
          </p:cNvPr>
          <p:cNvSpPr/>
          <p:nvPr/>
        </p:nvSpPr>
        <p:spPr>
          <a:xfrm>
            <a:off x="0" y="4754880"/>
            <a:ext cx="9144000" cy="384048"/>
          </a:xfrm>
          <a:prstGeom prst="rect">
            <a:avLst/>
          </a:prstGeom>
          <a:noFill/>
          <a:ln/>
        </p:spPr>
        <p:txBody>
          <a:bodyPr wrap="square" lIns="0" tIns="0" rIns="0" bIns="0" rtlCol="0" anchor="ctr"/>
          <a:lstStyle/>
          <a:p>
            <a:pPr marL="0" indent="0" algn="ctr">
              <a:buNone/>
            </a:pPr>
            <a:r>
              <a:rPr lang="en-US" sz="900" kern="0" spc="300" dirty="0">
                <a:solidFill>
                  <a:srgbClr val="8FA3B8"/>
                </a:solidFill>
                <a:latin typeface="Calibri" pitchFamily="34" charset="0"/>
                <a:ea typeface="Calibri" pitchFamily="34" charset="-122"/>
                <a:cs typeface="Calibri" pitchFamily="34" charset="-120"/>
              </a:rPr>
              <a:t>ÁLVARO PUEBLA RUISÁNCHEZ  ·  AI in SOCIAL COMMUNICATION</a:t>
            </a:r>
            <a:endParaRPr lang="en-US" sz="900" dirty="0"/>
          </a:p>
        </p:txBody>
      </p:sp>
      <p:sp>
        <p:nvSpPr>
          <p:cNvPr id="24" name="Marcador de número de diapositiva 5">
            <a:extLst>
              <a:ext uri="{FF2B5EF4-FFF2-40B4-BE49-F238E27FC236}">
                <a16:creationId xmlns:a16="http://schemas.microsoft.com/office/drawing/2014/main" id="{32CE4FA4-529F-6EBA-29E7-CAD0A7E9DE7A}"/>
              </a:ext>
            </a:extLst>
          </p:cNvPr>
          <p:cNvSpPr>
            <a:spLocks noGrp="1"/>
          </p:cNvSpPr>
          <p:nvPr>
            <p:ph type="sldNum" sz="quarter" idx="4"/>
          </p:nvPr>
        </p:nvSpPr>
        <p:spPr>
          <a:xfrm>
            <a:off x="8201890" y="4868863"/>
            <a:ext cx="942109" cy="274637"/>
          </a:xfrm>
          <a:prstGeom prst="rect">
            <a:avLst/>
          </a:prstGeom>
        </p:spPr>
        <p:txBody>
          <a:bodyPr vert="horz" lIns="91440" tIns="45720" rIns="91440" bIns="45720" rtlCol="0" anchor="ctr"/>
          <a:lstStyle>
            <a:lvl1pPr algn="r">
              <a:defRPr sz="1200">
                <a:solidFill>
                  <a:schemeClr val="tx1">
                    <a:tint val="82000"/>
                  </a:schemeClr>
                </a:solidFill>
              </a:defRPr>
            </a:lvl1pPr>
          </a:lstStyle>
          <a:p>
            <a:r>
              <a:rPr lang="en-US" b="1" dirty="0">
                <a:solidFill>
                  <a:srgbClr val="FFFFFF"/>
                </a:solidFill>
                <a:latin typeface="Georgia" pitchFamily="34" charset="0"/>
                <a:ea typeface="Georgia" pitchFamily="34" charset="-122"/>
                <a:cs typeface="Georgia" pitchFamily="34" charset="-120"/>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C42"/>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6FBF"/>
          </a:solidFill>
          <a:ln w="12700">
            <a:solidFill>
              <a:srgbClr val="1E6FBF"/>
            </a:solidFill>
            <a:prstDash val="solid"/>
          </a:ln>
        </p:spPr>
        <p:txBody>
          <a:bodyPr/>
          <a:lstStyle/>
          <a:p>
            <a:endParaRPr lang="es-ES"/>
          </a:p>
        </p:txBody>
      </p:sp>
      <p:sp>
        <p:nvSpPr>
          <p:cNvPr id="3" name="Text 1"/>
          <p:cNvSpPr/>
          <p:nvPr/>
        </p:nvSpPr>
        <p:spPr>
          <a:xfrm>
            <a:off x="457200" y="228600"/>
            <a:ext cx="8229600" cy="1005840"/>
          </a:xfrm>
          <a:prstGeom prst="rect">
            <a:avLst/>
          </a:prstGeom>
          <a:noFill/>
          <a:ln/>
        </p:spPr>
        <p:txBody>
          <a:bodyPr wrap="square" lIns="0" tIns="0" rIns="0" bIns="0"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Acting as Us</a:t>
            </a:r>
            <a:endParaRPr lang="en-US" sz="4800" dirty="0"/>
          </a:p>
        </p:txBody>
      </p:sp>
      <p:sp>
        <p:nvSpPr>
          <p:cNvPr id="4" name="Text 2"/>
          <p:cNvSpPr/>
          <p:nvPr/>
        </p:nvSpPr>
        <p:spPr>
          <a:xfrm>
            <a:off x="457200" y="1188720"/>
            <a:ext cx="8229600" cy="457200"/>
          </a:xfrm>
          <a:prstGeom prst="rect">
            <a:avLst/>
          </a:prstGeom>
          <a:noFill/>
          <a:ln/>
        </p:spPr>
        <p:txBody>
          <a:bodyPr wrap="square" lIns="0" tIns="0" rIns="0" bIns="0" rtlCol="0" anchor="ctr"/>
          <a:lstStyle/>
          <a:p>
            <a:pPr marL="0" indent="0">
              <a:buNone/>
            </a:pPr>
            <a:r>
              <a:rPr lang="en-US" sz="1800" i="1" dirty="0">
                <a:solidFill>
                  <a:srgbClr val="5AB4E5"/>
                </a:solidFill>
                <a:latin typeface="Calibri" pitchFamily="34" charset="0"/>
                <a:ea typeface="Calibri" pitchFamily="34" charset="-122"/>
                <a:cs typeface="Calibri" pitchFamily="34" charset="-120"/>
              </a:rPr>
              <a:t>The digital proxy is already here</a:t>
            </a:r>
            <a:endParaRPr lang="en-US" sz="1800" dirty="0"/>
          </a:p>
        </p:txBody>
      </p:sp>
      <p:sp>
        <p:nvSpPr>
          <p:cNvPr id="5" name="Shape 3"/>
          <p:cNvSpPr/>
          <p:nvPr/>
        </p:nvSpPr>
        <p:spPr>
          <a:xfrm>
            <a:off x="457200" y="1920240"/>
            <a:ext cx="4114800" cy="1234440"/>
          </a:xfrm>
          <a:prstGeom prst="rect">
            <a:avLst/>
          </a:prstGeom>
          <a:solidFill>
            <a:srgbClr val="111929"/>
          </a:solidFill>
          <a:ln w="12700">
            <a:solidFill>
              <a:srgbClr val="111929"/>
            </a:solidFill>
            <a:prstDash val="solid"/>
          </a:ln>
          <a:effectLst>
            <a:outerShdw blurRad="127000" dist="38100" dir="8100000" algn="bl" rotWithShape="0">
              <a:srgbClr val="000000">
                <a:alpha val="25000"/>
              </a:srgbClr>
            </a:outerShdw>
          </a:effectLst>
        </p:spPr>
        <p:txBody>
          <a:bodyPr/>
          <a:lstStyle/>
          <a:p>
            <a:endParaRPr lang="es-ES"/>
          </a:p>
        </p:txBody>
      </p:sp>
      <p:sp>
        <p:nvSpPr>
          <p:cNvPr id="6" name="Shape 4"/>
          <p:cNvSpPr/>
          <p:nvPr/>
        </p:nvSpPr>
        <p:spPr>
          <a:xfrm>
            <a:off x="457200" y="1920240"/>
            <a:ext cx="4114800" cy="54864"/>
          </a:xfrm>
          <a:prstGeom prst="rect">
            <a:avLst/>
          </a:prstGeom>
          <a:solidFill>
            <a:srgbClr val="5AB4E5"/>
          </a:solidFill>
          <a:ln w="12700">
            <a:solidFill>
              <a:srgbClr val="5AB4E5"/>
            </a:solidFill>
            <a:prstDash val="solid"/>
          </a:ln>
        </p:spPr>
        <p:txBody>
          <a:bodyPr/>
          <a:lstStyle/>
          <a:p>
            <a:endParaRPr lang="es-ES"/>
          </a:p>
        </p:txBody>
      </p:sp>
      <p:sp>
        <p:nvSpPr>
          <p:cNvPr id="7" name="Text 5"/>
          <p:cNvSpPr/>
          <p:nvPr/>
        </p:nvSpPr>
        <p:spPr>
          <a:xfrm>
            <a:off x="594360" y="2029968"/>
            <a:ext cx="3840480" cy="320040"/>
          </a:xfrm>
          <a:prstGeom prst="rect">
            <a:avLst/>
          </a:prstGeom>
          <a:noFill/>
          <a:ln/>
        </p:spPr>
        <p:txBody>
          <a:bodyPr wrap="square" lIns="0" tIns="0" rIns="0" bIns="0" rtlCol="0" anchor="ctr"/>
          <a:lstStyle/>
          <a:p>
            <a:pPr marL="0" indent="0">
              <a:buNone/>
            </a:pPr>
            <a:r>
              <a:rPr lang="en-US" sz="1300" b="1" dirty="0">
                <a:solidFill>
                  <a:srgbClr val="5AB4E5"/>
                </a:solidFill>
                <a:latin typeface="Calibri" pitchFamily="34" charset="0"/>
                <a:ea typeface="Calibri" pitchFamily="34" charset="-122"/>
                <a:cs typeface="Calibri" pitchFamily="34" charset="-120"/>
              </a:rPr>
              <a:t>Email &amp; Scheduling</a:t>
            </a:r>
            <a:endParaRPr lang="en-US" sz="1300" dirty="0"/>
          </a:p>
        </p:txBody>
      </p:sp>
      <p:sp>
        <p:nvSpPr>
          <p:cNvPr id="8" name="Text 6"/>
          <p:cNvSpPr/>
          <p:nvPr/>
        </p:nvSpPr>
        <p:spPr>
          <a:xfrm>
            <a:off x="594360" y="2377440"/>
            <a:ext cx="3840480" cy="685800"/>
          </a:xfrm>
          <a:prstGeom prst="rect">
            <a:avLst/>
          </a:prstGeom>
          <a:noFill/>
          <a:ln/>
        </p:spPr>
        <p:txBody>
          <a:bodyPr wrap="square" lIns="0" tIns="0" rIns="0" bIns="0" rtlCol="0" anchor="ctr"/>
          <a:lstStyle/>
          <a:p>
            <a:pPr marL="0" indent="0">
              <a:buNone/>
            </a:pPr>
            <a:r>
              <a:rPr lang="en-US" sz="1150" dirty="0">
                <a:solidFill>
                  <a:srgbClr val="E8EFF7"/>
                </a:solidFill>
                <a:latin typeface="Calibri" pitchFamily="34" charset="0"/>
                <a:ea typeface="Calibri" pitchFamily="34" charset="-122"/>
                <a:cs typeface="Calibri" pitchFamily="34" charset="-120"/>
              </a:rPr>
              <a:t>AI replies to routine emails, negotiates meeting times, follows up on proposals</a:t>
            </a:r>
            <a:endParaRPr lang="en-US" sz="1150" dirty="0"/>
          </a:p>
        </p:txBody>
      </p:sp>
      <p:sp>
        <p:nvSpPr>
          <p:cNvPr id="9" name="Shape 7"/>
          <p:cNvSpPr/>
          <p:nvPr/>
        </p:nvSpPr>
        <p:spPr>
          <a:xfrm>
            <a:off x="4846320" y="1920240"/>
            <a:ext cx="4114800" cy="1234440"/>
          </a:xfrm>
          <a:prstGeom prst="rect">
            <a:avLst/>
          </a:prstGeom>
          <a:solidFill>
            <a:srgbClr val="111929"/>
          </a:solidFill>
          <a:ln w="12700">
            <a:solidFill>
              <a:srgbClr val="111929"/>
            </a:solidFill>
            <a:prstDash val="solid"/>
          </a:ln>
          <a:effectLst>
            <a:outerShdw blurRad="127000" dist="38100" dir="8100000" algn="bl" rotWithShape="0">
              <a:srgbClr val="000000">
                <a:alpha val="25000"/>
              </a:srgbClr>
            </a:outerShdw>
          </a:effectLst>
        </p:spPr>
        <p:txBody>
          <a:bodyPr/>
          <a:lstStyle/>
          <a:p>
            <a:endParaRPr lang="es-ES"/>
          </a:p>
        </p:txBody>
      </p:sp>
      <p:sp>
        <p:nvSpPr>
          <p:cNvPr id="10" name="Shape 8"/>
          <p:cNvSpPr/>
          <p:nvPr/>
        </p:nvSpPr>
        <p:spPr>
          <a:xfrm>
            <a:off x="4846320" y="1920240"/>
            <a:ext cx="4114800" cy="54864"/>
          </a:xfrm>
          <a:prstGeom prst="rect">
            <a:avLst/>
          </a:prstGeom>
          <a:solidFill>
            <a:srgbClr val="E8B84B"/>
          </a:solidFill>
          <a:ln w="12700">
            <a:solidFill>
              <a:srgbClr val="E8B84B"/>
            </a:solidFill>
            <a:prstDash val="solid"/>
          </a:ln>
        </p:spPr>
        <p:txBody>
          <a:bodyPr/>
          <a:lstStyle/>
          <a:p>
            <a:endParaRPr lang="es-ES"/>
          </a:p>
        </p:txBody>
      </p:sp>
      <p:sp>
        <p:nvSpPr>
          <p:cNvPr id="11" name="Text 9"/>
          <p:cNvSpPr/>
          <p:nvPr/>
        </p:nvSpPr>
        <p:spPr>
          <a:xfrm>
            <a:off x="4983480" y="2029968"/>
            <a:ext cx="3840480" cy="320040"/>
          </a:xfrm>
          <a:prstGeom prst="rect">
            <a:avLst/>
          </a:prstGeom>
          <a:noFill/>
          <a:ln/>
        </p:spPr>
        <p:txBody>
          <a:bodyPr wrap="square" lIns="0" tIns="0" rIns="0" bIns="0" rtlCol="0" anchor="ctr"/>
          <a:lstStyle/>
          <a:p>
            <a:pPr marL="0" indent="0">
              <a:buNone/>
            </a:pPr>
            <a:r>
              <a:rPr lang="en-US" sz="1300" b="1" dirty="0">
                <a:solidFill>
                  <a:srgbClr val="E8B84B"/>
                </a:solidFill>
                <a:latin typeface="Calibri" pitchFamily="34" charset="0"/>
                <a:ea typeface="Calibri" pitchFamily="34" charset="-122"/>
                <a:cs typeface="Calibri" pitchFamily="34" charset="-120"/>
              </a:rPr>
              <a:t>Social Media</a:t>
            </a:r>
            <a:endParaRPr lang="en-US" sz="1300" dirty="0"/>
          </a:p>
        </p:txBody>
      </p:sp>
      <p:sp>
        <p:nvSpPr>
          <p:cNvPr id="12" name="Text 10"/>
          <p:cNvSpPr/>
          <p:nvPr/>
        </p:nvSpPr>
        <p:spPr>
          <a:xfrm>
            <a:off x="4983480" y="2377440"/>
            <a:ext cx="3840480" cy="685800"/>
          </a:xfrm>
          <a:prstGeom prst="rect">
            <a:avLst/>
          </a:prstGeom>
          <a:noFill/>
          <a:ln/>
        </p:spPr>
        <p:txBody>
          <a:bodyPr wrap="square" lIns="0" tIns="0" rIns="0" bIns="0" rtlCol="0" anchor="ctr"/>
          <a:lstStyle/>
          <a:p>
            <a:pPr marL="0" indent="0">
              <a:buNone/>
            </a:pPr>
            <a:r>
              <a:rPr lang="en-US" sz="1150" dirty="0">
                <a:solidFill>
                  <a:srgbClr val="E8EFF7"/>
                </a:solidFill>
                <a:latin typeface="Calibri" pitchFamily="34" charset="0"/>
                <a:ea typeface="Calibri" pitchFamily="34" charset="-122"/>
                <a:cs typeface="Calibri" pitchFamily="34" charset="-120"/>
              </a:rPr>
              <a:t>Automated posts, comment responses, DMs - all crafted to match your personal brand voice</a:t>
            </a:r>
            <a:endParaRPr lang="en-US" sz="1150" dirty="0"/>
          </a:p>
        </p:txBody>
      </p:sp>
      <p:sp>
        <p:nvSpPr>
          <p:cNvPr id="13" name="Shape 11"/>
          <p:cNvSpPr/>
          <p:nvPr/>
        </p:nvSpPr>
        <p:spPr>
          <a:xfrm>
            <a:off x="457200" y="3383280"/>
            <a:ext cx="4114800" cy="1234440"/>
          </a:xfrm>
          <a:prstGeom prst="rect">
            <a:avLst/>
          </a:prstGeom>
          <a:solidFill>
            <a:srgbClr val="111929"/>
          </a:solidFill>
          <a:ln w="12700">
            <a:solidFill>
              <a:srgbClr val="111929"/>
            </a:solidFill>
            <a:prstDash val="solid"/>
          </a:ln>
          <a:effectLst>
            <a:outerShdw blurRad="127000" dist="38100" dir="8100000" algn="bl" rotWithShape="0">
              <a:srgbClr val="000000">
                <a:alpha val="25000"/>
              </a:srgbClr>
            </a:outerShdw>
          </a:effectLst>
        </p:spPr>
        <p:txBody>
          <a:bodyPr/>
          <a:lstStyle/>
          <a:p>
            <a:endParaRPr lang="es-ES"/>
          </a:p>
        </p:txBody>
      </p:sp>
      <p:sp>
        <p:nvSpPr>
          <p:cNvPr id="14" name="Shape 12"/>
          <p:cNvSpPr/>
          <p:nvPr/>
        </p:nvSpPr>
        <p:spPr>
          <a:xfrm>
            <a:off x="457200" y="3383280"/>
            <a:ext cx="4114800" cy="54864"/>
          </a:xfrm>
          <a:prstGeom prst="rect">
            <a:avLst/>
          </a:prstGeom>
          <a:solidFill>
            <a:srgbClr val="1E6FBF"/>
          </a:solidFill>
          <a:ln w="12700">
            <a:solidFill>
              <a:srgbClr val="1E6FBF"/>
            </a:solidFill>
            <a:prstDash val="solid"/>
          </a:ln>
        </p:spPr>
        <p:txBody>
          <a:bodyPr/>
          <a:lstStyle/>
          <a:p>
            <a:endParaRPr lang="es-ES"/>
          </a:p>
        </p:txBody>
      </p:sp>
      <p:sp>
        <p:nvSpPr>
          <p:cNvPr id="15" name="Text 13"/>
          <p:cNvSpPr/>
          <p:nvPr/>
        </p:nvSpPr>
        <p:spPr>
          <a:xfrm>
            <a:off x="594360" y="3493008"/>
            <a:ext cx="3840480" cy="320040"/>
          </a:xfrm>
          <a:prstGeom prst="rect">
            <a:avLst/>
          </a:prstGeom>
          <a:noFill/>
          <a:ln/>
        </p:spPr>
        <p:txBody>
          <a:bodyPr wrap="square" lIns="0" tIns="0" rIns="0" bIns="0" rtlCol="0" anchor="ctr"/>
          <a:lstStyle/>
          <a:p>
            <a:pPr marL="0" indent="0">
              <a:buNone/>
            </a:pPr>
            <a:r>
              <a:rPr lang="en-US" sz="1300" b="1" dirty="0">
                <a:solidFill>
                  <a:srgbClr val="1E6FBF"/>
                </a:solidFill>
                <a:latin typeface="Calibri" pitchFamily="34" charset="0"/>
                <a:ea typeface="Calibri" pitchFamily="34" charset="-122"/>
                <a:cs typeface="Calibri" pitchFamily="34" charset="-120"/>
              </a:rPr>
              <a:t>Customer Service</a:t>
            </a:r>
            <a:endParaRPr lang="en-US" sz="1300" dirty="0"/>
          </a:p>
        </p:txBody>
      </p:sp>
      <p:sp>
        <p:nvSpPr>
          <p:cNvPr id="16" name="Text 14"/>
          <p:cNvSpPr/>
          <p:nvPr/>
        </p:nvSpPr>
        <p:spPr>
          <a:xfrm>
            <a:off x="594360" y="3840480"/>
            <a:ext cx="3840480" cy="685800"/>
          </a:xfrm>
          <a:prstGeom prst="rect">
            <a:avLst/>
          </a:prstGeom>
          <a:noFill/>
          <a:ln/>
        </p:spPr>
        <p:txBody>
          <a:bodyPr wrap="square" lIns="0" tIns="0" rIns="0" bIns="0" rtlCol="0" anchor="ctr"/>
          <a:lstStyle/>
          <a:p>
            <a:pPr marL="0" indent="0">
              <a:buNone/>
            </a:pPr>
            <a:r>
              <a:rPr lang="en-US" sz="1150" dirty="0">
                <a:solidFill>
                  <a:srgbClr val="E8EFF7"/>
                </a:solidFill>
                <a:latin typeface="Calibri" pitchFamily="34" charset="0"/>
                <a:ea typeface="Calibri" pitchFamily="34" charset="-122"/>
                <a:cs typeface="Calibri" pitchFamily="34" charset="-120"/>
              </a:rPr>
              <a:t>Amazon, Sephora, Spotify - AI handles millions of customer interactions daily</a:t>
            </a:r>
            <a:endParaRPr lang="en-US" sz="1150" dirty="0"/>
          </a:p>
        </p:txBody>
      </p:sp>
      <p:sp>
        <p:nvSpPr>
          <p:cNvPr id="17" name="Shape 15"/>
          <p:cNvSpPr/>
          <p:nvPr/>
        </p:nvSpPr>
        <p:spPr>
          <a:xfrm>
            <a:off x="4846320" y="3383280"/>
            <a:ext cx="4114800" cy="1234440"/>
          </a:xfrm>
          <a:prstGeom prst="rect">
            <a:avLst/>
          </a:prstGeom>
          <a:solidFill>
            <a:srgbClr val="111929"/>
          </a:solidFill>
          <a:ln w="12700">
            <a:solidFill>
              <a:srgbClr val="111929"/>
            </a:solidFill>
            <a:prstDash val="solid"/>
          </a:ln>
          <a:effectLst>
            <a:outerShdw blurRad="127000" dist="38100" dir="8100000" algn="bl" rotWithShape="0">
              <a:srgbClr val="000000">
                <a:alpha val="25000"/>
              </a:srgbClr>
            </a:outerShdw>
          </a:effectLst>
        </p:spPr>
        <p:txBody>
          <a:bodyPr/>
          <a:lstStyle/>
          <a:p>
            <a:endParaRPr lang="es-ES"/>
          </a:p>
        </p:txBody>
      </p:sp>
      <p:sp>
        <p:nvSpPr>
          <p:cNvPr id="18" name="Shape 16"/>
          <p:cNvSpPr/>
          <p:nvPr/>
        </p:nvSpPr>
        <p:spPr>
          <a:xfrm>
            <a:off x="4846320" y="3383280"/>
            <a:ext cx="4114800" cy="54864"/>
          </a:xfrm>
          <a:prstGeom prst="rect">
            <a:avLst/>
          </a:prstGeom>
          <a:solidFill>
            <a:srgbClr val="E05A4E"/>
          </a:solidFill>
          <a:ln w="12700">
            <a:solidFill>
              <a:srgbClr val="E05A4E"/>
            </a:solidFill>
            <a:prstDash val="solid"/>
          </a:ln>
        </p:spPr>
        <p:txBody>
          <a:bodyPr/>
          <a:lstStyle/>
          <a:p>
            <a:endParaRPr lang="es-ES"/>
          </a:p>
        </p:txBody>
      </p:sp>
      <p:sp>
        <p:nvSpPr>
          <p:cNvPr id="19" name="Text 17"/>
          <p:cNvSpPr/>
          <p:nvPr/>
        </p:nvSpPr>
        <p:spPr>
          <a:xfrm>
            <a:off x="4983480" y="3493008"/>
            <a:ext cx="3840480" cy="320040"/>
          </a:xfrm>
          <a:prstGeom prst="rect">
            <a:avLst/>
          </a:prstGeom>
          <a:noFill/>
          <a:ln/>
        </p:spPr>
        <p:txBody>
          <a:bodyPr wrap="square" lIns="0" tIns="0" rIns="0" bIns="0" rtlCol="0" anchor="ctr"/>
          <a:lstStyle/>
          <a:p>
            <a:pPr marL="0" indent="0">
              <a:buNone/>
            </a:pPr>
            <a:r>
              <a:rPr lang="en-US" sz="1300" b="1" dirty="0">
                <a:solidFill>
                  <a:srgbClr val="E05A4E"/>
                </a:solidFill>
                <a:latin typeface="Calibri" pitchFamily="34" charset="0"/>
                <a:ea typeface="Calibri" pitchFamily="34" charset="-122"/>
                <a:cs typeface="Calibri" pitchFamily="34" charset="-120"/>
              </a:rPr>
              <a:t>Dating &amp; Networking</a:t>
            </a:r>
            <a:endParaRPr lang="en-US" sz="1300" dirty="0"/>
          </a:p>
        </p:txBody>
      </p:sp>
      <p:sp>
        <p:nvSpPr>
          <p:cNvPr id="20" name="Text 18"/>
          <p:cNvSpPr/>
          <p:nvPr/>
        </p:nvSpPr>
        <p:spPr>
          <a:xfrm>
            <a:off x="4983480" y="3840480"/>
            <a:ext cx="3840480" cy="685800"/>
          </a:xfrm>
          <a:prstGeom prst="rect">
            <a:avLst/>
          </a:prstGeom>
          <a:noFill/>
          <a:ln/>
        </p:spPr>
        <p:txBody>
          <a:bodyPr wrap="square" lIns="0" tIns="0" rIns="0" bIns="0" rtlCol="0" anchor="ctr"/>
          <a:lstStyle/>
          <a:p>
            <a:pPr marL="0" indent="0">
              <a:buNone/>
            </a:pPr>
            <a:r>
              <a:rPr lang="en-US" sz="1150" dirty="0">
                <a:solidFill>
                  <a:srgbClr val="E8EFF7"/>
                </a:solidFill>
                <a:latin typeface="Calibri" pitchFamily="34" charset="0"/>
                <a:ea typeface="Calibri" pitchFamily="34" charset="-122"/>
                <a:cs typeface="Calibri" pitchFamily="34" charset="-120"/>
              </a:rPr>
              <a:t>Apps like Replika or LinkedIn AI suggest - or even write - your messages for you</a:t>
            </a:r>
            <a:endParaRPr lang="en-US" sz="1150" dirty="0"/>
          </a:p>
        </p:txBody>
      </p:sp>
      <p:sp>
        <p:nvSpPr>
          <p:cNvPr id="21" name="Marcador de número de diapositiva 5">
            <a:extLst>
              <a:ext uri="{FF2B5EF4-FFF2-40B4-BE49-F238E27FC236}">
                <a16:creationId xmlns:a16="http://schemas.microsoft.com/office/drawing/2014/main" id="{A7B56443-7A28-6F98-0FAE-AAD306E58BFC}"/>
              </a:ext>
            </a:extLst>
          </p:cNvPr>
          <p:cNvSpPr>
            <a:spLocks noGrp="1"/>
          </p:cNvSpPr>
          <p:nvPr>
            <p:ph type="sldNum" sz="quarter" idx="4"/>
          </p:nvPr>
        </p:nvSpPr>
        <p:spPr>
          <a:xfrm>
            <a:off x="8201890" y="4868863"/>
            <a:ext cx="942109" cy="274637"/>
          </a:xfrm>
          <a:prstGeom prst="rect">
            <a:avLst/>
          </a:prstGeom>
        </p:spPr>
        <p:txBody>
          <a:bodyPr vert="horz" lIns="91440" tIns="45720" rIns="91440" bIns="45720" rtlCol="0" anchor="ctr"/>
          <a:lstStyle>
            <a:lvl1pPr algn="r">
              <a:defRPr sz="1200">
                <a:solidFill>
                  <a:schemeClr val="tx1">
                    <a:tint val="82000"/>
                  </a:schemeClr>
                </a:solidFill>
              </a:defRPr>
            </a:lvl1pPr>
          </a:lstStyle>
          <a:p>
            <a:r>
              <a:rPr lang="en-US" b="1" dirty="0">
                <a:solidFill>
                  <a:srgbClr val="FFFFFF"/>
                </a:solidFill>
                <a:latin typeface="Georgia" pitchFamily="34" charset="0"/>
                <a:ea typeface="Georgia" pitchFamily="34" charset="-122"/>
                <a:cs typeface="Georgia" pitchFamily="34" charset="-120"/>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B84B"/>
          </a:solidFill>
          <a:ln w="12700">
            <a:solidFill>
              <a:srgbClr val="E8B84B"/>
            </a:solidFill>
            <a:prstDash val="solid"/>
          </a:ln>
        </p:spPr>
        <p:txBody>
          <a:bodyPr/>
          <a:lstStyle/>
          <a:p>
            <a:endParaRPr lang="es-ES"/>
          </a:p>
        </p:txBody>
      </p:sp>
      <p:sp>
        <p:nvSpPr>
          <p:cNvPr id="3" name="Text 1"/>
          <p:cNvSpPr/>
          <p:nvPr/>
        </p:nvSpPr>
        <p:spPr>
          <a:xfrm>
            <a:off x="457200" y="365760"/>
            <a:ext cx="8229600" cy="1828800"/>
          </a:xfrm>
          <a:prstGeom prst="rect">
            <a:avLst/>
          </a:prstGeom>
          <a:noFill/>
          <a:ln/>
        </p:spPr>
        <p:txBody>
          <a:bodyPr wrap="square" lIns="0" tIns="0" rIns="0" bIns="0" rtlCol="0" anchor="ctr"/>
          <a:lstStyle/>
          <a:p>
            <a:pPr marL="0" indent="0" algn="ctr">
              <a:buNone/>
            </a:pPr>
            <a:r>
              <a:rPr lang="en-US" sz="4800" b="1" dirty="0">
                <a:solidFill>
                  <a:srgbClr val="FFFFFF"/>
                </a:solidFill>
                <a:latin typeface="Georgia" pitchFamily="34" charset="0"/>
                <a:ea typeface="Georgia" pitchFamily="34" charset="-122"/>
                <a:cs typeface="Georgia" pitchFamily="34" charset="-120"/>
              </a:rPr>
              <a:t>The best AI agents</a:t>
            </a:r>
            <a:endParaRPr lang="en-US" sz="4800" dirty="0"/>
          </a:p>
          <a:p>
            <a:pPr marL="0" indent="0" algn="ctr">
              <a:buNone/>
            </a:pPr>
            <a:r>
              <a:rPr lang="en-US" sz="4800" b="1" dirty="0">
                <a:solidFill>
                  <a:srgbClr val="FFFFFF"/>
                </a:solidFill>
                <a:latin typeface="Georgia" pitchFamily="34" charset="0"/>
                <a:ea typeface="Georgia" pitchFamily="34" charset="-122"/>
                <a:cs typeface="Georgia" pitchFamily="34" charset="-120"/>
              </a:rPr>
              <a:t>are invisible.</a:t>
            </a:r>
            <a:endParaRPr lang="en-US" sz="4800" dirty="0"/>
          </a:p>
        </p:txBody>
      </p:sp>
      <p:sp>
        <p:nvSpPr>
          <p:cNvPr id="4" name="Shape 2"/>
          <p:cNvSpPr/>
          <p:nvPr/>
        </p:nvSpPr>
        <p:spPr>
          <a:xfrm>
            <a:off x="1371600" y="2331720"/>
            <a:ext cx="6400800" cy="109728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5" name="Shape 3"/>
          <p:cNvSpPr/>
          <p:nvPr/>
        </p:nvSpPr>
        <p:spPr>
          <a:xfrm>
            <a:off x="1371600" y="2331720"/>
            <a:ext cx="54864" cy="1097280"/>
          </a:xfrm>
          <a:prstGeom prst="rect">
            <a:avLst/>
          </a:prstGeom>
          <a:solidFill>
            <a:srgbClr val="E8B84B"/>
          </a:solidFill>
          <a:ln w="12700">
            <a:solidFill>
              <a:srgbClr val="E8B84B"/>
            </a:solidFill>
            <a:prstDash val="solid"/>
          </a:ln>
        </p:spPr>
        <p:txBody>
          <a:bodyPr/>
          <a:lstStyle/>
          <a:p>
            <a:endParaRPr lang="es-ES"/>
          </a:p>
        </p:txBody>
      </p:sp>
      <p:sp>
        <p:nvSpPr>
          <p:cNvPr id="6" name="Text 4"/>
          <p:cNvSpPr/>
          <p:nvPr/>
        </p:nvSpPr>
        <p:spPr>
          <a:xfrm>
            <a:off x="1572768" y="2423160"/>
            <a:ext cx="6035040" cy="914400"/>
          </a:xfrm>
          <a:prstGeom prst="rect">
            <a:avLst/>
          </a:prstGeom>
          <a:noFill/>
          <a:ln/>
        </p:spPr>
        <p:txBody>
          <a:bodyPr wrap="square" lIns="0" tIns="0" rIns="0" bIns="0" rtlCol="0" anchor="ctr"/>
          <a:lstStyle/>
          <a:p>
            <a:pPr marL="0" indent="0">
              <a:buNone/>
            </a:pPr>
            <a:r>
              <a:rPr lang="en-US" sz="1500" i="1" dirty="0">
                <a:solidFill>
                  <a:srgbClr val="E8EFF7"/>
                </a:solidFill>
                <a:latin typeface="Georgia" pitchFamily="34" charset="0"/>
                <a:ea typeface="Georgia" pitchFamily="34" charset="-122"/>
                <a:cs typeface="Georgia" pitchFamily="34" charset="-120"/>
              </a:rPr>
              <a:t>They don't announce themselves. They don't add disclaimers. They communicate in your name - seamlessly, fluidly, without friction.</a:t>
            </a:r>
            <a:endParaRPr lang="en-US" sz="1500" dirty="0"/>
          </a:p>
        </p:txBody>
      </p:sp>
      <p:sp>
        <p:nvSpPr>
          <p:cNvPr id="7" name="Shape 5"/>
          <p:cNvSpPr/>
          <p:nvPr/>
        </p:nvSpPr>
        <p:spPr>
          <a:xfrm>
            <a:off x="457200" y="3749040"/>
            <a:ext cx="2651760" cy="100584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8" name="Text 6"/>
          <p:cNvSpPr/>
          <p:nvPr/>
        </p:nvSpPr>
        <p:spPr>
          <a:xfrm>
            <a:off x="594360" y="3840480"/>
            <a:ext cx="2377440" cy="320040"/>
          </a:xfrm>
          <a:prstGeom prst="rect">
            <a:avLst/>
          </a:prstGeom>
          <a:noFill/>
          <a:ln/>
        </p:spPr>
        <p:txBody>
          <a:bodyPr wrap="square" lIns="0" tIns="0" rIns="0" bIns="0" rtlCol="0" anchor="ctr"/>
          <a:lstStyle/>
          <a:p>
            <a:pPr marL="0" indent="0">
              <a:buNone/>
            </a:pPr>
            <a:r>
              <a:rPr lang="en-US" sz="1400" b="1" dirty="0">
                <a:solidFill>
                  <a:srgbClr val="5AB4E5"/>
                </a:solidFill>
                <a:latin typeface="Calibri" pitchFamily="34" charset="0"/>
                <a:ea typeface="Calibri" pitchFamily="34" charset="-122"/>
                <a:cs typeface="Calibri" pitchFamily="34" charset="-120"/>
              </a:rPr>
              <a:t>Ambient</a:t>
            </a:r>
            <a:endParaRPr lang="en-US" sz="1400" dirty="0"/>
          </a:p>
        </p:txBody>
      </p:sp>
      <p:sp>
        <p:nvSpPr>
          <p:cNvPr id="9" name="Text 7"/>
          <p:cNvSpPr/>
          <p:nvPr/>
        </p:nvSpPr>
        <p:spPr>
          <a:xfrm>
            <a:off x="594360" y="4178808"/>
            <a:ext cx="2377440" cy="457200"/>
          </a:xfrm>
          <a:prstGeom prst="rect">
            <a:avLst/>
          </a:prstGeom>
          <a:noFill/>
          <a:ln/>
        </p:spPr>
        <p:txBody>
          <a:bodyPr wrap="square" lIns="0" tIns="0" rIns="0" bIns="0" rtlCol="0" anchor="ctr"/>
          <a:lstStyle/>
          <a:p>
            <a:pPr marL="0" indent="0">
              <a:buNone/>
            </a:pPr>
            <a:r>
              <a:rPr lang="en-US" sz="1200" dirty="0">
                <a:solidFill>
                  <a:srgbClr val="8FA3B8"/>
                </a:solidFill>
                <a:latin typeface="Calibri" pitchFamily="34" charset="0"/>
                <a:ea typeface="Calibri" pitchFamily="34" charset="-122"/>
                <a:cs typeface="Calibri" pitchFamily="34" charset="-120"/>
              </a:rPr>
              <a:t>Works in background</a:t>
            </a:r>
            <a:endParaRPr lang="en-US" sz="1200" dirty="0"/>
          </a:p>
        </p:txBody>
      </p:sp>
      <p:sp>
        <p:nvSpPr>
          <p:cNvPr id="10" name="Shape 8"/>
          <p:cNvSpPr/>
          <p:nvPr/>
        </p:nvSpPr>
        <p:spPr>
          <a:xfrm>
            <a:off x="3355848" y="3749040"/>
            <a:ext cx="2651760" cy="100584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11" name="Text 9"/>
          <p:cNvSpPr/>
          <p:nvPr/>
        </p:nvSpPr>
        <p:spPr>
          <a:xfrm>
            <a:off x="3493008" y="3840480"/>
            <a:ext cx="2377440" cy="320040"/>
          </a:xfrm>
          <a:prstGeom prst="rect">
            <a:avLst/>
          </a:prstGeom>
          <a:noFill/>
          <a:ln/>
        </p:spPr>
        <p:txBody>
          <a:bodyPr wrap="square" lIns="0" tIns="0" rIns="0" bIns="0" rtlCol="0" anchor="ctr"/>
          <a:lstStyle/>
          <a:p>
            <a:pPr marL="0" indent="0">
              <a:buNone/>
            </a:pPr>
            <a:r>
              <a:rPr lang="en-US" sz="1400" b="1" dirty="0">
                <a:solidFill>
                  <a:srgbClr val="5AB4E5"/>
                </a:solidFill>
                <a:latin typeface="Calibri" pitchFamily="34" charset="0"/>
                <a:ea typeface="Calibri" pitchFamily="34" charset="-122"/>
                <a:cs typeface="Calibri" pitchFamily="34" charset="-120"/>
              </a:rPr>
              <a:t>Adaptive</a:t>
            </a:r>
            <a:endParaRPr lang="en-US" sz="1400" dirty="0"/>
          </a:p>
        </p:txBody>
      </p:sp>
      <p:sp>
        <p:nvSpPr>
          <p:cNvPr id="12" name="Text 10"/>
          <p:cNvSpPr/>
          <p:nvPr/>
        </p:nvSpPr>
        <p:spPr>
          <a:xfrm>
            <a:off x="3493008" y="4178808"/>
            <a:ext cx="2377440" cy="457200"/>
          </a:xfrm>
          <a:prstGeom prst="rect">
            <a:avLst/>
          </a:prstGeom>
          <a:noFill/>
          <a:ln/>
        </p:spPr>
        <p:txBody>
          <a:bodyPr wrap="square" lIns="0" tIns="0" rIns="0" bIns="0" rtlCol="0" anchor="ctr"/>
          <a:lstStyle/>
          <a:p>
            <a:pPr marL="0" indent="0">
              <a:buNone/>
            </a:pPr>
            <a:r>
              <a:rPr lang="en-US" sz="1200" dirty="0">
                <a:solidFill>
                  <a:srgbClr val="8FA3B8"/>
                </a:solidFill>
                <a:latin typeface="Calibri" pitchFamily="34" charset="0"/>
                <a:ea typeface="Calibri" pitchFamily="34" charset="-122"/>
                <a:cs typeface="Calibri" pitchFamily="34" charset="-120"/>
              </a:rPr>
              <a:t>Learns your voice</a:t>
            </a:r>
            <a:endParaRPr lang="en-US" sz="1200" dirty="0"/>
          </a:p>
        </p:txBody>
      </p:sp>
      <p:sp>
        <p:nvSpPr>
          <p:cNvPr id="13" name="Shape 11"/>
          <p:cNvSpPr/>
          <p:nvPr/>
        </p:nvSpPr>
        <p:spPr>
          <a:xfrm>
            <a:off x="6254496" y="3749040"/>
            <a:ext cx="2651760" cy="100584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14" name="Text 12"/>
          <p:cNvSpPr/>
          <p:nvPr/>
        </p:nvSpPr>
        <p:spPr>
          <a:xfrm>
            <a:off x="6391656" y="3840480"/>
            <a:ext cx="2377440" cy="320040"/>
          </a:xfrm>
          <a:prstGeom prst="rect">
            <a:avLst/>
          </a:prstGeom>
          <a:noFill/>
          <a:ln/>
        </p:spPr>
        <p:txBody>
          <a:bodyPr wrap="square" lIns="0" tIns="0" rIns="0" bIns="0" rtlCol="0" anchor="ctr"/>
          <a:lstStyle/>
          <a:p>
            <a:pPr marL="0" indent="0">
              <a:buNone/>
            </a:pPr>
            <a:r>
              <a:rPr lang="en-US" sz="1400" b="1" dirty="0">
                <a:solidFill>
                  <a:srgbClr val="5AB4E5"/>
                </a:solidFill>
                <a:latin typeface="Calibri" pitchFamily="34" charset="0"/>
                <a:ea typeface="Calibri" pitchFamily="34" charset="-122"/>
                <a:cs typeface="Calibri" pitchFamily="34" charset="-120"/>
              </a:rPr>
              <a:t>Autonomous</a:t>
            </a:r>
            <a:endParaRPr lang="en-US" sz="1400" dirty="0"/>
          </a:p>
        </p:txBody>
      </p:sp>
      <p:sp>
        <p:nvSpPr>
          <p:cNvPr id="15" name="Text 13"/>
          <p:cNvSpPr/>
          <p:nvPr/>
        </p:nvSpPr>
        <p:spPr>
          <a:xfrm>
            <a:off x="6391656" y="4178808"/>
            <a:ext cx="2377440" cy="457200"/>
          </a:xfrm>
          <a:prstGeom prst="rect">
            <a:avLst/>
          </a:prstGeom>
          <a:noFill/>
          <a:ln/>
        </p:spPr>
        <p:txBody>
          <a:bodyPr wrap="square" lIns="0" tIns="0" rIns="0" bIns="0" rtlCol="0" anchor="ctr"/>
          <a:lstStyle/>
          <a:p>
            <a:pPr marL="0" indent="0">
              <a:buNone/>
            </a:pPr>
            <a:r>
              <a:rPr lang="en-US" sz="1200" dirty="0">
                <a:solidFill>
                  <a:srgbClr val="8FA3B8"/>
                </a:solidFill>
                <a:latin typeface="Calibri" pitchFamily="34" charset="0"/>
                <a:ea typeface="Calibri" pitchFamily="34" charset="-122"/>
                <a:cs typeface="Calibri" pitchFamily="34" charset="-120"/>
              </a:rPr>
              <a:t>Acts without prompts</a:t>
            </a:r>
            <a:endParaRPr lang="en-US" sz="1200" dirty="0"/>
          </a:p>
        </p:txBody>
      </p:sp>
      <p:sp>
        <p:nvSpPr>
          <p:cNvPr id="16" name="Marcador de número de diapositiva 5">
            <a:extLst>
              <a:ext uri="{FF2B5EF4-FFF2-40B4-BE49-F238E27FC236}">
                <a16:creationId xmlns:a16="http://schemas.microsoft.com/office/drawing/2014/main" id="{2D815A00-942F-E2FD-BF97-332E8C8CD499}"/>
              </a:ext>
            </a:extLst>
          </p:cNvPr>
          <p:cNvSpPr>
            <a:spLocks noGrp="1"/>
          </p:cNvSpPr>
          <p:nvPr>
            <p:ph type="sldNum" sz="quarter" idx="4"/>
          </p:nvPr>
        </p:nvSpPr>
        <p:spPr>
          <a:xfrm>
            <a:off x="8201890" y="4868863"/>
            <a:ext cx="942109" cy="274637"/>
          </a:xfrm>
          <a:prstGeom prst="rect">
            <a:avLst/>
          </a:prstGeom>
        </p:spPr>
        <p:txBody>
          <a:bodyPr vert="horz" lIns="91440" tIns="45720" rIns="91440" bIns="45720" rtlCol="0" anchor="ctr"/>
          <a:lstStyle>
            <a:lvl1pPr algn="r">
              <a:defRPr sz="1200">
                <a:solidFill>
                  <a:schemeClr val="tx1">
                    <a:tint val="82000"/>
                  </a:schemeClr>
                </a:solidFill>
              </a:defRPr>
            </a:lvl1pPr>
          </a:lstStyle>
          <a:p>
            <a:r>
              <a:rPr lang="en-US" b="1" dirty="0">
                <a:solidFill>
                  <a:srgbClr val="FFFFFF"/>
                </a:solidFill>
                <a:latin typeface="Georgia" pitchFamily="34" charset="0"/>
                <a:ea typeface="Georgia" pitchFamily="34" charset="-122"/>
                <a:cs typeface="Georgia" pitchFamily="34" charset="-120"/>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92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05A4E"/>
          </a:solidFill>
          <a:ln w="12700">
            <a:solidFill>
              <a:srgbClr val="E05A4E"/>
            </a:solidFill>
            <a:prstDash val="solid"/>
          </a:ln>
        </p:spPr>
        <p:txBody>
          <a:bodyPr/>
          <a:lstStyle/>
          <a:p>
            <a:endParaRPr lang="es-ES"/>
          </a:p>
        </p:txBody>
      </p:sp>
      <p:sp>
        <p:nvSpPr>
          <p:cNvPr id="3" name="Text 1"/>
          <p:cNvSpPr/>
          <p:nvPr/>
        </p:nvSpPr>
        <p:spPr>
          <a:xfrm>
            <a:off x="457200" y="182880"/>
            <a:ext cx="4572000" cy="274320"/>
          </a:xfrm>
          <a:prstGeom prst="rect">
            <a:avLst/>
          </a:prstGeom>
          <a:noFill/>
          <a:ln/>
        </p:spPr>
        <p:txBody>
          <a:bodyPr wrap="square" lIns="0" tIns="0" rIns="0" bIns="0" rtlCol="0" anchor="ctr"/>
          <a:lstStyle/>
          <a:p>
            <a:pPr marL="0" indent="0">
              <a:buNone/>
            </a:pPr>
            <a:r>
              <a:rPr lang="en-US" sz="900" kern="0" spc="300" dirty="0">
                <a:solidFill>
                  <a:srgbClr val="E05A4E"/>
                </a:solidFill>
                <a:latin typeface="Calibri" pitchFamily="34" charset="0"/>
                <a:ea typeface="Calibri" pitchFamily="34" charset="-122"/>
                <a:cs typeface="Calibri" pitchFamily="34" charset="-120"/>
              </a:rPr>
              <a:t>PART 2  ·  ETHICS</a:t>
            </a:r>
            <a:endParaRPr lang="en-US" sz="900" dirty="0"/>
          </a:p>
        </p:txBody>
      </p:sp>
      <p:sp>
        <p:nvSpPr>
          <p:cNvPr id="4" name="Shape 2"/>
          <p:cNvSpPr/>
          <p:nvPr/>
        </p:nvSpPr>
        <p:spPr>
          <a:xfrm>
            <a:off x="365760" y="594360"/>
            <a:ext cx="3931920" cy="420624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5" name="Shape 3"/>
          <p:cNvSpPr/>
          <p:nvPr/>
        </p:nvSpPr>
        <p:spPr>
          <a:xfrm>
            <a:off x="365760" y="594360"/>
            <a:ext cx="3931920" cy="64008"/>
          </a:xfrm>
          <a:prstGeom prst="rect">
            <a:avLst/>
          </a:prstGeom>
          <a:solidFill>
            <a:srgbClr val="5AB4E5"/>
          </a:solidFill>
          <a:ln w="12700">
            <a:solidFill>
              <a:srgbClr val="5AB4E5"/>
            </a:solidFill>
            <a:prstDash val="solid"/>
          </a:ln>
        </p:spPr>
        <p:txBody>
          <a:bodyPr/>
          <a:lstStyle/>
          <a:p>
            <a:endParaRPr lang="es-ES"/>
          </a:p>
        </p:txBody>
      </p:sp>
      <p:sp>
        <p:nvSpPr>
          <p:cNvPr id="6" name="Text 4"/>
          <p:cNvSpPr/>
          <p:nvPr/>
        </p:nvSpPr>
        <p:spPr>
          <a:xfrm>
            <a:off x="548640" y="777240"/>
            <a:ext cx="3657600" cy="365760"/>
          </a:xfrm>
          <a:prstGeom prst="rect">
            <a:avLst/>
          </a:prstGeom>
          <a:noFill/>
          <a:ln/>
        </p:spPr>
        <p:txBody>
          <a:bodyPr wrap="square" lIns="0" tIns="0" rIns="0" bIns="0" rtlCol="0" anchor="ctr"/>
          <a:lstStyle/>
          <a:p>
            <a:pPr marL="0" indent="0">
              <a:buNone/>
            </a:pPr>
            <a:r>
              <a:rPr lang="en-US" sz="1100" b="1" kern="0" spc="300" dirty="0">
                <a:solidFill>
                  <a:srgbClr val="5AB4E5"/>
                </a:solidFill>
                <a:latin typeface="Calibri" pitchFamily="34" charset="0"/>
                <a:ea typeface="Calibri" pitchFamily="34" charset="-122"/>
                <a:cs typeface="Calibri" pitchFamily="34" charset="-120"/>
              </a:rPr>
              <a:t>UTOPIAN</a:t>
            </a:r>
            <a:endParaRPr lang="en-US" sz="1100" dirty="0"/>
          </a:p>
        </p:txBody>
      </p:sp>
      <p:sp>
        <p:nvSpPr>
          <p:cNvPr id="7" name="Text 5"/>
          <p:cNvSpPr/>
          <p:nvPr/>
        </p:nvSpPr>
        <p:spPr>
          <a:xfrm>
            <a:off x="548640" y="1280160"/>
            <a:ext cx="3566160" cy="502920"/>
          </a:xfrm>
          <a:prstGeom prst="rect">
            <a:avLst/>
          </a:prstGeom>
          <a:noFill/>
          <a:ln/>
        </p:spPr>
        <p:txBody>
          <a:bodyPr wrap="square" lIns="0" tIns="0" rIns="0" bIns="0" rtlCol="0" anchor="ctr"/>
          <a:lstStyle/>
          <a:p>
            <a:pPr marL="0" indent="0">
              <a:buNone/>
            </a:pPr>
            <a:r>
              <a:rPr lang="en-US" sz="1300" dirty="0">
                <a:solidFill>
                  <a:srgbClr val="E8EFF7"/>
                </a:solidFill>
                <a:latin typeface="Calibri" pitchFamily="34" charset="0"/>
                <a:ea typeface="Calibri" pitchFamily="34" charset="-122"/>
                <a:cs typeface="Calibri" pitchFamily="34" charset="-120"/>
              </a:rPr>
              <a:t>→  Never miss an important message</a:t>
            </a:r>
            <a:endParaRPr lang="en-US" sz="1300" dirty="0"/>
          </a:p>
        </p:txBody>
      </p:sp>
      <p:sp>
        <p:nvSpPr>
          <p:cNvPr id="8" name="Text 6"/>
          <p:cNvSpPr/>
          <p:nvPr/>
        </p:nvSpPr>
        <p:spPr>
          <a:xfrm>
            <a:off x="548640" y="1874520"/>
            <a:ext cx="3566160" cy="502920"/>
          </a:xfrm>
          <a:prstGeom prst="rect">
            <a:avLst/>
          </a:prstGeom>
          <a:noFill/>
          <a:ln/>
        </p:spPr>
        <p:txBody>
          <a:bodyPr wrap="square" lIns="0" tIns="0" rIns="0" bIns="0" rtlCol="0" anchor="ctr"/>
          <a:lstStyle/>
          <a:p>
            <a:pPr marL="0" indent="0">
              <a:buNone/>
            </a:pPr>
            <a:r>
              <a:rPr lang="en-US" sz="1300" dirty="0">
                <a:solidFill>
                  <a:srgbClr val="E8EFF7"/>
                </a:solidFill>
                <a:latin typeface="Calibri" pitchFamily="34" charset="0"/>
                <a:ea typeface="Calibri" pitchFamily="34" charset="-122"/>
                <a:cs typeface="Calibri" pitchFamily="34" charset="-120"/>
              </a:rPr>
              <a:t>→  Consistent, thoughtful communication</a:t>
            </a:r>
            <a:endParaRPr lang="en-US" sz="1300" dirty="0"/>
          </a:p>
        </p:txBody>
      </p:sp>
      <p:sp>
        <p:nvSpPr>
          <p:cNvPr id="9" name="Text 7"/>
          <p:cNvSpPr/>
          <p:nvPr/>
        </p:nvSpPr>
        <p:spPr>
          <a:xfrm>
            <a:off x="548640" y="2468880"/>
            <a:ext cx="3566160" cy="502920"/>
          </a:xfrm>
          <a:prstGeom prst="rect">
            <a:avLst/>
          </a:prstGeom>
          <a:noFill/>
          <a:ln/>
        </p:spPr>
        <p:txBody>
          <a:bodyPr wrap="square" lIns="0" tIns="0" rIns="0" bIns="0" rtlCol="0" anchor="ctr"/>
          <a:lstStyle/>
          <a:p>
            <a:pPr marL="0" indent="0">
              <a:buNone/>
            </a:pPr>
            <a:r>
              <a:rPr lang="en-US" sz="1300" dirty="0">
                <a:solidFill>
                  <a:srgbClr val="E8EFF7"/>
                </a:solidFill>
                <a:latin typeface="Calibri" pitchFamily="34" charset="0"/>
                <a:ea typeface="Calibri" pitchFamily="34" charset="-122"/>
                <a:cs typeface="Calibri" pitchFamily="34" charset="-120"/>
              </a:rPr>
              <a:t>→  Inclusive: AI bridges language barriers</a:t>
            </a:r>
            <a:endParaRPr lang="en-US" sz="1300" dirty="0"/>
          </a:p>
        </p:txBody>
      </p:sp>
      <p:sp>
        <p:nvSpPr>
          <p:cNvPr id="10" name="Text 8"/>
          <p:cNvSpPr/>
          <p:nvPr/>
        </p:nvSpPr>
        <p:spPr>
          <a:xfrm>
            <a:off x="548640" y="3063240"/>
            <a:ext cx="3566160" cy="502920"/>
          </a:xfrm>
          <a:prstGeom prst="rect">
            <a:avLst/>
          </a:prstGeom>
          <a:noFill/>
          <a:ln/>
        </p:spPr>
        <p:txBody>
          <a:bodyPr wrap="square" lIns="0" tIns="0" rIns="0" bIns="0" rtlCol="0" anchor="ctr"/>
          <a:lstStyle/>
          <a:p>
            <a:pPr marL="0" indent="0">
              <a:buNone/>
            </a:pPr>
            <a:r>
              <a:rPr lang="en-US" sz="1300" dirty="0">
                <a:solidFill>
                  <a:srgbClr val="E8EFF7"/>
                </a:solidFill>
                <a:latin typeface="Calibri" pitchFamily="34" charset="0"/>
                <a:ea typeface="Calibri" pitchFamily="34" charset="-122"/>
                <a:cs typeface="Calibri" pitchFamily="34" charset="-120"/>
              </a:rPr>
              <a:t>→  Scales your presence infinitely</a:t>
            </a:r>
            <a:endParaRPr lang="en-US" sz="1300" dirty="0"/>
          </a:p>
        </p:txBody>
      </p:sp>
      <p:sp>
        <p:nvSpPr>
          <p:cNvPr id="11" name="Text 9"/>
          <p:cNvSpPr/>
          <p:nvPr/>
        </p:nvSpPr>
        <p:spPr>
          <a:xfrm>
            <a:off x="548640" y="3657600"/>
            <a:ext cx="3566160" cy="502920"/>
          </a:xfrm>
          <a:prstGeom prst="rect">
            <a:avLst/>
          </a:prstGeom>
          <a:noFill/>
          <a:ln/>
        </p:spPr>
        <p:txBody>
          <a:bodyPr wrap="square" lIns="0" tIns="0" rIns="0" bIns="0" rtlCol="0" anchor="ctr"/>
          <a:lstStyle/>
          <a:p>
            <a:pPr marL="0" indent="0">
              <a:buNone/>
            </a:pPr>
            <a:r>
              <a:rPr lang="en-US" sz="1300" dirty="0">
                <a:solidFill>
                  <a:srgbClr val="E8EFF7"/>
                </a:solidFill>
                <a:latin typeface="Calibri" pitchFamily="34" charset="0"/>
                <a:ea typeface="Calibri" pitchFamily="34" charset="-122"/>
                <a:cs typeface="Calibri" pitchFamily="34" charset="-120"/>
              </a:rPr>
              <a:t>→  Reduces communication anxiety</a:t>
            </a:r>
            <a:endParaRPr lang="en-US" sz="1300" dirty="0"/>
          </a:p>
        </p:txBody>
      </p:sp>
      <p:sp>
        <p:nvSpPr>
          <p:cNvPr id="12" name="Shape 10"/>
          <p:cNvSpPr/>
          <p:nvPr/>
        </p:nvSpPr>
        <p:spPr>
          <a:xfrm>
            <a:off x="4846320" y="594360"/>
            <a:ext cx="3931920" cy="420624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13" name="Shape 11"/>
          <p:cNvSpPr/>
          <p:nvPr/>
        </p:nvSpPr>
        <p:spPr>
          <a:xfrm>
            <a:off x="4846320" y="594360"/>
            <a:ext cx="3931920" cy="64008"/>
          </a:xfrm>
          <a:prstGeom prst="rect">
            <a:avLst/>
          </a:prstGeom>
          <a:solidFill>
            <a:srgbClr val="E05A4E"/>
          </a:solidFill>
          <a:ln w="12700">
            <a:solidFill>
              <a:srgbClr val="E05A4E"/>
            </a:solidFill>
            <a:prstDash val="solid"/>
          </a:ln>
        </p:spPr>
        <p:txBody>
          <a:bodyPr/>
          <a:lstStyle/>
          <a:p>
            <a:endParaRPr lang="es-ES"/>
          </a:p>
        </p:txBody>
      </p:sp>
      <p:sp>
        <p:nvSpPr>
          <p:cNvPr id="14" name="Text 12"/>
          <p:cNvSpPr/>
          <p:nvPr/>
        </p:nvSpPr>
        <p:spPr>
          <a:xfrm>
            <a:off x="5029200" y="777240"/>
            <a:ext cx="3657600" cy="365760"/>
          </a:xfrm>
          <a:prstGeom prst="rect">
            <a:avLst/>
          </a:prstGeom>
          <a:noFill/>
          <a:ln/>
        </p:spPr>
        <p:txBody>
          <a:bodyPr wrap="square" lIns="0" tIns="0" rIns="0" bIns="0" rtlCol="0" anchor="ctr"/>
          <a:lstStyle/>
          <a:p>
            <a:pPr marL="0" indent="0">
              <a:buNone/>
            </a:pPr>
            <a:r>
              <a:rPr lang="en-US" sz="1100" b="1" kern="0" spc="300" dirty="0">
                <a:solidFill>
                  <a:srgbClr val="E05A4E"/>
                </a:solidFill>
                <a:latin typeface="Calibri" pitchFamily="34" charset="0"/>
                <a:ea typeface="Calibri" pitchFamily="34" charset="-122"/>
                <a:cs typeface="Calibri" pitchFamily="34" charset="-120"/>
              </a:rPr>
              <a:t>REALISTIC</a:t>
            </a:r>
            <a:endParaRPr lang="en-US" sz="1100" dirty="0"/>
          </a:p>
        </p:txBody>
      </p:sp>
      <p:sp>
        <p:nvSpPr>
          <p:cNvPr id="15" name="Text 13"/>
          <p:cNvSpPr/>
          <p:nvPr/>
        </p:nvSpPr>
        <p:spPr>
          <a:xfrm>
            <a:off x="5029200" y="1280160"/>
            <a:ext cx="3566160" cy="502920"/>
          </a:xfrm>
          <a:prstGeom prst="rect">
            <a:avLst/>
          </a:prstGeom>
          <a:noFill/>
          <a:ln/>
        </p:spPr>
        <p:txBody>
          <a:bodyPr wrap="square" lIns="0" tIns="0" rIns="0" bIns="0" rtlCol="0" anchor="ctr"/>
          <a:lstStyle/>
          <a:p>
            <a:pPr marL="0" indent="0">
              <a:buNone/>
            </a:pPr>
            <a:r>
              <a:rPr lang="en-US" sz="1300" dirty="0">
                <a:solidFill>
                  <a:srgbClr val="E8EFF7"/>
                </a:solidFill>
                <a:latin typeface="Calibri" pitchFamily="34" charset="0"/>
                <a:ea typeface="Calibri" pitchFamily="34" charset="-122"/>
                <a:cs typeface="Calibri" pitchFamily="34" charset="-120"/>
              </a:rPr>
              <a:t>✕  Authenticity is eroded over time</a:t>
            </a:r>
            <a:endParaRPr lang="en-US" sz="1300" dirty="0"/>
          </a:p>
        </p:txBody>
      </p:sp>
      <p:sp>
        <p:nvSpPr>
          <p:cNvPr id="16" name="Text 14"/>
          <p:cNvSpPr/>
          <p:nvPr/>
        </p:nvSpPr>
        <p:spPr>
          <a:xfrm>
            <a:off x="5029200" y="1874520"/>
            <a:ext cx="3566160" cy="502920"/>
          </a:xfrm>
          <a:prstGeom prst="rect">
            <a:avLst/>
          </a:prstGeom>
          <a:noFill/>
          <a:ln/>
        </p:spPr>
        <p:txBody>
          <a:bodyPr wrap="square" lIns="0" tIns="0" rIns="0" bIns="0" rtlCol="0" anchor="ctr"/>
          <a:lstStyle/>
          <a:p>
            <a:pPr marL="0" indent="0">
              <a:buNone/>
            </a:pPr>
            <a:r>
              <a:rPr lang="en-US" sz="1300" dirty="0">
                <a:solidFill>
                  <a:srgbClr val="E8EFF7"/>
                </a:solidFill>
                <a:latin typeface="Calibri" pitchFamily="34" charset="0"/>
                <a:ea typeface="Calibri" pitchFamily="34" charset="-122"/>
                <a:cs typeface="Calibri" pitchFamily="34" charset="-120"/>
              </a:rPr>
              <a:t>✕  Misrepresentation becomes likely</a:t>
            </a:r>
            <a:endParaRPr lang="en-US" sz="1300" dirty="0"/>
          </a:p>
        </p:txBody>
      </p:sp>
      <p:sp>
        <p:nvSpPr>
          <p:cNvPr id="17" name="Text 15"/>
          <p:cNvSpPr/>
          <p:nvPr/>
        </p:nvSpPr>
        <p:spPr>
          <a:xfrm>
            <a:off x="5029200" y="2468880"/>
            <a:ext cx="3566160" cy="502920"/>
          </a:xfrm>
          <a:prstGeom prst="rect">
            <a:avLst/>
          </a:prstGeom>
          <a:noFill/>
          <a:ln/>
        </p:spPr>
        <p:txBody>
          <a:bodyPr wrap="square" lIns="0" tIns="0" rIns="0" bIns="0" rtlCol="0" anchor="ctr"/>
          <a:lstStyle/>
          <a:p>
            <a:pPr marL="0" indent="0">
              <a:buNone/>
            </a:pPr>
            <a:r>
              <a:rPr lang="en-US" sz="1300" dirty="0">
                <a:solidFill>
                  <a:srgbClr val="E8EFF7"/>
                </a:solidFill>
                <a:latin typeface="Calibri" pitchFamily="34" charset="0"/>
                <a:ea typeface="Calibri" pitchFamily="34" charset="-122"/>
                <a:cs typeface="Calibri" pitchFamily="34" charset="-120"/>
              </a:rPr>
              <a:t>✕  Relationships built on a false signal</a:t>
            </a:r>
            <a:endParaRPr lang="en-US" sz="1300" dirty="0"/>
          </a:p>
        </p:txBody>
      </p:sp>
      <p:sp>
        <p:nvSpPr>
          <p:cNvPr id="18" name="Text 16"/>
          <p:cNvSpPr/>
          <p:nvPr/>
        </p:nvSpPr>
        <p:spPr>
          <a:xfrm>
            <a:off x="5029200" y="3063240"/>
            <a:ext cx="3566160" cy="502920"/>
          </a:xfrm>
          <a:prstGeom prst="rect">
            <a:avLst/>
          </a:prstGeom>
          <a:noFill/>
          <a:ln/>
        </p:spPr>
        <p:txBody>
          <a:bodyPr wrap="square" lIns="0" tIns="0" rIns="0" bIns="0" rtlCol="0" anchor="ctr"/>
          <a:lstStyle/>
          <a:p>
            <a:pPr marL="0" indent="0">
              <a:buNone/>
            </a:pPr>
            <a:r>
              <a:rPr lang="en-US" sz="1300" dirty="0">
                <a:solidFill>
                  <a:srgbClr val="E8EFF7"/>
                </a:solidFill>
                <a:latin typeface="Calibri" pitchFamily="34" charset="0"/>
                <a:ea typeface="Calibri" pitchFamily="34" charset="-122"/>
                <a:cs typeface="Calibri" pitchFamily="34" charset="-120"/>
              </a:rPr>
              <a:t>✕  Power asymmetry: who can afford AI?</a:t>
            </a:r>
            <a:endParaRPr lang="en-US" sz="1300" dirty="0"/>
          </a:p>
        </p:txBody>
      </p:sp>
      <p:sp>
        <p:nvSpPr>
          <p:cNvPr id="19" name="Text 17"/>
          <p:cNvSpPr/>
          <p:nvPr/>
        </p:nvSpPr>
        <p:spPr>
          <a:xfrm>
            <a:off x="5029200" y="3657600"/>
            <a:ext cx="3566160" cy="502920"/>
          </a:xfrm>
          <a:prstGeom prst="rect">
            <a:avLst/>
          </a:prstGeom>
          <a:noFill/>
          <a:ln/>
        </p:spPr>
        <p:txBody>
          <a:bodyPr wrap="square" lIns="0" tIns="0" rIns="0" bIns="0" rtlCol="0" anchor="ctr"/>
          <a:lstStyle/>
          <a:p>
            <a:pPr marL="0" indent="0">
              <a:buNone/>
            </a:pPr>
            <a:r>
              <a:rPr lang="en-US" sz="1300" dirty="0">
                <a:solidFill>
                  <a:srgbClr val="E8EFF7"/>
                </a:solidFill>
                <a:latin typeface="Calibri" pitchFamily="34" charset="0"/>
                <a:ea typeface="Calibri" pitchFamily="34" charset="-122"/>
                <a:cs typeface="Calibri" pitchFamily="34" charset="-120"/>
              </a:rPr>
              <a:t>✕  Accountability gaps when things go wrong</a:t>
            </a:r>
            <a:endParaRPr lang="en-US" sz="1300" dirty="0"/>
          </a:p>
        </p:txBody>
      </p:sp>
      <p:sp>
        <p:nvSpPr>
          <p:cNvPr id="20" name="Text 18"/>
          <p:cNvSpPr/>
          <p:nvPr/>
        </p:nvSpPr>
        <p:spPr>
          <a:xfrm>
            <a:off x="4160520" y="2377440"/>
            <a:ext cx="822960" cy="548640"/>
          </a:xfrm>
          <a:prstGeom prst="rect">
            <a:avLst/>
          </a:prstGeom>
          <a:noFill/>
          <a:ln/>
        </p:spPr>
        <p:txBody>
          <a:bodyPr wrap="square" lIns="0" tIns="0" rIns="0" bIns="0" rtlCol="0" anchor="ctr"/>
          <a:lstStyle/>
          <a:p>
            <a:pPr marL="0" indent="0" algn="ctr">
              <a:buNone/>
            </a:pPr>
            <a:r>
              <a:rPr lang="en-US" sz="1800" b="1" dirty="0">
                <a:solidFill>
                  <a:srgbClr val="E8B84B"/>
                </a:solidFill>
                <a:latin typeface="Georgia" pitchFamily="34" charset="0"/>
                <a:ea typeface="Georgia" pitchFamily="34" charset="-122"/>
                <a:cs typeface="Georgia" pitchFamily="34" charset="-120"/>
              </a:rPr>
              <a:t>VS</a:t>
            </a:r>
            <a:endParaRPr lang="en-US" sz="1800" dirty="0"/>
          </a:p>
        </p:txBody>
      </p:sp>
      <p:sp>
        <p:nvSpPr>
          <p:cNvPr id="21" name="Marcador de número de diapositiva 5">
            <a:extLst>
              <a:ext uri="{FF2B5EF4-FFF2-40B4-BE49-F238E27FC236}">
                <a16:creationId xmlns:a16="http://schemas.microsoft.com/office/drawing/2014/main" id="{CA591F72-330F-3562-2E23-1FDEDB476D59}"/>
              </a:ext>
            </a:extLst>
          </p:cNvPr>
          <p:cNvSpPr>
            <a:spLocks noGrp="1"/>
          </p:cNvSpPr>
          <p:nvPr>
            <p:ph type="sldNum" sz="quarter" idx="4"/>
          </p:nvPr>
        </p:nvSpPr>
        <p:spPr>
          <a:xfrm>
            <a:off x="8201890" y="4868863"/>
            <a:ext cx="942109" cy="274637"/>
          </a:xfrm>
          <a:prstGeom prst="rect">
            <a:avLst/>
          </a:prstGeom>
        </p:spPr>
        <p:txBody>
          <a:bodyPr vert="horz" lIns="91440" tIns="45720" rIns="91440" bIns="45720" rtlCol="0" anchor="ctr"/>
          <a:lstStyle>
            <a:lvl1pPr algn="r">
              <a:defRPr sz="1200">
                <a:solidFill>
                  <a:schemeClr val="tx1">
                    <a:tint val="82000"/>
                  </a:schemeClr>
                </a:solidFill>
              </a:defRPr>
            </a:lvl1pPr>
          </a:lstStyle>
          <a:p>
            <a:r>
              <a:rPr lang="en-US" b="1" dirty="0">
                <a:solidFill>
                  <a:srgbClr val="FFFFFF"/>
                </a:solidFill>
                <a:latin typeface="Georgia" pitchFamily="34" charset="0"/>
                <a:ea typeface="Georgia" pitchFamily="34" charset="-122"/>
                <a:cs typeface="Georgia" pitchFamily="34" charset="-120"/>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05A4E"/>
          </a:solidFill>
          <a:ln w="12700">
            <a:solidFill>
              <a:srgbClr val="E05A4E"/>
            </a:solidFill>
            <a:prstDash val="solid"/>
          </a:ln>
        </p:spPr>
        <p:txBody>
          <a:bodyPr/>
          <a:lstStyle/>
          <a:p>
            <a:endParaRPr lang="es-ES"/>
          </a:p>
        </p:txBody>
      </p:sp>
      <p:sp>
        <p:nvSpPr>
          <p:cNvPr id="3" name="Text 1"/>
          <p:cNvSpPr/>
          <p:nvPr/>
        </p:nvSpPr>
        <p:spPr>
          <a:xfrm>
            <a:off x="457200" y="182880"/>
            <a:ext cx="8229600" cy="82296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Three Ethical Fault Lines</a:t>
            </a:r>
            <a:endParaRPr lang="en-US" sz="3600" dirty="0"/>
          </a:p>
        </p:txBody>
      </p:sp>
      <p:sp>
        <p:nvSpPr>
          <p:cNvPr id="4" name="Shape 2"/>
          <p:cNvSpPr/>
          <p:nvPr/>
        </p:nvSpPr>
        <p:spPr>
          <a:xfrm>
            <a:off x="365760" y="1188720"/>
            <a:ext cx="8412480" cy="114300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5" name="Shape 3"/>
          <p:cNvSpPr/>
          <p:nvPr/>
        </p:nvSpPr>
        <p:spPr>
          <a:xfrm>
            <a:off x="365760" y="1188720"/>
            <a:ext cx="54864" cy="1143000"/>
          </a:xfrm>
          <a:prstGeom prst="rect">
            <a:avLst/>
          </a:prstGeom>
          <a:solidFill>
            <a:srgbClr val="5AB4E5"/>
          </a:solidFill>
          <a:ln w="12700">
            <a:solidFill>
              <a:srgbClr val="5AB4E5"/>
            </a:solidFill>
            <a:prstDash val="solid"/>
          </a:ln>
        </p:spPr>
        <p:txBody>
          <a:bodyPr/>
          <a:lstStyle/>
          <a:p>
            <a:endParaRPr lang="es-ES"/>
          </a:p>
        </p:txBody>
      </p:sp>
      <p:sp>
        <p:nvSpPr>
          <p:cNvPr id="6" name="Text 4"/>
          <p:cNvSpPr/>
          <p:nvPr/>
        </p:nvSpPr>
        <p:spPr>
          <a:xfrm>
            <a:off x="548640" y="1280160"/>
            <a:ext cx="502920" cy="457200"/>
          </a:xfrm>
          <a:prstGeom prst="rect">
            <a:avLst/>
          </a:prstGeom>
          <a:noFill/>
          <a:ln/>
        </p:spPr>
        <p:txBody>
          <a:bodyPr wrap="square" lIns="0" tIns="0" rIns="0" bIns="0" rtlCol="0" anchor="ctr"/>
          <a:lstStyle/>
          <a:p>
            <a:pPr marL="0" indent="0">
              <a:buNone/>
            </a:pPr>
            <a:r>
              <a:rPr lang="en-US" sz="2200" b="1" dirty="0">
                <a:solidFill>
                  <a:srgbClr val="5AB4E5"/>
                </a:solidFill>
                <a:latin typeface="Georgia" pitchFamily="34" charset="0"/>
                <a:ea typeface="Georgia" pitchFamily="34" charset="-122"/>
                <a:cs typeface="Georgia" pitchFamily="34" charset="-120"/>
              </a:rPr>
              <a:t>01</a:t>
            </a:r>
            <a:endParaRPr lang="en-US" sz="2200" dirty="0"/>
          </a:p>
        </p:txBody>
      </p:sp>
      <p:sp>
        <p:nvSpPr>
          <p:cNvPr id="7" name="Text 5"/>
          <p:cNvSpPr/>
          <p:nvPr/>
        </p:nvSpPr>
        <p:spPr>
          <a:xfrm>
            <a:off x="1143000" y="1261872"/>
            <a:ext cx="2286000" cy="411480"/>
          </a:xfrm>
          <a:prstGeom prst="rect">
            <a:avLst/>
          </a:prstGeom>
          <a:noFill/>
          <a:ln/>
        </p:spPr>
        <p:txBody>
          <a:bodyPr wrap="square" lIns="0" tIns="0" rIns="0" bIns="0" rtlCol="0" anchor="ctr"/>
          <a:lstStyle/>
          <a:p>
            <a:pPr marL="0" indent="0">
              <a:buNone/>
            </a:pPr>
            <a:r>
              <a:rPr lang="en-US" sz="1600" b="1" dirty="0">
                <a:solidFill>
                  <a:srgbClr val="5AB4E5"/>
                </a:solidFill>
                <a:latin typeface="Calibri" pitchFamily="34" charset="0"/>
                <a:ea typeface="Calibri" pitchFamily="34" charset="-122"/>
                <a:cs typeface="Calibri" pitchFamily="34" charset="-120"/>
              </a:rPr>
              <a:t>Authenticity</a:t>
            </a:r>
            <a:endParaRPr lang="en-US" sz="1600" dirty="0"/>
          </a:p>
        </p:txBody>
      </p:sp>
      <p:sp>
        <p:nvSpPr>
          <p:cNvPr id="8" name="Text 6"/>
          <p:cNvSpPr/>
          <p:nvPr/>
        </p:nvSpPr>
        <p:spPr>
          <a:xfrm>
            <a:off x="1143000" y="1691640"/>
            <a:ext cx="7406640" cy="548640"/>
          </a:xfrm>
          <a:prstGeom prst="rect">
            <a:avLst/>
          </a:prstGeom>
          <a:noFill/>
          <a:ln/>
        </p:spPr>
        <p:txBody>
          <a:bodyPr wrap="square" lIns="0" tIns="0" rIns="0" bIns="0" rtlCol="0" anchor="ctr"/>
          <a:lstStyle/>
          <a:p>
            <a:pPr marL="0" indent="0">
              <a:buNone/>
            </a:pPr>
            <a:r>
              <a:rPr lang="en-US" sz="1300" i="1" dirty="0">
                <a:solidFill>
                  <a:srgbClr val="E8EFF7"/>
                </a:solidFill>
                <a:latin typeface="Calibri" pitchFamily="34" charset="0"/>
                <a:ea typeface="Calibri" pitchFamily="34" charset="-122"/>
                <a:cs typeface="Calibri" pitchFamily="34" charset="-120"/>
              </a:rPr>
              <a:t>Is a relationship real if one party doesn't know they're talking to AI?</a:t>
            </a:r>
            <a:endParaRPr lang="en-US" sz="1300" dirty="0"/>
          </a:p>
        </p:txBody>
      </p:sp>
      <p:sp>
        <p:nvSpPr>
          <p:cNvPr id="9" name="Shape 7"/>
          <p:cNvSpPr/>
          <p:nvPr/>
        </p:nvSpPr>
        <p:spPr>
          <a:xfrm>
            <a:off x="365760" y="2514600"/>
            <a:ext cx="8412480" cy="114300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10" name="Shape 8"/>
          <p:cNvSpPr/>
          <p:nvPr/>
        </p:nvSpPr>
        <p:spPr>
          <a:xfrm>
            <a:off x="365760" y="2514600"/>
            <a:ext cx="54864" cy="1143000"/>
          </a:xfrm>
          <a:prstGeom prst="rect">
            <a:avLst/>
          </a:prstGeom>
          <a:solidFill>
            <a:srgbClr val="E8B84B"/>
          </a:solidFill>
          <a:ln w="12700">
            <a:solidFill>
              <a:srgbClr val="E8B84B"/>
            </a:solidFill>
            <a:prstDash val="solid"/>
          </a:ln>
        </p:spPr>
        <p:txBody>
          <a:bodyPr/>
          <a:lstStyle/>
          <a:p>
            <a:endParaRPr lang="es-ES"/>
          </a:p>
        </p:txBody>
      </p:sp>
      <p:sp>
        <p:nvSpPr>
          <p:cNvPr id="11" name="Text 9"/>
          <p:cNvSpPr/>
          <p:nvPr/>
        </p:nvSpPr>
        <p:spPr>
          <a:xfrm>
            <a:off x="548640" y="2606040"/>
            <a:ext cx="502920" cy="457200"/>
          </a:xfrm>
          <a:prstGeom prst="rect">
            <a:avLst/>
          </a:prstGeom>
          <a:noFill/>
          <a:ln/>
        </p:spPr>
        <p:txBody>
          <a:bodyPr wrap="square" lIns="0" tIns="0" rIns="0" bIns="0" rtlCol="0" anchor="ctr"/>
          <a:lstStyle/>
          <a:p>
            <a:pPr marL="0" indent="0">
              <a:buNone/>
            </a:pPr>
            <a:r>
              <a:rPr lang="en-US" sz="2200" b="1" dirty="0">
                <a:solidFill>
                  <a:srgbClr val="E8B84B"/>
                </a:solidFill>
                <a:latin typeface="Georgia" pitchFamily="34" charset="0"/>
                <a:ea typeface="Georgia" pitchFamily="34" charset="-122"/>
                <a:cs typeface="Georgia" pitchFamily="34" charset="-120"/>
              </a:rPr>
              <a:t>02</a:t>
            </a:r>
            <a:endParaRPr lang="en-US" sz="2200" dirty="0"/>
          </a:p>
        </p:txBody>
      </p:sp>
      <p:sp>
        <p:nvSpPr>
          <p:cNvPr id="12" name="Text 10"/>
          <p:cNvSpPr/>
          <p:nvPr/>
        </p:nvSpPr>
        <p:spPr>
          <a:xfrm>
            <a:off x="1143000" y="2587752"/>
            <a:ext cx="2286000" cy="411480"/>
          </a:xfrm>
          <a:prstGeom prst="rect">
            <a:avLst/>
          </a:prstGeom>
          <a:noFill/>
          <a:ln/>
        </p:spPr>
        <p:txBody>
          <a:bodyPr wrap="square" lIns="0" tIns="0" rIns="0" bIns="0" rtlCol="0" anchor="ctr"/>
          <a:lstStyle/>
          <a:p>
            <a:pPr marL="0" indent="0">
              <a:buNone/>
            </a:pPr>
            <a:r>
              <a:rPr lang="en-US" sz="1600" b="1" dirty="0">
                <a:solidFill>
                  <a:srgbClr val="E8B84B"/>
                </a:solidFill>
                <a:latin typeface="Calibri" pitchFamily="34" charset="0"/>
                <a:ea typeface="Calibri" pitchFamily="34" charset="-122"/>
                <a:cs typeface="Calibri" pitchFamily="34" charset="-120"/>
              </a:rPr>
              <a:t>Privacy</a:t>
            </a:r>
            <a:endParaRPr lang="en-US" sz="1600" dirty="0"/>
          </a:p>
        </p:txBody>
      </p:sp>
      <p:sp>
        <p:nvSpPr>
          <p:cNvPr id="13" name="Text 11"/>
          <p:cNvSpPr/>
          <p:nvPr/>
        </p:nvSpPr>
        <p:spPr>
          <a:xfrm>
            <a:off x="1143000" y="3017520"/>
            <a:ext cx="7406640" cy="548640"/>
          </a:xfrm>
          <a:prstGeom prst="rect">
            <a:avLst/>
          </a:prstGeom>
          <a:noFill/>
          <a:ln/>
        </p:spPr>
        <p:txBody>
          <a:bodyPr wrap="square" lIns="0" tIns="0" rIns="0" bIns="0" rtlCol="0" anchor="ctr"/>
          <a:lstStyle/>
          <a:p>
            <a:pPr marL="0" indent="0">
              <a:buNone/>
            </a:pPr>
            <a:r>
              <a:rPr lang="en-US" sz="1300" i="1" dirty="0">
                <a:solidFill>
                  <a:srgbClr val="E8EFF7"/>
                </a:solidFill>
                <a:latin typeface="Calibri" pitchFamily="34" charset="0"/>
                <a:ea typeface="Calibri" pitchFamily="34" charset="-122"/>
                <a:cs typeface="Calibri" pitchFamily="34" charset="-120"/>
              </a:rPr>
              <a:t>What data must an AI consume to speak in your voice - and who owns it?</a:t>
            </a:r>
            <a:endParaRPr lang="en-US" sz="1300" dirty="0"/>
          </a:p>
        </p:txBody>
      </p:sp>
      <p:sp>
        <p:nvSpPr>
          <p:cNvPr id="14" name="Shape 12"/>
          <p:cNvSpPr/>
          <p:nvPr/>
        </p:nvSpPr>
        <p:spPr>
          <a:xfrm>
            <a:off x="365760" y="3840480"/>
            <a:ext cx="8412480" cy="114300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15" name="Shape 13"/>
          <p:cNvSpPr/>
          <p:nvPr/>
        </p:nvSpPr>
        <p:spPr>
          <a:xfrm>
            <a:off x="365760" y="3840480"/>
            <a:ext cx="54864" cy="1143000"/>
          </a:xfrm>
          <a:prstGeom prst="rect">
            <a:avLst/>
          </a:prstGeom>
          <a:solidFill>
            <a:srgbClr val="E05A4E"/>
          </a:solidFill>
          <a:ln w="12700">
            <a:solidFill>
              <a:srgbClr val="E05A4E"/>
            </a:solidFill>
            <a:prstDash val="solid"/>
          </a:ln>
        </p:spPr>
        <p:txBody>
          <a:bodyPr/>
          <a:lstStyle/>
          <a:p>
            <a:endParaRPr lang="es-ES"/>
          </a:p>
        </p:txBody>
      </p:sp>
      <p:sp>
        <p:nvSpPr>
          <p:cNvPr id="16" name="Text 14"/>
          <p:cNvSpPr/>
          <p:nvPr/>
        </p:nvSpPr>
        <p:spPr>
          <a:xfrm>
            <a:off x="548640" y="3931920"/>
            <a:ext cx="502920" cy="457200"/>
          </a:xfrm>
          <a:prstGeom prst="rect">
            <a:avLst/>
          </a:prstGeom>
          <a:noFill/>
          <a:ln/>
        </p:spPr>
        <p:txBody>
          <a:bodyPr wrap="square" lIns="0" tIns="0" rIns="0" bIns="0" rtlCol="0" anchor="ctr"/>
          <a:lstStyle/>
          <a:p>
            <a:pPr marL="0" indent="0">
              <a:buNone/>
            </a:pPr>
            <a:r>
              <a:rPr lang="en-US" sz="2200" b="1" dirty="0">
                <a:solidFill>
                  <a:srgbClr val="E05A4E"/>
                </a:solidFill>
                <a:latin typeface="Georgia" pitchFamily="34" charset="0"/>
                <a:ea typeface="Georgia" pitchFamily="34" charset="-122"/>
                <a:cs typeface="Georgia" pitchFamily="34" charset="-120"/>
              </a:rPr>
              <a:t>03</a:t>
            </a:r>
            <a:endParaRPr lang="en-US" sz="2200" dirty="0"/>
          </a:p>
        </p:txBody>
      </p:sp>
      <p:sp>
        <p:nvSpPr>
          <p:cNvPr id="17" name="Text 15"/>
          <p:cNvSpPr/>
          <p:nvPr/>
        </p:nvSpPr>
        <p:spPr>
          <a:xfrm>
            <a:off x="1143000" y="3913632"/>
            <a:ext cx="2286000" cy="411480"/>
          </a:xfrm>
          <a:prstGeom prst="rect">
            <a:avLst/>
          </a:prstGeom>
          <a:noFill/>
          <a:ln/>
        </p:spPr>
        <p:txBody>
          <a:bodyPr wrap="square" lIns="0" tIns="0" rIns="0" bIns="0" rtlCol="0" anchor="ctr"/>
          <a:lstStyle/>
          <a:p>
            <a:pPr marL="0" indent="0">
              <a:buNone/>
            </a:pPr>
            <a:r>
              <a:rPr lang="en-US" sz="1600" b="1" dirty="0">
                <a:solidFill>
                  <a:srgbClr val="E05A4E"/>
                </a:solidFill>
                <a:latin typeface="Calibri" pitchFamily="34" charset="0"/>
                <a:ea typeface="Calibri" pitchFamily="34" charset="-122"/>
                <a:cs typeface="Calibri" pitchFamily="34" charset="-120"/>
              </a:rPr>
              <a:t>Accountability</a:t>
            </a:r>
            <a:endParaRPr lang="en-US" sz="1600" dirty="0"/>
          </a:p>
        </p:txBody>
      </p:sp>
      <p:sp>
        <p:nvSpPr>
          <p:cNvPr id="18" name="Text 16"/>
          <p:cNvSpPr/>
          <p:nvPr/>
        </p:nvSpPr>
        <p:spPr>
          <a:xfrm>
            <a:off x="1143000" y="4343400"/>
            <a:ext cx="7406640" cy="548640"/>
          </a:xfrm>
          <a:prstGeom prst="rect">
            <a:avLst/>
          </a:prstGeom>
          <a:noFill/>
          <a:ln/>
        </p:spPr>
        <p:txBody>
          <a:bodyPr wrap="square" lIns="0" tIns="0" rIns="0" bIns="0" rtlCol="0" anchor="ctr"/>
          <a:lstStyle/>
          <a:p>
            <a:pPr marL="0" indent="0">
              <a:buNone/>
            </a:pPr>
            <a:r>
              <a:rPr lang="en-US" sz="1300" i="1" dirty="0">
                <a:solidFill>
                  <a:srgbClr val="E8EFF7"/>
                </a:solidFill>
                <a:latin typeface="Calibri" pitchFamily="34" charset="0"/>
                <a:ea typeface="Calibri" pitchFamily="34" charset="-122"/>
                <a:cs typeface="Calibri" pitchFamily="34" charset="-120"/>
              </a:rPr>
              <a:t>When AI misrepresents you, causes harm, or deceives - who answers for it?</a:t>
            </a:r>
            <a:endParaRPr lang="en-US" sz="1300" dirty="0"/>
          </a:p>
        </p:txBody>
      </p:sp>
      <p:sp>
        <p:nvSpPr>
          <p:cNvPr id="19" name="Marcador de número de diapositiva 5">
            <a:extLst>
              <a:ext uri="{FF2B5EF4-FFF2-40B4-BE49-F238E27FC236}">
                <a16:creationId xmlns:a16="http://schemas.microsoft.com/office/drawing/2014/main" id="{FD8736D5-7365-84DC-E28C-3DDCFFCB80FF}"/>
              </a:ext>
            </a:extLst>
          </p:cNvPr>
          <p:cNvSpPr>
            <a:spLocks noGrp="1"/>
          </p:cNvSpPr>
          <p:nvPr>
            <p:ph type="sldNum" sz="quarter" idx="4"/>
          </p:nvPr>
        </p:nvSpPr>
        <p:spPr>
          <a:xfrm>
            <a:off x="8201890" y="4868863"/>
            <a:ext cx="942109" cy="274637"/>
          </a:xfrm>
          <a:prstGeom prst="rect">
            <a:avLst/>
          </a:prstGeom>
        </p:spPr>
        <p:txBody>
          <a:bodyPr vert="horz" lIns="91440" tIns="45720" rIns="91440" bIns="45720" rtlCol="0" anchor="ctr"/>
          <a:lstStyle>
            <a:lvl1pPr algn="r">
              <a:defRPr sz="1200">
                <a:solidFill>
                  <a:schemeClr val="tx1">
                    <a:tint val="82000"/>
                  </a:schemeClr>
                </a:solidFill>
              </a:defRPr>
            </a:lvl1pPr>
          </a:lstStyle>
          <a:p>
            <a:r>
              <a:rPr lang="en-US" b="1" dirty="0">
                <a:solidFill>
                  <a:srgbClr val="FFFFFF"/>
                </a:solidFill>
                <a:latin typeface="Georgia" pitchFamily="34" charset="0"/>
                <a:ea typeface="Georgia" pitchFamily="34" charset="-122"/>
                <a:cs typeface="Georgia" pitchFamily="34" charset="-120"/>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C42"/>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AB4E5"/>
          </a:solidFill>
          <a:ln w="12700">
            <a:solidFill>
              <a:srgbClr val="5AB4E5"/>
            </a:solidFill>
            <a:prstDash val="solid"/>
          </a:ln>
        </p:spPr>
        <p:txBody>
          <a:bodyPr/>
          <a:lstStyle/>
          <a:p>
            <a:endParaRPr lang="es-ES"/>
          </a:p>
        </p:txBody>
      </p:sp>
      <p:sp>
        <p:nvSpPr>
          <p:cNvPr id="3" name="Text 1"/>
          <p:cNvSpPr/>
          <p:nvPr/>
        </p:nvSpPr>
        <p:spPr>
          <a:xfrm>
            <a:off x="457200" y="182880"/>
            <a:ext cx="4572000" cy="274320"/>
          </a:xfrm>
          <a:prstGeom prst="rect">
            <a:avLst/>
          </a:prstGeom>
          <a:noFill/>
          <a:ln/>
        </p:spPr>
        <p:txBody>
          <a:bodyPr wrap="square" lIns="0" tIns="0" rIns="0" bIns="0" rtlCol="0" anchor="ctr"/>
          <a:lstStyle/>
          <a:p>
            <a:pPr marL="0" indent="0">
              <a:buNone/>
            </a:pPr>
            <a:r>
              <a:rPr lang="en-US" sz="900" kern="0" spc="300" dirty="0">
                <a:solidFill>
                  <a:srgbClr val="5AB4E5"/>
                </a:solidFill>
                <a:latin typeface="Calibri" pitchFamily="34" charset="0"/>
                <a:ea typeface="Calibri" pitchFamily="34" charset="-122"/>
                <a:cs typeface="Calibri" pitchFamily="34" charset="-120"/>
              </a:rPr>
              <a:t>PART 3  ·  IMPLICATIONS</a:t>
            </a:r>
            <a:endParaRPr lang="en-US" sz="900" dirty="0"/>
          </a:p>
        </p:txBody>
      </p:sp>
      <p:sp>
        <p:nvSpPr>
          <p:cNvPr id="4" name="Text 2"/>
          <p:cNvSpPr/>
          <p:nvPr/>
        </p:nvSpPr>
        <p:spPr>
          <a:xfrm>
            <a:off x="457200" y="502920"/>
            <a:ext cx="3657600" cy="2286000"/>
          </a:xfrm>
          <a:prstGeom prst="rect">
            <a:avLst/>
          </a:prstGeom>
          <a:noFill/>
          <a:ln/>
        </p:spPr>
        <p:txBody>
          <a:bodyPr wrap="square" lIns="0" tIns="0" rIns="0" bIns="0"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The New</a:t>
            </a:r>
            <a:endParaRPr lang="en-US" sz="3400" dirty="0"/>
          </a:p>
          <a:p>
            <a:pPr marL="0" indent="0">
              <a:buNone/>
            </a:pPr>
            <a:r>
              <a:rPr lang="en-US" sz="3400" b="1" dirty="0">
                <a:solidFill>
                  <a:srgbClr val="FFFFFF"/>
                </a:solidFill>
                <a:latin typeface="Georgia" pitchFamily="34" charset="0"/>
                <a:ea typeface="Georgia" pitchFamily="34" charset="-122"/>
                <a:cs typeface="Georgia" pitchFamily="34" charset="-120"/>
              </a:rPr>
              <a:t>Communication</a:t>
            </a:r>
            <a:endParaRPr lang="en-US" sz="3400" dirty="0"/>
          </a:p>
          <a:p>
            <a:pPr marL="0" indent="0">
              <a:buNone/>
            </a:pPr>
            <a:r>
              <a:rPr lang="en-US" sz="3400" b="1" dirty="0">
                <a:solidFill>
                  <a:srgbClr val="FFFFFF"/>
                </a:solidFill>
                <a:latin typeface="Georgia" pitchFamily="34" charset="0"/>
                <a:ea typeface="Georgia" pitchFamily="34" charset="-122"/>
                <a:cs typeface="Georgia" pitchFamily="34" charset="-120"/>
              </a:rPr>
              <a:t>Landscape</a:t>
            </a:r>
            <a:endParaRPr lang="en-US" sz="3400" dirty="0"/>
          </a:p>
        </p:txBody>
      </p:sp>
      <p:sp>
        <p:nvSpPr>
          <p:cNvPr id="5" name="Shape 3"/>
          <p:cNvSpPr/>
          <p:nvPr/>
        </p:nvSpPr>
        <p:spPr>
          <a:xfrm>
            <a:off x="457200" y="2880360"/>
            <a:ext cx="3657600" cy="1920240"/>
          </a:xfrm>
          <a:prstGeom prst="rect">
            <a:avLst/>
          </a:prstGeom>
          <a:solidFill>
            <a:srgbClr val="111929"/>
          </a:solidFill>
          <a:ln w="12700">
            <a:solidFill>
              <a:srgbClr val="111929"/>
            </a:solidFill>
            <a:prstDash val="solid"/>
          </a:ln>
          <a:effectLst>
            <a:outerShdw blurRad="127000" dist="38100" dir="8100000" algn="bl" rotWithShape="0">
              <a:srgbClr val="000000">
                <a:alpha val="25000"/>
              </a:srgbClr>
            </a:outerShdw>
          </a:effectLst>
        </p:spPr>
        <p:txBody>
          <a:bodyPr/>
          <a:lstStyle/>
          <a:p>
            <a:endParaRPr lang="es-ES"/>
          </a:p>
        </p:txBody>
      </p:sp>
      <p:sp>
        <p:nvSpPr>
          <p:cNvPr id="6" name="Shape 4"/>
          <p:cNvSpPr/>
          <p:nvPr/>
        </p:nvSpPr>
        <p:spPr>
          <a:xfrm>
            <a:off x="457200" y="2880360"/>
            <a:ext cx="3657600" cy="54864"/>
          </a:xfrm>
          <a:prstGeom prst="rect">
            <a:avLst/>
          </a:prstGeom>
          <a:solidFill>
            <a:srgbClr val="5AB4E5"/>
          </a:solidFill>
          <a:ln w="12700">
            <a:solidFill>
              <a:srgbClr val="5AB4E5"/>
            </a:solidFill>
            <a:prstDash val="solid"/>
          </a:ln>
        </p:spPr>
        <p:txBody>
          <a:bodyPr/>
          <a:lstStyle/>
          <a:p>
            <a:endParaRPr lang="es-ES"/>
          </a:p>
        </p:txBody>
      </p:sp>
      <p:sp>
        <p:nvSpPr>
          <p:cNvPr id="7" name="Text 5"/>
          <p:cNvSpPr/>
          <p:nvPr/>
        </p:nvSpPr>
        <p:spPr>
          <a:xfrm>
            <a:off x="640080" y="2999232"/>
            <a:ext cx="3291840" cy="320040"/>
          </a:xfrm>
          <a:prstGeom prst="rect">
            <a:avLst/>
          </a:prstGeom>
          <a:noFill/>
          <a:ln/>
        </p:spPr>
        <p:txBody>
          <a:bodyPr wrap="square" lIns="0" tIns="0" rIns="0" bIns="0" rtlCol="0" anchor="ctr"/>
          <a:lstStyle/>
          <a:p>
            <a:pPr marL="0" indent="0">
              <a:buNone/>
            </a:pPr>
            <a:r>
              <a:rPr lang="en-US" sz="1000" b="1" kern="0" spc="300" dirty="0">
                <a:solidFill>
                  <a:srgbClr val="5AB4E5"/>
                </a:solidFill>
                <a:latin typeface="Calibri" pitchFamily="34" charset="0"/>
                <a:ea typeface="Calibri" pitchFamily="34" charset="-122"/>
                <a:cs typeface="Calibri" pitchFamily="34" charset="-120"/>
              </a:rPr>
              <a:t>SOCIAL</a:t>
            </a:r>
            <a:endParaRPr lang="en-US" sz="1000" dirty="0"/>
          </a:p>
        </p:txBody>
      </p:sp>
      <p:sp>
        <p:nvSpPr>
          <p:cNvPr id="8" name="Text 6"/>
          <p:cNvSpPr/>
          <p:nvPr/>
        </p:nvSpPr>
        <p:spPr>
          <a:xfrm>
            <a:off x="640080" y="3429000"/>
            <a:ext cx="3291840" cy="347472"/>
          </a:xfrm>
          <a:prstGeom prst="rect">
            <a:avLst/>
          </a:prstGeom>
          <a:noFill/>
          <a:ln/>
        </p:spPr>
        <p:txBody>
          <a:bodyPr wrap="square" lIns="0" tIns="0" rIns="0" bIns="0" rtlCol="0" anchor="ctr"/>
          <a:lstStyle/>
          <a:p>
            <a:pPr marL="0" indent="0">
              <a:buNone/>
            </a:pPr>
            <a:r>
              <a:rPr lang="en-US" sz="1200" dirty="0">
                <a:solidFill>
                  <a:srgbClr val="E8EFF7"/>
                </a:solidFill>
                <a:latin typeface="Calibri" pitchFamily="34" charset="0"/>
                <a:ea typeface="Calibri" pitchFamily="34" charset="-122"/>
                <a:cs typeface="Calibri" pitchFamily="34" charset="-120"/>
              </a:rPr>
              <a:t>→  Shifting norms around response time</a:t>
            </a:r>
            <a:endParaRPr lang="en-US" sz="1200" dirty="0"/>
          </a:p>
        </p:txBody>
      </p:sp>
      <p:sp>
        <p:nvSpPr>
          <p:cNvPr id="9" name="Text 7"/>
          <p:cNvSpPr/>
          <p:nvPr/>
        </p:nvSpPr>
        <p:spPr>
          <a:xfrm>
            <a:off x="640080" y="3822192"/>
            <a:ext cx="3291840" cy="347472"/>
          </a:xfrm>
          <a:prstGeom prst="rect">
            <a:avLst/>
          </a:prstGeom>
          <a:noFill/>
          <a:ln/>
        </p:spPr>
        <p:txBody>
          <a:bodyPr wrap="square" lIns="0" tIns="0" rIns="0" bIns="0" rtlCol="0" anchor="ctr"/>
          <a:lstStyle/>
          <a:p>
            <a:pPr marL="0" indent="0">
              <a:buNone/>
            </a:pPr>
            <a:r>
              <a:rPr lang="en-US" sz="1200" dirty="0">
                <a:solidFill>
                  <a:srgbClr val="E8EFF7"/>
                </a:solidFill>
                <a:latin typeface="Calibri" pitchFamily="34" charset="0"/>
                <a:ea typeface="Calibri" pitchFamily="34" charset="-122"/>
                <a:cs typeface="Calibri" pitchFamily="34" charset="-120"/>
              </a:rPr>
              <a:t>→  Erosion of deep listening</a:t>
            </a:r>
            <a:endParaRPr lang="en-US" sz="1200" dirty="0"/>
          </a:p>
        </p:txBody>
      </p:sp>
      <p:sp>
        <p:nvSpPr>
          <p:cNvPr id="10" name="Text 8"/>
          <p:cNvSpPr/>
          <p:nvPr/>
        </p:nvSpPr>
        <p:spPr>
          <a:xfrm>
            <a:off x="640080" y="4215384"/>
            <a:ext cx="3291840" cy="347472"/>
          </a:xfrm>
          <a:prstGeom prst="rect">
            <a:avLst/>
          </a:prstGeom>
          <a:noFill/>
          <a:ln/>
        </p:spPr>
        <p:txBody>
          <a:bodyPr wrap="square" lIns="0" tIns="0" rIns="0" bIns="0" rtlCol="0" anchor="ctr"/>
          <a:lstStyle/>
          <a:p>
            <a:pPr marL="0" indent="0">
              <a:buNone/>
            </a:pPr>
            <a:r>
              <a:rPr lang="en-US" sz="1200" dirty="0">
                <a:solidFill>
                  <a:srgbClr val="E8EFF7"/>
                </a:solidFill>
                <a:latin typeface="Calibri" pitchFamily="34" charset="0"/>
                <a:ea typeface="Calibri" pitchFamily="34" charset="-122"/>
                <a:cs typeface="Calibri" pitchFamily="34" charset="-120"/>
              </a:rPr>
              <a:t>→  Digital inequality in relationships</a:t>
            </a:r>
            <a:endParaRPr lang="en-US" sz="1200" dirty="0"/>
          </a:p>
        </p:txBody>
      </p:sp>
      <p:sp>
        <p:nvSpPr>
          <p:cNvPr id="11" name="Shape 9"/>
          <p:cNvSpPr/>
          <p:nvPr/>
        </p:nvSpPr>
        <p:spPr>
          <a:xfrm>
            <a:off x="4846320" y="594360"/>
            <a:ext cx="3886200" cy="4206240"/>
          </a:xfrm>
          <a:prstGeom prst="rect">
            <a:avLst/>
          </a:prstGeom>
          <a:solidFill>
            <a:srgbClr val="111929"/>
          </a:solidFill>
          <a:ln w="12700">
            <a:solidFill>
              <a:srgbClr val="111929"/>
            </a:solidFill>
            <a:prstDash val="solid"/>
          </a:ln>
          <a:effectLst>
            <a:outerShdw blurRad="127000" dist="38100" dir="8100000" algn="bl" rotWithShape="0">
              <a:srgbClr val="000000">
                <a:alpha val="25000"/>
              </a:srgbClr>
            </a:outerShdw>
          </a:effectLst>
        </p:spPr>
        <p:txBody>
          <a:bodyPr/>
          <a:lstStyle/>
          <a:p>
            <a:endParaRPr lang="es-ES"/>
          </a:p>
        </p:txBody>
      </p:sp>
      <p:sp>
        <p:nvSpPr>
          <p:cNvPr id="12" name="Shape 10"/>
          <p:cNvSpPr/>
          <p:nvPr/>
        </p:nvSpPr>
        <p:spPr>
          <a:xfrm>
            <a:off x="4846320" y="594360"/>
            <a:ext cx="3886200" cy="54864"/>
          </a:xfrm>
          <a:prstGeom prst="rect">
            <a:avLst/>
          </a:prstGeom>
          <a:solidFill>
            <a:srgbClr val="E8B84B"/>
          </a:solidFill>
          <a:ln w="12700">
            <a:solidFill>
              <a:srgbClr val="E8B84B"/>
            </a:solidFill>
            <a:prstDash val="solid"/>
          </a:ln>
        </p:spPr>
        <p:txBody>
          <a:bodyPr/>
          <a:lstStyle/>
          <a:p>
            <a:endParaRPr lang="es-ES"/>
          </a:p>
        </p:txBody>
      </p:sp>
      <p:sp>
        <p:nvSpPr>
          <p:cNvPr id="13" name="Text 11"/>
          <p:cNvSpPr/>
          <p:nvPr/>
        </p:nvSpPr>
        <p:spPr>
          <a:xfrm>
            <a:off x="5029200" y="713232"/>
            <a:ext cx="3520440" cy="320040"/>
          </a:xfrm>
          <a:prstGeom prst="rect">
            <a:avLst/>
          </a:prstGeom>
          <a:noFill/>
          <a:ln/>
        </p:spPr>
        <p:txBody>
          <a:bodyPr wrap="square" lIns="0" tIns="0" rIns="0" bIns="0" rtlCol="0" anchor="ctr"/>
          <a:lstStyle/>
          <a:p>
            <a:pPr marL="0" indent="0">
              <a:buNone/>
            </a:pPr>
            <a:r>
              <a:rPr lang="en-US" sz="1000" b="1" kern="0" spc="300" dirty="0">
                <a:solidFill>
                  <a:srgbClr val="E8B84B"/>
                </a:solidFill>
                <a:latin typeface="Calibri" pitchFamily="34" charset="0"/>
                <a:ea typeface="Calibri" pitchFamily="34" charset="-122"/>
                <a:cs typeface="Calibri" pitchFamily="34" charset="-120"/>
              </a:rPr>
              <a:t>PROFESSIONAL</a:t>
            </a:r>
            <a:endParaRPr lang="en-US" sz="1000" dirty="0"/>
          </a:p>
        </p:txBody>
      </p:sp>
      <p:sp>
        <p:nvSpPr>
          <p:cNvPr id="14" name="Text 12"/>
          <p:cNvSpPr/>
          <p:nvPr/>
        </p:nvSpPr>
        <p:spPr>
          <a:xfrm>
            <a:off x="5029200" y="1188720"/>
            <a:ext cx="3520440" cy="292608"/>
          </a:xfrm>
          <a:prstGeom prst="rect">
            <a:avLst/>
          </a:prstGeom>
          <a:noFill/>
          <a:ln/>
        </p:spPr>
        <p:txBody>
          <a:bodyPr wrap="square" lIns="0" tIns="0" rIns="0" bIns="0" rtlCol="0" anchor="ctr"/>
          <a:lstStyle/>
          <a:p>
            <a:pPr marL="0" indent="0">
              <a:buNone/>
            </a:pPr>
            <a:r>
              <a:rPr lang="en-US" sz="1300" b="1" dirty="0">
                <a:solidFill>
                  <a:srgbClr val="E8B84B"/>
                </a:solidFill>
                <a:latin typeface="Calibri" pitchFamily="34" charset="0"/>
                <a:ea typeface="Calibri" pitchFamily="34" charset="-122"/>
                <a:cs typeface="Calibri" pitchFamily="34" charset="-120"/>
              </a:rPr>
              <a:t>New skillset required</a:t>
            </a:r>
            <a:endParaRPr lang="en-US" sz="1300" dirty="0"/>
          </a:p>
        </p:txBody>
      </p:sp>
      <p:sp>
        <p:nvSpPr>
          <p:cNvPr id="15" name="Text 13"/>
          <p:cNvSpPr/>
          <p:nvPr/>
        </p:nvSpPr>
        <p:spPr>
          <a:xfrm>
            <a:off x="5029200" y="1463040"/>
            <a:ext cx="3520440" cy="347472"/>
          </a:xfrm>
          <a:prstGeom prst="rect">
            <a:avLst/>
          </a:prstGeom>
          <a:noFill/>
          <a:ln/>
        </p:spPr>
        <p:txBody>
          <a:bodyPr wrap="square" lIns="0" tIns="0" rIns="0" bIns="0" rtlCol="0" anchor="ctr"/>
          <a:lstStyle/>
          <a:p>
            <a:pPr marL="0" indent="0">
              <a:buNone/>
            </a:pPr>
            <a:r>
              <a:rPr lang="en-US" sz="1200" dirty="0">
                <a:solidFill>
                  <a:srgbClr val="E8EFF7"/>
                </a:solidFill>
                <a:latin typeface="Calibri" pitchFamily="34" charset="0"/>
                <a:ea typeface="Calibri" pitchFamily="34" charset="-122"/>
                <a:cs typeface="Calibri" pitchFamily="34" charset="-120"/>
              </a:rPr>
              <a:t>Communicators must manage AI agents, not just write</a:t>
            </a:r>
            <a:endParaRPr lang="en-US" sz="1200" dirty="0"/>
          </a:p>
        </p:txBody>
      </p:sp>
      <p:sp>
        <p:nvSpPr>
          <p:cNvPr id="16" name="Text 14"/>
          <p:cNvSpPr/>
          <p:nvPr/>
        </p:nvSpPr>
        <p:spPr>
          <a:xfrm>
            <a:off x="5029200" y="1965960"/>
            <a:ext cx="3520440" cy="292608"/>
          </a:xfrm>
          <a:prstGeom prst="rect">
            <a:avLst/>
          </a:prstGeom>
          <a:noFill/>
          <a:ln/>
        </p:spPr>
        <p:txBody>
          <a:bodyPr wrap="square" lIns="0" tIns="0" rIns="0" bIns="0" rtlCol="0" anchor="ctr"/>
          <a:lstStyle/>
          <a:p>
            <a:pPr marL="0" indent="0">
              <a:buNone/>
            </a:pPr>
            <a:r>
              <a:rPr lang="en-US" sz="1300" b="1" dirty="0">
                <a:solidFill>
                  <a:srgbClr val="E8B84B"/>
                </a:solidFill>
                <a:latin typeface="Calibri" pitchFamily="34" charset="0"/>
                <a:ea typeface="Calibri" pitchFamily="34" charset="-122"/>
                <a:cs typeface="Calibri" pitchFamily="34" charset="-120"/>
              </a:rPr>
              <a:t>Elevated expectations</a:t>
            </a:r>
            <a:endParaRPr lang="en-US" sz="1300" dirty="0"/>
          </a:p>
        </p:txBody>
      </p:sp>
      <p:sp>
        <p:nvSpPr>
          <p:cNvPr id="17" name="Text 15"/>
          <p:cNvSpPr/>
          <p:nvPr/>
        </p:nvSpPr>
        <p:spPr>
          <a:xfrm>
            <a:off x="5029200" y="2240280"/>
            <a:ext cx="3520440" cy="347472"/>
          </a:xfrm>
          <a:prstGeom prst="rect">
            <a:avLst/>
          </a:prstGeom>
          <a:noFill/>
          <a:ln/>
        </p:spPr>
        <p:txBody>
          <a:bodyPr wrap="square" lIns="0" tIns="0" rIns="0" bIns="0" rtlCol="0" anchor="ctr"/>
          <a:lstStyle/>
          <a:p>
            <a:pPr marL="0" indent="0">
              <a:buNone/>
            </a:pPr>
            <a:r>
              <a:rPr lang="en-US" sz="1200" dirty="0">
                <a:solidFill>
                  <a:srgbClr val="E8EFF7"/>
                </a:solidFill>
                <a:latin typeface="Calibri" pitchFamily="34" charset="0"/>
                <a:ea typeface="Calibri" pitchFamily="34" charset="-122"/>
                <a:cs typeface="Calibri" pitchFamily="34" charset="-120"/>
              </a:rPr>
              <a:t>Response speed and quality bars have risen</a:t>
            </a:r>
            <a:endParaRPr lang="en-US" sz="1200" dirty="0"/>
          </a:p>
        </p:txBody>
      </p:sp>
      <p:sp>
        <p:nvSpPr>
          <p:cNvPr id="18" name="Text 16"/>
          <p:cNvSpPr/>
          <p:nvPr/>
        </p:nvSpPr>
        <p:spPr>
          <a:xfrm>
            <a:off x="5029200" y="2743200"/>
            <a:ext cx="3520440" cy="292608"/>
          </a:xfrm>
          <a:prstGeom prst="rect">
            <a:avLst/>
          </a:prstGeom>
          <a:noFill/>
          <a:ln/>
        </p:spPr>
        <p:txBody>
          <a:bodyPr wrap="square" lIns="0" tIns="0" rIns="0" bIns="0" rtlCol="0" anchor="ctr"/>
          <a:lstStyle/>
          <a:p>
            <a:pPr marL="0" indent="0">
              <a:buNone/>
            </a:pPr>
            <a:r>
              <a:rPr lang="en-US" sz="1300" b="1" dirty="0">
                <a:solidFill>
                  <a:srgbClr val="E8B84B"/>
                </a:solidFill>
                <a:latin typeface="Calibri" pitchFamily="34" charset="0"/>
                <a:ea typeface="Calibri" pitchFamily="34" charset="-122"/>
                <a:cs typeface="Calibri" pitchFamily="34" charset="-120"/>
              </a:rPr>
              <a:t>Job transformation</a:t>
            </a:r>
            <a:endParaRPr lang="en-US" sz="1300" dirty="0"/>
          </a:p>
        </p:txBody>
      </p:sp>
      <p:sp>
        <p:nvSpPr>
          <p:cNvPr id="19" name="Text 17"/>
          <p:cNvSpPr/>
          <p:nvPr/>
        </p:nvSpPr>
        <p:spPr>
          <a:xfrm>
            <a:off x="5029200" y="3017520"/>
            <a:ext cx="3520440" cy="347472"/>
          </a:xfrm>
          <a:prstGeom prst="rect">
            <a:avLst/>
          </a:prstGeom>
          <a:noFill/>
          <a:ln/>
        </p:spPr>
        <p:txBody>
          <a:bodyPr wrap="square" lIns="0" tIns="0" rIns="0" bIns="0" rtlCol="0" anchor="ctr"/>
          <a:lstStyle/>
          <a:p>
            <a:pPr marL="0" indent="0">
              <a:buNone/>
            </a:pPr>
            <a:r>
              <a:rPr lang="en-US" sz="1200" dirty="0">
                <a:solidFill>
                  <a:srgbClr val="E8EFF7"/>
                </a:solidFill>
                <a:latin typeface="Calibri" pitchFamily="34" charset="0"/>
                <a:ea typeface="Calibri" pitchFamily="34" charset="-122"/>
                <a:cs typeface="Calibri" pitchFamily="34" charset="-120"/>
              </a:rPr>
              <a:t>Roles in PR, comms &amp; marketing are already changing</a:t>
            </a:r>
            <a:endParaRPr lang="en-US" sz="1200" dirty="0"/>
          </a:p>
        </p:txBody>
      </p:sp>
      <p:sp>
        <p:nvSpPr>
          <p:cNvPr id="20" name="Text 18"/>
          <p:cNvSpPr/>
          <p:nvPr/>
        </p:nvSpPr>
        <p:spPr>
          <a:xfrm>
            <a:off x="5029200" y="3520440"/>
            <a:ext cx="3520440" cy="292608"/>
          </a:xfrm>
          <a:prstGeom prst="rect">
            <a:avLst/>
          </a:prstGeom>
          <a:noFill/>
          <a:ln/>
        </p:spPr>
        <p:txBody>
          <a:bodyPr wrap="square" lIns="0" tIns="0" rIns="0" bIns="0" rtlCol="0" anchor="ctr"/>
          <a:lstStyle/>
          <a:p>
            <a:pPr marL="0" indent="0">
              <a:buNone/>
            </a:pPr>
            <a:r>
              <a:rPr lang="en-US" sz="1300" b="1" dirty="0">
                <a:solidFill>
                  <a:srgbClr val="E8B84B"/>
                </a:solidFill>
                <a:latin typeface="Calibri" pitchFamily="34" charset="0"/>
                <a:ea typeface="Calibri" pitchFamily="34" charset="-122"/>
                <a:cs typeface="Calibri" pitchFamily="34" charset="-120"/>
              </a:rPr>
              <a:t>Competitive advantage</a:t>
            </a:r>
            <a:endParaRPr lang="en-US" sz="1300" dirty="0"/>
          </a:p>
        </p:txBody>
      </p:sp>
      <p:sp>
        <p:nvSpPr>
          <p:cNvPr id="21" name="Text 19"/>
          <p:cNvSpPr/>
          <p:nvPr/>
        </p:nvSpPr>
        <p:spPr>
          <a:xfrm>
            <a:off x="5029200" y="3794760"/>
            <a:ext cx="3520440" cy="347472"/>
          </a:xfrm>
          <a:prstGeom prst="rect">
            <a:avLst/>
          </a:prstGeom>
          <a:noFill/>
          <a:ln/>
        </p:spPr>
        <p:txBody>
          <a:bodyPr wrap="square" lIns="0" tIns="0" rIns="0" bIns="0" rtlCol="0" anchor="ctr"/>
          <a:lstStyle/>
          <a:p>
            <a:pPr marL="0" indent="0">
              <a:buNone/>
            </a:pPr>
            <a:r>
              <a:rPr lang="en-US" sz="1200" dirty="0">
                <a:solidFill>
                  <a:srgbClr val="E8EFF7"/>
                </a:solidFill>
                <a:latin typeface="Calibri" pitchFamily="34" charset="0"/>
                <a:ea typeface="Calibri" pitchFamily="34" charset="-122"/>
                <a:cs typeface="Calibri" pitchFamily="34" charset="-120"/>
              </a:rPr>
              <a:t>Those who harness AI well will outperform</a:t>
            </a:r>
            <a:endParaRPr lang="en-US" sz="1200" dirty="0"/>
          </a:p>
        </p:txBody>
      </p:sp>
      <p:sp>
        <p:nvSpPr>
          <p:cNvPr id="22" name="Marcador de número de diapositiva 5">
            <a:extLst>
              <a:ext uri="{FF2B5EF4-FFF2-40B4-BE49-F238E27FC236}">
                <a16:creationId xmlns:a16="http://schemas.microsoft.com/office/drawing/2014/main" id="{A767AA9F-E09C-FF97-2C23-80B2E0670D6A}"/>
              </a:ext>
            </a:extLst>
          </p:cNvPr>
          <p:cNvSpPr>
            <a:spLocks noGrp="1"/>
          </p:cNvSpPr>
          <p:nvPr>
            <p:ph type="sldNum" sz="quarter" idx="4"/>
          </p:nvPr>
        </p:nvSpPr>
        <p:spPr>
          <a:xfrm>
            <a:off x="8201890" y="4868863"/>
            <a:ext cx="942109" cy="274637"/>
          </a:xfrm>
          <a:prstGeom prst="rect">
            <a:avLst/>
          </a:prstGeom>
        </p:spPr>
        <p:txBody>
          <a:bodyPr vert="horz" lIns="91440" tIns="45720" rIns="91440" bIns="45720" rtlCol="0" anchor="ctr"/>
          <a:lstStyle>
            <a:lvl1pPr algn="r">
              <a:defRPr sz="1200">
                <a:solidFill>
                  <a:schemeClr val="tx1">
                    <a:tint val="82000"/>
                  </a:schemeClr>
                </a:solidFill>
              </a:defRPr>
            </a:lvl1pPr>
          </a:lstStyle>
          <a:p>
            <a:r>
              <a:rPr lang="en-US" b="1" dirty="0">
                <a:solidFill>
                  <a:srgbClr val="FFFFFF"/>
                </a:solidFill>
                <a:latin typeface="Georgia" pitchFamily="34" charset="0"/>
                <a:ea typeface="Georgia" pitchFamily="34" charset="-122"/>
                <a:cs typeface="Georgia" pitchFamily="34" charset="-120"/>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AB4E5"/>
          </a:solidFill>
          <a:ln w="12700">
            <a:solidFill>
              <a:srgbClr val="5AB4E5"/>
            </a:solidFill>
            <a:prstDash val="solid"/>
          </a:ln>
        </p:spPr>
        <p:txBody>
          <a:bodyPr/>
          <a:lstStyle/>
          <a:p>
            <a:endParaRPr lang="es-ES"/>
          </a:p>
        </p:txBody>
      </p:sp>
      <p:sp>
        <p:nvSpPr>
          <p:cNvPr id="3" name="Text 1"/>
          <p:cNvSpPr/>
          <p:nvPr/>
        </p:nvSpPr>
        <p:spPr>
          <a:xfrm>
            <a:off x="457200" y="182880"/>
            <a:ext cx="8229600" cy="82296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Navigating Forward</a:t>
            </a:r>
            <a:endParaRPr lang="en-US" sz="4000" dirty="0"/>
          </a:p>
        </p:txBody>
      </p:sp>
      <p:sp>
        <p:nvSpPr>
          <p:cNvPr id="4" name="Text 2"/>
          <p:cNvSpPr/>
          <p:nvPr/>
        </p:nvSpPr>
        <p:spPr>
          <a:xfrm>
            <a:off x="457200" y="1005840"/>
            <a:ext cx="8229600" cy="411480"/>
          </a:xfrm>
          <a:prstGeom prst="rect">
            <a:avLst/>
          </a:prstGeom>
          <a:noFill/>
          <a:ln/>
        </p:spPr>
        <p:txBody>
          <a:bodyPr wrap="square" lIns="0" tIns="0" rIns="0" bIns="0" rtlCol="0" anchor="ctr"/>
          <a:lstStyle/>
          <a:p>
            <a:pPr marL="0" indent="0">
              <a:buNone/>
            </a:pPr>
            <a:r>
              <a:rPr lang="en-US" sz="1600" i="1" dirty="0">
                <a:solidFill>
                  <a:srgbClr val="5AB4E5"/>
                </a:solidFill>
                <a:latin typeface="Calibri" pitchFamily="34" charset="0"/>
                <a:ea typeface="Calibri" pitchFamily="34" charset="-122"/>
                <a:cs typeface="Calibri" pitchFamily="34" charset="-120"/>
              </a:rPr>
              <a:t>A framework for responsible AI communication</a:t>
            </a:r>
            <a:endParaRPr lang="en-US" sz="1600" dirty="0"/>
          </a:p>
        </p:txBody>
      </p:sp>
      <p:sp>
        <p:nvSpPr>
          <p:cNvPr id="5" name="Shape 3"/>
          <p:cNvSpPr/>
          <p:nvPr/>
        </p:nvSpPr>
        <p:spPr>
          <a:xfrm>
            <a:off x="457200" y="1600200"/>
            <a:ext cx="3977640" cy="146304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6" name="Shape 4"/>
          <p:cNvSpPr/>
          <p:nvPr/>
        </p:nvSpPr>
        <p:spPr>
          <a:xfrm>
            <a:off x="621792" y="1874520"/>
            <a:ext cx="594360" cy="594360"/>
          </a:xfrm>
          <a:prstGeom prst="ellipse">
            <a:avLst/>
          </a:prstGeom>
          <a:solidFill>
            <a:srgbClr val="5AB4E5"/>
          </a:solidFill>
          <a:ln w="12700">
            <a:solidFill>
              <a:srgbClr val="5AB4E5"/>
            </a:solidFill>
            <a:prstDash val="solid"/>
          </a:ln>
        </p:spPr>
        <p:txBody>
          <a:bodyPr/>
          <a:lstStyle/>
          <a:p>
            <a:endParaRPr lang="es-ES"/>
          </a:p>
        </p:txBody>
      </p:sp>
      <p:sp>
        <p:nvSpPr>
          <p:cNvPr id="7" name="Text 5"/>
          <p:cNvSpPr/>
          <p:nvPr/>
        </p:nvSpPr>
        <p:spPr>
          <a:xfrm>
            <a:off x="621792" y="1892808"/>
            <a:ext cx="594360" cy="548640"/>
          </a:xfrm>
          <a:prstGeom prst="rect">
            <a:avLst/>
          </a:prstGeom>
          <a:noFill/>
          <a:ln/>
        </p:spPr>
        <p:txBody>
          <a:bodyPr wrap="square" lIns="0" tIns="0" rIns="0" bIns="0" rtlCol="0" anchor="ctr"/>
          <a:lstStyle/>
          <a:p>
            <a:pPr marL="0" indent="0" algn="ctr">
              <a:buNone/>
            </a:pPr>
            <a:r>
              <a:rPr lang="en-US" sz="1600" b="1" dirty="0">
                <a:solidFill>
                  <a:srgbClr val="0D1B2A"/>
                </a:solidFill>
                <a:latin typeface="Georgia" pitchFamily="34" charset="0"/>
                <a:ea typeface="Georgia" pitchFamily="34" charset="-122"/>
                <a:cs typeface="Georgia" pitchFamily="34" charset="-120"/>
              </a:rPr>
              <a:t>T</a:t>
            </a:r>
            <a:endParaRPr lang="en-US" sz="1600" dirty="0"/>
          </a:p>
        </p:txBody>
      </p:sp>
      <p:sp>
        <p:nvSpPr>
          <p:cNvPr id="8" name="Text 6"/>
          <p:cNvSpPr/>
          <p:nvPr/>
        </p:nvSpPr>
        <p:spPr>
          <a:xfrm>
            <a:off x="1371600" y="1801368"/>
            <a:ext cx="2926080" cy="411480"/>
          </a:xfrm>
          <a:prstGeom prst="rect">
            <a:avLst/>
          </a:prstGeom>
          <a:noFill/>
          <a:ln/>
        </p:spPr>
        <p:txBody>
          <a:bodyPr wrap="square" lIns="0" tIns="0" rIns="0" bIns="0" rtlCol="0" anchor="ctr"/>
          <a:lstStyle/>
          <a:p>
            <a:pPr marL="0" indent="0">
              <a:buNone/>
            </a:pPr>
            <a:r>
              <a:rPr lang="en-US" sz="1600" b="1" dirty="0">
                <a:solidFill>
                  <a:srgbClr val="5AB4E5"/>
                </a:solidFill>
                <a:latin typeface="Calibri" pitchFamily="34" charset="0"/>
                <a:ea typeface="Calibri" pitchFamily="34" charset="-122"/>
                <a:cs typeface="Calibri" pitchFamily="34" charset="-120"/>
              </a:rPr>
              <a:t>Transparency</a:t>
            </a:r>
            <a:endParaRPr lang="en-US" sz="1600" dirty="0"/>
          </a:p>
        </p:txBody>
      </p:sp>
      <p:sp>
        <p:nvSpPr>
          <p:cNvPr id="9" name="Text 7"/>
          <p:cNvSpPr/>
          <p:nvPr/>
        </p:nvSpPr>
        <p:spPr>
          <a:xfrm>
            <a:off x="1371600" y="2221992"/>
            <a:ext cx="2926080" cy="685800"/>
          </a:xfrm>
          <a:prstGeom prst="rect">
            <a:avLst/>
          </a:prstGeom>
          <a:noFill/>
          <a:ln/>
        </p:spPr>
        <p:txBody>
          <a:bodyPr wrap="square" lIns="0" tIns="0" rIns="0" bIns="0" rtlCol="0" anchor="ctr"/>
          <a:lstStyle/>
          <a:p>
            <a:pPr marL="0" indent="0">
              <a:buNone/>
            </a:pPr>
            <a:r>
              <a:rPr lang="en-US" sz="1250" dirty="0">
                <a:solidFill>
                  <a:srgbClr val="E8EFF7"/>
                </a:solidFill>
                <a:latin typeface="Calibri" pitchFamily="34" charset="0"/>
                <a:ea typeface="Calibri" pitchFamily="34" charset="-122"/>
                <a:cs typeface="Calibri" pitchFamily="34" charset="-120"/>
              </a:rPr>
              <a:t>Disclose AI involvement in significant interactions</a:t>
            </a:r>
            <a:endParaRPr lang="en-US" sz="1250" dirty="0"/>
          </a:p>
        </p:txBody>
      </p:sp>
      <p:sp>
        <p:nvSpPr>
          <p:cNvPr id="10" name="Shape 8"/>
          <p:cNvSpPr/>
          <p:nvPr/>
        </p:nvSpPr>
        <p:spPr>
          <a:xfrm>
            <a:off x="4663440" y="1600200"/>
            <a:ext cx="3977640" cy="146304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11" name="Shape 9"/>
          <p:cNvSpPr/>
          <p:nvPr/>
        </p:nvSpPr>
        <p:spPr>
          <a:xfrm>
            <a:off x="4828032" y="1874520"/>
            <a:ext cx="594360" cy="594360"/>
          </a:xfrm>
          <a:prstGeom prst="ellipse">
            <a:avLst/>
          </a:prstGeom>
          <a:solidFill>
            <a:srgbClr val="E8B84B"/>
          </a:solidFill>
          <a:ln w="12700">
            <a:solidFill>
              <a:srgbClr val="E8B84B"/>
            </a:solidFill>
            <a:prstDash val="solid"/>
          </a:ln>
        </p:spPr>
        <p:txBody>
          <a:bodyPr/>
          <a:lstStyle/>
          <a:p>
            <a:endParaRPr lang="es-ES"/>
          </a:p>
        </p:txBody>
      </p:sp>
      <p:sp>
        <p:nvSpPr>
          <p:cNvPr id="12" name="Text 10"/>
          <p:cNvSpPr/>
          <p:nvPr/>
        </p:nvSpPr>
        <p:spPr>
          <a:xfrm>
            <a:off x="4828032" y="1892808"/>
            <a:ext cx="594360" cy="548640"/>
          </a:xfrm>
          <a:prstGeom prst="rect">
            <a:avLst/>
          </a:prstGeom>
          <a:noFill/>
          <a:ln/>
        </p:spPr>
        <p:txBody>
          <a:bodyPr wrap="square" lIns="0" tIns="0" rIns="0" bIns="0" rtlCol="0" anchor="ctr"/>
          <a:lstStyle/>
          <a:p>
            <a:pPr marL="0" indent="0" algn="ctr">
              <a:buNone/>
            </a:pPr>
            <a:r>
              <a:rPr lang="en-US" sz="1600" b="1" dirty="0">
                <a:solidFill>
                  <a:srgbClr val="0D1B2A"/>
                </a:solidFill>
                <a:latin typeface="Georgia" pitchFamily="34" charset="0"/>
                <a:ea typeface="Georgia" pitchFamily="34" charset="-122"/>
                <a:cs typeface="Georgia" pitchFamily="34" charset="-120"/>
              </a:rPr>
              <a:t>C</a:t>
            </a:r>
            <a:endParaRPr lang="en-US" sz="1600" dirty="0"/>
          </a:p>
        </p:txBody>
      </p:sp>
      <p:sp>
        <p:nvSpPr>
          <p:cNvPr id="13" name="Text 11"/>
          <p:cNvSpPr/>
          <p:nvPr/>
        </p:nvSpPr>
        <p:spPr>
          <a:xfrm>
            <a:off x="5577840" y="1801368"/>
            <a:ext cx="2926080" cy="411480"/>
          </a:xfrm>
          <a:prstGeom prst="rect">
            <a:avLst/>
          </a:prstGeom>
          <a:noFill/>
          <a:ln/>
        </p:spPr>
        <p:txBody>
          <a:bodyPr wrap="square" lIns="0" tIns="0" rIns="0" bIns="0" rtlCol="0" anchor="ctr"/>
          <a:lstStyle/>
          <a:p>
            <a:pPr marL="0" indent="0">
              <a:buNone/>
            </a:pPr>
            <a:r>
              <a:rPr lang="en-US" sz="1600" b="1" dirty="0">
                <a:solidFill>
                  <a:srgbClr val="E8B84B"/>
                </a:solidFill>
                <a:latin typeface="Calibri" pitchFamily="34" charset="0"/>
                <a:ea typeface="Calibri" pitchFamily="34" charset="-122"/>
                <a:cs typeface="Calibri" pitchFamily="34" charset="-120"/>
              </a:rPr>
              <a:t>Consent</a:t>
            </a:r>
            <a:endParaRPr lang="en-US" sz="1600" dirty="0"/>
          </a:p>
        </p:txBody>
      </p:sp>
      <p:sp>
        <p:nvSpPr>
          <p:cNvPr id="14" name="Text 12"/>
          <p:cNvSpPr/>
          <p:nvPr/>
        </p:nvSpPr>
        <p:spPr>
          <a:xfrm>
            <a:off x="5577840" y="2221992"/>
            <a:ext cx="2926080" cy="685800"/>
          </a:xfrm>
          <a:prstGeom prst="rect">
            <a:avLst/>
          </a:prstGeom>
          <a:noFill/>
          <a:ln/>
        </p:spPr>
        <p:txBody>
          <a:bodyPr wrap="square" lIns="0" tIns="0" rIns="0" bIns="0" rtlCol="0" anchor="ctr"/>
          <a:lstStyle/>
          <a:p>
            <a:pPr marL="0" indent="0">
              <a:buNone/>
            </a:pPr>
            <a:r>
              <a:rPr lang="en-US" sz="1250" dirty="0">
                <a:solidFill>
                  <a:srgbClr val="E8EFF7"/>
                </a:solidFill>
                <a:latin typeface="Calibri" pitchFamily="34" charset="0"/>
                <a:ea typeface="Calibri" pitchFamily="34" charset="-122"/>
                <a:cs typeface="Calibri" pitchFamily="34" charset="-120"/>
              </a:rPr>
              <a:t>Establish clear norms about when AI can act for you</a:t>
            </a:r>
            <a:endParaRPr lang="en-US" sz="1250" dirty="0"/>
          </a:p>
        </p:txBody>
      </p:sp>
      <p:sp>
        <p:nvSpPr>
          <p:cNvPr id="15" name="Shape 13"/>
          <p:cNvSpPr/>
          <p:nvPr/>
        </p:nvSpPr>
        <p:spPr>
          <a:xfrm>
            <a:off x="457200" y="3246120"/>
            <a:ext cx="3977640" cy="146304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16" name="Shape 14"/>
          <p:cNvSpPr/>
          <p:nvPr/>
        </p:nvSpPr>
        <p:spPr>
          <a:xfrm>
            <a:off x="621792" y="3520440"/>
            <a:ext cx="594360" cy="594360"/>
          </a:xfrm>
          <a:prstGeom prst="ellipse">
            <a:avLst/>
          </a:prstGeom>
          <a:solidFill>
            <a:srgbClr val="E05A4E"/>
          </a:solidFill>
          <a:ln w="12700">
            <a:solidFill>
              <a:srgbClr val="E05A4E"/>
            </a:solidFill>
            <a:prstDash val="solid"/>
          </a:ln>
        </p:spPr>
        <p:txBody>
          <a:bodyPr/>
          <a:lstStyle/>
          <a:p>
            <a:endParaRPr lang="es-ES"/>
          </a:p>
        </p:txBody>
      </p:sp>
      <p:sp>
        <p:nvSpPr>
          <p:cNvPr id="17" name="Text 15"/>
          <p:cNvSpPr/>
          <p:nvPr/>
        </p:nvSpPr>
        <p:spPr>
          <a:xfrm>
            <a:off x="621792" y="3538728"/>
            <a:ext cx="594360" cy="548640"/>
          </a:xfrm>
          <a:prstGeom prst="rect">
            <a:avLst/>
          </a:prstGeom>
          <a:noFill/>
          <a:ln/>
        </p:spPr>
        <p:txBody>
          <a:bodyPr wrap="square" lIns="0" tIns="0" rIns="0" bIns="0" rtlCol="0" anchor="ctr"/>
          <a:lstStyle/>
          <a:p>
            <a:pPr marL="0" indent="0" algn="ctr">
              <a:buNone/>
            </a:pPr>
            <a:r>
              <a:rPr lang="en-US" sz="1600" b="1" dirty="0">
                <a:solidFill>
                  <a:srgbClr val="0D1B2A"/>
                </a:solidFill>
                <a:latin typeface="Georgia" pitchFamily="34" charset="0"/>
                <a:ea typeface="Georgia" pitchFamily="34" charset="-122"/>
                <a:cs typeface="Georgia" pitchFamily="34" charset="-120"/>
              </a:rPr>
              <a:t>H</a:t>
            </a:r>
            <a:endParaRPr lang="en-US" sz="1600" dirty="0"/>
          </a:p>
        </p:txBody>
      </p:sp>
      <p:sp>
        <p:nvSpPr>
          <p:cNvPr id="18" name="Text 16"/>
          <p:cNvSpPr/>
          <p:nvPr/>
        </p:nvSpPr>
        <p:spPr>
          <a:xfrm>
            <a:off x="1371600" y="3447288"/>
            <a:ext cx="2926080" cy="411480"/>
          </a:xfrm>
          <a:prstGeom prst="rect">
            <a:avLst/>
          </a:prstGeom>
          <a:noFill/>
          <a:ln/>
        </p:spPr>
        <p:txBody>
          <a:bodyPr wrap="square" lIns="0" tIns="0" rIns="0" bIns="0" rtlCol="0" anchor="ctr"/>
          <a:lstStyle/>
          <a:p>
            <a:pPr marL="0" indent="0">
              <a:buNone/>
            </a:pPr>
            <a:r>
              <a:rPr lang="en-US" sz="1600" b="1" dirty="0">
                <a:solidFill>
                  <a:srgbClr val="E05A4E"/>
                </a:solidFill>
                <a:latin typeface="Calibri" pitchFamily="34" charset="0"/>
                <a:ea typeface="Calibri" pitchFamily="34" charset="-122"/>
                <a:cs typeface="Calibri" pitchFamily="34" charset="-120"/>
              </a:rPr>
              <a:t>Human Override</a:t>
            </a:r>
            <a:endParaRPr lang="en-US" sz="1600" dirty="0"/>
          </a:p>
        </p:txBody>
      </p:sp>
      <p:sp>
        <p:nvSpPr>
          <p:cNvPr id="19" name="Text 17"/>
          <p:cNvSpPr/>
          <p:nvPr/>
        </p:nvSpPr>
        <p:spPr>
          <a:xfrm>
            <a:off x="1371600" y="3867912"/>
            <a:ext cx="2926080" cy="685800"/>
          </a:xfrm>
          <a:prstGeom prst="rect">
            <a:avLst/>
          </a:prstGeom>
          <a:noFill/>
          <a:ln/>
        </p:spPr>
        <p:txBody>
          <a:bodyPr wrap="square" lIns="0" tIns="0" rIns="0" bIns="0" rtlCol="0" anchor="ctr"/>
          <a:lstStyle/>
          <a:p>
            <a:pPr marL="0" indent="0">
              <a:buNone/>
            </a:pPr>
            <a:r>
              <a:rPr lang="en-US" sz="1250" dirty="0">
                <a:solidFill>
                  <a:srgbClr val="E8EFF7"/>
                </a:solidFill>
                <a:latin typeface="Calibri" pitchFamily="34" charset="0"/>
                <a:ea typeface="Calibri" pitchFamily="34" charset="-122"/>
                <a:cs typeface="Calibri" pitchFamily="34" charset="-120"/>
              </a:rPr>
              <a:t>Keep humans in the loop for consequential messages</a:t>
            </a:r>
            <a:endParaRPr lang="en-US" sz="1250" dirty="0"/>
          </a:p>
        </p:txBody>
      </p:sp>
      <p:sp>
        <p:nvSpPr>
          <p:cNvPr id="20" name="Shape 18"/>
          <p:cNvSpPr/>
          <p:nvPr/>
        </p:nvSpPr>
        <p:spPr>
          <a:xfrm>
            <a:off x="4663440" y="3246120"/>
            <a:ext cx="3977640" cy="146304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21" name="Shape 19"/>
          <p:cNvSpPr/>
          <p:nvPr/>
        </p:nvSpPr>
        <p:spPr>
          <a:xfrm>
            <a:off x="4828032" y="3520440"/>
            <a:ext cx="594360" cy="594360"/>
          </a:xfrm>
          <a:prstGeom prst="ellipse">
            <a:avLst/>
          </a:prstGeom>
          <a:solidFill>
            <a:srgbClr val="5AB4E5"/>
          </a:solidFill>
          <a:ln w="12700">
            <a:solidFill>
              <a:srgbClr val="5AB4E5"/>
            </a:solidFill>
            <a:prstDash val="solid"/>
          </a:ln>
        </p:spPr>
        <p:txBody>
          <a:bodyPr/>
          <a:lstStyle/>
          <a:p>
            <a:endParaRPr lang="es-ES"/>
          </a:p>
        </p:txBody>
      </p:sp>
      <p:sp>
        <p:nvSpPr>
          <p:cNvPr id="22" name="Text 20"/>
          <p:cNvSpPr/>
          <p:nvPr/>
        </p:nvSpPr>
        <p:spPr>
          <a:xfrm>
            <a:off x="4828032" y="3538728"/>
            <a:ext cx="594360" cy="548640"/>
          </a:xfrm>
          <a:prstGeom prst="rect">
            <a:avLst/>
          </a:prstGeom>
          <a:noFill/>
          <a:ln/>
        </p:spPr>
        <p:txBody>
          <a:bodyPr wrap="square" lIns="0" tIns="0" rIns="0" bIns="0" rtlCol="0" anchor="ctr"/>
          <a:lstStyle/>
          <a:p>
            <a:pPr marL="0" indent="0" algn="ctr">
              <a:buNone/>
            </a:pPr>
            <a:r>
              <a:rPr lang="en-US" sz="1600" b="1" dirty="0">
                <a:solidFill>
                  <a:srgbClr val="0D1B2A"/>
                </a:solidFill>
                <a:latin typeface="Georgia" pitchFamily="34" charset="0"/>
                <a:ea typeface="Georgia" pitchFamily="34" charset="-122"/>
                <a:cs typeface="Georgia" pitchFamily="34" charset="-120"/>
              </a:rPr>
              <a:t>L</a:t>
            </a:r>
            <a:endParaRPr lang="en-US" sz="1600" dirty="0"/>
          </a:p>
        </p:txBody>
      </p:sp>
      <p:sp>
        <p:nvSpPr>
          <p:cNvPr id="23" name="Text 21"/>
          <p:cNvSpPr/>
          <p:nvPr/>
        </p:nvSpPr>
        <p:spPr>
          <a:xfrm>
            <a:off x="5577840" y="3447288"/>
            <a:ext cx="2926080" cy="411480"/>
          </a:xfrm>
          <a:prstGeom prst="rect">
            <a:avLst/>
          </a:prstGeom>
          <a:noFill/>
          <a:ln/>
        </p:spPr>
        <p:txBody>
          <a:bodyPr wrap="square" lIns="0" tIns="0" rIns="0" bIns="0" rtlCol="0" anchor="ctr"/>
          <a:lstStyle/>
          <a:p>
            <a:pPr marL="0" indent="0">
              <a:buNone/>
            </a:pPr>
            <a:r>
              <a:rPr lang="en-US" sz="1600" b="1" dirty="0">
                <a:solidFill>
                  <a:srgbClr val="5AB4E5"/>
                </a:solidFill>
                <a:latin typeface="Calibri" pitchFamily="34" charset="0"/>
                <a:ea typeface="Calibri" pitchFamily="34" charset="-122"/>
                <a:cs typeface="Calibri" pitchFamily="34" charset="-120"/>
              </a:rPr>
              <a:t>Literacy</a:t>
            </a:r>
            <a:endParaRPr lang="en-US" sz="1600" dirty="0"/>
          </a:p>
        </p:txBody>
      </p:sp>
      <p:sp>
        <p:nvSpPr>
          <p:cNvPr id="24" name="Text 22"/>
          <p:cNvSpPr/>
          <p:nvPr/>
        </p:nvSpPr>
        <p:spPr>
          <a:xfrm>
            <a:off x="5577840" y="3867912"/>
            <a:ext cx="2926080" cy="685800"/>
          </a:xfrm>
          <a:prstGeom prst="rect">
            <a:avLst/>
          </a:prstGeom>
          <a:noFill/>
          <a:ln/>
        </p:spPr>
        <p:txBody>
          <a:bodyPr wrap="square" lIns="0" tIns="0" rIns="0" bIns="0" rtlCol="0" anchor="ctr"/>
          <a:lstStyle/>
          <a:p>
            <a:pPr marL="0" indent="0">
              <a:buNone/>
            </a:pPr>
            <a:r>
              <a:rPr lang="en-US" sz="1250" dirty="0">
                <a:solidFill>
                  <a:srgbClr val="E8EFF7"/>
                </a:solidFill>
                <a:latin typeface="Calibri" pitchFamily="34" charset="0"/>
                <a:ea typeface="Calibri" pitchFamily="34" charset="-122"/>
                <a:cs typeface="Calibri" pitchFamily="34" charset="-120"/>
              </a:rPr>
              <a:t>Educate society to recognize and respond to AI comms</a:t>
            </a:r>
            <a:endParaRPr lang="en-US" sz="1250" dirty="0"/>
          </a:p>
        </p:txBody>
      </p:sp>
      <p:sp>
        <p:nvSpPr>
          <p:cNvPr id="25" name="Marcador de número de diapositiva 5">
            <a:extLst>
              <a:ext uri="{FF2B5EF4-FFF2-40B4-BE49-F238E27FC236}">
                <a16:creationId xmlns:a16="http://schemas.microsoft.com/office/drawing/2014/main" id="{6353631A-7A16-BE93-518F-E8EE16B9734E}"/>
              </a:ext>
            </a:extLst>
          </p:cNvPr>
          <p:cNvSpPr>
            <a:spLocks noGrp="1"/>
          </p:cNvSpPr>
          <p:nvPr>
            <p:ph type="sldNum" sz="quarter" idx="4"/>
          </p:nvPr>
        </p:nvSpPr>
        <p:spPr>
          <a:xfrm>
            <a:off x="8201890" y="4868863"/>
            <a:ext cx="942109" cy="274637"/>
          </a:xfrm>
          <a:prstGeom prst="rect">
            <a:avLst/>
          </a:prstGeom>
        </p:spPr>
        <p:txBody>
          <a:bodyPr vert="horz" lIns="91440" tIns="45720" rIns="91440" bIns="45720" rtlCol="0" anchor="ctr"/>
          <a:lstStyle>
            <a:lvl1pPr algn="r">
              <a:defRPr sz="1200">
                <a:solidFill>
                  <a:schemeClr val="tx1">
                    <a:tint val="82000"/>
                  </a:schemeClr>
                </a:solidFill>
              </a:defRPr>
            </a:lvl1pPr>
          </a:lstStyle>
          <a:p>
            <a:r>
              <a:rPr lang="en-US" b="1" dirty="0">
                <a:solidFill>
                  <a:srgbClr val="FFFFFF"/>
                </a:solidFill>
                <a:latin typeface="Georgia" pitchFamily="34" charset="0"/>
                <a:ea typeface="Georgia" pitchFamily="34" charset="-122"/>
                <a:cs typeface="Georgia" pitchFamily="34" charset="-120"/>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92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B84B"/>
          </a:solidFill>
          <a:ln w="12700">
            <a:solidFill>
              <a:srgbClr val="E8B84B"/>
            </a:solidFill>
            <a:prstDash val="solid"/>
          </a:ln>
        </p:spPr>
        <p:txBody>
          <a:bodyPr/>
          <a:lstStyle/>
          <a:p>
            <a:endParaRPr lang="es-ES"/>
          </a:p>
        </p:txBody>
      </p:sp>
      <p:sp>
        <p:nvSpPr>
          <p:cNvPr id="3" name="Text 1"/>
          <p:cNvSpPr/>
          <p:nvPr/>
        </p:nvSpPr>
        <p:spPr>
          <a:xfrm>
            <a:off x="457200" y="365760"/>
            <a:ext cx="8229600" cy="2011680"/>
          </a:xfrm>
          <a:prstGeom prst="rect">
            <a:avLst/>
          </a:prstGeom>
          <a:noFill/>
          <a:ln/>
        </p:spPr>
        <p:txBody>
          <a:bodyPr wrap="square" lIns="0" tIns="0" rIns="0" bIns="0" rtlCol="0" anchor="ctr"/>
          <a:lstStyle/>
          <a:p>
            <a:pPr marL="0" indent="0" algn="ctr">
              <a:buNone/>
            </a:pPr>
            <a:r>
              <a:rPr lang="en-US" sz="3400" dirty="0">
                <a:solidFill>
                  <a:srgbClr val="FFFFFF"/>
                </a:solidFill>
                <a:latin typeface="Georgia" pitchFamily="34" charset="0"/>
                <a:ea typeface="Georgia" pitchFamily="34" charset="-122"/>
                <a:cs typeface="Georgia" pitchFamily="34" charset="-120"/>
              </a:rPr>
              <a:t>The question was never</a:t>
            </a:r>
            <a:endParaRPr lang="en-US" sz="3400" dirty="0"/>
          </a:p>
          <a:p>
            <a:pPr marL="0" indent="0" algn="ctr">
              <a:buNone/>
            </a:pPr>
            <a:r>
              <a:rPr lang="en-US" sz="3400" dirty="0">
                <a:solidFill>
                  <a:srgbClr val="FFFFFF"/>
                </a:solidFill>
                <a:latin typeface="Georgia" pitchFamily="34" charset="0"/>
                <a:ea typeface="Georgia" pitchFamily="34" charset="-122"/>
                <a:cs typeface="Georgia" pitchFamily="34" charset="-120"/>
              </a:rPr>
              <a:t>whether AI can speak for us.</a:t>
            </a:r>
            <a:endParaRPr lang="en-US" sz="3400" dirty="0"/>
          </a:p>
        </p:txBody>
      </p:sp>
      <p:sp>
        <p:nvSpPr>
          <p:cNvPr id="4" name="Shape 2"/>
          <p:cNvSpPr/>
          <p:nvPr/>
        </p:nvSpPr>
        <p:spPr>
          <a:xfrm>
            <a:off x="3200400" y="2331720"/>
            <a:ext cx="2743200" cy="45720"/>
          </a:xfrm>
          <a:prstGeom prst="rect">
            <a:avLst/>
          </a:prstGeom>
          <a:solidFill>
            <a:srgbClr val="E8B84B"/>
          </a:solidFill>
          <a:ln w="12700">
            <a:solidFill>
              <a:srgbClr val="E8B84B"/>
            </a:solidFill>
            <a:prstDash val="solid"/>
          </a:ln>
        </p:spPr>
        <p:txBody>
          <a:bodyPr/>
          <a:lstStyle/>
          <a:p>
            <a:endParaRPr lang="es-ES"/>
          </a:p>
        </p:txBody>
      </p:sp>
      <p:sp>
        <p:nvSpPr>
          <p:cNvPr id="5" name="Text 3"/>
          <p:cNvSpPr/>
          <p:nvPr/>
        </p:nvSpPr>
        <p:spPr>
          <a:xfrm>
            <a:off x="794084" y="2502568"/>
            <a:ext cx="7555832" cy="914400"/>
          </a:xfrm>
          <a:prstGeom prst="rect">
            <a:avLst/>
          </a:prstGeom>
          <a:noFill/>
          <a:ln/>
        </p:spPr>
        <p:txBody>
          <a:bodyPr wrap="square" lIns="0" tIns="0" rIns="0" bIns="0" rtlCol="0" anchor="ctr"/>
          <a:lstStyle/>
          <a:p>
            <a:pPr marL="0" indent="0" algn="ctr">
              <a:buNone/>
            </a:pPr>
            <a:r>
              <a:rPr lang="en-US" sz="3400" b="1" dirty="0">
                <a:solidFill>
                  <a:srgbClr val="E8B84B"/>
                </a:solidFill>
                <a:latin typeface="Georgia" pitchFamily="34" charset="0"/>
                <a:ea typeface="Georgia" pitchFamily="34" charset="-122"/>
                <a:cs typeface="Georgia" pitchFamily="34" charset="-120"/>
              </a:rPr>
              <a:t>It was always whether we should let it.</a:t>
            </a:r>
            <a:endParaRPr lang="en-US" sz="3400" dirty="0"/>
          </a:p>
        </p:txBody>
      </p:sp>
      <p:sp>
        <p:nvSpPr>
          <p:cNvPr id="6" name="Shape 4"/>
          <p:cNvSpPr/>
          <p:nvPr/>
        </p:nvSpPr>
        <p:spPr>
          <a:xfrm>
            <a:off x="365760" y="3657600"/>
            <a:ext cx="2651760" cy="109728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7" name="Text 5"/>
          <p:cNvSpPr/>
          <p:nvPr/>
        </p:nvSpPr>
        <p:spPr>
          <a:xfrm>
            <a:off x="502920" y="3749040"/>
            <a:ext cx="2377440" cy="914400"/>
          </a:xfrm>
          <a:prstGeom prst="rect">
            <a:avLst/>
          </a:prstGeom>
          <a:noFill/>
          <a:ln/>
        </p:spPr>
        <p:txBody>
          <a:bodyPr wrap="square" lIns="0" tIns="0" rIns="0" bIns="0" rtlCol="0" anchor="ctr"/>
          <a:lstStyle/>
          <a:p>
            <a:pPr marL="0" indent="0" algn="ctr">
              <a:buNone/>
            </a:pPr>
            <a:r>
              <a:rPr lang="en-US" sz="1600" i="1" dirty="0">
                <a:solidFill>
                  <a:srgbClr val="E8EFF7"/>
                </a:solidFill>
                <a:latin typeface="Calibri" pitchFamily="34" charset="0"/>
                <a:ea typeface="Calibri" pitchFamily="34" charset="-122"/>
                <a:cs typeface="Calibri" pitchFamily="34" charset="-120"/>
              </a:rPr>
              <a:t>What messages are only meaningful if you write them yourself?</a:t>
            </a:r>
            <a:endParaRPr lang="en-US" sz="1600" dirty="0"/>
          </a:p>
        </p:txBody>
      </p:sp>
      <p:sp>
        <p:nvSpPr>
          <p:cNvPr id="8" name="Shape 6"/>
          <p:cNvSpPr/>
          <p:nvPr/>
        </p:nvSpPr>
        <p:spPr>
          <a:xfrm>
            <a:off x="3200400" y="3657600"/>
            <a:ext cx="2651760" cy="109728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9" name="Text 7"/>
          <p:cNvSpPr/>
          <p:nvPr/>
        </p:nvSpPr>
        <p:spPr>
          <a:xfrm>
            <a:off x="3337560" y="3749040"/>
            <a:ext cx="2377440" cy="914400"/>
          </a:xfrm>
          <a:prstGeom prst="rect">
            <a:avLst/>
          </a:prstGeom>
          <a:noFill/>
          <a:ln/>
        </p:spPr>
        <p:txBody>
          <a:bodyPr wrap="square" lIns="0" tIns="0" rIns="0" bIns="0" rtlCol="0" anchor="ctr"/>
          <a:lstStyle/>
          <a:p>
            <a:pPr marL="0" indent="0" algn="ctr">
              <a:buNone/>
            </a:pPr>
            <a:r>
              <a:rPr lang="en-US" sz="1600" i="1" dirty="0">
                <a:solidFill>
                  <a:srgbClr val="E8EFF7"/>
                </a:solidFill>
                <a:latin typeface="Calibri" pitchFamily="34" charset="0"/>
                <a:ea typeface="Calibri" pitchFamily="34" charset="-122"/>
                <a:cs typeface="Calibri" pitchFamily="34" charset="-120"/>
              </a:rPr>
              <a:t>Who deserves to know when AI speaks in your name?</a:t>
            </a:r>
            <a:endParaRPr lang="en-US" sz="1600" dirty="0"/>
          </a:p>
        </p:txBody>
      </p:sp>
      <p:sp>
        <p:nvSpPr>
          <p:cNvPr id="10" name="Shape 8"/>
          <p:cNvSpPr/>
          <p:nvPr/>
        </p:nvSpPr>
        <p:spPr>
          <a:xfrm>
            <a:off x="6035040" y="3657600"/>
            <a:ext cx="2651760" cy="109728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11" name="Text 9"/>
          <p:cNvSpPr/>
          <p:nvPr/>
        </p:nvSpPr>
        <p:spPr>
          <a:xfrm>
            <a:off x="6172200" y="3749040"/>
            <a:ext cx="2377440" cy="914400"/>
          </a:xfrm>
          <a:prstGeom prst="rect">
            <a:avLst/>
          </a:prstGeom>
          <a:noFill/>
          <a:ln/>
        </p:spPr>
        <p:txBody>
          <a:bodyPr wrap="square" lIns="0" tIns="0" rIns="0" bIns="0" rtlCol="0" anchor="ctr"/>
          <a:lstStyle/>
          <a:p>
            <a:pPr marL="0" indent="0" algn="ctr">
              <a:buNone/>
            </a:pPr>
            <a:r>
              <a:rPr lang="en-US" sz="1600" i="1" dirty="0">
                <a:solidFill>
                  <a:srgbClr val="E8EFF7"/>
                </a:solidFill>
                <a:latin typeface="Calibri" pitchFamily="34" charset="0"/>
                <a:ea typeface="Calibri" pitchFamily="34" charset="-122"/>
                <a:cs typeface="Calibri" pitchFamily="34" charset="-120"/>
              </a:rPr>
              <a:t>What kind of communicator do you want AI to help you become?</a:t>
            </a:r>
            <a:endParaRPr lang="en-US" sz="1600" dirty="0"/>
          </a:p>
        </p:txBody>
      </p:sp>
      <p:sp>
        <p:nvSpPr>
          <p:cNvPr id="12" name="Marcador de número de diapositiva 5">
            <a:extLst>
              <a:ext uri="{FF2B5EF4-FFF2-40B4-BE49-F238E27FC236}">
                <a16:creationId xmlns:a16="http://schemas.microsoft.com/office/drawing/2014/main" id="{99650D1F-183E-ED1D-4FFF-CF953900C980}"/>
              </a:ext>
            </a:extLst>
          </p:cNvPr>
          <p:cNvSpPr>
            <a:spLocks noGrp="1"/>
          </p:cNvSpPr>
          <p:nvPr>
            <p:ph type="sldNum" sz="quarter" idx="4"/>
          </p:nvPr>
        </p:nvSpPr>
        <p:spPr>
          <a:xfrm>
            <a:off x="8201890" y="4868863"/>
            <a:ext cx="942109" cy="274637"/>
          </a:xfrm>
          <a:prstGeom prst="rect">
            <a:avLst/>
          </a:prstGeom>
        </p:spPr>
        <p:txBody>
          <a:bodyPr vert="horz" lIns="91440" tIns="45720" rIns="91440" bIns="45720" rtlCol="0" anchor="ctr"/>
          <a:lstStyle>
            <a:lvl1pPr algn="r">
              <a:defRPr sz="1200">
                <a:solidFill>
                  <a:schemeClr val="tx1">
                    <a:tint val="82000"/>
                  </a:schemeClr>
                </a:solidFill>
              </a:defRPr>
            </a:lvl1pPr>
          </a:lstStyle>
          <a:p>
            <a:r>
              <a:rPr lang="en-US" b="1" dirty="0">
                <a:solidFill>
                  <a:srgbClr val="FFFFFF"/>
                </a:solidFill>
                <a:latin typeface="Georgia" pitchFamily="34" charset="0"/>
                <a:ea typeface="Georgia" pitchFamily="34" charset="-122"/>
                <a:cs typeface="Georgia" pitchFamily="34" charset="-120"/>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929"/>
        </a:solidFill>
        <a:effectLst/>
      </p:bgPr>
    </p:bg>
    <p:spTree>
      <p:nvGrpSpPr>
        <p:cNvPr id="1" name="">
          <a:extLst>
            <a:ext uri="{FF2B5EF4-FFF2-40B4-BE49-F238E27FC236}">
              <a16:creationId xmlns:a16="http://schemas.microsoft.com/office/drawing/2014/main" id="{3DC63424-E42B-2F01-55F1-CB8CC0FE51A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8F600C7-6970-901A-B647-DCEF1B79B2B5}"/>
              </a:ext>
            </a:extLst>
          </p:cNvPr>
          <p:cNvSpPr/>
          <p:nvPr/>
        </p:nvSpPr>
        <p:spPr>
          <a:xfrm>
            <a:off x="0" y="0"/>
            <a:ext cx="9144000" cy="54864"/>
          </a:xfrm>
          <a:prstGeom prst="rect">
            <a:avLst/>
          </a:prstGeom>
          <a:solidFill>
            <a:srgbClr val="E8B84B"/>
          </a:solidFill>
          <a:ln w="12700">
            <a:solidFill>
              <a:srgbClr val="E8B84B"/>
            </a:solidFill>
            <a:prstDash val="solid"/>
          </a:ln>
        </p:spPr>
        <p:txBody>
          <a:bodyPr/>
          <a:lstStyle/>
          <a:p>
            <a:endParaRPr lang="es-ES"/>
          </a:p>
        </p:txBody>
      </p:sp>
      <p:sp>
        <p:nvSpPr>
          <p:cNvPr id="14" name="Shape 3">
            <a:extLst>
              <a:ext uri="{FF2B5EF4-FFF2-40B4-BE49-F238E27FC236}">
                <a16:creationId xmlns:a16="http://schemas.microsoft.com/office/drawing/2014/main" id="{78727890-3EF4-6EF2-9B9B-D975A7D200DB}"/>
              </a:ext>
            </a:extLst>
          </p:cNvPr>
          <p:cNvSpPr/>
          <p:nvPr/>
        </p:nvSpPr>
        <p:spPr>
          <a:xfrm>
            <a:off x="195072" y="1133856"/>
            <a:ext cx="8753856" cy="3884676"/>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15" name="Text 7">
            <a:extLst>
              <a:ext uri="{FF2B5EF4-FFF2-40B4-BE49-F238E27FC236}">
                <a16:creationId xmlns:a16="http://schemas.microsoft.com/office/drawing/2014/main" id="{5E2ACA70-2F3D-A7F0-2EBA-A516E6A2FA8C}"/>
              </a:ext>
            </a:extLst>
          </p:cNvPr>
          <p:cNvSpPr/>
          <p:nvPr/>
        </p:nvSpPr>
        <p:spPr>
          <a:xfrm>
            <a:off x="538089" y="1170432"/>
            <a:ext cx="8067822" cy="3961462"/>
          </a:xfrm>
          <a:prstGeom prst="rect">
            <a:avLst/>
          </a:prstGeom>
          <a:noFill/>
          <a:ln/>
        </p:spPr>
        <p:txBody>
          <a:bodyPr wrap="square" lIns="0" tIns="0" rIns="0" bIns="0" rtlCol="0" anchor="ctr"/>
          <a:lstStyle/>
          <a:p>
            <a:r>
              <a:rPr lang="en-US" sz="1250" b="1" dirty="0">
                <a:solidFill>
                  <a:srgbClr val="E8EFF7"/>
                </a:solidFill>
                <a:latin typeface="Calibri" pitchFamily="34" charset="0"/>
                <a:ea typeface="Calibri" pitchFamily="34" charset="-122"/>
                <a:cs typeface="Calibri" pitchFamily="34" charset="-120"/>
              </a:rPr>
              <a:t>AI Agents &amp; Automation</a:t>
            </a:r>
          </a:p>
          <a:p>
            <a:pPr marL="285750" indent="-285750">
              <a:buFont typeface="Arial" panose="020B0604020202020204" pitchFamily="34" charset="0"/>
              <a:buChar char="•"/>
            </a:pPr>
            <a:r>
              <a:rPr lang="en-US" sz="1250" dirty="0">
                <a:solidFill>
                  <a:srgbClr val="E8EFF7"/>
                </a:solidFill>
                <a:latin typeface="Calibri" pitchFamily="34" charset="0"/>
                <a:ea typeface="Calibri" pitchFamily="34" charset="-122"/>
                <a:cs typeface="Calibri" pitchFamily="34" charset="-120"/>
              </a:rPr>
              <a:t>Russell, S., &amp; Norvig, P. (2020). </a:t>
            </a:r>
            <a:r>
              <a:rPr lang="en-US" sz="1250" i="1" dirty="0">
                <a:solidFill>
                  <a:srgbClr val="E8EFF7"/>
                </a:solidFill>
                <a:latin typeface="Calibri" pitchFamily="34" charset="0"/>
                <a:ea typeface="Calibri" pitchFamily="34" charset="-122"/>
                <a:cs typeface="Calibri" pitchFamily="34" charset="-120"/>
              </a:rPr>
              <a:t>Artificial Intelligence: A Modern Approach</a:t>
            </a:r>
            <a:r>
              <a:rPr lang="en-US" sz="1250" dirty="0">
                <a:solidFill>
                  <a:srgbClr val="E8EFF7"/>
                </a:solidFill>
                <a:latin typeface="Calibri" pitchFamily="34" charset="0"/>
                <a:ea typeface="Calibri" pitchFamily="34" charset="-122"/>
                <a:cs typeface="Calibri" pitchFamily="34" charset="-120"/>
              </a:rPr>
              <a:t> (4th ed.). Pearson.</a:t>
            </a:r>
          </a:p>
          <a:p>
            <a:pPr marL="285750" indent="-285750">
              <a:buFont typeface="Arial" panose="020B0604020202020204" pitchFamily="34" charset="0"/>
              <a:buChar char="•"/>
            </a:pPr>
            <a:r>
              <a:rPr lang="en-US" sz="1250" dirty="0">
                <a:solidFill>
                  <a:srgbClr val="E8EFF7"/>
                </a:solidFill>
                <a:latin typeface="Calibri" pitchFamily="34" charset="0"/>
                <a:ea typeface="Calibri" pitchFamily="34" charset="-122"/>
                <a:cs typeface="Calibri" pitchFamily="34" charset="-120"/>
              </a:rPr>
              <a:t>Wooldridge, M. (2009). </a:t>
            </a:r>
            <a:r>
              <a:rPr lang="en-US" sz="1250" i="1" dirty="0">
                <a:solidFill>
                  <a:srgbClr val="E8EFF7"/>
                </a:solidFill>
                <a:latin typeface="Calibri" pitchFamily="34" charset="0"/>
                <a:ea typeface="Calibri" pitchFamily="34" charset="-122"/>
                <a:cs typeface="Calibri" pitchFamily="34" charset="-120"/>
              </a:rPr>
              <a:t>An Introduction to </a:t>
            </a:r>
            <a:r>
              <a:rPr lang="en-US" sz="1250" i="1" dirty="0" err="1">
                <a:solidFill>
                  <a:srgbClr val="E8EFF7"/>
                </a:solidFill>
                <a:latin typeface="Calibri" pitchFamily="34" charset="0"/>
                <a:ea typeface="Calibri" pitchFamily="34" charset="-122"/>
                <a:cs typeface="Calibri" pitchFamily="34" charset="-120"/>
              </a:rPr>
              <a:t>MultiAgent</a:t>
            </a:r>
            <a:r>
              <a:rPr lang="en-US" sz="1250" i="1" dirty="0">
                <a:solidFill>
                  <a:srgbClr val="E8EFF7"/>
                </a:solidFill>
                <a:latin typeface="Calibri" pitchFamily="34" charset="0"/>
                <a:ea typeface="Calibri" pitchFamily="34" charset="-122"/>
                <a:cs typeface="Calibri" pitchFamily="34" charset="-120"/>
              </a:rPr>
              <a:t> Systems </a:t>
            </a:r>
            <a:r>
              <a:rPr lang="en-US" sz="1250" dirty="0">
                <a:solidFill>
                  <a:srgbClr val="E8EFF7"/>
                </a:solidFill>
                <a:latin typeface="Calibri" pitchFamily="34" charset="0"/>
                <a:ea typeface="Calibri" pitchFamily="34" charset="-122"/>
                <a:cs typeface="Calibri" pitchFamily="34" charset="-120"/>
              </a:rPr>
              <a:t>(2nd ed.). Wiley.</a:t>
            </a:r>
          </a:p>
          <a:p>
            <a:pPr marL="285750" indent="-285750">
              <a:buFont typeface="Arial" panose="020B0604020202020204" pitchFamily="34" charset="0"/>
              <a:buChar char="•"/>
            </a:pPr>
            <a:r>
              <a:rPr lang="en-US" sz="1250" dirty="0">
                <a:solidFill>
                  <a:srgbClr val="E8EFF7"/>
                </a:solidFill>
                <a:latin typeface="Calibri" pitchFamily="34" charset="0"/>
                <a:ea typeface="Calibri" pitchFamily="34" charset="-122"/>
                <a:cs typeface="Calibri" pitchFamily="34" charset="-120"/>
              </a:rPr>
              <a:t>Bryson, J. J., &amp; Winfield, A. F. T. (2017</a:t>
            </a:r>
            <a:r>
              <a:rPr lang="en-US" sz="1250" i="1" dirty="0">
                <a:solidFill>
                  <a:srgbClr val="E8EFF7"/>
                </a:solidFill>
                <a:latin typeface="Calibri" pitchFamily="34" charset="0"/>
                <a:ea typeface="Calibri" pitchFamily="34" charset="-122"/>
                <a:cs typeface="Calibri" pitchFamily="34" charset="-120"/>
              </a:rPr>
              <a:t>). Standardizing ethical design for artificial intelligence and autonomous systems.</a:t>
            </a:r>
            <a:r>
              <a:rPr lang="en-US" sz="1250" dirty="0">
                <a:solidFill>
                  <a:srgbClr val="E8EFF7"/>
                </a:solidFill>
                <a:latin typeface="Calibri" pitchFamily="34" charset="0"/>
                <a:ea typeface="Calibri" pitchFamily="34" charset="-122"/>
                <a:cs typeface="Calibri" pitchFamily="34" charset="-120"/>
              </a:rPr>
              <a:t> Computer, 50(5), 116–119.</a:t>
            </a:r>
          </a:p>
          <a:p>
            <a:endParaRPr lang="en-US" sz="1250" dirty="0">
              <a:solidFill>
                <a:srgbClr val="E8EFF7"/>
              </a:solidFill>
              <a:latin typeface="Calibri" pitchFamily="34" charset="0"/>
              <a:ea typeface="Calibri" pitchFamily="34" charset="-122"/>
              <a:cs typeface="Calibri" pitchFamily="34" charset="-120"/>
            </a:endParaRPr>
          </a:p>
          <a:p>
            <a:r>
              <a:rPr lang="en-US" sz="1250" b="1" dirty="0">
                <a:solidFill>
                  <a:srgbClr val="E8EFF7"/>
                </a:solidFill>
                <a:latin typeface="Calibri" pitchFamily="34" charset="0"/>
                <a:ea typeface="Calibri" pitchFamily="34" charset="-122"/>
                <a:cs typeface="Calibri" pitchFamily="34" charset="-120"/>
              </a:rPr>
              <a:t>AI in Communication &amp; Social Dynamics</a:t>
            </a:r>
          </a:p>
          <a:p>
            <a:pPr marL="285750" indent="-285750">
              <a:buFont typeface="Arial" panose="020B0604020202020204" pitchFamily="34" charset="0"/>
              <a:buChar char="•"/>
            </a:pPr>
            <a:r>
              <a:rPr lang="en-US" sz="1250" dirty="0">
                <a:solidFill>
                  <a:srgbClr val="E8EFF7"/>
                </a:solidFill>
                <a:latin typeface="Calibri" pitchFamily="34" charset="0"/>
                <a:ea typeface="Calibri" pitchFamily="34" charset="-122"/>
                <a:cs typeface="Calibri" pitchFamily="34" charset="-120"/>
              </a:rPr>
              <a:t>Hancock, J. T., Naaman, M., &amp; Levy, K. (2020). </a:t>
            </a:r>
            <a:r>
              <a:rPr lang="en-US" sz="1250" i="1" dirty="0">
                <a:solidFill>
                  <a:srgbClr val="E8EFF7"/>
                </a:solidFill>
                <a:latin typeface="Calibri" pitchFamily="34" charset="0"/>
                <a:ea typeface="Calibri" pitchFamily="34" charset="-122"/>
                <a:cs typeface="Calibri" pitchFamily="34" charset="-120"/>
              </a:rPr>
              <a:t>AI-mediated communication: Definition, research agenda, and ethical considerations.</a:t>
            </a:r>
            <a:r>
              <a:rPr lang="en-US" sz="1250" dirty="0">
                <a:solidFill>
                  <a:srgbClr val="E8EFF7"/>
                </a:solidFill>
                <a:latin typeface="Calibri" pitchFamily="34" charset="0"/>
                <a:ea typeface="Calibri" pitchFamily="34" charset="-122"/>
                <a:cs typeface="Calibri" pitchFamily="34" charset="-120"/>
              </a:rPr>
              <a:t> Journal of Computer-Mediated Communication, 25(1), 89–100.</a:t>
            </a:r>
          </a:p>
          <a:p>
            <a:pPr marL="285750" indent="-285750">
              <a:buFont typeface="Arial" panose="020B0604020202020204" pitchFamily="34" charset="0"/>
              <a:buChar char="•"/>
            </a:pPr>
            <a:r>
              <a:rPr lang="en-US" sz="1250" dirty="0">
                <a:solidFill>
                  <a:srgbClr val="E8EFF7"/>
                </a:solidFill>
                <a:latin typeface="Calibri" pitchFamily="34" charset="0"/>
                <a:ea typeface="Calibri" pitchFamily="34" charset="-122"/>
                <a:cs typeface="Calibri" pitchFamily="34" charset="-120"/>
              </a:rPr>
              <a:t>Sundar, S. S., &amp; Liao, Q. V. (2023). </a:t>
            </a:r>
            <a:r>
              <a:rPr lang="en-US" sz="1250" i="1" dirty="0">
                <a:solidFill>
                  <a:srgbClr val="E8EFF7"/>
                </a:solidFill>
                <a:latin typeface="Calibri" pitchFamily="34" charset="0"/>
                <a:ea typeface="Calibri" pitchFamily="34" charset="-122"/>
                <a:cs typeface="Calibri" pitchFamily="34" charset="-120"/>
              </a:rPr>
              <a:t>Communicating with AI: Challenges and opportunities. </a:t>
            </a:r>
            <a:r>
              <a:rPr lang="en-US" sz="1250" dirty="0">
                <a:solidFill>
                  <a:srgbClr val="E8EFF7"/>
                </a:solidFill>
                <a:latin typeface="Calibri" pitchFamily="34" charset="0"/>
                <a:ea typeface="Calibri" pitchFamily="34" charset="-122"/>
                <a:cs typeface="Calibri" pitchFamily="34" charset="-120"/>
              </a:rPr>
              <a:t>Human Communication Research, 49(2), 211–230.</a:t>
            </a:r>
          </a:p>
          <a:p>
            <a:pPr marL="285750" indent="-285750">
              <a:buFont typeface="Arial" panose="020B0604020202020204" pitchFamily="34" charset="0"/>
              <a:buChar char="•"/>
            </a:pPr>
            <a:r>
              <a:rPr lang="en-US" sz="1250" dirty="0">
                <a:solidFill>
                  <a:srgbClr val="E8EFF7"/>
                </a:solidFill>
                <a:latin typeface="Calibri" pitchFamily="34" charset="0"/>
                <a:ea typeface="Calibri" pitchFamily="34" charset="-122"/>
                <a:cs typeface="Calibri" pitchFamily="34" charset="-120"/>
              </a:rPr>
              <a:t>Zuboff, S. (2019). </a:t>
            </a:r>
            <a:r>
              <a:rPr lang="en-US" sz="1250" i="1" dirty="0">
                <a:solidFill>
                  <a:srgbClr val="E8EFF7"/>
                </a:solidFill>
                <a:latin typeface="Calibri" pitchFamily="34" charset="0"/>
                <a:ea typeface="Calibri" pitchFamily="34" charset="-122"/>
                <a:cs typeface="Calibri" pitchFamily="34" charset="-120"/>
              </a:rPr>
              <a:t>The Age of Surveillance Capitalism. </a:t>
            </a:r>
            <a:r>
              <a:rPr lang="en-US" sz="1250" dirty="0">
                <a:solidFill>
                  <a:srgbClr val="E8EFF7"/>
                </a:solidFill>
                <a:latin typeface="Calibri" pitchFamily="34" charset="0"/>
                <a:ea typeface="Calibri" pitchFamily="34" charset="-122"/>
                <a:cs typeface="Calibri" pitchFamily="34" charset="-120"/>
              </a:rPr>
              <a:t>PublicAffairs.</a:t>
            </a:r>
          </a:p>
          <a:p>
            <a:endParaRPr lang="en-US" sz="1250" dirty="0">
              <a:solidFill>
                <a:srgbClr val="E8EFF7"/>
              </a:solidFill>
              <a:latin typeface="Calibri" pitchFamily="34" charset="0"/>
              <a:ea typeface="Calibri" pitchFamily="34" charset="-122"/>
              <a:cs typeface="Calibri" pitchFamily="34" charset="-120"/>
            </a:endParaRPr>
          </a:p>
          <a:p>
            <a:r>
              <a:rPr lang="en-US" sz="1250" b="1" dirty="0">
                <a:solidFill>
                  <a:srgbClr val="E8EFF7"/>
                </a:solidFill>
                <a:latin typeface="Calibri" pitchFamily="34" charset="0"/>
                <a:ea typeface="Calibri" pitchFamily="34" charset="-122"/>
                <a:cs typeface="Calibri" pitchFamily="34" charset="-120"/>
              </a:rPr>
              <a:t>Real-World Applications Referenced</a:t>
            </a:r>
          </a:p>
          <a:p>
            <a:pPr marL="285750" indent="-285750">
              <a:buFont typeface="Arial" panose="020B0604020202020204" pitchFamily="34" charset="0"/>
              <a:buChar char="•"/>
            </a:pPr>
            <a:r>
              <a:rPr lang="en-US" sz="1250" dirty="0">
                <a:solidFill>
                  <a:srgbClr val="E8EFF7"/>
                </a:solidFill>
                <a:latin typeface="Calibri" pitchFamily="34" charset="0"/>
                <a:ea typeface="Calibri" pitchFamily="34" charset="-122"/>
                <a:cs typeface="Calibri" pitchFamily="34" charset="-120"/>
              </a:rPr>
              <a:t>Amazon Alexa &amp; AI Customer Service: Amazon.com, Inc. (2023). </a:t>
            </a:r>
            <a:r>
              <a:rPr lang="en-US" sz="1250" i="1" dirty="0">
                <a:solidFill>
                  <a:srgbClr val="E8EFF7"/>
                </a:solidFill>
                <a:latin typeface="Calibri" pitchFamily="34" charset="0"/>
                <a:ea typeface="Calibri" pitchFamily="34" charset="-122"/>
                <a:cs typeface="Calibri" pitchFamily="34" charset="-120"/>
              </a:rPr>
              <a:t>Alexa AI assistant documentation.</a:t>
            </a:r>
            <a:r>
              <a:rPr lang="en-US" sz="1250" dirty="0">
                <a:solidFill>
                  <a:srgbClr val="E8EFF7"/>
                </a:solidFill>
                <a:latin typeface="Calibri" pitchFamily="34" charset="0"/>
                <a:ea typeface="Calibri" pitchFamily="34" charset="-122"/>
                <a:cs typeface="Calibri" pitchFamily="34" charset="-120"/>
              </a:rPr>
              <a:t> https://developer.amazon.com/en-US/alexa</a:t>
            </a:r>
          </a:p>
          <a:p>
            <a:pPr marL="285750" indent="-285750">
              <a:buFont typeface="Arial" panose="020B0604020202020204" pitchFamily="34" charset="0"/>
              <a:buChar char="•"/>
            </a:pPr>
            <a:r>
              <a:rPr lang="en-US" sz="1250" dirty="0">
                <a:solidFill>
                  <a:srgbClr val="E8EFF7"/>
                </a:solidFill>
                <a:latin typeface="Calibri" pitchFamily="34" charset="0"/>
                <a:ea typeface="Calibri" pitchFamily="34" charset="-122"/>
                <a:cs typeface="Calibri" pitchFamily="34" charset="-120"/>
              </a:rPr>
              <a:t>Sephora Virtual Artist: Sephora. (2023). </a:t>
            </a:r>
            <a:r>
              <a:rPr lang="en-US" sz="1250" i="1" dirty="0">
                <a:solidFill>
                  <a:srgbClr val="E8EFF7"/>
                </a:solidFill>
                <a:latin typeface="Calibri" pitchFamily="34" charset="0"/>
                <a:ea typeface="Calibri" pitchFamily="34" charset="-122"/>
                <a:cs typeface="Calibri" pitchFamily="34" charset="-120"/>
              </a:rPr>
              <a:t>AI-powered beauty tools. </a:t>
            </a:r>
            <a:r>
              <a:rPr lang="en-US" sz="1250" dirty="0">
                <a:solidFill>
                  <a:srgbClr val="E8EFF7"/>
                </a:solidFill>
                <a:latin typeface="Calibri" pitchFamily="34" charset="0"/>
                <a:ea typeface="Calibri" pitchFamily="34" charset="-122"/>
                <a:cs typeface="Calibri" pitchFamily="34" charset="-120"/>
              </a:rPr>
              <a:t>https://www.sephora.com/beauty/virtual-artist</a:t>
            </a:r>
          </a:p>
          <a:p>
            <a:pPr marL="285750" indent="-285750">
              <a:buFont typeface="Arial" panose="020B0604020202020204" pitchFamily="34" charset="0"/>
              <a:buChar char="•"/>
            </a:pPr>
            <a:r>
              <a:rPr lang="en-US" sz="1250" dirty="0">
                <a:solidFill>
                  <a:srgbClr val="E8EFF7"/>
                </a:solidFill>
                <a:latin typeface="Calibri" pitchFamily="34" charset="0"/>
                <a:ea typeface="Calibri" pitchFamily="34" charset="-122"/>
                <a:cs typeface="Calibri" pitchFamily="34" charset="-120"/>
              </a:rPr>
              <a:t>Microsoft Copilot: Microsoft. (2024). </a:t>
            </a:r>
            <a:r>
              <a:rPr lang="en-US" sz="1250" i="1" dirty="0">
                <a:solidFill>
                  <a:srgbClr val="E8EFF7"/>
                </a:solidFill>
                <a:latin typeface="Calibri" pitchFamily="34" charset="0"/>
                <a:ea typeface="Calibri" pitchFamily="34" charset="-122"/>
                <a:cs typeface="Calibri" pitchFamily="34" charset="-120"/>
              </a:rPr>
              <a:t>Microsoft 365 Copilot. </a:t>
            </a:r>
            <a:r>
              <a:rPr lang="en-US" sz="1250" dirty="0">
                <a:solidFill>
                  <a:srgbClr val="E8EFF7"/>
                </a:solidFill>
                <a:latin typeface="Calibri" pitchFamily="34" charset="0"/>
                <a:ea typeface="Calibri" pitchFamily="34" charset="-122"/>
                <a:cs typeface="Calibri" pitchFamily="34" charset="-120"/>
              </a:rPr>
              <a:t>https://www.microsoft.com/en-us/microsoft-365/copilot</a:t>
            </a:r>
          </a:p>
          <a:p>
            <a:pPr marL="285750" indent="-285750">
              <a:buFont typeface="Arial" panose="020B0604020202020204" pitchFamily="34" charset="0"/>
              <a:buChar char="•"/>
            </a:pPr>
            <a:r>
              <a:rPr lang="en-US" sz="1250" dirty="0" err="1">
                <a:solidFill>
                  <a:srgbClr val="E8EFF7"/>
                </a:solidFill>
                <a:latin typeface="Calibri" pitchFamily="34" charset="0"/>
                <a:ea typeface="Calibri" pitchFamily="34" charset="-122"/>
                <a:cs typeface="Calibri" pitchFamily="34" charset="-120"/>
              </a:rPr>
              <a:t>Replika</a:t>
            </a:r>
            <a:r>
              <a:rPr lang="en-US" sz="1250" dirty="0">
                <a:solidFill>
                  <a:srgbClr val="E8EFF7"/>
                </a:solidFill>
                <a:latin typeface="Calibri" pitchFamily="34" charset="0"/>
                <a:ea typeface="Calibri" pitchFamily="34" charset="-122"/>
                <a:cs typeface="Calibri" pitchFamily="34" charset="-120"/>
              </a:rPr>
              <a:t> AI: Luka, Inc. (2023). </a:t>
            </a:r>
            <a:r>
              <a:rPr lang="en-US" sz="1250" i="1" dirty="0" err="1">
                <a:solidFill>
                  <a:srgbClr val="E8EFF7"/>
                </a:solidFill>
                <a:latin typeface="Calibri" pitchFamily="34" charset="0"/>
                <a:ea typeface="Calibri" pitchFamily="34" charset="-122"/>
                <a:cs typeface="Calibri" pitchFamily="34" charset="-120"/>
              </a:rPr>
              <a:t>Replika</a:t>
            </a:r>
            <a:r>
              <a:rPr lang="en-US" sz="1250" i="1" dirty="0">
                <a:solidFill>
                  <a:srgbClr val="E8EFF7"/>
                </a:solidFill>
                <a:latin typeface="Calibri" pitchFamily="34" charset="0"/>
                <a:ea typeface="Calibri" pitchFamily="34" charset="-122"/>
                <a:cs typeface="Calibri" pitchFamily="34" charset="-120"/>
              </a:rPr>
              <a:t>: The AI companion. </a:t>
            </a:r>
            <a:r>
              <a:rPr lang="en-US" sz="1250" dirty="0">
                <a:solidFill>
                  <a:srgbClr val="E8EFF7"/>
                </a:solidFill>
                <a:latin typeface="Calibri" pitchFamily="34" charset="0"/>
                <a:ea typeface="Calibri" pitchFamily="34" charset="-122"/>
                <a:cs typeface="Calibri" pitchFamily="34" charset="-120"/>
              </a:rPr>
              <a:t>https://replika.com</a:t>
            </a:r>
          </a:p>
          <a:p>
            <a:endParaRPr lang="en-US" sz="1250" dirty="0">
              <a:solidFill>
                <a:srgbClr val="E8EFF7"/>
              </a:solidFill>
              <a:latin typeface="Calibri" pitchFamily="34" charset="0"/>
              <a:ea typeface="Calibri" pitchFamily="34" charset="-122"/>
              <a:cs typeface="Calibri" pitchFamily="34" charset="-120"/>
            </a:endParaRPr>
          </a:p>
        </p:txBody>
      </p:sp>
      <p:sp>
        <p:nvSpPr>
          <p:cNvPr id="16" name="Text 1">
            <a:extLst>
              <a:ext uri="{FF2B5EF4-FFF2-40B4-BE49-F238E27FC236}">
                <a16:creationId xmlns:a16="http://schemas.microsoft.com/office/drawing/2014/main" id="{69EDFC64-A06C-CA0D-4818-3BDE57B55E73}"/>
              </a:ext>
            </a:extLst>
          </p:cNvPr>
          <p:cNvSpPr/>
          <p:nvPr/>
        </p:nvSpPr>
        <p:spPr>
          <a:xfrm>
            <a:off x="457200" y="182880"/>
            <a:ext cx="8229600" cy="82296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Bibliography</a:t>
            </a:r>
          </a:p>
        </p:txBody>
      </p:sp>
    </p:spTree>
    <p:extLst>
      <p:ext uri="{BB962C8B-B14F-4D97-AF65-F5344CB8AC3E}">
        <p14:creationId xmlns:p14="http://schemas.microsoft.com/office/powerpoint/2010/main" val="2629191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B84B"/>
          </a:solidFill>
          <a:ln w="12700">
            <a:solidFill>
              <a:srgbClr val="E8B84B"/>
            </a:solidFill>
            <a:prstDash val="solid"/>
          </a:ln>
        </p:spPr>
        <p:txBody>
          <a:bodyPr/>
          <a:lstStyle/>
          <a:p>
            <a:endParaRPr lang="es-ES"/>
          </a:p>
        </p:txBody>
      </p:sp>
      <p:sp>
        <p:nvSpPr>
          <p:cNvPr id="3" name="Text 1"/>
          <p:cNvSpPr/>
          <p:nvPr/>
        </p:nvSpPr>
        <p:spPr>
          <a:xfrm>
            <a:off x="457200" y="731520"/>
            <a:ext cx="8229600" cy="1280160"/>
          </a:xfrm>
          <a:prstGeom prst="rect">
            <a:avLst/>
          </a:prstGeom>
          <a:noFill/>
          <a:ln/>
        </p:spPr>
        <p:txBody>
          <a:bodyPr wrap="square" lIns="0" tIns="0" rIns="0" bIns="0" rtlCol="0" anchor="ctr"/>
          <a:lstStyle/>
          <a:p>
            <a:pPr marL="0" indent="0" algn="ctr">
              <a:buNone/>
            </a:pPr>
            <a:r>
              <a:rPr lang="en-US" sz="7200" b="1" dirty="0">
                <a:solidFill>
                  <a:srgbClr val="FFFFFF"/>
                </a:solidFill>
                <a:latin typeface="Georgia" pitchFamily="34" charset="0"/>
                <a:ea typeface="Georgia" pitchFamily="34" charset="-122"/>
                <a:cs typeface="Georgia" pitchFamily="34" charset="-120"/>
              </a:rPr>
              <a:t>Thank You</a:t>
            </a:r>
            <a:endParaRPr lang="en-US" sz="7200" dirty="0"/>
          </a:p>
        </p:txBody>
      </p:sp>
      <p:sp>
        <p:nvSpPr>
          <p:cNvPr id="4" name="Shape 2"/>
          <p:cNvSpPr/>
          <p:nvPr/>
        </p:nvSpPr>
        <p:spPr>
          <a:xfrm>
            <a:off x="3200400" y="2011680"/>
            <a:ext cx="2743200" cy="45720"/>
          </a:xfrm>
          <a:prstGeom prst="rect">
            <a:avLst/>
          </a:prstGeom>
          <a:solidFill>
            <a:srgbClr val="E8B84B"/>
          </a:solidFill>
          <a:ln w="12700">
            <a:solidFill>
              <a:srgbClr val="E8B84B"/>
            </a:solidFill>
            <a:prstDash val="solid"/>
          </a:ln>
        </p:spPr>
        <p:txBody>
          <a:bodyPr/>
          <a:lstStyle/>
          <a:p>
            <a:endParaRPr lang="es-ES"/>
          </a:p>
        </p:txBody>
      </p:sp>
      <p:sp>
        <p:nvSpPr>
          <p:cNvPr id="5" name="Text 3"/>
          <p:cNvSpPr/>
          <p:nvPr/>
        </p:nvSpPr>
        <p:spPr>
          <a:xfrm>
            <a:off x="457200" y="2240280"/>
            <a:ext cx="8229600" cy="548640"/>
          </a:xfrm>
          <a:prstGeom prst="rect">
            <a:avLst/>
          </a:prstGeom>
          <a:noFill/>
          <a:ln/>
        </p:spPr>
        <p:txBody>
          <a:bodyPr wrap="square" lIns="0" tIns="0" rIns="0" bIns="0" rtlCol="0" anchor="ctr"/>
          <a:lstStyle/>
          <a:p>
            <a:pPr marL="0" indent="0" algn="ctr">
              <a:buNone/>
            </a:pPr>
            <a:r>
              <a:rPr lang="en-US" sz="2000" i="1" dirty="0">
                <a:solidFill>
                  <a:srgbClr val="5AB4E5"/>
                </a:solidFill>
                <a:latin typeface="Georgia" pitchFamily="34" charset="0"/>
                <a:ea typeface="Georgia" pitchFamily="34" charset="-122"/>
                <a:cs typeface="Georgia" pitchFamily="34" charset="-120"/>
              </a:rPr>
              <a:t>Álvaro Puebla Ruisánchez</a:t>
            </a:r>
            <a:endParaRPr lang="en-US" sz="2000" dirty="0"/>
          </a:p>
        </p:txBody>
      </p:sp>
      <p:sp>
        <p:nvSpPr>
          <p:cNvPr id="6" name="Text 4"/>
          <p:cNvSpPr/>
          <p:nvPr/>
        </p:nvSpPr>
        <p:spPr>
          <a:xfrm>
            <a:off x="457200" y="2743200"/>
            <a:ext cx="8229600" cy="365760"/>
          </a:xfrm>
          <a:prstGeom prst="rect">
            <a:avLst/>
          </a:prstGeom>
          <a:noFill/>
          <a:ln/>
        </p:spPr>
        <p:txBody>
          <a:bodyPr wrap="square" lIns="0" tIns="0" rIns="0" bIns="0" rtlCol="0" anchor="ctr"/>
          <a:lstStyle/>
          <a:p>
            <a:pPr marL="0" indent="0" algn="ctr">
              <a:buNone/>
            </a:pPr>
            <a:r>
              <a:rPr lang="en-US" sz="1300" dirty="0">
                <a:solidFill>
                  <a:srgbClr val="8FA3B8"/>
                </a:solidFill>
                <a:latin typeface="Calibri" pitchFamily="34" charset="0"/>
                <a:ea typeface="Calibri" pitchFamily="34" charset="-122"/>
                <a:cs typeface="Calibri" pitchFamily="34" charset="-120"/>
              </a:rPr>
              <a:t>AI in Social Communication</a:t>
            </a:r>
            <a:endParaRPr lang="en-US" sz="1300" dirty="0"/>
          </a:p>
        </p:txBody>
      </p:sp>
      <p:sp>
        <p:nvSpPr>
          <p:cNvPr id="7" name="Shape 5"/>
          <p:cNvSpPr/>
          <p:nvPr/>
        </p:nvSpPr>
        <p:spPr>
          <a:xfrm>
            <a:off x="2286000" y="3291840"/>
            <a:ext cx="4572000" cy="1417320"/>
          </a:xfrm>
          <a:prstGeom prst="rect">
            <a:avLst/>
          </a:prstGeom>
          <a:solidFill>
            <a:srgbClr val="162236"/>
          </a:solidFill>
          <a:ln w="12700">
            <a:solidFill>
              <a:srgbClr val="162236"/>
            </a:solidFill>
            <a:prstDash val="solid"/>
          </a:ln>
          <a:effectLst>
            <a:outerShdw blurRad="127000" dist="38100" dir="8100000" algn="bl" rotWithShape="0">
              <a:srgbClr val="000000">
                <a:alpha val="25000"/>
              </a:srgbClr>
            </a:outerShdw>
          </a:effectLst>
        </p:spPr>
        <p:txBody>
          <a:bodyPr/>
          <a:lstStyle/>
          <a:p>
            <a:endParaRPr lang="es-ES"/>
          </a:p>
        </p:txBody>
      </p:sp>
      <p:sp>
        <p:nvSpPr>
          <p:cNvPr id="8" name="Shape 6"/>
          <p:cNvSpPr/>
          <p:nvPr/>
        </p:nvSpPr>
        <p:spPr>
          <a:xfrm>
            <a:off x="2286000" y="3291840"/>
            <a:ext cx="4572000" cy="54864"/>
          </a:xfrm>
          <a:prstGeom prst="rect">
            <a:avLst/>
          </a:prstGeom>
          <a:solidFill>
            <a:srgbClr val="E8B84B"/>
          </a:solidFill>
          <a:ln w="12700">
            <a:solidFill>
              <a:srgbClr val="E8B84B"/>
            </a:solidFill>
            <a:prstDash val="solid"/>
          </a:ln>
        </p:spPr>
        <p:txBody>
          <a:bodyPr/>
          <a:lstStyle/>
          <a:p>
            <a:endParaRPr lang="es-ES"/>
          </a:p>
        </p:txBody>
      </p:sp>
      <p:sp>
        <p:nvSpPr>
          <p:cNvPr id="9" name="Text 7"/>
          <p:cNvSpPr/>
          <p:nvPr/>
        </p:nvSpPr>
        <p:spPr>
          <a:xfrm>
            <a:off x="2423160" y="3429000"/>
            <a:ext cx="4297680" cy="365760"/>
          </a:xfrm>
          <a:prstGeom prst="rect">
            <a:avLst/>
          </a:prstGeom>
          <a:noFill/>
          <a:ln/>
        </p:spPr>
        <p:txBody>
          <a:bodyPr wrap="square" lIns="0" tIns="0" rIns="0" bIns="0" rtlCol="0" anchor="ctr"/>
          <a:lstStyle/>
          <a:p>
            <a:pPr marL="0" indent="0" algn="ctr">
              <a:buNone/>
            </a:pPr>
            <a:r>
              <a:rPr lang="en-US" sz="1400" b="1" dirty="0">
                <a:solidFill>
                  <a:srgbClr val="E8B84B"/>
                </a:solidFill>
                <a:latin typeface="Calibri" pitchFamily="34" charset="0"/>
                <a:ea typeface="Calibri" pitchFamily="34" charset="-122"/>
                <a:cs typeface="Calibri" pitchFamily="34" charset="-120"/>
              </a:rPr>
              <a:t>Questions &amp; Discussion</a:t>
            </a:r>
            <a:endParaRPr lang="en-US" sz="1400" dirty="0"/>
          </a:p>
        </p:txBody>
      </p:sp>
      <p:sp>
        <p:nvSpPr>
          <p:cNvPr id="10" name="Text 8"/>
          <p:cNvSpPr/>
          <p:nvPr/>
        </p:nvSpPr>
        <p:spPr>
          <a:xfrm>
            <a:off x="2423160" y="3840480"/>
            <a:ext cx="4297680" cy="777240"/>
          </a:xfrm>
          <a:prstGeom prst="rect">
            <a:avLst/>
          </a:prstGeom>
          <a:noFill/>
          <a:ln/>
        </p:spPr>
        <p:txBody>
          <a:bodyPr wrap="square" lIns="0" tIns="0" rIns="0" bIns="0" rtlCol="0" anchor="ctr"/>
          <a:lstStyle/>
          <a:p>
            <a:pPr marL="0" indent="0" algn="ctr">
              <a:buNone/>
            </a:pPr>
            <a:r>
              <a:rPr lang="en-US" sz="1200" i="1" dirty="0">
                <a:solidFill>
                  <a:srgbClr val="E8EFF7"/>
                </a:solidFill>
                <a:latin typeface="Calibri" pitchFamily="34" charset="0"/>
                <a:ea typeface="Calibri" pitchFamily="34" charset="-122"/>
                <a:cs typeface="Calibri" pitchFamily="34" charset="-120"/>
              </a:rPr>
              <a:t>What is one interaction in your life that you would never delegate to AI - and why?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5175</TotalTime>
  <Words>3041</Words>
  <Application>Microsoft Office PowerPoint</Application>
  <PresentationFormat>Presentación en pantalla (16:9)</PresentationFormat>
  <Paragraphs>171</Paragraphs>
  <Slides>12</Slides>
  <Notes>12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Aptos</vt:lpstr>
      <vt:lpstr>Arial</vt:lpstr>
      <vt:lpstr>Calibri</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in Communication</dc:title>
  <dc:subject>PptxGenJS Presentation</dc:subject>
  <dc:creator>Fernando Miralles</dc:creator>
  <cp:lastModifiedBy>Álvaro Puebla Ruisánchez</cp:lastModifiedBy>
  <cp:revision>15</cp:revision>
  <dcterms:created xsi:type="dcterms:W3CDTF">2026-03-03T17:45:12Z</dcterms:created>
  <dcterms:modified xsi:type="dcterms:W3CDTF">2026-03-16T20:55:50Z</dcterms:modified>
</cp:coreProperties>
</file>