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0" r:id="rId1"/>
  </p:sldMasterIdLst>
  <p:notesMasterIdLst>
    <p:notesMasterId r:id="rId23"/>
  </p:notesMasterIdLst>
  <p:sldIdLst>
    <p:sldId id="256" r:id="rId2"/>
    <p:sldId id="257" r:id="rId3"/>
    <p:sldId id="258" r:id="rId4"/>
    <p:sldId id="259" r:id="rId5"/>
    <p:sldId id="260" r:id="rId6"/>
    <p:sldId id="262" r:id="rId7"/>
    <p:sldId id="261" r:id="rId8"/>
    <p:sldId id="263" r:id="rId9"/>
    <p:sldId id="280" r:id="rId10"/>
    <p:sldId id="265" r:id="rId11"/>
    <p:sldId id="266" r:id="rId12"/>
    <p:sldId id="267" r:id="rId13"/>
    <p:sldId id="281" r:id="rId14"/>
    <p:sldId id="282" r:id="rId15"/>
    <p:sldId id="284" r:id="rId16"/>
    <p:sldId id="271" r:id="rId17"/>
    <p:sldId id="283" r:id="rId18"/>
    <p:sldId id="275" r:id="rId19"/>
    <p:sldId id="276" r:id="rId20"/>
    <p:sldId id="277" r:id="rId21"/>
    <p:sldId id="278"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4F6"/>
    <a:srgbClr val="265F8E"/>
    <a:srgbClr val="FFE5E5"/>
    <a:srgbClr val="69B4C8"/>
    <a:srgbClr val="18435B"/>
    <a:srgbClr val="285068"/>
    <a:srgbClr val="75E1E8"/>
    <a:srgbClr val="DAF2FF"/>
    <a:srgbClr val="111A20"/>
    <a:srgbClr val="369E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196" autoAdjust="0"/>
  </p:normalViewPr>
  <p:slideViewPr>
    <p:cSldViewPr snapToGrid="0" snapToObjects="1">
      <p:cViewPr varScale="1">
        <p:scale>
          <a:sx n="76" d="100"/>
          <a:sy n="76" d="100"/>
        </p:scale>
        <p:origin x="1642" y="62"/>
      </p:cViewPr>
      <p:guideLst/>
    </p:cSldViewPr>
  </p:slideViewPr>
  <p:notesTextViewPr>
    <p:cViewPr>
      <p:scale>
        <a:sx n="1" d="1"/>
        <a:sy n="1" d="1"/>
      </p:scale>
      <p:origin x="0" y="0"/>
    </p:cViewPr>
  </p:notesTextViewPr>
  <p:notesViewPr>
    <p:cSldViewPr snapToGrid="0" snapToObjects="1">
      <p:cViewPr varScale="1">
        <p:scale>
          <a:sx n="61" d="100"/>
          <a:sy n="61" d="100"/>
        </p:scale>
        <p:origin x="86"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0843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r>
              <a:rPr lang="en-US" sz="800" dirty="0">
                <a:solidFill>
                  <a:srgbClr val="333333"/>
                </a:solidFill>
              </a:rPr>
              <a:t>
 "Imagine a world where trust doesn't depend on a bank or government, but on mathematics and code. This is the promise of blockchain technology.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Over the past few years, we've seen an explosion of cryptocurrencies, NFTs, and digital assets.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But beneath all the hype and speculation lies a fascinating technology that is fundamentally changing how we establish trust in digital systems.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My name is Álvaro Puebla and today, I want to take you on a journey to understand what blockchain really is, how it works, and why it matters."</a:t>
            </a:r>
            <a:endParaRPr lang="en-US" sz="800"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 Notes: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"We have a lot of ground to cover, so let me give you a roadmap. </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we'll understand why decentralization is important and what problems it solves.</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Then, we'll dive into the technical architecture, how blocks are created, linked together, and secured.</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Next, we'll explore the ingenious mechanisms that allow strangers to agree on a single truth without a central authority.</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We'll see how mining and Proof of Work make the network secure.</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Then, we'll look into the inner workings of cryptography.</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Finally, we'll explore real-world applications and their challenges."</a:t>
            </a:r>
            <a:endParaRPr lang="es-E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sz="800" b="1" dirty="0">
                <a:solidFill>
                  <a:srgbClr val="333333"/>
                </a:solidFill>
              </a:rPr>
              <a:t>Presenter Notes:</a:t>
            </a:r>
            <a:r>
              <a:rPr lang="en-US" sz="800" dirty="0">
                <a:solidFill>
                  <a:srgbClr val="333333"/>
                </a:solidFill>
              </a:rPr>
              <a:t>
</a:t>
            </a:r>
            <a:r>
              <a:rPr lang="en-US" sz="1200" kern="1200" dirty="0">
                <a:solidFill>
                  <a:schemeClr val="tx1"/>
                </a:solidFill>
                <a:effectLst/>
                <a:latin typeface="+mn-lt"/>
                <a:ea typeface="+mn-ea"/>
                <a:cs typeface="+mn-cs"/>
              </a:rPr>
              <a:t> "Let's start with a problem we all know too well. Remember when </a:t>
            </a:r>
            <a:r>
              <a:rPr lang="en-US" sz="1200" kern="1200" dirty="0" err="1">
                <a:solidFill>
                  <a:schemeClr val="tx1"/>
                </a:solidFill>
                <a:effectLst/>
                <a:latin typeface="+mn-lt"/>
                <a:ea typeface="+mn-ea"/>
                <a:cs typeface="+mn-cs"/>
              </a:rPr>
              <a:t>CloudFlare</a:t>
            </a:r>
            <a:r>
              <a:rPr lang="en-US" sz="1200" kern="1200" dirty="0">
                <a:solidFill>
                  <a:schemeClr val="tx1"/>
                </a:solidFill>
                <a:effectLst/>
                <a:latin typeface="+mn-lt"/>
                <a:ea typeface="+mn-ea"/>
                <a:cs typeface="+mn-cs"/>
              </a:rPr>
              <a:t> went down? Or when Amazon had an outage?</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happens because these services rely on centralized architecture.</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All users connect to central servers controlled by a single company. If those servers fail, the entire network fails. But the problem goes deeper than just reliability.</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 centralized system, all power and control are concentrated in one entity. That entity decides the rules, manages the data, and can manipulate transactions.</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must trust them completely. This is fine for some applications, but for financial systems, voting, or identity management, this concentration of power is problematic.</a:t>
            </a:r>
            <a:endParaRPr lang="es-E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What if there was a better way?"</a:t>
            </a:r>
            <a:endParaRPr lang="es-E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r>
              <a:rPr lang="en-US" sz="800" dirty="0">
                <a:solidFill>
                  <a:srgbClr val="333333"/>
                </a:solidFill>
              </a:rPr>
              <a:t>
 "The alternative is a peer-to-peer, or P2P, network. In a P2P network, every computer is equal.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There's no central server. Each node stores data, processes transactions, and communicates directly with other nodes.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XXXX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If one node fails, the network keeps working.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You've probably used P2P technology before, </a:t>
            </a:r>
            <a:r>
              <a:rPr lang="en-US" sz="800" b="1" dirty="0">
                <a:solidFill>
                  <a:srgbClr val="333333"/>
                </a:solidFill>
              </a:rPr>
              <a:t>BitTorrent works this way</a:t>
            </a:r>
            <a:r>
              <a:rPr lang="en-US" sz="800" b="0" dirty="0">
                <a:solidFill>
                  <a:srgbClr val="333333"/>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When you download a file from BitTorrent, you're not downloading from a central server.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Instead, you're downloading pieces from other computers in the network, and simultaneously, others are downloading pieces from you.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This is resilient and censorship-resistant.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But here's the challenge: how do we coordinate? How do we agree on what's true when there's no central authority to decide? This is where blockchain comes in."</a:t>
            </a:r>
            <a:endParaRPr lang="en-US" sz="8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r>
              <a:rPr lang="en-US" sz="800" dirty="0">
                <a:solidFill>
                  <a:srgbClr val="333333"/>
                </a:solidFill>
              </a:rPr>
              <a:t>
 "Blockchain is essentially a distributed, append-only ledger.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Think of it as a shared notebook that is replicated across thousands of computers. When a new transaction occurs, it's added to this ledger.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The key feature is that it's append-only, you can only add new entries, you cannot modify or delete existing ones.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This immutability is crucial. Once something is recorded, it's permanent. And because the ledger is distributed, everyone has a copy. Everyone can verify the history.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This creates transparency without requiring a central authority.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For a digital currency like Bitcoin, the currency itself is not a file or a coin. It's the record of all transactions.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If I have 10 bitcoins and I send 2 to someone else, that transaction is recorded in the ledger. Everyone can verify that I had those bitcoins and that I transferred them."</a:t>
            </a:r>
            <a:endParaRPr lang="en-US" sz="800"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r>
              <a:rPr lang="en-US" sz="800" dirty="0">
                <a:solidFill>
                  <a:srgbClr val="333333"/>
                </a:solidFill>
              </a:rPr>
              <a:t>
 "Here's a problem that's often overlooked: in a distributed network, how do we agree on the order of events?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Transactions are happening simultaneously across the network. They arrive at different nodes at different times.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You might think we could synchronize clocks, but that's impossible in a distributed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Each computer has its own clock, and synchronizing them requires communication, which also takes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The solution is the block. Instead of trying to order individual transactions, we group them into blocks.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A block is a batch of transactions that occurred during a specific time window. All transactions within a block are considered to have occurred at roughly the same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This solves the ordering problem. The blockchain then orders the blocks, creating a chronological sequence of events."</a:t>
            </a:r>
            <a:endParaRPr lang="en-US" sz="8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sz="1200" b="1" dirty="0">
                <a:solidFill>
                  <a:srgbClr val="333333"/>
                </a:solidFill>
              </a:rPr>
              <a:t>Presenter Note:</a:t>
            </a:r>
          </a:p>
          <a:p>
            <a:r>
              <a:rPr lang="en-US" sz="1200" dirty="0">
                <a:solidFill>
                  <a:srgbClr val="333333"/>
                </a:solidFill>
              </a:rPr>
              <a:t> </a:t>
            </a:r>
            <a:r>
              <a:rPr lang="en-US" dirty="0"/>
              <a:t>"A block is more than just a batch of transactions, it has a header and a body. The body holds the list of transactions; the header contains the previous block's hash, a timestamp, a difficulty target, a nonce, and the Merkle root (a single hash summarizing all transactions). The Merkle tree lets any node prove that a particular transaction is included without downloading every transaction. The previous-block hash links blocks together so any change in an earlier block invalidates all later blocks. Together, grouping transactions into blocks and linking headers solves the ordering problem and creates an auditable, append-only history."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r>
              <a:rPr lang="en-US" sz="800" dirty="0">
                <a:solidFill>
                  <a:srgbClr val="333333"/>
                </a:solidFill>
              </a:rPr>
              <a:t>
 "To understand how blockchain is secure, we need to understand cryptographic hashing.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A hash function takes any input (a file, a number, a block of data) and converts it into a fixed-size output.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Bitcoin uses SHA-256, which produces a 256-bit hash.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Here are the key properties.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800" dirty="0">
                <a:solidFill>
                  <a:srgbClr val="333333"/>
                </a:solidFill>
              </a:rPr>
              <a:t>First, it's deterministic: if you hash the same input twice, you get the same output.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800" dirty="0">
                <a:solidFill>
                  <a:srgbClr val="333333"/>
                </a:solidFill>
              </a:rPr>
              <a:t>Second, it has the avalanche effect: if you change even a single bit of the input, the output changes completely. This is crucial for security.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800" dirty="0">
                <a:solidFill>
                  <a:srgbClr val="333333"/>
                </a:solidFill>
              </a:rPr>
              <a:t>Third, it's one-way: you cannot reverse the hash to get the original input.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800" dirty="0">
                <a:solidFill>
                  <a:srgbClr val="333333"/>
                </a:solidFill>
              </a:rPr>
              <a:t>Fourth, it's collision-resistant: it's virtually impossible to find two different inputs that produce the same hash.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These properties make hashing perfect for creating tamper-evident records."</a:t>
            </a:r>
            <a:endParaRPr lang="en-US" sz="8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CE387-60CC-EFE4-CA4B-6D1CB52C7B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48AAB5-3C76-B6BB-50C5-F117C1AD82E6}"/>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A779476F-9F2E-874F-640F-AA4A636B6EE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dirty="0" err="1">
                <a:solidFill>
                  <a:srgbClr val="333333"/>
                </a:solidFill>
              </a:rPr>
              <a:t>Invente</a:t>
            </a:r>
            <a:r>
              <a:rPr lang="en-US" sz="800" b="0" dirty="0">
                <a:solidFill>
                  <a:srgbClr val="333333"/>
                </a:solidFill>
              </a:rPr>
              <a:t> Román, </a:t>
            </a:r>
            <a:r>
              <a:rPr lang="en-US" sz="800" b="0" dirty="0" err="1">
                <a:solidFill>
                  <a:srgbClr val="333333"/>
                </a:solidFill>
              </a:rPr>
              <a:t>invente</a:t>
            </a:r>
            <a:endParaRPr lang="en-US" b="0" dirty="0"/>
          </a:p>
        </p:txBody>
      </p:sp>
      <p:sp>
        <p:nvSpPr>
          <p:cNvPr id="4" name="Slide Number Placeholder 3">
            <a:extLst>
              <a:ext uri="{FF2B5EF4-FFF2-40B4-BE49-F238E27FC236}">
                <a16:creationId xmlns:a16="http://schemas.microsoft.com/office/drawing/2014/main" id="{69235E68-FFF3-3ABD-409B-B99CB24B104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042804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r>
              <a:rPr lang="en-US" sz="800" dirty="0">
                <a:solidFill>
                  <a:srgbClr val="333333"/>
                </a:solidFill>
              </a:rPr>
              <a:t>
 "So, how do we make participation costly? Through Proof of 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The idea is simple: to add a block to the chain, you must solve a cryptographic puzzle.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The puzzle works like this: you take the block data and a random number called a Nonce.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You hash them together using SHA-256. The goal is to find a Nonce that makes the hash start with a specific number of zeros.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Let's say the target is 18 leading zeros. The only way to find this Nonce is through trial and error.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You try billions of combinations until you find one that works. This requires massive computational power.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The miner who finds the solution first wins the right to add their block to the chain and receives a reward: newly created bitcoins and transaction fees.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This is why it's called mining, miners are competing to solve the puzzle, and the winner gets rewarded.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The difficulty of the puzzle adjusts automatically to maintain a consistent block creation time, roughly every 10 minutes for Bitcoin."</a:t>
            </a:r>
            <a:endParaRPr lang="en-US" sz="800"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r>
              <a:rPr lang="en-US" sz="800" dirty="0">
                <a:solidFill>
                  <a:srgbClr val="333333"/>
                </a:solidFill>
              </a:rPr>
              <a:t>
 "Here's the consensus rule: the network always accepts the longest valid chain as the true version of the ledger. Why the longest chain? Because it represents the most computational work. If two miners find blocks at roughly the same time, there might be two competing chains. Nodes will follow both chains temporarily, but as more blocks are added, one chain will become longer. Nodes will then abandon the shorter chain and follow the longer one. This is called a fork resolution. The blocks in the abandoned chain are called orphaned blocks. The miners who created them don't get their reward. This incentive structure ensures that miners work on the main chain. After a block is buried under several more blocks, it becomes essentially irreversible. To change a transaction, an attacker would have to redo all the computational work for that block and all subsequent blocks, which is practically impossible."</a:t>
            </a:r>
            <a:endParaRPr lang="en-US" sz="8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r>
              <a:rPr lang="en-US" sz="800" dirty="0">
                <a:solidFill>
                  <a:srgbClr val="333333"/>
                </a:solidFill>
              </a:rPr>
              <a:t>
 "Now, here's why blockchain is secure. Each block contains the hash of the previous block.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This creates a chain. If an attacker tries to change a transaction in an old block, the block's hash changes.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This breaks the link to the next block. The next block's hash is now invalid.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So the attacker must recalculate the Proof of Work for the next block. But this changes its hash, breaking the link to the block after that.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And so on. It's a domino effect. The attacker must redo all the computational work for that block and every block that follows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Meanwhile, the rest of the network is continuing to add new blocks to the legitimate chain. The attacker must not only catch up but also outpace the network.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To do this, the attacker would need more than 50% of the network's total computational power. This is called a 51% attack. For large networks like Bitcoin, this is economically infeasible.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The computational power required would cost billions of dollars, and the attack would likely be detected and the network would respond."</a:t>
            </a:r>
            <a:endParaRPr lang="en-US" sz="8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0801D-A2A4-D443-4DC3-F075FAD70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9E275-59EE-952C-1CA8-AB188B8EFB37}"/>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5C5FB405-CF7D-CB0C-F712-85AC344CB4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51% attacks are economically irrational: costs are astronomical, detection is immediate, and mining legitimately yields more. Communities can respond via forks.</a:t>
            </a:r>
            <a:endParaRPr lang="en-US" sz="800" dirty="0"/>
          </a:p>
        </p:txBody>
      </p:sp>
      <p:sp>
        <p:nvSpPr>
          <p:cNvPr id="4" name="Slide Number Placeholder 3">
            <a:extLst>
              <a:ext uri="{FF2B5EF4-FFF2-40B4-BE49-F238E27FC236}">
                <a16:creationId xmlns:a16="http://schemas.microsoft.com/office/drawing/2014/main" id="{14628F5C-87B8-90B7-E471-BB77DEFA53D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01962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20C12-DFA3-4A12-90CB-F54E620DC5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B7D9C-6861-24D4-1DCB-8A756695C157}"/>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12D66333-CE2C-9061-067B-B37AC501CA4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dirty="0" err="1">
                <a:solidFill>
                  <a:srgbClr val="333333"/>
                </a:solidFill>
              </a:rPr>
              <a:t>Invente</a:t>
            </a:r>
            <a:r>
              <a:rPr lang="en-US" sz="800" b="0" dirty="0">
                <a:solidFill>
                  <a:srgbClr val="333333"/>
                </a:solidFill>
              </a:rPr>
              <a:t> Román, </a:t>
            </a:r>
            <a:r>
              <a:rPr lang="en-US" sz="800" b="0" dirty="0" err="1">
                <a:solidFill>
                  <a:srgbClr val="333333"/>
                </a:solidFill>
              </a:rPr>
              <a:t>invente</a:t>
            </a:r>
            <a:endParaRPr lang="en-US" sz="800" b="0" dirty="0"/>
          </a:p>
        </p:txBody>
      </p:sp>
      <p:sp>
        <p:nvSpPr>
          <p:cNvPr id="4" name="Slide Number Placeholder 3">
            <a:extLst>
              <a:ext uri="{FF2B5EF4-FFF2-40B4-BE49-F238E27FC236}">
                <a16:creationId xmlns:a16="http://schemas.microsoft.com/office/drawing/2014/main" id="{203461C1-0B53-8EBA-A1B2-61A392A3339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757319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3AAE4-CB4A-0EDD-2C63-333BF2796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08CA8-64C4-B869-B98A-116E735D40F9}"/>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0076724A-B663-8BAF-035C-F4AFF3ABD7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333333"/>
                </a:solidFill>
              </a:rPr>
              <a:t>Presenter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rgbClr val="333333"/>
                </a:solidFill>
              </a:rPr>
              <a:t>Invente</a:t>
            </a:r>
            <a:r>
              <a:rPr lang="en-US" sz="1200" b="0" dirty="0">
                <a:solidFill>
                  <a:srgbClr val="333333"/>
                </a:solidFill>
              </a:rPr>
              <a:t> Román, </a:t>
            </a:r>
            <a:r>
              <a:rPr lang="en-US" sz="1200" b="0" dirty="0" err="1">
                <a:solidFill>
                  <a:srgbClr val="333333"/>
                </a:solidFill>
              </a:rPr>
              <a:t>invente</a:t>
            </a:r>
            <a:endParaRPr lang="en-US" b="0" dirty="0"/>
          </a:p>
        </p:txBody>
      </p:sp>
      <p:sp>
        <p:nvSpPr>
          <p:cNvPr id="4" name="Slide Number Placeholder 3">
            <a:extLst>
              <a:ext uri="{FF2B5EF4-FFF2-40B4-BE49-F238E27FC236}">
                <a16:creationId xmlns:a16="http://schemas.microsoft.com/office/drawing/2014/main" id="{4748E4F8-F774-F0E6-982F-E131FCE1E6C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24367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r>
              <a:rPr lang="en-US" sz="800" dirty="0">
                <a:solidFill>
                  <a:srgbClr val="333333"/>
                </a:solidFill>
              </a:rPr>
              <a:t>
 "Now, let's look at real-world applications. Blockchain is not just about cryptocurrency. It's a technology that can be applied to many industries. In supply chain management, blockchain enables transparency. You can track a product from the factory to your hands, with immutable records at each step. This prevents counterfeiting and fraud. In finance, blockchain enables instant settlements and cross-border payments without intermediaries. This reduces costs and brings financial services to people who don't have access to traditional banks. In identity, blockchain enables self-sovereign identity, you control your credentials, not a government or corporation. In healthcare, blockchain can secure medical records and give patients control over their data. In voting, blockchain creates tamper-proof voting systems that are transparent and auditable. And in logistics, blockchain provides real-time tracking with transparent records. These are just examples. The underlying principle is the same: blockchain enables trust without intermediaries."</a:t>
            </a:r>
            <a:endParaRPr lang="en-US" sz="8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35128-B5DB-CF85-E33B-C19AD414C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EA8D62-A00B-19DD-B3F8-BFC00F762184}"/>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0DB6748C-0DE1-4D9E-DA97-D0840D760F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333333"/>
                </a:solidFill>
              </a:rPr>
              <a:t>Presenter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rgbClr val="333333"/>
                </a:solidFill>
              </a:rPr>
              <a:t>Invente</a:t>
            </a:r>
            <a:r>
              <a:rPr lang="en-US" sz="1200" b="0" dirty="0">
                <a:solidFill>
                  <a:srgbClr val="333333"/>
                </a:solidFill>
              </a:rPr>
              <a:t> Román, </a:t>
            </a:r>
            <a:r>
              <a:rPr lang="en-US" sz="1200" b="0" dirty="0" err="1">
                <a:solidFill>
                  <a:srgbClr val="333333"/>
                </a:solidFill>
              </a:rPr>
              <a:t>invente</a:t>
            </a:r>
            <a:endParaRPr lang="en-US" b="0" dirty="0"/>
          </a:p>
        </p:txBody>
      </p:sp>
      <p:sp>
        <p:nvSpPr>
          <p:cNvPr id="4" name="Slide Number Placeholder 3">
            <a:extLst>
              <a:ext uri="{FF2B5EF4-FFF2-40B4-BE49-F238E27FC236}">
                <a16:creationId xmlns:a16="http://schemas.microsoft.com/office/drawing/2014/main" id="{8D6C30ED-7A07-E219-3D84-B5F56A0A45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40224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333333"/>
                </a:solidFill>
              </a:rPr>
              <a:t>Presenter Notes:</a:t>
            </a:r>
            <a:r>
              <a:rPr lang="en-US" sz="800" dirty="0">
                <a:solidFill>
                  <a:srgbClr val="333333"/>
                </a:solidFill>
              </a:rPr>
              <a:t>
 "Let me summarize the four key takeaways.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First, blockchain is a decentralized ledger. It's a distributed database replicated across many nodes. No single entity controls it. Everyone has a copy, and everyone can verify the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Second, blockchain uses cryptographic security. Your private key is mathematical proof that you own your assets. No one can forge this proof.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Third, blockchain achieves consensus without intermediaries. Through mechanisms like Proof of Work or Proof of Stake, the network collectively validates transactions.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Fouth, blockchain has transformative potential. It can transform industries by enabling trust without intermediaries. From supply chains to finance to identity, the applications are vast.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Now, let me be clear about what blockchain is and isn’t.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 Blockchain is not a technology that will replace everything. It's not a get-rich-quick scheme. It's not anonymous. It's not unregulated.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800" dirty="0">
                <a:solidFill>
                  <a:srgbClr val="333333"/>
                </a:solidFill>
              </a:rPr>
              <a:t>Blockchain is a technology that solves specific problems: creating trust without intermediaries, ensuring transparency, and enabling programmable systems.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When applied correctly, it has the power to transform how we organize society. The future of blockchain is not about cryptocurrency speculation.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It's about building systems that are transparent, verifiable, and trustworthy.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333333"/>
                </a:solidFill>
              </a:rPr>
              <a:t>Systems where trust is embedded in the code, not in institutions. That's the promise of blockchain. That's the programmable trust."</a:t>
            </a:r>
            <a:endParaRPr lang="en-US" sz="800"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DB28F-746B-5C9B-F446-7D7D6B07D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48A6B-47F5-5C45-FCA6-6589BDDCF6F6}"/>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A3DA2C24-79C2-7DA3-F556-AF946F9AF7B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333333"/>
                </a:solidFill>
              </a:rPr>
              <a:t>Presenter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rgbClr val="333333"/>
                </a:solidFill>
              </a:rPr>
              <a:t>Invente</a:t>
            </a:r>
            <a:r>
              <a:rPr lang="en-US" sz="1200" b="0" dirty="0">
                <a:solidFill>
                  <a:srgbClr val="333333"/>
                </a:solidFill>
              </a:rPr>
              <a:t> Román, </a:t>
            </a:r>
            <a:r>
              <a:rPr lang="en-US" sz="1200" b="0" dirty="0" err="1">
                <a:solidFill>
                  <a:srgbClr val="333333"/>
                </a:solidFill>
              </a:rPr>
              <a:t>invente</a:t>
            </a:r>
            <a:endParaRPr lang="en-US" b="0" dirty="0"/>
          </a:p>
        </p:txBody>
      </p:sp>
      <p:sp>
        <p:nvSpPr>
          <p:cNvPr id="4" name="Slide Number Placeholder 3">
            <a:extLst>
              <a:ext uri="{FF2B5EF4-FFF2-40B4-BE49-F238E27FC236}">
                <a16:creationId xmlns:a16="http://schemas.microsoft.com/office/drawing/2014/main" id="{2E84467E-6659-7ACE-CD65-E652C50F49DB}"/>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4092041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E3731-2D3A-B0DC-50F8-BC8A94654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F88A1-9ED9-509C-27E4-89C2221267F7}"/>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5E39DDCD-E883-52A1-16EE-6427D81C64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333333"/>
                </a:solidFill>
              </a:rPr>
              <a:t>Presenter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rgbClr val="333333"/>
                </a:solidFill>
              </a:rPr>
              <a:t>Invente</a:t>
            </a:r>
            <a:r>
              <a:rPr lang="en-US" sz="1200" b="0" dirty="0">
                <a:solidFill>
                  <a:srgbClr val="333333"/>
                </a:solidFill>
              </a:rPr>
              <a:t> Román, </a:t>
            </a:r>
            <a:r>
              <a:rPr lang="en-US" sz="1200" b="0" dirty="0" err="1">
                <a:solidFill>
                  <a:srgbClr val="333333"/>
                </a:solidFill>
              </a:rPr>
              <a:t>invente</a:t>
            </a:r>
            <a:endParaRPr lang="en-US" b="0" dirty="0"/>
          </a:p>
        </p:txBody>
      </p:sp>
      <p:sp>
        <p:nvSpPr>
          <p:cNvPr id="4" name="Slide Number Placeholder 3">
            <a:extLst>
              <a:ext uri="{FF2B5EF4-FFF2-40B4-BE49-F238E27FC236}">
                <a16:creationId xmlns:a16="http://schemas.microsoft.com/office/drawing/2014/main" id="{EE78F20B-C603-BDC8-2A66-514A03B8CA03}"/>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8106883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681A4-72CB-73DB-D5E9-AE8AA9845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411A6-3FC8-C90C-D85A-1E6EB9E393CE}"/>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3CE83FA7-1DF3-4CFA-35D6-027748573A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333333"/>
                </a:solidFill>
              </a:rPr>
              <a:t>Presenter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rgbClr val="333333"/>
                </a:solidFill>
              </a:rPr>
              <a:t>Invente</a:t>
            </a:r>
            <a:r>
              <a:rPr lang="en-US" sz="1200" b="0" dirty="0">
                <a:solidFill>
                  <a:srgbClr val="333333"/>
                </a:solidFill>
              </a:rPr>
              <a:t> Román, </a:t>
            </a:r>
            <a:r>
              <a:rPr lang="en-US" sz="1200" b="0" dirty="0" err="1">
                <a:solidFill>
                  <a:srgbClr val="333333"/>
                </a:solidFill>
              </a:rPr>
              <a:t>invente</a:t>
            </a:r>
            <a:endParaRPr lang="en-US" b="0" dirty="0"/>
          </a:p>
        </p:txBody>
      </p:sp>
      <p:sp>
        <p:nvSpPr>
          <p:cNvPr id="4" name="Slide Number Placeholder 3">
            <a:extLst>
              <a:ext uri="{FF2B5EF4-FFF2-40B4-BE49-F238E27FC236}">
                <a16:creationId xmlns:a16="http://schemas.microsoft.com/office/drawing/2014/main" id="{F03D777E-2355-CE01-785E-FBAD6C5A41B2}"/>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721228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AB2ECA-B195-D1DF-2919-6C79A9E20D96}"/>
              </a:ext>
            </a:extLst>
          </p:cNvPr>
          <p:cNvSpPr>
            <a:spLocks noGrp="1"/>
          </p:cNvSpPr>
          <p:nvPr>
            <p:ph type="ctrTitle"/>
          </p:nvPr>
        </p:nvSpPr>
        <p:spPr>
          <a:xfrm>
            <a:off x="1143000" y="841375"/>
            <a:ext cx="6858000" cy="17907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5EA06486-0FB4-58B1-37B1-7D63AB48C052}"/>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210E70A4-BDC9-AEA5-0671-654C16D59BB8}"/>
              </a:ext>
            </a:extLst>
          </p:cNvPr>
          <p:cNvSpPr>
            <a:spLocks noGrp="1"/>
          </p:cNvSpPr>
          <p:nvPr>
            <p:ph type="dt" sz="half" idx="10"/>
          </p:nvPr>
        </p:nvSpPr>
        <p:spPr/>
        <p:txBody>
          <a:bodyPr/>
          <a:lstStyle/>
          <a:p>
            <a:endParaRPr lang="es-ES"/>
          </a:p>
        </p:txBody>
      </p:sp>
      <p:sp>
        <p:nvSpPr>
          <p:cNvPr id="5" name="Marcador de pie de página 4">
            <a:extLst>
              <a:ext uri="{FF2B5EF4-FFF2-40B4-BE49-F238E27FC236}">
                <a16:creationId xmlns:a16="http://schemas.microsoft.com/office/drawing/2014/main" id="{433EC65E-469B-0B64-C34F-B574A8D0287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DF4F9AD-6BE6-8A47-C4CA-CB3F3D2EB456}"/>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684845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B07ED9-0D1B-D07E-D6EB-DAE14C5FC16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876E627-D5BF-937A-420B-899A37896E4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0246C3F-385A-808E-F320-06607F0C4A05}"/>
              </a:ext>
            </a:extLst>
          </p:cNvPr>
          <p:cNvSpPr>
            <a:spLocks noGrp="1"/>
          </p:cNvSpPr>
          <p:nvPr>
            <p:ph type="dt" sz="half" idx="10"/>
          </p:nvPr>
        </p:nvSpPr>
        <p:spPr/>
        <p:txBody>
          <a:bodyPr/>
          <a:lstStyle/>
          <a:p>
            <a:endParaRPr lang="es-ES"/>
          </a:p>
        </p:txBody>
      </p:sp>
      <p:sp>
        <p:nvSpPr>
          <p:cNvPr id="5" name="Marcador de pie de página 4">
            <a:extLst>
              <a:ext uri="{FF2B5EF4-FFF2-40B4-BE49-F238E27FC236}">
                <a16:creationId xmlns:a16="http://schemas.microsoft.com/office/drawing/2014/main" id="{475E21C0-8E40-2E95-C8E2-FE77E33C91A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730CABA-D3D5-9A55-9E85-E089A3C69E39}"/>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758236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1ACB8A-217F-F4FF-BBF7-A9ADF01AC0C5}"/>
              </a:ext>
            </a:extLst>
          </p:cNvPr>
          <p:cNvSpPr>
            <a:spLocks noGrp="1"/>
          </p:cNvSpPr>
          <p:nvPr>
            <p:ph type="title"/>
          </p:nvPr>
        </p:nvSpPr>
        <p:spPr>
          <a:xfrm>
            <a:off x="623888" y="1282700"/>
            <a:ext cx="7886700" cy="2139950"/>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6574ADEA-82A7-330D-25EE-2B58068F9589}"/>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8A9442D-6817-9EBD-D69C-FE4D0C427263}"/>
              </a:ext>
            </a:extLst>
          </p:cNvPr>
          <p:cNvSpPr>
            <a:spLocks noGrp="1"/>
          </p:cNvSpPr>
          <p:nvPr>
            <p:ph type="dt" sz="half" idx="10"/>
          </p:nvPr>
        </p:nvSpPr>
        <p:spPr/>
        <p:txBody>
          <a:bodyPr/>
          <a:lstStyle/>
          <a:p>
            <a:endParaRPr lang="es-ES"/>
          </a:p>
        </p:txBody>
      </p:sp>
      <p:sp>
        <p:nvSpPr>
          <p:cNvPr id="5" name="Marcador de pie de página 4">
            <a:extLst>
              <a:ext uri="{FF2B5EF4-FFF2-40B4-BE49-F238E27FC236}">
                <a16:creationId xmlns:a16="http://schemas.microsoft.com/office/drawing/2014/main" id="{B3CA5267-D18F-F0C0-1365-C2BD63F75FE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A5E0B7F-0D45-5398-4C07-69BA20EB4C18}"/>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3344010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494639-1DF5-1992-9F48-2EABFED1E60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50F910B-BE82-8D6A-3C81-A727A28FFE3F}"/>
              </a:ext>
            </a:extLst>
          </p:cNvPr>
          <p:cNvSpPr>
            <a:spLocks noGrp="1"/>
          </p:cNvSpPr>
          <p:nvPr>
            <p:ph sz="half" idx="1"/>
          </p:nvPr>
        </p:nvSpPr>
        <p:spPr>
          <a:xfrm>
            <a:off x="628650" y="1370013"/>
            <a:ext cx="3867150" cy="326231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A521F05C-FE19-40DE-8EF9-0F4B16762208}"/>
              </a:ext>
            </a:extLst>
          </p:cNvPr>
          <p:cNvSpPr>
            <a:spLocks noGrp="1"/>
          </p:cNvSpPr>
          <p:nvPr>
            <p:ph sz="half" idx="2"/>
          </p:nvPr>
        </p:nvSpPr>
        <p:spPr>
          <a:xfrm>
            <a:off x="4648200" y="1370013"/>
            <a:ext cx="3867150" cy="326231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F6113C96-7139-0C0F-69B3-C1DEB5583139}"/>
              </a:ext>
            </a:extLst>
          </p:cNvPr>
          <p:cNvSpPr>
            <a:spLocks noGrp="1"/>
          </p:cNvSpPr>
          <p:nvPr>
            <p:ph type="dt" sz="half" idx="10"/>
          </p:nvPr>
        </p:nvSpPr>
        <p:spPr/>
        <p:txBody>
          <a:bodyPr/>
          <a:lstStyle/>
          <a:p>
            <a:endParaRPr lang="es-ES"/>
          </a:p>
        </p:txBody>
      </p:sp>
      <p:sp>
        <p:nvSpPr>
          <p:cNvPr id="6" name="Marcador de pie de página 5">
            <a:extLst>
              <a:ext uri="{FF2B5EF4-FFF2-40B4-BE49-F238E27FC236}">
                <a16:creationId xmlns:a16="http://schemas.microsoft.com/office/drawing/2014/main" id="{E4C795BF-7ED2-33DC-3839-853B1AB99D8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7B6F561-FCAF-7404-2484-882772754902}"/>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1004063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B07823-0E6A-53D0-9ECF-FF2FB545C991}"/>
              </a:ext>
            </a:extLst>
          </p:cNvPr>
          <p:cNvSpPr>
            <a:spLocks noGrp="1"/>
          </p:cNvSpPr>
          <p:nvPr>
            <p:ph type="title"/>
          </p:nvPr>
        </p:nvSpPr>
        <p:spPr>
          <a:xfrm>
            <a:off x="630238" y="274638"/>
            <a:ext cx="7886700" cy="993775"/>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81339AD-C63C-97BE-1BB5-784AA1F04D56}"/>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255FCA3-0CBA-B561-1DD6-21D79E953D1A}"/>
              </a:ext>
            </a:extLst>
          </p:cNvPr>
          <p:cNvSpPr>
            <a:spLocks noGrp="1"/>
          </p:cNvSpPr>
          <p:nvPr>
            <p:ph sz="half" idx="2"/>
          </p:nvPr>
        </p:nvSpPr>
        <p:spPr>
          <a:xfrm>
            <a:off x="630238" y="1879600"/>
            <a:ext cx="3868737" cy="27622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C0AF05EC-BEC1-FB5A-8A7B-12CCFB24D933}"/>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D104CBA-A509-1FEE-1E88-53A1F5483ADC}"/>
              </a:ext>
            </a:extLst>
          </p:cNvPr>
          <p:cNvSpPr>
            <a:spLocks noGrp="1"/>
          </p:cNvSpPr>
          <p:nvPr>
            <p:ph sz="quarter" idx="4"/>
          </p:nvPr>
        </p:nvSpPr>
        <p:spPr>
          <a:xfrm>
            <a:off x="4629150" y="1879600"/>
            <a:ext cx="3887788" cy="27622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40ABEF0E-C4C6-E5CD-147E-147461D495B4}"/>
              </a:ext>
            </a:extLst>
          </p:cNvPr>
          <p:cNvSpPr>
            <a:spLocks noGrp="1"/>
          </p:cNvSpPr>
          <p:nvPr>
            <p:ph type="dt" sz="half" idx="10"/>
          </p:nvPr>
        </p:nvSpPr>
        <p:spPr/>
        <p:txBody>
          <a:bodyPr/>
          <a:lstStyle/>
          <a:p>
            <a:endParaRPr lang="es-ES"/>
          </a:p>
        </p:txBody>
      </p:sp>
      <p:sp>
        <p:nvSpPr>
          <p:cNvPr id="8" name="Marcador de pie de página 7">
            <a:extLst>
              <a:ext uri="{FF2B5EF4-FFF2-40B4-BE49-F238E27FC236}">
                <a16:creationId xmlns:a16="http://schemas.microsoft.com/office/drawing/2014/main" id="{12682E72-262D-A554-3A96-685A4D16D90E}"/>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0103ACD2-AC25-D161-B08D-C4FFA733CD1B}"/>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1937065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C54815-0561-08FA-1F60-3CC28D5D1B01}"/>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B700E42B-A3CF-71B2-E811-16E1CE0F6A34}"/>
              </a:ext>
            </a:extLst>
          </p:cNvPr>
          <p:cNvSpPr>
            <a:spLocks noGrp="1"/>
          </p:cNvSpPr>
          <p:nvPr>
            <p:ph type="dt" sz="half" idx="10"/>
          </p:nvPr>
        </p:nvSpPr>
        <p:spPr/>
        <p:txBody>
          <a:bodyPr/>
          <a:lstStyle/>
          <a:p>
            <a:endParaRPr lang="es-ES"/>
          </a:p>
        </p:txBody>
      </p:sp>
      <p:sp>
        <p:nvSpPr>
          <p:cNvPr id="4" name="Marcador de pie de página 3">
            <a:extLst>
              <a:ext uri="{FF2B5EF4-FFF2-40B4-BE49-F238E27FC236}">
                <a16:creationId xmlns:a16="http://schemas.microsoft.com/office/drawing/2014/main" id="{6E5949A0-58CA-0D47-9B7A-0C04E23A67B1}"/>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DE09F187-E33B-3DE8-E8ED-61D8DA3576A9}"/>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941748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729CEF8-45BA-C123-5002-059F712C1FD8}"/>
              </a:ext>
            </a:extLst>
          </p:cNvPr>
          <p:cNvSpPr>
            <a:spLocks noGrp="1"/>
          </p:cNvSpPr>
          <p:nvPr>
            <p:ph type="dt" sz="half" idx="10"/>
          </p:nvPr>
        </p:nvSpPr>
        <p:spPr/>
        <p:txBody>
          <a:bodyPr/>
          <a:lstStyle/>
          <a:p>
            <a:endParaRPr lang="es-ES"/>
          </a:p>
        </p:txBody>
      </p:sp>
      <p:sp>
        <p:nvSpPr>
          <p:cNvPr id="3" name="Marcador de pie de página 2">
            <a:extLst>
              <a:ext uri="{FF2B5EF4-FFF2-40B4-BE49-F238E27FC236}">
                <a16:creationId xmlns:a16="http://schemas.microsoft.com/office/drawing/2014/main" id="{F1B8646C-2DAF-2CC9-35A7-0CC0D08F57F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7E8E08D9-28C5-99EC-BF2F-9EC32A120F83}"/>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238415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B6FCCD-E06A-08CD-7189-7E639B7ED236}"/>
              </a:ext>
            </a:extLst>
          </p:cNvPr>
          <p:cNvSpPr>
            <a:spLocks noGrp="1"/>
          </p:cNvSpPr>
          <p:nvPr>
            <p:ph type="title"/>
          </p:nvPr>
        </p:nvSpPr>
        <p:spPr>
          <a:xfrm>
            <a:off x="630238" y="342900"/>
            <a:ext cx="2949575" cy="120015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D8CD91D-3CAB-F07B-292F-44223FE8F9A5}"/>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EEEF151-E90E-E200-DD01-37EB685B18E8}"/>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799935E-6C15-86A2-6F49-3E9CFA632441}"/>
              </a:ext>
            </a:extLst>
          </p:cNvPr>
          <p:cNvSpPr>
            <a:spLocks noGrp="1"/>
          </p:cNvSpPr>
          <p:nvPr>
            <p:ph type="dt" sz="half" idx="10"/>
          </p:nvPr>
        </p:nvSpPr>
        <p:spPr/>
        <p:txBody>
          <a:bodyPr/>
          <a:lstStyle/>
          <a:p>
            <a:endParaRPr lang="es-ES"/>
          </a:p>
        </p:txBody>
      </p:sp>
      <p:sp>
        <p:nvSpPr>
          <p:cNvPr id="6" name="Marcador de pie de página 5">
            <a:extLst>
              <a:ext uri="{FF2B5EF4-FFF2-40B4-BE49-F238E27FC236}">
                <a16:creationId xmlns:a16="http://schemas.microsoft.com/office/drawing/2014/main" id="{5FCAFC0F-678E-6207-5729-D181F073D3C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16AC376-F767-05EC-B453-16425F9145BB}"/>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2403096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2D8737-11A5-C3B9-55F5-2885806D43B8}"/>
              </a:ext>
            </a:extLst>
          </p:cNvPr>
          <p:cNvSpPr>
            <a:spLocks noGrp="1"/>
          </p:cNvSpPr>
          <p:nvPr>
            <p:ph type="title"/>
          </p:nvPr>
        </p:nvSpPr>
        <p:spPr>
          <a:xfrm>
            <a:off x="630238" y="342900"/>
            <a:ext cx="2949575" cy="120015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0F474401-F0C7-F6EF-0C7C-787B0659B7BD}"/>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D32FF53-E5E8-0117-C8D4-2A490C444A46}"/>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BD7561B-6EE8-8495-36D5-41C39EC248AB}"/>
              </a:ext>
            </a:extLst>
          </p:cNvPr>
          <p:cNvSpPr>
            <a:spLocks noGrp="1"/>
          </p:cNvSpPr>
          <p:nvPr>
            <p:ph type="dt" sz="half" idx="10"/>
          </p:nvPr>
        </p:nvSpPr>
        <p:spPr/>
        <p:txBody>
          <a:bodyPr/>
          <a:lstStyle/>
          <a:p>
            <a:endParaRPr lang="es-ES"/>
          </a:p>
        </p:txBody>
      </p:sp>
      <p:sp>
        <p:nvSpPr>
          <p:cNvPr id="6" name="Marcador de pie de página 5">
            <a:extLst>
              <a:ext uri="{FF2B5EF4-FFF2-40B4-BE49-F238E27FC236}">
                <a16:creationId xmlns:a16="http://schemas.microsoft.com/office/drawing/2014/main" id="{AF51E299-9D2A-597D-2073-C40C97C0FE1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57C8D54-33D9-8DB5-D16D-F02D80804190}"/>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1037078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6257F8-35FD-ED3B-87E9-96305260C91B}"/>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A0CCE4F9-D578-F3DD-793F-139404F131F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B9B6339-57D3-9898-F337-DF31AA775A2F}"/>
              </a:ext>
            </a:extLst>
          </p:cNvPr>
          <p:cNvSpPr>
            <a:spLocks noGrp="1"/>
          </p:cNvSpPr>
          <p:nvPr>
            <p:ph type="dt" sz="half" idx="10"/>
          </p:nvPr>
        </p:nvSpPr>
        <p:spPr/>
        <p:txBody>
          <a:bodyPr/>
          <a:lstStyle/>
          <a:p>
            <a:endParaRPr lang="es-ES"/>
          </a:p>
        </p:txBody>
      </p:sp>
      <p:sp>
        <p:nvSpPr>
          <p:cNvPr id="5" name="Marcador de pie de página 4">
            <a:extLst>
              <a:ext uri="{FF2B5EF4-FFF2-40B4-BE49-F238E27FC236}">
                <a16:creationId xmlns:a16="http://schemas.microsoft.com/office/drawing/2014/main" id="{10221243-41C7-A185-4A50-5D512A7FF01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47FEDD5-8608-F21B-48C5-D23DCE69F272}"/>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327287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A4C9B78-7DD8-225B-0510-B343D6AC2712}"/>
              </a:ext>
            </a:extLst>
          </p:cNvPr>
          <p:cNvSpPr>
            <a:spLocks noGrp="1"/>
          </p:cNvSpPr>
          <p:nvPr>
            <p:ph type="title" orient="vert"/>
          </p:nvPr>
        </p:nvSpPr>
        <p:spPr>
          <a:xfrm>
            <a:off x="6543675" y="274638"/>
            <a:ext cx="1971675" cy="4357687"/>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49A341F-4D4F-F1F6-963F-FC5C3951142F}"/>
              </a:ext>
            </a:extLst>
          </p:cNvPr>
          <p:cNvSpPr>
            <a:spLocks noGrp="1"/>
          </p:cNvSpPr>
          <p:nvPr>
            <p:ph type="body" orient="vert" idx="1"/>
          </p:nvPr>
        </p:nvSpPr>
        <p:spPr>
          <a:xfrm>
            <a:off x="628650" y="274638"/>
            <a:ext cx="5762625" cy="435768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9B351B1-0605-4D24-2044-458343047303}"/>
              </a:ext>
            </a:extLst>
          </p:cNvPr>
          <p:cNvSpPr>
            <a:spLocks noGrp="1"/>
          </p:cNvSpPr>
          <p:nvPr>
            <p:ph type="dt" sz="half" idx="10"/>
          </p:nvPr>
        </p:nvSpPr>
        <p:spPr/>
        <p:txBody>
          <a:bodyPr/>
          <a:lstStyle/>
          <a:p>
            <a:endParaRPr lang="es-ES"/>
          </a:p>
        </p:txBody>
      </p:sp>
      <p:sp>
        <p:nvSpPr>
          <p:cNvPr id="5" name="Marcador de pie de página 4">
            <a:extLst>
              <a:ext uri="{FF2B5EF4-FFF2-40B4-BE49-F238E27FC236}">
                <a16:creationId xmlns:a16="http://schemas.microsoft.com/office/drawing/2014/main" id="{68F53F17-CE02-AD10-1A5C-B27DE3EB784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E596D88-A4AE-EEA0-B3C8-5231B9DA7071}"/>
              </a:ext>
            </a:extLst>
          </p:cNvPr>
          <p:cNvSpPr>
            <a:spLocks noGrp="1"/>
          </p:cNvSpPr>
          <p:nvPr>
            <p:ph type="sldNum" sz="quarter" idx="12"/>
          </p:nvPr>
        </p:nvSpPr>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1311069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376AD883-9953-745D-1225-6AA195566B38}"/>
              </a:ext>
            </a:extLst>
          </p:cNvPr>
          <p:cNvSpPr>
            <a:spLocks noGrp="1"/>
          </p:cNvSpPr>
          <p:nvPr>
            <p:ph type="sldNum" sz="quarter" idx="12"/>
          </p:nvPr>
        </p:nvSpPr>
        <p:spPr>
          <a:xfrm>
            <a:off x="6457950" y="4767263"/>
            <a:ext cx="2057400" cy="274637"/>
          </a:xfrm>
        </p:spPr>
        <p:txBody>
          <a:bodyPr/>
          <a:lstStyle/>
          <a:p>
            <a:fld id="{621D377E-C6E5-404B-8AA2-3999D49F21B5}" type="slidenum">
              <a:rPr lang="es-ES" smtClean="0"/>
              <a:t>‹Nº›</a:t>
            </a:fld>
            <a:endParaRPr lang="es-ES"/>
          </a:p>
        </p:txBody>
      </p:sp>
    </p:spTree>
    <p:extLst>
      <p:ext uri="{BB962C8B-B14F-4D97-AF65-F5344CB8AC3E}">
        <p14:creationId xmlns:p14="http://schemas.microsoft.com/office/powerpoint/2010/main" val="1806611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650E0D2-A814-C2AA-BFFD-A5BB78D5D0F6}"/>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64961554-3698-D7CB-0CDD-67C0431B304C}"/>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F80483C-985A-8966-7D79-CDB24A17A868}"/>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s-ES"/>
          </a:p>
        </p:txBody>
      </p:sp>
      <p:sp>
        <p:nvSpPr>
          <p:cNvPr id="5" name="Marcador de pie de página 4">
            <a:extLst>
              <a:ext uri="{FF2B5EF4-FFF2-40B4-BE49-F238E27FC236}">
                <a16:creationId xmlns:a16="http://schemas.microsoft.com/office/drawing/2014/main" id="{89DD7CF7-1FD3-63F5-F032-7649F206493B}"/>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70D711D2-15BA-04A5-4940-5EA32FA6B925}"/>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621D377E-C6E5-404B-8AA2-3999D49F21B5}" type="slidenum">
              <a:rPr lang="es-ES" smtClean="0"/>
              <a:t>‹Nº›</a:t>
            </a:fld>
            <a:endParaRPr lang="es-ES"/>
          </a:p>
        </p:txBody>
      </p:sp>
    </p:spTree>
    <p:extLst>
      <p:ext uri="{BB962C8B-B14F-4D97-AF65-F5344CB8AC3E}">
        <p14:creationId xmlns:p14="http://schemas.microsoft.com/office/powerpoint/2010/main" val="343256522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4.jpe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3.sv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14.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svg"/><Relationship Id="rId9"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www.freepik.com/free-photos-vectors/x-logo" TargetMode="External"/><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hyperlink" Target="https://www.geeksforgeeks.org/c/linked-list-in-c/" TargetMode="External"/><Relationship Id="rId4" Type="http://schemas.openxmlformats.org/officeDocument/2006/relationships/hyperlink" Target="https://bitcoin.org/en/bitcoin-core"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youtu.be/V9Kr2SujqHw?si=TjAIiOdzJ0Vcv7RT" TargetMode="External"/><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hyperlink" Target="https://www.secg.org/sec2-v2.pdf" TargetMode="External"/><Relationship Id="rId4" Type="http://schemas.openxmlformats.org/officeDocument/2006/relationships/hyperlink" Target="https://bitcoin.org/bitcoin.pdf"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3A628F52-0B4C-4C72-0695-3678F72E1566}"/>
              </a:ext>
            </a:extLst>
          </p:cNvPr>
          <p:cNvSpPr/>
          <p:nvPr/>
        </p:nvSpPr>
        <p:spPr>
          <a:xfrm>
            <a:off x="494561" y="492290"/>
            <a:ext cx="8572500" cy="1205458"/>
          </a:xfrm>
          <a:prstGeom prst="rect">
            <a:avLst/>
          </a:prstGeom>
          <a:noFill/>
          <a:ln/>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700"/>
              </a:lnSpc>
              <a:buNone/>
            </a:pPr>
            <a:r>
              <a:rPr lang="en-US" sz="4400" b="1" kern="0" spc="-1" dirty="0">
                <a:solidFill>
                  <a:srgbClr val="000000"/>
                </a:solidFill>
              </a:rPr>
              <a:t>The Programmable
Trust</a:t>
            </a:r>
            <a:endParaRPr lang="en-US" sz="4400" dirty="0"/>
          </a:p>
        </p:txBody>
      </p:sp>
      <p:sp>
        <p:nvSpPr>
          <p:cNvPr id="10" name="Text 1">
            <a:extLst>
              <a:ext uri="{FF2B5EF4-FFF2-40B4-BE49-F238E27FC236}">
                <a16:creationId xmlns:a16="http://schemas.microsoft.com/office/drawing/2014/main" id="{FB028A64-75F4-4F8D-7406-45D88E57335A}"/>
              </a:ext>
            </a:extLst>
          </p:cNvPr>
          <p:cNvSpPr/>
          <p:nvPr/>
        </p:nvSpPr>
        <p:spPr>
          <a:xfrm>
            <a:off x="494562" y="2054065"/>
            <a:ext cx="3878691" cy="277512"/>
          </a:xfrm>
          <a:prstGeom prst="rect">
            <a:avLst/>
          </a:prstGeom>
          <a:noFill/>
          <a:ln/>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900"/>
              </a:lnSpc>
              <a:buNone/>
            </a:pPr>
            <a:r>
              <a:rPr lang="en-US" sz="2800" b="1" dirty="0">
                <a:solidFill>
                  <a:srgbClr val="FF6B35"/>
                </a:solidFill>
              </a:rPr>
              <a:t>Understanding Blockchain</a:t>
            </a:r>
            <a:endParaRPr lang="en-US" sz="2800" dirty="0"/>
          </a:p>
        </p:txBody>
      </p:sp>
      <p:sp>
        <p:nvSpPr>
          <p:cNvPr id="11" name="Text 2">
            <a:extLst>
              <a:ext uri="{FF2B5EF4-FFF2-40B4-BE49-F238E27FC236}">
                <a16:creationId xmlns:a16="http://schemas.microsoft.com/office/drawing/2014/main" id="{5082F35F-D0C1-781D-3811-A175B3AD981B}"/>
              </a:ext>
            </a:extLst>
          </p:cNvPr>
          <p:cNvSpPr/>
          <p:nvPr/>
        </p:nvSpPr>
        <p:spPr>
          <a:xfrm>
            <a:off x="706429" y="2952812"/>
            <a:ext cx="3945778" cy="386388"/>
          </a:xfrm>
          <a:prstGeom prst="rect">
            <a:avLst/>
          </a:prstGeom>
          <a:noFill/>
          <a:ln/>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00"/>
              </a:lnSpc>
              <a:buNone/>
            </a:pPr>
            <a:r>
              <a:rPr lang="en-US" sz="1400" dirty="0">
                <a:solidFill>
                  <a:srgbClr val="333333"/>
                </a:solidFill>
              </a:rPr>
              <a:t>Instant value transfer between strangers, without intermediaries.</a:t>
            </a:r>
            <a:endParaRPr lang="en-US" sz="1400" dirty="0"/>
          </a:p>
        </p:txBody>
      </p:sp>
      <p:sp>
        <p:nvSpPr>
          <p:cNvPr id="12" name="Text 3">
            <a:extLst>
              <a:ext uri="{FF2B5EF4-FFF2-40B4-BE49-F238E27FC236}">
                <a16:creationId xmlns:a16="http://schemas.microsoft.com/office/drawing/2014/main" id="{10247643-7FE3-7F17-2E43-04003AF1ED6B}"/>
              </a:ext>
            </a:extLst>
          </p:cNvPr>
          <p:cNvSpPr/>
          <p:nvPr/>
        </p:nvSpPr>
        <p:spPr>
          <a:xfrm>
            <a:off x="706429" y="3448577"/>
            <a:ext cx="3945778" cy="386388"/>
          </a:xfrm>
          <a:prstGeom prst="rect">
            <a:avLst/>
          </a:prstGeom>
          <a:noFill/>
          <a:ln/>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00"/>
              </a:lnSpc>
              <a:buNone/>
            </a:pPr>
            <a:r>
              <a:rPr lang="en-US" sz="1400" b="1" dirty="0">
                <a:solidFill>
                  <a:srgbClr val="FF6B35"/>
                </a:solidFill>
              </a:rPr>
              <a:t>Trust guaranteed by math and networks</a:t>
            </a:r>
            <a:r>
              <a:rPr lang="en-US" sz="1400" dirty="0">
                <a:solidFill>
                  <a:srgbClr val="333333"/>
                </a:solidFill>
              </a:rPr>
              <a:t>, not by institutions.</a:t>
            </a:r>
            <a:endParaRPr lang="en-US" sz="1200" dirty="0"/>
          </a:p>
        </p:txBody>
      </p:sp>
      <p:sp>
        <p:nvSpPr>
          <p:cNvPr id="13" name="Text 4">
            <a:extLst>
              <a:ext uri="{FF2B5EF4-FFF2-40B4-BE49-F238E27FC236}">
                <a16:creationId xmlns:a16="http://schemas.microsoft.com/office/drawing/2014/main" id="{1BBD2C0D-7579-AF85-E774-D5162DE0FE8E}"/>
              </a:ext>
            </a:extLst>
          </p:cNvPr>
          <p:cNvSpPr/>
          <p:nvPr/>
        </p:nvSpPr>
        <p:spPr>
          <a:xfrm>
            <a:off x="706428" y="3944342"/>
            <a:ext cx="4471187" cy="194027"/>
          </a:xfrm>
          <a:prstGeom prst="rect">
            <a:avLst/>
          </a:prstGeom>
          <a:noFill/>
          <a:ln/>
        </p:spPr>
        <p:txBody>
          <a:bodyPr wrap="squar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00"/>
              </a:lnSpc>
              <a:buNone/>
            </a:pPr>
            <a:r>
              <a:rPr lang="en-US" sz="1400" dirty="0">
                <a:solidFill>
                  <a:srgbClr val="333333"/>
                </a:solidFill>
              </a:rPr>
              <a:t>The most important technological shift of our generation.</a:t>
            </a:r>
            <a:endParaRPr lang="en-US" sz="1400" dirty="0"/>
          </a:p>
        </p:txBody>
      </p:sp>
      <p:sp>
        <p:nvSpPr>
          <p:cNvPr id="14" name="Text 2">
            <a:extLst>
              <a:ext uri="{FF2B5EF4-FFF2-40B4-BE49-F238E27FC236}">
                <a16:creationId xmlns:a16="http://schemas.microsoft.com/office/drawing/2014/main" id="{E4D0984B-A5A8-F286-0858-50EA5B6572AB}"/>
              </a:ext>
            </a:extLst>
          </p:cNvPr>
          <p:cNvSpPr/>
          <p:nvPr/>
        </p:nvSpPr>
        <p:spPr>
          <a:xfrm>
            <a:off x="6125550" y="4760393"/>
            <a:ext cx="2941511" cy="202556"/>
          </a:xfrm>
          <a:prstGeom prst="rect">
            <a:avLst/>
          </a:prstGeom>
          <a:noFill/>
          <a:ln/>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700"/>
              </a:lnSpc>
              <a:buNone/>
            </a:pPr>
            <a:r>
              <a:rPr lang="en-US" sz="1100" dirty="0"/>
              <a:t>Presenter: </a:t>
            </a:r>
            <a:r>
              <a:rPr lang="en-US" sz="1100" b="1" dirty="0"/>
              <a:t>Álvaro Puebla Ruisánchez - Group 5</a:t>
            </a:r>
            <a:endParaRPr lang="en-US" sz="1100" dirty="0"/>
          </a:p>
        </p:txBody>
      </p:sp>
      <p:sp>
        <p:nvSpPr>
          <p:cNvPr id="15" name="Text 3">
            <a:extLst>
              <a:ext uri="{FF2B5EF4-FFF2-40B4-BE49-F238E27FC236}">
                <a16:creationId xmlns:a16="http://schemas.microsoft.com/office/drawing/2014/main" id="{5F59907A-9099-E950-1D66-2FE8D1690F06}"/>
              </a:ext>
            </a:extLst>
          </p:cNvPr>
          <p:cNvSpPr/>
          <p:nvPr/>
        </p:nvSpPr>
        <p:spPr>
          <a:xfrm>
            <a:off x="171744" y="4760393"/>
            <a:ext cx="4967707" cy="202556"/>
          </a:xfrm>
          <a:prstGeom prst="rect">
            <a:avLst/>
          </a:prstGeom>
          <a:noFill/>
          <a:ln/>
        </p:spPr>
        <p:txBody>
          <a:bodyPr wrap="none" lIns="0" tIns="0" rIns="0" bIns="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700"/>
              </a:lnSpc>
              <a:buNone/>
            </a:pPr>
            <a:r>
              <a:rPr lang="en-US" sz="1100" dirty="0"/>
              <a:t>05-12-2025 / Computer Networks / Wrocław University of Science and Technology</a:t>
            </a:r>
          </a:p>
        </p:txBody>
      </p:sp>
      <p:sp>
        <p:nvSpPr>
          <p:cNvPr id="18" name="Shape 17">
            <a:extLst>
              <a:ext uri="{FF2B5EF4-FFF2-40B4-BE49-F238E27FC236}">
                <a16:creationId xmlns:a16="http://schemas.microsoft.com/office/drawing/2014/main" id="{8D9A103D-4FF3-6452-C00E-82BD50A5AF50}"/>
              </a:ext>
            </a:extLst>
          </p:cNvPr>
          <p:cNvSpPr/>
          <p:nvPr/>
        </p:nvSpPr>
        <p:spPr>
          <a:xfrm flipH="1">
            <a:off x="456397" y="2952811"/>
            <a:ext cx="45719" cy="1205459"/>
          </a:xfrm>
          <a:prstGeom prst="rect">
            <a:avLst/>
          </a:prstGeom>
          <a:solidFill>
            <a:srgbClr val="0055FF"/>
          </a:solidFill>
          <a:ln/>
        </p:spPr>
        <p:txBody>
          <a:bodyPr/>
          <a:lstStyle/>
          <a:p>
            <a:endParaRPr lang="es-ES"/>
          </a:p>
        </p:txBody>
      </p:sp>
      <p:pic>
        <p:nvPicPr>
          <p:cNvPr id="17" name="Imagen 16" descr="Una caricatura de una persona&#10;&#10;El contenido generado por IA puede ser incorrecto.">
            <a:extLst>
              <a:ext uri="{FF2B5EF4-FFF2-40B4-BE49-F238E27FC236}">
                <a16:creationId xmlns:a16="http://schemas.microsoft.com/office/drawing/2014/main" id="{28D3B896-869C-72E5-62F6-A60B5E2F9E9D}"/>
              </a:ext>
            </a:extLst>
          </p:cNvPr>
          <p:cNvPicPr>
            <a:picLocks noChangeAspect="1"/>
          </p:cNvPicPr>
          <p:nvPr/>
        </p:nvPicPr>
        <p:blipFill>
          <a:blip r:embed="rId3"/>
          <a:stretch>
            <a:fillRect/>
          </a:stretch>
        </p:blipFill>
        <p:spPr>
          <a:xfrm>
            <a:off x="5139451" y="1122521"/>
            <a:ext cx="3578425" cy="2385617"/>
          </a:xfrm>
          <a:prstGeom prst="round2DiagRect">
            <a:avLst>
              <a:gd name="adj1" fmla="val 40856"/>
              <a:gd name="adj2" fmla="val 18979"/>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71500" y="428625"/>
            <a:ext cx="5294976" cy="390235"/>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rPr>
              <a:t>Your Roadmap to Understand Blockchain</a:t>
            </a:r>
            <a:endParaRPr lang="en-US" sz="2436" dirty="0"/>
          </a:p>
        </p:txBody>
      </p:sp>
      <p:sp>
        <p:nvSpPr>
          <p:cNvPr id="4" name="Text 1"/>
          <p:cNvSpPr/>
          <p:nvPr/>
        </p:nvSpPr>
        <p:spPr>
          <a:xfrm>
            <a:off x="571500" y="1173945"/>
            <a:ext cx="2686441" cy="172291"/>
          </a:xfrm>
          <a:prstGeom prst="rect">
            <a:avLst/>
          </a:prstGeom>
          <a:noFill/>
          <a:ln/>
        </p:spPr>
        <p:txBody>
          <a:bodyPr wrap="none" lIns="0" tIns="0" rIns="0" bIns="0" rtlCol="0" anchor="t">
            <a:spAutoFit/>
          </a:bodyPr>
          <a:lstStyle/>
          <a:p>
            <a:pPr marL="0" indent="0" algn="l">
              <a:lnSpc>
                <a:spcPts val="1200"/>
              </a:lnSpc>
              <a:buNone/>
            </a:pPr>
            <a:r>
              <a:rPr lang="en-US" sz="1600" dirty="0">
                <a:solidFill>
                  <a:srgbClr val="333333"/>
                </a:solidFill>
              </a:rPr>
              <a:t>Seven key concepts to master:</a:t>
            </a:r>
            <a:endParaRPr lang="en-US" sz="1600" dirty="0"/>
          </a:p>
        </p:txBody>
      </p:sp>
      <p:grpSp>
        <p:nvGrpSpPr>
          <p:cNvPr id="92" name="Grupo 91">
            <a:extLst>
              <a:ext uri="{FF2B5EF4-FFF2-40B4-BE49-F238E27FC236}">
                <a16:creationId xmlns:a16="http://schemas.microsoft.com/office/drawing/2014/main" id="{8CD3636E-8C93-3D45-F21D-AAA97BB9DF86}"/>
              </a:ext>
            </a:extLst>
          </p:cNvPr>
          <p:cNvGrpSpPr/>
          <p:nvPr/>
        </p:nvGrpSpPr>
        <p:grpSpPr>
          <a:xfrm>
            <a:off x="439129" y="1454423"/>
            <a:ext cx="2606998" cy="3452856"/>
            <a:chOff x="439129" y="1454423"/>
            <a:chExt cx="2606998" cy="3452856"/>
          </a:xfrm>
        </p:grpSpPr>
        <p:sp>
          <p:nvSpPr>
            <p:cNvPr id="5" name="Text 2"/>
            <p:cNvSpPr/>
            <p:nvPr/>
          </p:nvSpPr>
          <p:spPr>
            <a:xfrm>
              <a:off x="571500" y="1534120"/>
              <a:ext cx="357188"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55FF"/>
                  </a:solidFill>
                </a:rPr>
                <a:t>1</a:t>
              </a:r>
              <a:endParaRPr lang="en-US" sz="1602" dirty="0"/>
            </a:p>
          </p:txBody>
        </p:sp>
        <p:sp>
          <p:nvSpPr>
            <p:cNvPr id="6" name="Text 3"/>
            <p:cNvSpPr/>
            <p:nvPr/>
          </p:nvSpPr>
          <p:spPr>
            <a:xfrm>
              <a:off x="928688" y="1595079"/>
              <a:ext cx="2117439"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1A1A1A"/>
                  </a:solidFill>
                </a:rPr>
                <a:t>Centralization vs. Decentralization</a:t>
              </a:r>
              <a:endParaRPr lang="en-US" sz="1200" dirty="0"/>
            </a:p>
          </p:txBody>
        </p:sp>
        <p:sp>
          <p:nvSpPr>
            <p:cNvPr id="7" name="Text 4"/>
            <p:cNvSpPr/>
            <p:nvPr/>
          </p:nvSpPr>
          <p:spPr>
            <a:xfrm>
              <a:off x="571500" y="2025253"/>
              <a:ext cx="357188"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55FF"/>
                  </a:solidFill>
                </a:rPr>
                <a:t>2</a:t>
              </a:r>
              <a:endParaRPr lang="en-US" sz="1602" dirty="0"/>
            </a:p>
          </p:txBody>
        </p:sp>
        <p:sp>
          <p:nvSpPr>
            <p:cNvPr id="8" name="Text 5"/>
            <p:cNvSpPr/>
            <p:nvPr/>
          </p:nvSpPr>
          <p:spPr>
            <a:xfrm>
              <a:off x="928688" y="2085731"/>
              <a:ext cx="1744132"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1A1A1A"/>
                  </a:solidFill>
                </a:rPr>
                <a:t>The Blockchain Architecture</a:t>
              </a:r>
              <a:endParaRPr lang="en-US" sz="1200" dirty="0"/>
            </a:p>
          </p:txBody>
        </p:sp>
        <p:sp>
          <p:nvSpPr>
            <p:cNvPr id="9" name="Text 6"/>
            <p:cNvSpPr/>
            <p:nvPr/>
          </p:nvSpPr>
          <p:spPr>
            <a:xfrm>
              <a:off x="571500" y="2516386"/>
              <a:ext cx="357188"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55FF"/>
                  </a:solidFill>
                </a:rPr>
                <a:t>3</a:t>
              </a:r>
              <a:endParaRPr lang="en-US" sz="1602" dirty="0"/>
            </a:p>
          </p:txBody>
        </p:sp>
        <p:sp>
          <p:nvSpPr>
            <p:cNvPr id="10" name="Text 7"/>
            <p:cNvSpPr/>
            <p:nvPr/>
          </p:nvSpPr>
          <p:spPr>
            <a:xfrm>
              <a:off x="934457" y="2582647"/>
              <a:ext cx="1822615"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1A1A1A"/>
                  </a:solidFill>
                </a:rPr>
                <a:t>Trust Without Intermediaries</a:t>
              </a:r>
              <a:endParaRPr lang="en-US" sz="1200" dirty="0"/>
            </a:p>
          </p:txBody>
        </p:sp>
        <p:sp>
          <p:nvSpPr>
            <p:cNvPr id="11" name="Text 8"/>
            <p:cNvSpPr/>
            <p:nvPr/>
          </p:nvSpPr>
          <p:spPr>
            <a:xfrm>
              <a:off x="571500" y="3007519"/>
              <a:ext cx="357188"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55FF"/>
                  </a:solidFill>
                </a:rPr>
                <a:t>4</a:t>
              </a:r>
              <a:endParaRPr lang="en-US" sz="1602" dirty="0"/>
            </a:p>
          </p:txBody>
        </p:sp>
        <p:sp>
          <p:nvSpPr>
            <p:cNvPr id="12" name="Text 9"/>
            <p:cNvSpPr/>
            <p:nvPr/>
          </p:nvSpPr>
          <p:spPr>
            <a:xfrm>
              <a:off x="934457" y="3072886"/>
              <a:ext cx="1613262" cy="179536"/>
            </a:xfrm>
            <a:prstGeom prst="rect">
              <a:avLst/>
            </a:prstGeom>
            <a:noFill/>
            <a:ln/>
          </p:spPr>
          <p:txBody>
            <a:bodyPr wrap="none" lIns="0" tIns="0" rIns="0" bIns="0" rtlCol="0" anchor="t">
              <a:spAutoFit/>
            </a:bodyPr>
            <a:lstStyle/>
            <a:p>
              <a:pPr marL="0" indent="0" algn="l">
                <a:lnSpc>
                  <a:spcPts val="1400"/>
                </a:lnSpc>
                <a:buNone/>
              </a:pPr>
              <a:r>
                <a:rPr lang="en-US" sz="1200" dirty="0">
                  <a:solidFill>
                    <a:srgbClr val="1A1A1A"/>
                  </a:solidFill>
                </a:rPr>
                <a:t>Proof of Work and Mining</a:t>
              </a:r>
              <a:endParaRPr lang="en-US" sz="1200" dirty="0"/>
            </a:p>
          </p:txBody>
        </p:sp>
        <p:sp>
          <p:nvSpPr>
            <p:cNvPr id="13" name="Text 10"/>
            <p:cNvSpPr/>
            <p:nvPr/>
          </p:nvSpPr>
          <p:spPr>
            <a:xfrm>
              <a:off x="571500" y="3498652"/>
              <a:ext cx="357188"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55FF"/>
                  </a:solidFill>
                </a:rPr>
                <a:t>5</a:t>
              </a:r>
              <a:endParaRPr lang="en-US" sz="1602" dirty="0"/>
            </a:p>
          </p:txBody>
        </p:sp>
        <p:sp>
          <p:nvSpPr>
            <p:cNvPr id="14" name="Text 11"/>
            <p:cNvSpPr/>
            <p:nvPr/>
          </p:nvSpPr>
          <p:spPr>
            <a:xfrm>
              <a:off x="928688" y="3558958"/>
              <a:ext cx="1529265" cy="179536"/>
            </a:xfrm>
            <a:prstGeom prst="rect">
              <a:avLst/>
            </a:prstGeom>
            <a:noFill/>
            <a:ln/>
          </p:spPr>
          <p:txBody>
            <a:bodyPr wrap="none" lIns="0" tIns="0" rIns="0" bIns="0" rtlCol="0" anchor="t">
              <a:spAutoFit/>
            </a:bodyPr>
            <a:lstStyle/>
            <a:p>
              <a:pPr marL="0" indent="0" algn="l">
                <a:lnSpc>
                  <a:spcPts val="1400"/>
                </a:lnSpc>
                <a:buNone/>
              </a:pPr>
              <a:r>
                <a:rPr lang="en-US" sz="1200" dirty="0"/>
                <a:t>Keys Public and Private</a:t>
              </a:r>
            </a:p>
          </p:txBody>
        </p:sp>
        <p:sp>
          <p:nvSpPr>
            <p:cNvPr id="15" name="Text 12"/>
            <p:cNvSpPr/>
            <p:nvPr/>
          </p:nvSpPr>
          <p:spPr>
            <a:xfrm>
              <a:off x="571500" y="3989784"/>
              <a:ext cx="357188"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55FF"/>
                  </a:solidFill>
                </a:rPr>
                <a:t>6</a:t>
              </a:r>
              <a:endParaRPr lang="en-US" sz="1602" dirty="0"/>
            </a:p>
          </p:txBody>
        </p:sp>
        <p:sp>
          <p:nvSpPr>
            <p:cNvPr id="16" name="Text 13"/>
            <p:cNvSpPr/>
            <p:nvPr/>
          </p:nvSpPr>
          <p:spPr>
            <a:xfrm>
              <a:off x="923977" y="4050996"/>
              <a:ext cx="1590500" cy="179536"/>
            </a:xfrm>
            <a:prstGeom prst="rect">
              <a:avLst/>
            </a:prstGeom>
            <a:noFill/>
            <a:ln/>
          </p:spPr>
          <p:txBody>
            <a:bodyPr wrap="none" lIns="0" tIns="0" rIns="0" bIns="0" rtlCol="0" anchor="t">
              <a:spAutoFit/>
            </a:bodyPr>
            <a:lstStyle/>
            <a:p>
              <a:pPr marL="0" indent="0" algn="l">
                <a:lnSpc>
                  <a:spcPts val="1400"/>
                </a:lnSpc>
                <a:buNone/>
              </a:pPr>
              <a:r>
                <a:rPr lang="en-US" sz="1200" dirty="0"/>
                <a:t>Real World Applications</a:t>
              </a:r>
            </a:p>
          </p:txBody>
        </p:sp>
        <p:sp>
          <p:nvSpPr>
            <p:cNvPr id="17" name="Text 14"/>
            <p:cNvSpPr/>
            <p:nvPr/>
          </p:nvSpPr>
          <p:spPr>
            <a:xfrm>
              <a:off x="571500" y="4480917"/>
              <a:ext cx="357188"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055FF"/>
                  </a:solidFill>
                </a:rPr>
                <a:t>7</a:t>
              </a:r>
              <a:endParaRPr lang="en-US" sz="1602" dirty="0"/>
            </a:p>
          </p:txBody>
        </p:sp>
        <p:sp>
          <p:nvSpPr>
            <p:cNvPr id="18" name="Text 15"/>
            <p:cNvSpPr/>
            <p:nvPr/>
          </p:nvSpPr>
          <p:spPr>
            <a:xfrm>
              <a:off x="923977" y="4541854"/>
              <a:ext cx="750655" cy="179536"/>
            </a:xfrm>
            <a:prstGeom prst="rect">
              <a:avLst/>
            </a:prstGeom>
            <a:noFill/>
            <a:ln/>
          </p:spPr>
          <p:txBody>
            <a:bodyPr wrap="none" lIns="0" tIns="0" rIns="0" bIns="0" rtlCol="0" anchor="t">
              <a:spAutoFit/>
            </a:bodyPr>
            <a:lstStyle/>
            <a:p>
              <a:pPr>
                <a:lnSpc>
                  <a:spcPts val="1400"/>
                </a:lnSpc>
              </a:pPr>
              <a:r>
                <a:rPr lang="en-US" sz="1200" dirty="0"/>
                <a:t>Challenges</a:t>
              </a:r>
            </a:p>
          </p:txBody>
        </p:sp>
        <p:sp>
          <p:nvSpPr>
            <p:cNvPr id="20" name="Shape 17"/>
            <p:cNvSpPr/>
            <p:nvPr/>
          </p:nvSpPr>
          <p:spPr>
            <a:xfrm>
              <a:off x="439129" y="1454423"/>
              <a:ext cx="45719" cy="3452856"/>
            </a:xfrm>
            <a:prstGeom prst="rect">
              <a:avLst/>
            </a:prstGeom>
            <a:solidFill>
              <a:srgbClr val="0055FF"/>
            </a:solidFill>
            <a:ln/>
          </p:spPr>
          <p:txBody>
            <a:bodyPr/>
            <a:lstStyle/>
            <a:p>
              <a:endParaRPr lang="es-ES"/>
            </a:p>
          </p:txBody>
        </p:sp>
      </p:grpSp>
      <p:grpSp>
        <p:nvGrpSpPr>
          <p:cNvPr id="94" name="Grupo 93">
            <a:extLst>
              <a:ext uri="{FF2B5EF4-FFF2-40B4-BE49-F238E27FC236}">
                <a16:creationId xmlns:a16="http://schemas.microsoft.com/office/drawing/2014/main" id="{2E8605BA-E490-D3F1-89F1-FC295043CFD4}"/>
              </a:ext>
            </a:extLst>
          </p:cNvPr>
          <p:cNvGrpSpPr/>
          <p:nvPr/>
        </p:nvGrpSpPr>
        <p:grpSpPr>
          <a:xfrm>
            <a:off x="5223663" y="2243498"/>
            <a:ext cx="1971023" cy="1685427"/>
            <a:chOff x="5223663" y="2243498"/>
            <a:chExt cx="1971023" cy="1685427"/>
          </a:xfrm>
        </p:grpSpPr>
        <p:sp>
          <p:nvSpPr>
            <p:cNvPr id="22" name="Rectángulo 21">
              <a:extLst>
                <a:ext uri="{FF2B5EF4-FFF2-40B4-BE49-F238E27FC236}">
                  <a16:creationId xmlns:a16="http://schemas.microsoft.com/office/drawing/2014/main" id="{70C9733A-B7CA-C8C8-03A8-0BC5109A3648}"/>
                </a:ext>
              </a:extLst>
            </p:cNvPr>
            <p:cNvSpPr/>
            <p:nvPr/>
          </p:nvSpPr>
          <p:spPr>
            <a:xfrm>
              <a:off x="5223663" y="2243498"/>
              <a:ext cx="1971023" cy="1685427"/>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21" name="Grupo 20">
              <a:extLst>
                <a:ext uri="{FF2B5EF4-FFF2-40B4-BE49-F238E27FC236}">
                  <a16:creationId xmlns:a16="http://schemas.microsoft.com/office/drawing/2014/main" id="{AC41860C-8F64-AB14-B6C7-277D4D623268}"/>
                </a:ext>
              </a:extLst>
            </p:cNvPr>
            <p:cNvGrpSpPr/>
            <p:nvPr/>
          </p:nvGrpSpPr>
          <p:grpSpPr>
            <a:xfrm>
              <a:off x="5384671" y="2825500"/>
              <a:ext cx="1649006" cy="192209"/>
              <a:chOff x="5088890" y="2121891"/>
              <a:chExt cx="2367280" cy="312539"/>
            </a:xfrm>
          </p:grpSpPr>
          <p:sp>
            <p:nvSpPr>
              <p:cNvPr id="23" name="Rectángulo 22">
                <a:extLst>
                  <a:ext uri="{FF2B5EF4-FFF2-40B4-BE49-F238E27FC236}">
                    <a16:creationId xmlns:a16="http://schemas.microsoft.com/office/drawing/2014/main" id="{FC889CBE-819D-1763-7E5E-1AB3ABADC4B6}"/>
                  </a:ext>
                </a:extLst>
              </p:cNvPr>
              <p:cNvSpPr/>
              <p:nvPr/>
            </p:nvSpPr>
            <p:spPr>
              <a:xfrm>
                <a:off x="5088890" y="2121891"/>
                <a:ext cx="2367280" cy="312539"/>
              </a:xfrm>
              <a:prstGeom prst="rect">
                <a:avLst/>
              </a:prstGeom>
              <a:solidFill>
                <a:srgbClr val="369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Text 1">
                <a:extLst>
                  <a:ext uri="{FF2B5EF4-FFF2-40B4-BE49-F238E27FC236}">
                    <a16:creationId xmlns:a16="http://schemas.microsoft.com/office/drawing/2014/main" id="{EAA4BC34-4A08-EB5A-193B-09C82C0F8794}"/>
                  </a:ext>
                </a:extLst>
              </p:cNvPr>
              <p:cNvSpPr/>
              <p:nvPr/>
            </p:nvSpPr>
            <p:spPr>
              <a:xfrm>
                <a:off x="5727561" y="2142049"/>
                <a:ext cx="1109197" cy="250229"/>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Transaction 2</a:t>
                </a:r>
              </a:p>
            </p:txBody>
          </p:sp>
        </p:grpSp>
        <p:grpSp>
          <p:nvGrpSpPr>
            <p:cNvPr id="28" name="Grupo 27">
              <a:extLst>
                <a:ext uri="{FF2B5EF4-FFF2-40B4-BE49-F238E27FC236}">
                  <a16:creationId xmlns:a16="http://schemas.microsoft.com/office/drawing/2014/main" id="{C0AC6743-AB61-1446-08EC-258DEF6CC603}"/>
                </a:ext>
              </a:extLst>
            </p:cNvPr>
            <p:cNvGrpSpPr/>
            <p:nvPr/>
          </p:nvGrpSpPr>
          <p:grpSpPr>
            <a:xfrm>
              <a:off x="5388210" y="3063023"/>
              <a:ext cx="1649006" cy="192209"/>
              <a:chOff x="5088890" y="2121891"/>
              <a:chExt cx="2367280" cy="312539"/>
            </a:xfrm>
          </p:grpSpPr>
          <p:sp>
            <p:nvSpPr>
              <p:cNvPr id="29" name="Rectángulo 28">
                <a:extLst>
                  <a:ext uri="{FF2B5EF4-FFF2-40B4-BE49-F238E27FC236}">
                    <a16:creationId xmlns:a16="http://schemas.microsoft.com/office/drawing/2014/main" id="{8EF7842D-4F52-740F-6905-554D0823CC84}"/>
                  </a:ext>
                </a:extLst>
              </p:cNvPr>
              <p:cNvSpPr/>
              <p:nvPr/>
            </p:nvSpPr>
            <p:spPr>
              <a:xfrm>
                <a:off x="5088890" y="2121891"/>
                <a:ext cx="2367280" cy="312539"/>
              </a:xfrm>
              <a:prstGeom prst="rect">
                <a:avLst/>
              </a:prstGeom>
              <a:solidFill>
                <a:srgbClr val="369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Text 1">
                <a:extLst>
                  <a:ext uri="{FF2B5EF4-FFF2-40B4-BE49-F238E27FC236}">
                    <a16:creationId xmlns:a16="http://schemas.microsoft.com/office/drawing/2014/main" id="{2B00FE32-7EDA-B6A3-FD11-3F63BD06A380}"/>
                  </a:ext>
                </a:extLst>
              </p:cNvPr>
              <p:cNvSpPr/>
              <p:nvPr/>
            </p:nvSpPr>
            <p:spPr>
              <a:xfrm>
                <a:off x="5726408" y="2142049"/>
                <a:ext cx="1111499" cy="250229"/>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Transaction 3</a:t>
                </a:r>
              </a:p>
            </p:txBody>
          </p:sp>
        </p:grpSp>
        <p:grpSp>
          <p:nvGrpSpPr>
            <p:cNvPr id="44" name="Grupo 43">
              <a:extLst>
                <a:ext uri="{FF2B5EF4-FFF2-40B4-BE49-F238E27FC236}">
                  <a16:creationId xmlns:a16="http://schemas.microsoft.com/office/drawing/2014/main" id="{C56962DC-0ABD-828F-AEFE-ED64F9620E00}"/>
                </a:ext>
              </a:extLst>
            </p:cNvPr>
            <p:cNvGrpSpPr/>
            <p:nvPr/>
          </p:nvGrpSpPr>
          <p:grpSpPr>
            <a:xfrm>
              <a:off x="5384671" y="3643336"/>
              <a:ext cx="1649006" cy="192209"/>
              <a:chOff x="5088890" y="1705574"/>
              <a:chExt cx="2367280" cy="312539"/>
            </a:xfrm>
          </p:grpSpPr>
          <p:sp>
            <p:nvSpPr>
              <p:cNvPr id="45" name="Rectángulo 44">
                <a:extLst>
                  <a:ext uri="{FF2B5EF4-FFF2-40B4-BE49-F238E27FC236}">
                    <a16:creationId xmlns:a16="http://schemas.microsoft.com/office/drawing/2014/main" id="{BAE26438-665E-3207-26AC-1A5D3792B2E8}"/>
                  </a:ext>
                </a:extLst>
              </p:cNvPr>
              <p:cNvSpPr/>
              <p:nvPr/>
            </p:nvSpPr>
            <p:spPr>
              <a:xfrm>
                <a:off x="5088890" y="1705574"/>
                <a:ext cx="2367280" cy="312539"/>
              </a:xfrm>
              <a:prstGeom prst="rect">
                <a:avLst/>
              </a:prstGeom>
              <a:solidFill>
                <a:srgbClr val="18435B">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Text 1">
                <a:extLst>
                  <a:ext uri="{FF2B5EF4-FFF2-40B4-BE49-F238E27FC236}">
                    <a16:creationId xmlns:a16="http://schemas.microsoft.com/office/drawing/2014/main" id="{FA6C37E9-68D1-C2E9-8BA9-DFBDB0ADB694}"/>
                  </a:ext>
                </a:extLst>
              </p:cNvPr>
              <p:cNvSpPr/>
              <p:nvPr/>
            </p:nvSpPr>
            <p:spPr>
              <a:xfrm>
                <a:off x="5212084" y="1719078"/>
                <a:ext cx="2140153" cy="250228"/>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HASH: </a:t>
                </a:r>
                <a:r>
                  <a:rPr lang="en-US" sz="1000" dirty="0">
                    <a:solidFill>
                      <a:srgbClr val="75E1E8"/>
                    </a:solidFill>
                    <a:latin typeface="Bahnschrift" panose="020B0502040204020203" pitchFamily="34" charset="0"/>
                  </a:rPr>
                  <a:t>00000000</a:t>
                </a:r>
                <a:r>
                  <a:rPr lang="en-US" sz="1000" dirty="0">
                    <a:solidFill>
                      <a:srgbClr val="DAF2FF"/>
                    </a:solidFill>
                    <a:latin typeface="Bahnschrift" panose="020B0502040204020203" pitchFamily="34" charset="0"/>
                  </a:rPr>
                  <a:t>3bcfff29…</a:t>
                </a:r>
              </a:p>
            </p:txBody>
          </p:sp>
        </p:grpSp>
        <p:sp>
          <p:nvSpPr>
            <p:cNvPr id="32" name="Rectángulo 31">
              <a:extLst>
                <a:ext uri="{FF2B5EF4-FFF2-40B4-BE49-F238E27FC236}">
                  <a16:creationId xmlns:a16="http://schemas.microsoft.com/office/drawing/2014/main" id="{AE079859-EF5E-D881-E6F9-91F9B59C43C6}"/>
                </a:ext>
              </a:extLst>
            </p:cNvPr>
            <p:cNvSpPr/>
            <p:nvPr/>
          </p:nvSpPr>
          <p:spPr>
            <a:xfrm>
              <a:off x="5384671" y="3318970"/>
              <a:ext cx="1649006" cy="263205"/>
            </a:xfrm>
            <a:prstGeom prst="rect">
              <a:avLst/>
            </a:prstGeom>
            <a:solidFill>
              <a:srgbClr val="69B4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35" name="Grupo 34">
              <a:extLst>
                <a:ext uri="{FF2B5EF4-FFF2-40B4-BE49-F238E27FC236}">
                  <a16:creationId xmlns:a16="http://schemas.microsoft.com/office/drawing/2014/main" id="{95045D45-8B5C-878D-B77C-8FFD779F9D55}"/>
                </a:ext>
              </a:extLst>
            </p:cNvPr>
            <p:cNvGrpSpPr/>
            <p:nvPr/>
          </p:nvGrpSpPr>
          <p:grpSpPr>
            <a:xfrm>
              <a:off x="5384671" y="2331946"/>
              <a:ext cx="1649006" cy="192209"/>
              <a:chOff x="5088890" y="1705574"/>
              <a:chExt cx="2367280" cy="312539"/>
            </a:xfrm>
          </p:grpSpPr>
          <p:sp>
            <p:nvSpPr>
              <p:cNvPr id="25" name="Rectángulo 24">
                <a:extLst>
                  <a:ext uri="{FF2B5EF4-FFF2-40B4-BE49-F238E27FC236}">
                    <a16:creationId xmlns:a16="http://schemas.microsoft.com/office/drawing/2014/main" id="{01D84166-512C-4B49-6E88-DCEFD40E5727}"/>
                  </a:ext>
                </a:extLst>
              </p:cNvPr>
              <p:cNvSpPr/>
              <p:nvPr/>
            </p:nvSpPr>
            <p:spPr>
              <a:xfrm>
                <a:off x="5088890" y="1705574"/>
                <a:ext cx="2367280" cy="312539"/>
              </a:xfrm>
              <a:prstGeom prst="rect">
                <a:avLst/>
              </a:prstGeom>
              <a:solidFill>
                <a:srgbClr val="18435B">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Text 1">
                <a:extLst>
                  <a:ext uri="{FF2B5EF4-FFF2-40B4-BE49-F238E27FC236}">
                    <a16:creationId xmlns:a16="http://schemas.microsoft.com/office/drawing/2014/main" id="{B977B3CB-861E-86AB-D911-9BD1323D3C5E}"/>
                  </a:ext>
                </a:extLst>
              </p:cNvPr>
              <p:cNvSpPr/>
              <p:nvPr/>
            </p:nvSpPr>
            <p:spPr>
              <a:xfrm>
                <a:off x="5190223" y="1719077"/>
                <a:ext cx="2183876" cy="250228"/>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HASH: </a:t>
                </a:r>
                <a:r>
                  <a:rPr lang="en-US" sz="1000" dirty="0">
                    <a:solidFill>
                      <a:srgbClr val="75E1E8"/>
                    </a:solidFill>
                    <a:latin typeface="Bahnschrift" panose="020B0502040204020203" pitchFamily="34" charset="0"/>
                  </a:rPr>
                  <a:t>00000000</a:t>
                </a:r>
                <a:r>
                  <a:rPr lang="en-US" sz="1000" dirty="0">
                    <a:solidFill>
                      <a:srgbClr val="DAF2FF"/>
                    </a:solidFill>
                    <a:latin typeface="Bahnschrift" panose="020B0502040204020203" pitchFamily="34" charset="0"/>
                  </a:rPr>
                  <a:t>5669ffa3…</a:t>
                </a:r>
              </a:p>
            </p:txBody>
          </p:sp>
        </p:grpSp>
        <p:grpSp>
          <p:nvGrpSpPr>
            <p:cNvPr id="19" name="Grupo 18">
              <a:extLst>
                <a:ext uri="{FF2B5EF4-FFF2-40B4-BE49-F238E27FC236}">
                  <a16:creationId xmlns:a16="http://schemas.microsoft.com/office/drawing/2014/main" id="{E6699B24-A79B-82DD-688C-D91AEC5EF946}"/>
                </a:ext>
              </a:extLst>
            </p:cNvPr>
            <p:cNvGrpSpPr/>
            <p:nvPr/>
          </p:nvGrpSpPr>
          <p:grpSpPr>
            <a:xfrm>
              <a:off x="5384671" y="2587977"/>
              <a:ext cx="1649006" cy="192209"/>
              <a:chOff x="5088890" y="2121891"/>
              <a:chExt cx="2367280" cy="312539"/>
            </a:xfrm>
          </p:grpSpPr>
          <p:sp>
            <p:nvSpPr>
              <p:cNvPr id="26" name="Rectángulo 25">
                <a:extLst>
                  <a:ext uri="{FF2B5EF4-FFF2-40B4-BE49-F238E27FC236}">
                    <a16:creationId xmlns:a16="http://schemas.microsoft.com/office/drawing/2014/main" id="{E044D5E8-C850-49FF-2AE8-9EBECF467DF4}"/>
                  </a:ext>
                </a:extLst>
              </p:cNvPr>
              <p:cNvSpPr/>
              <p:nvPr/>
            </p:nvSpPr>
            <p:spPr>
              <a:xfrm>
                <a:off x="5088890" y="2121891"/>
                <a:ext cx="2367280" cy="312539"/>
              </a:xfrm>
              <a:prstGeom prst="rect">
                <a:avLst/>
              </a:prstGeom>
              <a:solidFill>
                <a:srgbClr val="369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ext 1">
                <a:extLst>
                  <a:ext uri="{FF2B5EF4-FFF2-40B4-BE49-F238E27FC236}">
                    <a16:creationId xmlns:a16="http://schemas.microsoft.com/office/drawing/2014/main" id="{2C9ECC17-8497-FA30-10F6-167DA7D175C0}"/>
                  </a:ext>
                </a:extLst>
              </p:cNvPr>
              <p:cNvSpPr/>
              <p:nvPr/>
            </p:nvSpPr>
            <p:spPr>
              <a:xfrm>
                <a:off x="5743670" y="2142049"/>
                <a:ext cx="1076979" cy="250229"/>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Transaction 1</a:t>
                </a:r>
              </a:p>
            </p:txBody>
          </p:sp>
        </p:grpSp>
        <p:sp>
          <p:nvSpPr>
            <p:cNvPr id="43" name="Text 1">
              <a:extLst>
                <a:ext uri="{FF2B5EF4-FFF2-40B4-BE49-F238E27FC236}">
                  <a16:creationId xmlns:a16="http://schemas.microsoft.com/office/drawing/2014/main" id="{6ECE814D-3067-01C7-BAD5-7ECACB4CB1C5}"/>
                </a:ext>
              </a:extLst>
            </p:cNvPr>
            <p:cNvSpPr/>
            <p:nvPr/>
          </p:nvSpPr>
          <p:spPr>
            <a:xfrm>
              <a:off x="6143763" y="3396068"/>
              <a:ext cx="169918" cy="153888"/>
            </a:xfrm>
            <a:prstGeom prst="rect">
              <a:avLst/>
            </a:prstGeom>
            <a:noFill/>
            <a:ln/>
          </p:spPr>
          <p:txBody>
            <a:bodyPr wrap="none" lIns="0" tIns="0" rIns="0" bIns="0" rtlCol="0" anchor="t">
              <a:spAutoFit/>
            </a:bodyPr>
            <a:lstStyle/>
            <a:p>
              <a:pPr marL="0" indent="0" algn="ctr">
                <a:lnSpc>
                  <a:spcPts val="1200"/>
                </a:lnSpc>
                <a:buNone/>
              </a:pPr>
              <a:r>
                <a:rPr lang="en-US" sz="1200" dirty="0">
                  <a:solidFill>
                    <a:srgbClr val="DAF2FF"/>
                  </a:solidFill>
                  <a:latin typeface="Bahnschrift" panose="020B0502040204020203" pitchFamily="34" charset="0"/>
                </a:rPr>
                <a:t>43</a:t>
              </a:r>
              <a:endParaRPr lang="en-US" sz="1000" dirty="0">
                <a:solidFill>
                  <a:srgbClr val="DAF2FF"/>
                </a:solidFill>
                <a:latin typeface="Bahnschrift" panose="020B0502040204020203" pitchFamily="34" charset="0"/>
              </a:endParaRPr>
            </a:p>
          </p:txBody>
        </p:sp>
      </p:grpSp>
      <p:grpSp>
        <p:nvGrpSpPr>
          <p:cNvPr id="95" name="Grupo 94">
            <a:extLst>
              <a:ext uri="{FF2B5EF4-FFF2-40B4-BE49-F238E27FC236}">
                <a16:creationId xmlns:a16="http://schemas.microsoft.com/office/drawing/2014/main" id="{E5F93B69-31E3-CFC9-6E04-85E356E41B4C}"/>
              </a:ext>
            </a:extLst>
          </p:cNvPr>
          <p:cNvGrpSpPr/>
          <p:nvPr/>
        </p:nvGrpSpPr>
        <p:grpSpPr>
          <a:xfrm>
            <a:off x="7363434" y="2246956"/>
            <a:ext cx="1971023" cy="1685427"/>
            <a:chOff x="7363434" y="2246956"/>
            <a:chExt cx="1971023" cy="1685427"/>
          </a:xfrm>
        </p:grpSpPr>
        <p:sp>
          <p:nvSpPr>
            <p:cNvPr id="50" name="Rectángulo 49">
              <a:extLst>
                <a:ext uri="{FF2B5EF4-FFF2-40B4-BE49-F238E27FC236}">
                  <a16:creationId xmlns:a16="http://schemas.microsoft.com/office/drawing/2014/main" id="{8F57C648-DC41-F95C-CEDD-765BC2CF5EE2}"/>
                </a:ext>
              </a:extLst>
            </p:cNvPr>
            <p:cNvSpPr/>
            <p:nvPr/>
          </p:nvSpPr>
          <p:spPr>
            <a:xfrm>
              <a:off x="7363434" y="2246956"/>
              <a:ext cx="1971023" cy="1685427"/>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51" name="Grupo 50">
              <a:extLst>
                <a:ext uri="{FF2B5EF4-FFF2-40B4-BE49-F238E27FC236}">
                  <a16:creationId xmlns:a16="http://schemas.microsoft.com/office/drawing/2014/main" id="{39466036-4E99-0B9E-CD67-782AE7709216}"/>
                </a:ext>
              </a:extLst>
            </p:cNvPr>
            <p:cNvGrpSpPr/>
            <p:nvPr/>
          </p:nvGrpSpPr>
          <p:grpSpPr>
            <a:xfrm>
              <a:off x="7524442" y="2828958"/>
              <a:ext cx="1649006" cy="192209"/>
              <a:chOff x="5088890" y="2121891"/>
              <a:chExt cx="2367280" cy="312539"/>
            </a:xfrm>
          </p:grpSpPr>
          <p:sp>
            <p:nvSpPr>
              <p:cNvPr id="66" name="Rectángulo 65">
                <a:extLst>
                  <a:ext uri="{FF2B5EF4-FFF2-40B4-BE49-F238E27FC236}">
                    <a16:creationId xmlns:a16="http://schemas.microsoft.com/office/drawing/2014/main" id="{9F06E54B-CA2F-6728-254B-A15D97C958B9}"/>
                  </a:ext>
                </a:extLst>
              </p:cNvPr>
              <p:cNvSpPr/>
              <p:nvPr/>
            </p:nvSpPr>
            <p:spPr>
              <a:xfrm>
                <a:off x="5088890" y="2121891"/>
                <a:ext cx="2367280" cy="312539"/>
              </a:xfrm>
              <a:prstGeom prst="rect">
                <a:avLst/>
              </a:prstGeom>
              <a:solidFill>
                <a:srgbClr val="369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 name="Text 1">
                <a:extLst>
                  <a:ext uri="{FF2B5EF4-FFF2-40B4-BE49-F238E27FC236}">
                    <a16:creationId xmlns:a16="http://schemas.microsoft.com/office/drawing/2014/main" id="{77C35F76-E351-9C17-19CD-7D098910F313}"/>
                  </a:ext>
                </a:extLst>
              </p:cNvPr>
              <p:cNvSpPr/>
              <p:nvPr/>
            </p:nvSpPr>
            <p:spPr>
              <a:xfrm>
                <a:off x="5727561" y="2142049"/>
                <a:ext cx="1109197" cy="250229"/>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Transaction 2</a:t>
                </a:r>
              </a:p>
            </p:txBody>
          </p:sp>
        </p:grpSp>
        <p:grpSp>
          <p:nvGrpSpPr>
            <p:cNvPr id="52" name="Grupo 51">
              <a:extLst>
                <a:ext uri="{FF2B5EF4-FFF2-40B4-BE49-F238E27FC236}">
                  <a16:creationId xmlns:a16="http://schemas.microsoft.com/office/drawing/2014/main" id="{2C656115-85C8-6323-9EE8-262A69CDA2AD}"/>
                </a:ext>
              </a:extLst>
            </p:cNvPr>
            <p:cNvGrpSpPr/>
            <p:nvPr/>
          </p:nvGrpSpPr>
          <p:grpSpPr>
            <a:xfrm>
              <a:off x="7527981" y="3066481"/>
              <a:ext cx="1649006" cy="192209"/>
              <a:chOff x="5088890" y="2121891"/>
              <a:chExt cx="2367280" cy="312539"/>
            </a:xfrm>
          </p:grpSpPr>
          <p:sp>
            <p:nvSpPr>
              <p:cNvPr id="64" name="Rectángulo 63">
                <a:extLst>
                  <a:ext uri="{FF2B5EF4-FFF2-40B4-BE49-F238E27FC236}">
                    <a16:creationId xmlns:a16="http://schemas.microsoft.com/office/drawing/2014/main" id="{A300283D-C686-5627-6CAE-FAF8C8BFFD8C}"/>
                  </a:ext>
                </a:extLst>
              </p:cNvPr>
              <p:cNvSpPr/>
              <p:nvPr/>
            </p:nvSpPr>
            <p:spPr>
              <a:xfrm>
                <a:off x="5088890" y="2121891"/>
                <a:ext cx="2367280" cy="312539"/>
              </a:xfrm>
              <a:prstGeom prst="rect">
                <a:avLst/>
              </a:prstGeom>
              <a:solidFill>
                <a:srgbClr val="369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5" name="Text 1">
                <a:extLst>
                  <a:ext uri="{FF2B5EF4-FFF2-40B4-BE49-F238E27FC236}">
                    <a16:creationId xmlns:a16="http://schemas.microsoft.com/office/drawing/2014/main" id="{D95CCB49-18D2-8148-08D7-CF4E2EE366D1}"/>
                  </a:ext>
                </a:extLst>
              </p:cNvPr>
              <p:cNvSpPr/>
              <p:nvPr/>
            </p:nvSpPr>
            <p:spPr>
              <a:xfrm>
                <a:off x="5726408" y="2142049"/>
                <a:ext cx="1111499" cy="250229"/>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Transaction 3</a:t>
                </a:r>
              </a:p>
            </p:txBody>
          </p:sp>
        </p:grpSp>
        <p:grpSp>
          <p:nvGrpSpPr>
            <p:cNvPr id="53" name="Grupo 52">
              <a:extLst>
                <a:ext uri="{FF2B5EF4-FFF2-40B4-BE49-F238E27FC236}">
                  <a16:creationId xmlns:a16="http://schemas.microsoft.com/office/drawing/2014/main" id="{34A58AC1-3430-BA01-276F-A16D713EA5D2}"/>
                </a:ext>
              </a:extLst>
            </p:cNvPr>
            <p:cNvGrpSpPr/>
            <p:nvPr/>
          </p:nvGrpSpPr>
          <p:grpSpPr>
            <a:xfrm>
              <a:off x="7524442" y="3646794"/>
              <a:ext cx="1649006" cy="192209"/>
              <a:chOff x="5088890" y="1705574"/>
              <a:chExt cx="2367280" cy="312539"/>
            </a:xfrm>
          </p:grpSpPr>
          <p:sp>
            <p:nvSpPr>
              <p:cNvPr id="62" name="Rectángulo 61">
                <a:extLst>
                  <a:ext uri="{FF2B5EF4-FFF2-40B4-BE49-F238E27FC236}">
                    <a16:creationId xmlns:a16="http://schemas.microsoft.com/office/drawing/2014/main" id="{A22B10B1-B7C8-9105-D26C-19DF628B8995}"/>
                  </a:ext>
                </a:extLst>
              </p:cNvPr>
              <p:cNvSpPr/>
              <p:nvPr/>
            </p:nvSpPr>
            <p:spPr>
              <a:xfrm>
                <a:off x="5088890" y="1705574"/>
                <a:ext cx="2367280" cy="312539"/>
              </a:xfrm>
              <a:prstGeom prst="rect">
                <a:avLst/>
              </a:prstGeom>
              <a:solidFill>
                <a:srgbClr val="18435B">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3" name="Text 1">
                <a:extLst>
                  <a:ext uri="{FF2B5EF4-FFF2-40B4-BE49-F238E27FC236}">
                    <a16:creationId xmlns:a16="http://schemas.microsoft.com/office/drawing/2014/main" id="{BDA6D919-D5DB-60B6-E9B8-881D5E0965C3}"/>
                  </a:ext>
                </a:extLst>
              </p:cNvPr>
              <p:cNvSpPr/>
              <p:nvPr/>
            </p:nvSpPr>
            <p:spPr>
              <a:xfrm>
                <a:off x="5171813" y="1719078"/>
                <a:ext cx="2220696" cy="250228"/>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HASH: </a:t>
                </a:r>
                <a:r>
                  <a:rPr lang="en-US" sz="1000" dirty="0">
                    <a:solidFill>
                      <a:srgbClr val="75E1E8"/>
                    </a:solidFill>
                    <a:latin typeface="Bahnschrift" panose="020B0502040204020203" pitchFamily="34" charset="0"/>
                  </a:rPr>
                  <a:t>00000000</a:t>
                </a:r>
                <a:r>
                  <a:rPr lang="en-US" sz="1000" dirty="0">
                    <a:solidFill>
                      <a:srgbClr val="DAF2FF"/>
                    </a:solidFill>
                    <a:latin typeface="Bahnschrift" panose="020B0502040204020203" pitchFamily="34" charset="0"/>
                  </a:rPr>
                  <a:t>77ab26f5…</a:t>
                </a:r>
              </a:p>
            </p:txBody>
          </p:sp>
        </p:grpSp>
        <p:sp>
          <p:nvSpPr>
            <p:cNvPr id="54" name="Rectángulo 53">
              <a:extLst>
                <a:ext uri="{FF2B5EF4-FFF2-40B4-BE49-F238E27FC236}">
                  <a16:creationId xmlns:a16="http://schemas.microsoft.com/office/drawing/2014/main" id="{EDF8A488-74D8-F16D-6492-C5980E8514B7}"/>
                </a:ext>
              </a:extLst>
            </p:cNvPr>
            <p:cNvSpPr/>
            <p:nvPr/>
          </p:nvSpPr>
          <p:spPr>
            <a:xfrm>
              <a:off x="7524442" y="3322428"/>
              <a:ext cx="1649006" cy="263205"/>
            </a:xfrm>
            <a:prstGeom prst="rect">
              <a:avLst/>
            </a:prstGeom>
            <a:solidFill>
              <a:srgbClr val="69B4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55" name="Grupo 54">
              <a:extLst>
                <a:ext uri="{FF2B5EF4-FFF2-40B4-BE49-F238E27FC236}">
                  <a16:creationId xmlns:a16="http://schemas.microsoft.com/office/drawing/2014/main" id="{417E35EE-C50B-A523-F9DF-AEB393D4509B}"/>
                </a:ext>
              </a:extLst>
            </p:cNvPr>
            <p:cNvGrpSpPr/>
            <p:nvPr/>
          </p:nvGrpSpPr>
          <p:grpSpPr>
            <a:xfrm>
              <a:off x="7524442" y="2335404"/>
              <a:ext cx="1649006" cy="192209"/>
              <a:chOff x="5088890" y="1705574"/>
              <a:chExt cx="2367280" cy="312539"/>
            </a:xfrm>
          </p:grpSpPr>
          <p:sp>
            <p:nvSpPr>
              <p:cNvPr id="60" name="Rectángulo 59">
                <a:extLst>
                  <a:ext uri="{FF2B5EF4-FFF2-40B4-BE49-F238E27FC236}">
                    <a16:creationId xmlns:a16="http://schemas.microsoft.com/office/drawing/2014/main" id="{F8466F48-7F11-F2CC-29E4-7D585616F13E}"/>
                  </a:ext>
                </a:extLst>
              </p:cNvPr>
              <p:cNvSpPr/>
              <p:nvPr/>
            </p:nvSpPr>
            <p:spPr>
              <a:xfrm>
                <a:off x="5088890" y="1705574"/>
                <a:ext cx="2367280" cy="312539"/>
              </a:xfrm>
              <a:prstGeom prst="rect">
                <a:avLst/>
              </a:prstGeom>
              <a:solidFill>
                <a:srgbClr val="18435B">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1" name="Text 1">
                <a:extLst>
                  <a:ext uri="{FF2B5EF4-FFF2-40B4-BE49-F238E27FC236}">
                    <a16:creationId xmlns:a16="http://schemas.microsoft.com/office/drawing/2014/main" id="{B255D2E6-8E87-895D-79AC-24645B932725}"/>
                  </a:ext>
                </a:extLst>
              </p:cNvPr>
              <p:cNvSpPr/>
              <p:nvPr/>
            </p:nvSpPr>
            <p:spPr>
              <a:xfrm>
                <a:off x="5190223" y="1719077"/>
                <a:ext cx="2183876" cy="250228"/>
              </a:xfrm>
              <a:prstGeom prst="rect">
                <a:avLst/>
              </a:prstGeom>
              <a:noFill/>
              <a:ln/>
            </p:spPr>
            <p:txBody>
              <a:bodyPr wrap="none" lIns="0" tIns="0" rIns="0" bIns="0" rtlCol="0" anchor="t">
                <a:spAutoFit/>
              </a:bodyPr>
              <a:lstStyle/>
              <a:p>
                <a:pPr algn="ctr">
                  <a:lnSpc>
                    <a:spcPts val="1200"/>
                  </a:lnSpc>
                </a:pPr>
                <a:r>
                  <a:rPr lang="en-US" sz="1000" dirty="0">
                    <a:solidFill>
                      <a:srgbClr val="DAF2FF"/>
                    </a:solidFill>
                    <a:latin typeface="Bahnschrift" panose="020B0502040204020203" pitchFamily="34" charset="0"/>
                  </a:rPr>
                  <a:t>HASH: </a:t>
                </a:r>
                <a:r>
                  <a:rPr lang="en-US" sz="1000" dirty="0">
                    <a:solidFill>
                      <a:srgbClr val="75E1E8"/>
                    </a:solidFill>
                    <a:latin typeface="Bahnschrift" panose="020B0502040204020203" pitchFamily="34" charset="0"/>
                  </a:rPr>
                  <a:t>00000000</a:t>
                </a:r>
                <a:r>
                  <a:rPr lang="en-US" sz="1000" dirty="0">
                    <a:solidFill>
                      <a:srgbClr val="DAF2FF"/>
                    </a:solidFill>
                    <a:latin typeface="Bahnschrift" panose="020B0502040204020203" pitchFamily="34" charset="0"/>
                  </a:rPr>
                  <a:t>3bcfff29…</a:t>
                </a:r>
              </a:p>
            </p:txBody>
          </p:sp>
        </p:grpSp>
        <p:grpSp>
          <p:nvGrpSpPr>
            <p:cNvPr id="56" name="Grupo 55">
              <a:extLst>
                <a:ext uri="{FF2B5EF4-FFF2-40B4-BE49-F238E27FC236}">
                  <a16:creationId xmlns:a16="http://schemas.microsoft.com/office/drawing/2014/main" id="{1B9D3779-B71A-D88B-C080-5456DEE31F66}"/>
                </a:ext>
              </a:extLst>
            </p:cNvPr>
            <p:cNvGrpSpPr/>
            <p:nvPr/>
          </p:nvGrpSpPr>
          <p:grpSpPr>
            <a:xfrm>
              <a:off x="7524442" y="2591435"/>
              <a:ext cx="1649006" cy="192209"/>
              <a:chOff x="5088890" y="2121891"/>
              <a:chExt cx="2367280" cy="312539"/>
            </a:xfrm>
          </p:grpSpPr>
          <p:sp>
            <p:nvSpPr>
              <p:cNvPr id="58" name="Rectángulo 57">
                <a:extLst>
                  <a:ext uri="{FF2B5EF4-FFF2-40B4-BE49-F238E27FC236}">
                    <a16:creationId xmlns:a16="http://schemas.microsoft.com/office/drawing/2014/main" id="{9BC72579-05FD-EB4F-75B3-DB6986F605D1}"/>
                  </a:ext>
                </a:extLst>
              </p:cNvPr>
              <p:cNvSpPr/>
              <p:nvPr/>
            </p:nvSpPr>
            <p:spPr>
              <a:xfrm>
                <a:off x="5088890" y="2121891"/>
                <a:ext cx="2367280" cy="312539"/>
              </a:xfrm>
              <a:prstGeom prst="rect">
                <a:avLst/>
              </a:prstGeom>
              <a:solidFill>
                <a:srgbClr val="369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9" name="Text 1">
                <a:extLst>
                  <a:ext uri="{FF2B5EF4-FFF2-40B4-BE49-F238E27FC236}">
                    <a16:creationId xmlns:a16="http://schemas.microsoft.com/office/drawing/2014/main" id="{4304E624-12DA-3F2E-E35A-B4E63F456B5F}"/>
                  </a:ext>
                </a:extLst>
              </p:cNvPr>
              <p:cNvSpPr/>
              <p:nvPr/>
            </p:nvSpPr>
            <p:spPr>
              <a:xfrm>
                <a:off x="5743670" y="2142049"/>
                <a:ext cx="1076979" cy="250229"/>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Transaction 1</a:t>
                </a:r>
              </a:p>
            </p:txBody>
          </p:sp>
        </p:grpSp>
        <p:sp>
          <p:nvSpPr>
            <p:cNvPr id="57" name="Text 1">
              <a:extLst>
                <a:ext uri="{FF2B5EF4-FFF2-40B4-BE49-F238E27FC236}">
                  <a16:creationId xmlns:a16="http://schemas.microsoft.com/office/drawing/2014/main" id="{E72F3E73-F340-BF95-60A5-8C80836912CB}"/>
                </a:ext>
              </a:extLst>
            </p:cNvPr>
            <p:cNvSpPr/>
            <p:nvPr/>
          </p:nvSpPr>
          <p:spPr>
            <a:xfrm>
              <a:off x="8287542" y="3399526"/>
              <a:ext cx="161904" cy="153888"/>
            </a:xfrm>
            <a:prstGeom prst="rect">
              <a:avLst/>
            </a:prstGeom>
            <a:noFill/>
            <a:ln/>
          </p:spPr>
          <p:txBody>
            <a:bodyPr wrap="none" lIns="0" tIns="0" rIns="0" bIns="0" rtlCol="0" anchor="t">
              <a:spAutoFit/>
            </a:bodyPr>
            <a:lstStyle/>
            <a:p>
              <a:pPr marL="0" indent="0" algn="ctr">
                <a:lnSpc>
                  <a:spcPts val="1200"/>
                </a:lnSpc>
                <a:buNone/>
              </a:pPr>
              <a:r>
                <a:rPr lang="en-US" sz="1200" dirty="0">
                  <a:solidFill>
                    <a:srgbClr val="DAF2FF"/>
                  </a:solidFill>
                  <a:latin typeface="Bahnschrift" panose="020B0502040204020203" pitchFamily="34" charset="0"/>
                </a:rPr>
                <a:t>23</a:t>
              </a:r>
              <a:endParaRPr lang="en-US" sz="1000" dirty="0">
                <a:solidFill>
                  <a:srgbClr val="DAF2FF"/>
                </a:solidFill>
                <a:latin typeface="Bahnschrift" panose="020B0502040204020203" pitchFamily="34" charset="0"/>
              </a:endParaRPr>
            </a:p>
          </p:txBody>
        </p:sp>
      </p:grpSp>
      <p:cxnSp>
        <p:nvCxnSpPr>
          <p:cNvPr id="69" name="Conector: angular 68">
            <a:extLst>
              <a:ext uri="{FF2B5EF4-FFF2-40B4-BE49-F238E27FC236}">
                <a16:creationId xmlns:a16="http://schemas.microsoft.com/office/drawing/2014/main" id="{8038ABB2-7B89-BC28-1A5B-A4B5C4F2C963}"/>
              </a:ext>
            </a:extLst>
          </p:cNvPr>
          <p:cNvCxnSpPr>
            <a:stCxn id="45" idx="3"/>
            <a:endCxn id="60" idx="1"/>
          </p:cNvCxnSpPr>
          <p:nvPr/>
        </p:nvCxnSpPr>
        <p:spPr>
          <a:xfrm flipV="1">
            <a:off x="7033677" y="2431509"/>
            <a:ext cx="490765" cy="1307932"/>
          </a:xfrm>
          <a:prstGeom prst="bentConnector3">
            <a:avLst/>
          </a:prstGeom>
          <a:ln w="38100">
            <a:solidFill>
              <a:srgbClr val="00B050"/>
            </a:solidFill>
            <a:prstDash val="dash"/>
          </a:ln>
        </p:spPr>
        <p:style>
          <a:lnRef idx="1">
            <a:schemeClr val="accent1"/>
          </a:lnRef>
          <a:fillRef idx="0">
            <a:schemeClr val="accent1"/>
          </a:fillRef>
          <a:effectRef idx="0">
            <a:schemeClr val="accent1"/>
          </a:effectRef>
          <a:fontRef idx="minor">
            <a:schemeClr val="tx1"/>
          </a:fontRef>
        </p:style>
      </p:cxnSp>
      <p:grpSp>
        <p:nvGrpSpPr>
          <p:cNvPr id="70" name="Grupo 69">
            <a:extLst>
              <a:ext uri="{FF2B5EF4-FFF2-40B4-BE49-F238E27FC236}">
                <a16:creationId xmlns:a16="http://schemas.microsoft.com/office/drawing/2014/main" id="{A3D363D7-75D7-7089-5D6B-A4A4D80FC7B6}"/>
              </a:ext>
            </a:extLst>
          </p:cNvPr>
          <p:cNvGrpSpPr/>
          <p:nvPr/>
        </p:nvGrpSpPr>
        <p:grpSpPr>
          <a:xfrm>
            <a:off x="3083892" y="2246956"/>
            <a:ext cx="1971023" cy="1685427"/>
            <a:chOff x="4857750" y="2616895"/>
            <a:chExt cx="1971023" cy="1685427"/>
          </a:xfrm>
        </p:grpSpPr>
        <p:sp>
          <p:nvSpPr>
            <p:cNvPr id="71" name="Rectángulo 70">
              <a:extLst>
                <a:ext uri="{FF2B5EF4-FFF2-40B4-BE49-F238E27FC236}">
                  <a16:creationId xmlns:a16="http://schemas.microsoft.com/office/drawing/2014/main" id="{62BC4076-6934-E637-CCC4-DDF76B9B1C7D}"/>
                </a:ext>
              </a:extLst>
            </p:cNvPr>
            <p:cNvSpPr/>
            <p:nvPr/>
          </p:nvSpPr>
          <p:spPr>
            <a:xfrm>
              <a:off x="4857750" y="2616895"/>
              <a:ext cx="1971023" cy="1685427"/>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72" name="Grupo 71">
              <a:extLst>
                <a:ext uri="{FF2B5EF4-FFF2-40B4-BE49-F238E27FC236}">
                  <a16:creationId xmlns:a16="http://schemas.microsoft.com/office/drawing/2014/main" id="{C89E6E50-BA31-EA69-D695-0DE2DE14A044}"/>
                </a:ext>
              </a:extLst>
            </p:cNvPr>
            <p:cNvGrpSpPr/>
            <p:nvPr/>
          </p:nvGrpSpPr>
          <p:grpSpPr>
            <a:xfrm>
              <a:off x="5018758" y="3198897"/>
              <a:ext cx="1649006" cy="192209"/>
              <a:chOff x="5088890" y="2121891"/>
              <a:chExt cx="2367280" cy="312539"/>
            </a:xfrm>
          </p:grpSpPr>
          <p:sp>
            <p:nvSpPr>
              <p:cNvPr id="87" name="Rectángulo 86">
                <a:extLst>
                  <a:ext uri="{FF2B5EF4-FFF2-40B4-BE49-F238E27FC236}">
                    <a16:creationId xmlns:a16="http://schemas.microsoft.com/office/drawing/2014/main" id="{405C6E43-E86D-7C32-822C-18BDCC16156A}"/>
                  </a:ext>
                </a:extLst>
              </p:cNvPr>
              <p:cNvSpPr/>
              <p:nvPr/>
            </p:nvSpPr>
            <p:spPr>
              <a:xfrm>
                <a:off x="5088890" y="2121891"/>
                <a:ext cx="2367280" cy="312539"/>
              </a:xfrm>
              <a:prstGeom prst="rect">
                <a:avLst/>
              </a:prstGeom>
              <a:solidFill>
                <a:srgbClr val="369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8" name="Text 1">
                <a:extLst>
                  <a:ext uri="{FF2B5EF4-FFF2-40B4-BE49-F238E27FC236}">
                    <a16:creationId xmlns:a16="http://schemas.microsoft.com/office/drawing/2014/main" id="{AA5B6B5C-AD2F-57F5-57A6-4148C4E2A6A6}"/>
                  </a:ext>
                </a:extLst>
              </p:cNvPr>
              <p:cNvSpPr/>
              <p:nvPr/>
            </p:nvSpPr>
            <p:spPr>
              <a:xfrm>
                <a:off x="5727561" y="2142049"/>
                <a:ext cx="1109197" cy="250229"/>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Transaction 2</a:t>
                </a:r>
              </a:p>
            </p:txBody>
          </p:sp>
        </p:grpSp>
        <p:grpSp>
          <p:nvGrpSpPr>
            <p:cNvPr id="73" name="Grupo 72">
              <a:extLst>
                <a:ext uri="{FF2B5EF4-FFF2-40B4-BE49-F238E27FC236}">
                  <a16:creationId xmlns:a16="http://schemas.microsoft.com/office/drawing/2014/main" id="{15AE15BB-98CC-A4BC-0750-1B211C094FA0}"/>
                </a:ext>
              </a:extLst>
            </p:cNvPr>
            <p:cNvGrpSpPr/>
            <p:nvPr/>
          </p:nvGrpSpPr>
          <p:grpSpPr>
            <a:xfrm>
              <a:off x="5022297" y="3436420"/>
              <a:ext cx="1649006" cy="192209"/>
              <a:chOff x="5088890" y="2121891"/>
              <a:chExt cx="2367280" cy="312539"/>
            </a:xfrm>
          </p:grpSpPr>
          <p:sp>
            <p:nvSpPr>
              <p:cNvPr id="85" name="Rectángulo 84">
                <a:extLst>
                  <a:ext uri="{FF2B5EF4-FFF2-40B4-BE49-F238E27FC236}">
                    <a16:creationId xmlns:a16="http://schemas.microsoft.com/office/drawing/2014/main" id="{91282121-EC70-1CDD-0D2F-A963E66092F3}"/>
                  </a:ext>
                </a:extLst>
              </p:cNvPr>
              <p:cNvSpPr/>
              <p:nvPr/>
            </p:nvSpPr>
            <p:spPr>
              <a:xfrm>
                <a:off x="5088890" y="2121891"/>
                <a:ext cx="2367280" cy="312539"/>
              </a:xfrm>
              <a:prstGeom prst="rect">
                <a:avLst/>
              </a:prstGeom>
              <a:solidFill>
                <a:srgbClr val="369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6" name="Text 1">
                <a:extLst>
                  <a:ext uri="{FF2B5EF4-FFF2-40B4-BE49-F238E27FC236}">
                    <a16:creationId xmlns:a16="http://schemas.microsoft.com/office/drawing/2014/main" id="{F51A7586-1F96-F726-8F06-D5E66F315EA2}"/>
                  </a:ext>
                </a:extLst>
              </p:cNvPr>
              <p:cNvSpPr/>
              <p:nvPr/>
            </p:nvSpPr>
            <p:spPr>
              <a:xfrm>
                <a:off x="5726408" y="2142049"/>
                <a:ext cx="1111499" cy="250229"/>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Transaction 3</a:t>
                </a:r>
              </a:p>
            </p:txBody>
          </p:sp>
        </p:grpSp>
        <p:grpSp>
          <p:nvGrpSpPr>
            <p:cNvPr id="74" name="Grupo 73">
              <a:extLst>
                <a:ext uri="{FF2B5EF4-FFF2-40B4-BE49-F238E27FC236}">
                  <a16:creationId xmlns:a16="http://schemas.microsoft.com/office/drawing/2014/main" id="{A0174402-86DD-FEF7-F651-AB291B1E5403}"/>
                </a:ext>
              </a:extLst>
            </p:cNvPr>
            <p:cNvGrpSpPr/>
            <p:nvPr/>
          </p:nvGrpSpPr>
          <p:grpSpPr>
            <a:xfrm>
              <a:off x="5018758" y="4016733"/>
              <a:ext cx="1649006" cy="192209"/>
              <a:chOff x="5088890" y="1705574"/>
              <a:chExt cx="2367280" cy="312539"/>
            </a:xfrm>
          </p:grpSpPr>
          <p:sp>
            <p:nvSpPr>
              <p:cNvPr id="83" name="Rectángulo 82">
                <a:extLst>
                  <a:ext uri="{FF2B5EF4-FFF2-40B4-BE49-F238E27FC236}">
                    <a16:creationId xmlns:a16="http://schemas.microsoft.com/office/drawing/2014/main" id="{954E0765-6831-9734-1E9C-3BB03BBDF6A9}"/>
                  </a:ext>
                </a:extLst>
              </p:cNvPr>
              <p:cNvSpPr/>
              <p:nvPr/>
            </p:nvSpPr>
            <p:spPr>
              <a:xfrm>
                <a:off x="5088890" y="1705574"/>
                <a:ext cx="2367280" cy="312539"/>
              </a:xfrm>
              <a:prstGeom prst="rect">
                <a:avLst/>
              </a:prstGeom>
              <a:solidFill>
                <a:srgbClr val="18435B">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4" name="Text 1">
                <a:extLst>
                  <a:ext uri="{FF2B5EF4-FFF2-40B4-BE49-F238E27FC236}">
                    <a16:creationId xmlns:a16="http://schemas.microsoft.com/office/drawing/2014/main" id="{B554470E-A792-3297-911F-27269C609284}"/>
                  </a:ext>
                </a:extLst>
              </p:cNvPr>
              <p:cNvSpPr/>
              <p:nvPr/>
            </p:nvSpPr>
            <p:spPr>
              <a:xfrm>
                <a:off x="5190223" y="1719078"/>
                <a:ext cx="2183876" cy="250228"/>
              </a:xfrm>
              <a:prstGeom prst="rect">
                <a:avLst/>
              </a:prstGeom>
              <a:noFill/>
              <a:ln/>
            </p:spPr>
            <p:txBody>
              <a:bodyPr wrap="none" lIns="0" tIns="0" rIns="0" bIns="0" rtlCol="0" anchor="t">
                <a:spAutoFit/>
              </a:bodyPr>
              <a:lstStyle/>
              <a:p>
                <a:pPr algn="ctr">
                  <a:lnSpc>
                    <a:spcPts val="1200"/>
                  </a:lnSpc>
                </a:pPr>
                <a:r>
                  <a:rPr lang="en-US" sz="1000" dirty="0">
                    <a:solidFill>
                      <a:srgbClr val="DAF2FF"/>
                    </a:solidFill>
                    <a:latin typeface="Bahnschrift" panose="020B0502040204020203" pitchFamily="34" charset="0"/>
                  </a:rPr>
                  <a:t>HASH: </a:t>
                </a:r>
                <a:r>
                  <a:rPr lang="en-US" sz="1000" dirty="0">
                    <a:solidFill>
                      <a:srgbClr val="75E1E8"/>
                    </a:solidFill>
                    <a:latin typeface="Bahnschrift" panose="020B0502040204020203" pitchFamily="34" charset="0"/>
                  </a:rPr>
                  <a:t>00000000</a:t>
                </a:r>
                <a:r>
                  <a:rPr lang="en-US" sz="1000" dirty="0">
                    <a:solidFill>
                      <a:srgbClr val="DAF2FF"/>
                    </a:solidFill>
                    <a:latin typeface="Bahnschrift" panose="020B0502040204020203" pitchFamily="34" charset="0"/>
                  </a:rPr>
                  <a:t>5669ffa3…</a:t>
                </a:r>
              </a:p>
            </p:txBody>
          </p:sp>
        </p:grpSp>
        <p:sp>
          <p:nvSpPr>
            <p:cNvPr id="75" name="Rectángulo 74">
              <a:extLst>
                <a:ext uri="{FF2B5EF4-FFF2-40B4-BE49-F238E27FC236}">
                  <a16:creationId xmlns:a16="http://schemas.microsoft.com/office/drawing/2014/main" id="{3940820E-1032-95EF-3B49-A89598F83C90}"/>
                </a:ext>
              </a:extLst>
            </p:cNvPr>
            <p:cNvSpPr/>
            <p:nvPr/>
          </p:nvSpPr>
          <p:spPr>
            <a:xfrm>
              <a:off x="5018758" y="3692367"/>
              <a:ext cx="1649006" cy="263205"/>
            </a:xfrm>
            <a:prstGeom prst="rect">
              <a:avLst/>
            </a:prstGeom>
            <a:solidFill>
              <a:srgbClr val="69B4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76" name="Grupo 75">
              <a:extLst>
                <a:ext uri="{FF2B5EF4-FFF2-40B4-BE49-F238E27FC236}">
                  <a16:creationId xmlns:a16="http://schemas.microsoft.com/office/drawing/2014/main" id="{A5E5034C-FF65-EE16-1E7A-7193445B02C6}"/>
                </a:ext>
              </a:extLst>
            </p:cNvPr>
            <p:cNvGrpSpPr/>
            <p:nvPr/>
          </p:nvGrpSpPr>
          <p:grpSpPr>
            <a:xfrm>
              <a:off x="5018758" y="2705343"/>
              <a:ext cx="1649006" cy="192209"/>
              <a:chOff x="5088890" y="1705574"/>
              <a:chExt cx="2367280" cy="312539"/>
            </a:xfrm>
          </p:grpSpPr>
          <p:sp>
            <p:nvSpPr>
              <p:cNvPr id="81" name="Rectángulo 80">
                <a:extLst>
                  <a:ext uri="{FF2B5EF4-FFF2-40B4-BE49-F238E27FC236}">
                    <a16:creationId xmlns:a16="http://schemas.microsoft.com/office/drawing/2014/main" id="{4DF17C42-435B-A2DB-8A2A-2D0802137D30}"/>
                  </a:ext>
                </a:extLst>
              </p:cNvPr>
              <p:cNvSpPr/>
              <p:nvPr/>
            </p:nvSpPr>
            <p:spPr>
              <a:xfrm>
                <a:off x="5088890" y="1705574"/>
                <a:ext cx="2367280" cy="312539"/>
              </a:xfrm>
              <a:prstGeom prst="rect">
                <a:avLst/>
              </a:prstGeom>
              <a:solidFill>
                <a:srgbClr val="18435B">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2" name="Text 1">
                <a:extLst>
                  <a:ext uri="{FF2B5EF4-FFF2-40B4-BE49-F238E27FC236}">
                    <a16:creationId xmlns:a16="http://schemas.microsoft.com/office/drawing/2014/main" id="{C01538B1-6CF9-DCC4-122B-F346EFAA0096}"/>
                  </a:ext>
                </a:extLst>
              </p:cNvPr>
              <p:cNvSpPr/>
              <p:nvPr/>
            </p:nvSpPr>
            <p:spPr>
              <a:xfrm>
                <a:off x="5146500" y="1719077"/>
                <a:ext cx="2271323" cy="250228"/>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HASH: </a:t>
                </a:r>
                <a:r>
                  <a:rPr lang="en-US" sz="1000" dirty="0">
                    <a:solidFill>
                      <a:srgbClr val="75E1E8"/>
                    </a:solidFill>
                    <a:latin typeface="Bahnschrift" panose="020B0502040204020203" pitchFamily="34" charset="0"/>
                  </a:rPr>
                  <a:t>00000000</a:t>
                </a:r>
                <a:r>
                  <a:rPr lang="en-US" sz="1000" dirty="0">
                    <a:solidFill>
                      <a:srgbClr val="DAF2FF"/>
                    </a:solidFill>
                    <a:latin typeface="Bahnschrift" panose="020B0502040204020203" pitchFamily="34" charset="0"/>
                  </a:rPr>
                  <a:t>25476b2a…</a:t>
                </a:r>
              </a:p>
            </p:txBody>
          </p:sp>
        </p:grpSp>
        <p:grpSp>
          <p:nvGrpSpPr>
            <p:cNvPr id="77" name="Grupo 76">
              <a:extLst>
                <a:ext uri="{FF2B5EF4-FFF2-40B4-BE49-F238E27FC236}">
                  <a16:creationId xmlns:a16="http://schemas.microsoft.com/office/drawing/2014/main" id="{A09A933F-7F9C-241E-D53F-63374BA43177}"/>
                </a:ext>
              </a:extLst>
            </p:cNvPr>
            <p:cNvGrpSpPr/>
            <p:nvPr/>
          </p:nvGrpSpPr>
          <p:grpSpPr>
            <a:xfrm>
              <a:off x="5018758" y="2961374"/>
              <a:ext cx="1649006" cy="192209"/>
              <a:chOff x="5088890" y="2121891"/>
              <a:chExt cx="2367280" cy="312539"/>
            </a:xfrm>
          </p:grpSpPr>
          <p:sp>
            <p:nvSpPr>
              <p:cNvPr id="79" name="Rectángulo 78">
                <a:extLst>
                  <a:ext uri="{FF2B5EF4-FFF2-40B4-BE49-F238E27FC236}">
                    <a16:creationId xmlns:a16="http://schemas.microsoft.com/office/drawing/2014/main" id="{EA1DDF3C-1826-B628-B596-DE570914223C}"/>
                  </a:ext>
                </a:extLst>
              </p:cNvPr>
              <p:cNvSpPr/>
              <p:nvPr/>
            </p:nvSpPr>
            <p:spPr>
              <a:xfrm>
                <a:off x="5088890" y="2121891"/>
                <a:ext cx="2367280" cy="312539"/>
              </a:xfrm>
              <a:prstGeom prst="rect">
                <a:avLst/>
              </a:prstGeom>
              <a:solidFill>
                <a:srgbClr val="369E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0" name="Text 1">
                <a:extLst>
                  <a:ext uri="{FF2B5EF4-FFF2-40B4-BE49-F238E27FC236}">
                    <a16:creationId xmlns:a16="http://schemas.microsoft.com/office/drawing/2014/main" id="{6FCF15B3-3373-FA4F-304D-4031C4B569B2}"/>
                  </a:ext>
                </a:extLst>
              </p:cNvPr>
              <p:cNvSpPr/>
              <p:nvPr/>
            </p:nvSpPr>
            <p:spPr>
              <a:xfrm>
                <a:off x="5743670" y="2142049"/>
                <a:ext cx="1076979" cy="250229"/>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Transaction 1</a:t>
                </a:r>
              </a:p>
            </p:txBody>
          </p:sp>
        </p:grpSp>
        <p:sp>
          <p:nvSpPr>
            <p:cNvPr id="78" name="Text 1">
              <a:extLst>
                <a:ext uri="{FF2B5EF4-FFF2-40B4-BE49-F238E27FC236}">
                  <a16:creationId xmlns:a16="http://schemas.microsoft.com/office/drawing/2014/main" id="{61AFABF4-FD9B-4FE3-E9B9-6962EB6E5D08}"/>
                </a:ext>
              </a:extLst>
            </p:cNvPr>
            <p:cNvSpPr/>
            <p:nvPr/>
          </p:nvSpPr>
          <p:spPr>
            <a:xfrm>
              <a:off x="5805902" y="3769465"/>
              <a:ext cx="113814" cy="153888"/>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DAF2FF"/>
                  </a:solidFill>
                  <a:latin typeface="Bahnschrift" panose="020B0502040204020203" pitchFamily="34" charset="0"/>
                </a:rPr>
                <a:t>15</a:t>
              </a:r>
            </a:p>
          </p:txBody>
        </p:sp>
      </p:grpSp>
      <p:cxnSp>
        <p:nvCxnSpPr>
          <p:cNvPr id="89" name="Conector: angular 88">
            <a:extLst>
              <a:ext uri="{FF2B5EF4-FFF2-40B4-BE49-F238E27FC236}">
                <a16:creationId xmlns:a16="http://schemas.microsoft.com/office/drawing/2014/main" id="{79A122AE-0D59-0021-3C5B-7F7D8926FA00}"/>
              </a:ext>
            </a:extLst>
          </p:cNvPr>
          <p:cNvCxnSpPr>
            <a:cxnSpLocks/>
            <a:stCxn id="83" idx="3"/>
            <a:endCxn id="25" idx="1"/>
          </p:cNvCxnSpPr>
          <p:nvPr/>
        </p:nvCxnSpPr>
        <p:spPr>
          <a:xfrm flipV="1">
            <a:off x="4893906" y="2428051"/>
            <a:ext cx="490765" cy="1314848"/>
          </a:xfrm>
          <a:prstGeom prst="bentConnector3">
            <a:avLst>
              <a:gd name="adj1" fmla="val 50000"/>
            </a:avLst>
          </a:prstGeom>
          <a:ln w="3810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96" name="Marcador de número de diapositiva 95">
            <a:extLst>
              <a:ext uri="{FF2B5EF4-FFF2-40B4-BE49-F238E27FC236}">
                <a16:creationId xmlns:a16="http://schemas.microsoft.com/office/drawing/2014/main" id="{8D5D3708-566F-1522-FE58-8ED0724F755B}"/>
              </a:ext>
            </a:extLst>
          </p:cNvPr>
          <p:cNvSpPr>
            <a:spLocks noGrp="1"/>
          </p:cNvSpPr>
          <p:nvPr>
            <p:ph type="sldNum" sz="quarter" idx="12"/>
          </p:nvPr>
        </p:nvSpPr>
        <p:spPr/>
        <p:txBody>
          <a:bodyPr/>
          <a:lstStyle/>
          <a:p>
            <a:fld id="{621D377E-C6E5-404B-8AA2-3999D49F21B5}" type="slidenum">
              <a:rPr lang="es-ES" smtClean="0"/>
              <a:t>2</a:t>
            </a:fld>
            <a:endParaRPr lang="es-E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par>
                                <p:cTn id="7" presetID="2" presetClass="entr" presetSubtype="2" fill="hold" nodeType="withEffect">
                                  <p:stCondLst>
                                    <p:cond delay="0"/>
                                  </p:stCondLst>
                                  <p:childTnLst>
                                    <p:set>
                                      <p:cBhvr>
                                        <p:cTn id="8" dur="1" fill="hold">
                                          <p:stCondLst>
                                            <p:cond delay="0"/>
                                          </p:stCondLst>
                                        </p:cTn>
                                        <p:tgtEl>
                                          <p:spTgt spid="94"/>
                                        </p:tgtEl>
                                        <p:attrNameLst>
                                          <p:attrName>style.visibility</p:attrName>
                                        </p:attrNameLst>
                                      </p:cBhvr>
                                      <p:to>
                                        <p:strVal val="visible"/>
                                      </p:to>
                                    </p:set>
                                    <p:anim calcmode="lin" valueType="num">
                                      <p:cBhvr additive="base">
                                        <p:cTn id="9" dur="500" fill="hold"/>
                                        <p:tgtEl>
                                          <p:spTgt spid="94"/>
                                        </p:tgtEl>
                                        <p:attrNameLst>
                                          <p:attrName>ppt_x</p:attrName>
                                        </p:attrNameLst>
                                      </p:cBhvr>
                                      <p:tavLst>
                                        <p:tav tm="0">
                                          <p:val>
                                            <p:strVal val="1+#ppt_w/2"/>
                                          </p:val>
                                        </p:tav>
                                        <p:tav tm="100000">
                                          <p:val>
                                            <p:strVal val="#ppt_x"/>
                                          </p:val>
                                        </p:tav>
                                      </p:tavLst>
                                    </p:anim>
                                    <p:anim calcmode="lin" valueType="num">
                                      <p:cBhvr additive="base">
                                        <p:cTn id="10" dur="500" fill="hold"/>
                                        <p:tgtEl>
                                          <p:spTgt spid="94"/>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2" presetClass="entr" presetSubtype="2" fill="hold" nodeType="withEffect">
                                  <p:stCondLst>
                                    <p:cond delay="0"/>
                                  </p:stCondLst>
                                  <p:childTnLst>
                                    <p:set>
                                      <p:cBhvr>
                                        <p:cTn id="16" dur="1" fill="hold">
                                          <p:stCondLst>
                                            <p:cond delay="0"/>
                                          </p:stCondLst>
                                        </p:cTn>
                                        <p:tgtEl>
                                          <p:spTgt spid="95"/>
                                        </p:tgtEl>
                                        <p:attrNameLst>
                                          <p:attrName>style.visibility</p:attrName>
                                        </p:attrNameLst>
                                      </p:cBhvr>
                                      <p:to>
                                        <p:strVal val="visible"/>
                                      </p:to>
                                    </p:set>
                                    <p:anim calcmode="lin" valueType="num">
                                      <p:cBhvr additive="base">
                                        <p:cTn id="17" dur="500" fill="hold"/>
                                        <p:tgtEl>
                                          <p:spTgt spid="95"/>
                                        </p:tgtEl>
                                        <p:attrNameLst>
                                          <p:attrName>ppt_x</p:attrName>
                                        </p:attrNameLst>
                                      </p:cBhvr>
                                      <p:tavLst>
                                        <p:tav tm="0">
                                          <p:val>
                                            <p:strVal val="1+#ppt_w/2"/>
                                          </p:val>
                                        </p:tav>
                                        <p:tav tm="100000">
                                          <p:val>
                                            <p:strVal val="#ppt_x"/>
                                          </p:val>
                                        </p:tav>
                                      </p:tavLst>
                                    </p:anim>
                                    <p:anim calcmode="lin" valueType="num">
                                      <p:cBhvr additive="base">
                                        <p:cTn id="18" dur="500" fill="hold"/>
                                        <p:tgtEl>
                                          <p:spTgt spid="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571499" y="424045"/>
            <a:ext cx="7297883" cy="394275"/>
          </a:xfrm>
          <a:prstGeom prst="rect">
            <a:avLst/>
          </a:prstGeom>
          <a:noFill/>
          <a:ln/>
        </p:spPr>
        <p:txBody>
          <a:bodyPr wrap="square" lIns="0" tIns="0" rIns="0" bIns="0" rtlCol="0" anchor="t">
            <a:spAutoFit/>
          </a:bodyPr>
          <a:lstStyle/>
          <a:p>
            <a:pPr marL="0" indent="0" algn="l">
              <a:lnSpc>
                <a:spcPts val="3200"/>
              </a:lnSpc>
              <a:buNone/>
            </a:pPr>
            <a:r>
              <a:rPr lang="en-US" sz="2436" b="1" dirty="0">
                <a:solidFill>
                  <a:srgbClr val="1A1A1A"/>
                </a:solidFill>
              </a:rPr>
              <a:t>The Fragility of Centralized Architecture</a:t>
            </a:r>
            <a:endParaRPr lang="en-US" sz="2436" dirty="0"/>
          </a:p>
        </p:txBody>
      </p:sp>
      <p:grpSp>
        <p:nvGrpSpPr>
          <p:cNvPr id="2" name="Grupo 1">
            <a:extLst>
              <a:ext uri="{FF2B5EF4-FFF2-40B4-BE49-F238E27FC236}">
                <a16:creationId xmlns:a16="http://schemas.microsoft.com/office/drawing/2014/main" id="{0648BEAD-F9A7-D6B3-5842-9EC2A6F4CD4E}"/>
              </a:ext>
            </a:extLst>
          </p:cNvPr>
          <p:cNvGrpSpPr/>
          <p:nvPr/>
        </p:nvGrpSpPr>
        <p:grpSpPr>
          <a:xfrm>
            <a:off x="571499" y="1104332"/>
            <a:ext cx="5350100" cy="1057718"/>
            <a:chOff x="571499" y="1104332"/>
            <a:chExt cx="5350100" cy="1057718"/>
          </a:xfrm>
        </p:grpSpPr>
        <p:sp>
          <p:nvSpPr>
            <p:cNvPr id="4" name="Text 1"/>
            <p:cNvSpPr/>
            <p:nvPr/>
          </p:nvSpPr>
          <p:spPr>
            <a:xfrm>
              <a:off x="767784" y="1104332"/>
              <a:ext cx="5047799"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Single Point of Failure:</a:t>
              </a:r>
              <a:r>
                <a:rPr lang="en-US" sz="1200" dirty="0">
                  <a:solidFill>
                    <a:srgbClr val="1A1A1A"/>
                  </a:solidFill>
                </a:rPr>
                <a:t> If the central server fails, the entire network stops</a:t>
              </a:r>
              <a:endParaRPr lang="en-US" sz="1200" dirty="0"/>
            </a:p>
          </p:txBody>
        </p:sp>
        <p:sp>
          <p:nvSpPr>
            <p:cNvPr id="5" name="Text 2"/>
            <p:cNvSpPr/>
            <p:nvPr/>
          </p:nvSpPr>
          <p:spPr>
            <a:xfrm>
              <a:off x="767785" y="1394384"/>
              <a:ext cx="4736903"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Control Concentrated:</a:t>
              </a:r>
              <a:r>
                <a:rPr lang="en-US" sz="1200" dirty="0">
                  <a:solidFill>
                    <a:srgbClr val="1A1A1A"/>
                  </a:solidFill>
                </a:rPr>
                <a:t> All power and decision-making in one entity</a:t>
              </a:r>
              <a:endParaRPr lang="en-US" sz="1200" dirty="0"/>
            </a:p>
          </p:txBody>
        </p:sp>
        <p:sp>
          <p:nvSpPr>
            <p:cNvPr id="6" name="Text 3"/>
            <p:cNvSpPr/>
            <p:nvPr/>
          </p:nvSpPr>
          <p:spPr>
            <a:xfrm>
              <a:off x="767785" y="1688449"/>
              <a:ext cx="4273607"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Trust Required:</a:t>
              </a:r>
              <a:r>
                <a:rPr lang="en-US" sz="1200" dirty="0">
                  <a:solidFill>
                    <a:srgbClr val="1A1A1A"/>
                  </a:solidFill>
                </a:rPr>
                <a:t> Must trust the central authority completely</a:t>
              </a:r>
              <a:endParaRPr lang="en-US" sz="1200" dirty="0"/>
            </a:p>
          </p:txBody>
        </p:sp>
        <p:sp>
          <p:nvSpPr>
            <p:cNvPr id="7" name="Text 4"/>
            <p:cNvSpPr/>
            <p:nvPr/>
          </p:nvSpPr>
          <p:spPr>
            <a:xfrm>
              <a:off x="767785" y="1982514"/>
              <a:ext cx="5153814"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Limited Transparency:</a:t>
              </a:r>
              <a:r>
                <a:rPr lang="en-US" sz="1200" dirty="0">
                  <a:solidFill>
                    <a:srgbClr val="1A1A1A"/>
                  </a:solidFill>
                </a:rPr>
                <a:t> Users cannot verify what happens behind the scenes</a:t>
              </a:r>
              <a:endParaRPr lang="en-US" sz="1200" dirty="0"/>
            </a:p>
          </p:txBody>
        </p:sp>
        <p:sp>
          <p:nvSpPr>
            <p:cNvPr id="13" name="Shape 17">
              <a:extLst>
                <a:ext uri="{FF2B5EF4-FFF2-40B4-BE49-F238E27FC236}">
                  <a16:creationId xmlns:a16="http://schemas.microsoft.com/office/drawing/2014/main" id="{2B740E67-41F8-7CF5-67D8-473BEF0985EF}"/>
                </a:ext>
              </a:extLst>
            </p:cNvPr>
            <p:cNvSpPr/>
            <p:nvPr/>
          </p:nvSpPr>
          <p:spPr>
            <a:xfrm>
              <a:off x="571499" y="1104332"/>
              <a:ext cx="45719" cy="1057718"/>
            </a:xfrm>
            <a:prstGeom prst="rect">
              <a:avLst/>
            </a:prstGeom>
            <a:solidFill>
              <a:srgbClr val="0055FF"/>
            </a:solidFill>
            <a:ln/>
          </p:spPr>
          <p:txBody>
            <a:bodyPr/>
            <a:lstStyle/>
            <a:p>
              <a:endParaRPr lang="es-ES"/>
            </a:p>
          </p:txBody>
        </p:sp>
      </p:grpSp>
      <p:cxnSp>
        <p:nvCxnSpPr>
          <p:cNvPr id="26" name="Conector recto 25">
            <a:extLst>
              <a:ext uri="{FF2B5EF4-FFF2-40B4-BE49-F238E27FC236}">
                <a16:creationId xmlns:a16="http://schemas.microsoft.com/office/drawing/2014/main" id="{48336CCD-5EC9-9CAC-FB84-765ACD7A5CA1}"/>
              </a:ext>
            </a:extLst>
          </p:cNvPr>
          <p:cNvCxnSpPr>
            <a:cxnSpLocks/>
            <a:stCxn id="23" idx="3"/>
            <a:endCxn id="1026" idx="2"/>
          </p:cNvCxnSpPr>
          <p:nvPr/>
        </p:nvCxnSpPr>
        <p:spPr>
          <a:xfrm>
            <a:off x="6655351" y="2237877"/>
            <a:ext cx="1071574" cy="1113783"/>
          </a:xfrm>
          <a:prstGeom prst="line">
            <a:avLst/>
          </a:prstGeom>
          <a:ln w="38100">
            <a:prstDash val="sysDot"/>
          </a:ln>
        </p:spPr>
        <p:style>
          <a:lnRef idx="1">
            <a:schemeClr val="dk1"/>
          </a:lnRef>
          <a:fillRef idx="0">
            <a:schemeClr val="dk1"/>
          </a:fillRef>
          <a:effectRef idx="0">
            <a:schemeClr val="dk1"/>
          </a:effectRef>
          <a:fontRef idx="minor">
            <a:schemeClr val="tx1"/>
          </a:fontRef>
        </p:style>
      </p:cxnSp>
      <p:pic>
        <p:nvPicPr>
          <p:cNvPr id="18" name="Gráfico 17" descr="Ordenador contorno">
            <a:extLst>
              <a:ext uri="{FF2B5EF4-FFF2-40B4-BE49-F238E27FC236}">
                <a16:creationId xmlns:a16="http://schemas.microsoft.com/office/drawing/2014/main" id="{0E7A7487-CDAF-7B1D-E26F-2BEF8694BE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5567" y="4091443"/>
            <a:ext cx="739784" cy="739784"/>
          </a:xfrm>
          <a:prstGeom prst="rect">
            <a:avLst/>
          </a:prstGeom>
        </p:spPr>
      </p:pic>
      <p:pic>
        <p:nvPicPr>
          <p:cNvPr id="21" name="Gráfico 20" descr="Ordenador contorno">
            <a:extLst>
              <a:ext uri="{FF2B5EF4-FFF2-40B4-BE49-F238E27FC236}">
                <a16:creationId xmlns:a16="http://schemas.microsoft.com/office/drawing/2014/main" id="{D4E1EE64-0289-4E82-1B0E-2E9748CB74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5566" y="3351660"/>
            <a:ext cx="739784" cy="739784"/>
          </a:xfrm>
          <a:prstGeom prst="rect">
            <a:avLst/>
          </a:prstGeom>
        </p:spPr>
      </p:pic>
      <p:pic>
        <p:nvPicPr>
          <p:cNvPr id="22" name="Gráfico 21" descr="Ordenador contorno">
            <a:extLst>
              <a:ext uri="{FF2B5EF4-FFF2-40B4-BE49-F238E27FC236}">
                <a16:creationId xmlns:a16="http://schemas.microsoft.com/office/drawing/2014/main" id="{5AAA43C4-B974-1E04-E734-F3DB15A7A3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1599" y="2611876"/>
            <a:ext cx="739784" cy="739784"/>
          </a:xfrm>
          <a:prstGeom prst="rect">
            <a:avLst/>
          </a:prstGeom>
        </p:spPr>
      </p:pic>
      <p:pic>
        <p:nvPicPr>
          <p:cNvPr id="23" name="Gráfico 22" descr="Ordenador contorno">
            <a:extLst>
              <a:ext uri="{FF2B5EF4-FFF2-40B4-BE49-F238E27FC236}">
                <a16:creationId xmlns:a16="http://schemas.microsoft.com/office/drawing/2014/main" id="{9CC65E72-1B3F-F9D5-E63E-745EFAAF63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5567" y="1867985"/>
            <a:ext cx="739784" cy="739784"/>
          </a:xfrm>
          <a:prstGeom prst="rect">
            <a:avLst/>
          </a:prstGeom>
        </p:spPr>
      </p:pic>
      <p:cxnSp>
        <p:nvCxnSpPr>
          <p:cNvPr id="27" name="Conector recto 26">
            <a:extLst>
              <a:ext uri="{FF2B5EF4-FFF2-40B4-BE49-F238E27FC236}">
                <a16:creationId xmlns:a16="http://schemas.microsoft.com/office/drawing/2014/main" id="{F9BB42A0-F7F3-52BD-C70B-0D4F4BE07A0B}"/>
              </a:ext>
            </a:extLst>
          </p:cNvPr>
          <p:cNvCxnSpPr>
            <a:cxnSpLocks/>
            <a:stCxn id="22" idx="3"/>
            <a:endCxn id="1026" idx="2"/>
          </p:cNvCxnSpPr>
          <p:nvPr/>
        </p:nvCxnSpPr>
        <p:spPr>
          <a:xfrm>
            <a:off x="6661383" y="2981768"/>
            <a:ext cx="1065542" cy="369892"/>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30" name="Conector recto 29">
            <a:extLst>
              <a:ext uri="{FF2B5EF4-FFF2-40B4-BE49-F238E27FC236}">
                <a16:creationId xmlns:a16="http://schemas.microsoft.com/office/drawing/2014/main" id="{31FCD7A8-003A-6923-EE80-DA622F309243}"/>
              </a:ext>
            </a:extLst>
          </p:cNvPr>
          <p:cNvCxnSpPr>
            <a:cxnSpLocks/>
            <a:stCxn id="21" idx="3"/>
            <a:endCxn id="1026" idx="2"/>
          </p:cNvCxnSpPr>
          <p:nvPr/>
        </p:nvCxnSpPr>
        <p:spPr>
          <a:xfrm flipV="1">
            <a:off x="6655350" y="3351660"/>
            <a:ext cx="1071575" cy="369892"/>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33" name="Conector recto 32">
            <a:extLst>
              <a:ext uri="{FF2B5EF4-FFF2-40B4-BE49-F238E27FC236}">
                <a16:creationId xmlns:a16="http://schemas.microsoft.com/office/drawing/2014/main" id="{68F7A44E-A901-0D2E-F841-A5E70F80A20C}"/>
              </a:ext>
            </a:extLst>
          </p:cNvPr>
          <p:cNvCxnSpPr>
            <a:cxnSpLocks/>
            <a:stCxn id="18" idx="3"/>
            <a:endCxn id="1026" idx="2"/>
          </p:cNvCxnSpPr>
          <p:nvPr/>
        </p:nvCxnSpPr>
        <p:spPr>
          <a:xfrm flipV="1">
            <a:off x="6655351" y="3351660"/>
            <a:ext cx="1071574" cy="1109675"/>
          </a:xfrm>
          <a:prstGeom prst="line">
            <a:avLst/>
          </a:prstGeom>
          <a:ln w="38100">
            <a:prstDash val="sysDot"/>
          </a:ln>
        </p:spPr>
        <p:style>
          <a:lnRef idx="1">
            <a:schemeClr val="dk1"/>
          </a:lnRef>
          <a:fillRef idx="0">
            <a:schemeClr val="dk1"/>
          </a:fillRef>
          <a:effectRef idx="0">
            <a:schemeClr val="dk1"/>
          </a:effectRef>
          <a:fontRef idx="minor">
            <a:schemeClr val="tx1"/>
          </a:fontRef>
        </p:style>
      </p:cxnSp>
      <p:sp>
        <p:nvSpPr>
          <p:cNvPr id="8" name="Rectángulo 7">
            <a:extLst>
              <a:ext uri="{FF2B5EF4-FFF2-40B4-BE49-F238E27FC236}">
                <a16:creationId xmlns:a16="http://schemas.microsoft.com/office/drawing/2014/main" id="{15263565-9537-E9A8-172A-4EB0EF2037DB}"/>
              </a:ext>
            </a:extLst>
          </p:cNvPr>
          <p:cNvSpPr/>
          <p:nvPr/>
        </p:nvSpPr>
        <p:spPr>
          <a:xfrm>
            <a:off x="9204050" y="2209768"/>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ctángulo 33">
            <a:extLst>
              <a:ext uri="{FF2B5EF4-FFF2-40B4-BE49-F238E27FC236}">
                <a16:creationId xmlns:a16="http://schemas.microsoft.com/office/drawing/2014/main" id="{4942C185-01DF-D801-0184-BB9A6F28CF32}"/>
              </a:ext>
            </a:extLst>
          </p:cNvPr>
          <p:cNvSpPr/>
          <p:nvPr/>
        </p:nvSpPr>
        <p:spPr>
          <a:xfrm>
            <a:off x="9204049" y="2301843"/>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7CCF8D5B-4102-B2AE-9837-1F5322166B11}"/>
              </a:ext>
            </a:extLst>
          </p:cNvPr>
          <p:cNvSpPr/>
          <p:nvPr/>
        </p:nvSpPr>
        <p:spPr>
          <a:xfrm>
            <a:off x="9204050" y="2393918"/>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99D9EE98-1869-625C-6C39-1DC9BFD7AB14}"/>
              </a:ext>
            </a:extLst>
          </p:cNvPr>
          <p:cNvSpPr/>
          <p:nvPr/>
        </p:nvSpPr>
        <p:spPr>
          <a:xfrm>
            <a:off x="9204050" y="2485993"/>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Rectángulo 36">
            <a:extLst>
              <a:ext uri="{FF2B5EF4-FFF2-40B4-BE49-F238E27FC236}">
                <a16:creationId xmlns:a16="http://schemas.microsoft.com/office/drawing/2014/main" id="{1A0D594E-EC6F-2414-8C47-B8CFDF372ED7}"/>
              </a:ext>
            </a:extLst>
          </p:cNvPr>
          <p:cNvSpPr/>
          <p:nvPr/>
        </p:nvSpPr>
        <p:spPr>
          <a:xfrm>
            <a:off x="9204050" y="2581718"/>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Rectángulo 38">
            <a:extLst>
              <a:ext uri="{FF2B5EF4-FFF2-40B4-BE49-F238E27FC236}">
                <a16:creationId xmlns:a16="http://schemas.microsoft.com/office/drawing/2014/main" id="{EF0D850F-4D56-1989-67D6-25C9591C2237}"/>
              </a:ext>
            </a:extLst>
          </p:cNvPr>
          <p:cNvSpPr/>
          <p:nvPr/>
        </p:nvSpPr>
        <p:spPr>
          <a:xfrm>
            <a:off x="9204050" y="2683513"/>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Rectángulo 39">
            <a:extLst>
              <a:ext uri="{FF2B5EF4-FFF2-40B4-BE49-F238E27FC236}">
                <a16:creationId xmlns:a16="http://schemas.microsoft.com/office/drawing/2014/main" id="{51778B25-F45C-2ECC-BA9E-A570B15C7196}"/>
              </a:ext>
            </a:extLst>
          </p:cNvPr>
          <p:cNvSpPr/>
          <p:nvPr/>
        </p:nvSpPr>
        <p:spPr>
          <a:xfrm>
            <a:off x="9204048" y="2781333"/>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Rectángulo 40">
            <a:extLst>
              <a:ext uri="{FF2B5EF4-FFF2-40B4-BE49-F238E27FC236}">
                <a16:creationId xmlns:a16="http://schemas.microsoft.com/office/drawing/2014/main" id="{7B81A877-5E9B-D2C2-E9E7-5B972E17C31D}"/>
              </a:ext>
            </a:extLst>
          </p:cNvPr>
          <p:cNvSpPr/>
          <p:nvPr/>
        </p:nvSpPr>
        <p:spPr>
          <a:xfrm>
            <a:off x="9204048" y="2873408"/>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26" name="Picture 2" descr="Free Vector twitter app new logo x on black background">
            <a:extLst>
              <a:ext uri="{FF2B5EF4-FFF2-40B4-BE49-F238E27FC236}">
                <a16:creationId xmlns:a16="http://schemas.microsoft.com/office/drawing/2014/main" id="{98D03DAF-CDED-C793-4A59-3B17F2202F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26925" y="3027015"/>
            <a:ext cx="649290" cy="649290"/>
          </a:xfrm>
          <a:prstGeom prst="round2DiagRect">
            <a:avLst>
              <a:gd name="adj1" fmla="val 18428"/>
              <a:gd name="adj2" fmla="val 20126"/>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2" name="Marcador de número de diapositiva 41">
            <a:extLst>
              <a:ext uri="{FF2B5EF4-FFF2-40B4-BE49-F238E27FC236}">
                <a16:creationId xmlns:a16="http://schemas.microsoft.com/office/drawing/2014/main" id="{61F1A170-CC4C-D570-C100-1E4F487640E7}"/>
              </a:ext>
            </a:extLst>
          </p:cNvPr>
          <p:cNvSpPr>
            <a:spLocks noGrp="1"/>
          </p:cNvSpPr>
          <p:nvPr>
            <p:ph type="sldNum" sz="quarter" idx="12"/>
          </p:nvPr>
        </p:nvSpPr>
        <p:spPr/>
        <p:txBody>
          <a:bodyPr/>
          <a:lstStyle/>
          <a:p>
            <a:fld id="{621D377E-C6E5-404B-8AA2-3999D49F21B5}" type="slidenum">
              <a:rPr lang="es-ES" smtClean="0"/>
              <a:t>3</a:t>
            </a:fld>
            <a:endParaRPr lang="es-E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repeatCount="indefinite" accel="50000" decel="50000" fill="hold" grpId="0" nodeType="clickEffect">
                                  <p:stCondLst>
                                    <p:cond delay="500"/>
                                  </p:stCondLst>
                                  <p:childTnLst>
                                    <p:animMotion origin="layout" path="M -0.28212 -0.00123 L -0.16493 0.21544 " pathEditMode="fixed" rAng="0" ptsTypes="AA">
                                      <p:cBhvr>
                                        <p:cTn id="6" dur="1000" fill="hold"/>
                                        <p:tgtEl>
                                          <p:spTgt spid="8"/>
                                        </p:tgtEl>
                                        <p:attrNameLst>
                                          <p:attrName>ppt_x</p:attrName>
                                          <p:attrName>ppt_y</p:attrName>
                                        </p:attrNameLst>
                                      </p:cBhvr>
                                      <p:rCtr x="5851" y="10833"/>
                                    </p:animMotion>
                                  </p:childTnLst>
                                  <p:subTnLst>
                                    <p:set>
                                      <p:cBhvr override="childStyle">
                                        <p:cTn dur="1" fill="hold" display="0" masterRel="sameClick" afterEffect="1">
                                          <p:stCondLst>
                                            <p:cond evt="end" delay="0">
                                              <p:tn val="5"/>
                                            </p:cond>
                                          </p:stCondLst>
                                        </p:cTn>
                                        <p:tgtEl>
                                          <p:spTgt spid="8"/>
                                        </p:tgtEl>
                                        <p:attrNameLst>
                                          <p:attrName>style.visibility</p:attrName>
                                        </p:attrNameLst>
                                      </p:cBhvr>
                                      <p:to>
                                        <p:strVal val="hidden"/>
                                      </p:to>
                                    </p:set>
                                  </p:subTnLst>
                                </p:cTn>
                              </p:par>
                            </p:childTnLst>
                          </p:cTn>
                        </p:par>
                        <p:par>
                          <p:cTn id="7" fill="hold">
                            <p:stCondLst>
                              <p:cond delay="1500"/>
                            </p:stCondLst>
                            <p:childTnLst>
                              <p:par>
                                <p:cTn id="8" presetID="42" presetClass="path" presetSubtype="0" repeatCount="indefinite" accel="50000" decel="50000" fill="hold" grpId="0" nodeType="afterEffect">
                                  <p:stCondLst>
                                    <p:cond delay="500"/>
                                  </p:stCondLst>
                                  <p:childTnLst>
                                    <p:animMotion origin="layout" path="M -0.28212 0.12561 L -0.16424 0.19907 " pathEditMode="relative" rAng="0" ptsTypes="AA">
                                      <p:cBhvr>
                                        <p:cTn id="9" dur="1000" fill="hold"/>
                                        <p:tgtEl>
                                          <p:spTgt spid="34"/>
                                        </p:tgtEl>
                                        <p:attrNameLst>
                                          <p:attrName>ppt_x</p:attrName>
                                          <p:attrName>ppt_y</p:attrName>
                                        </p:attrNameLst>
                                      </p:cBhvr>
                                      <p:rCtr x="5885" y="3673"/>
                                    </p:animMotion>
                                  </p:childTnLst>
                                  <p:subTnLst>
                                    <p:set>
                                      <p:cBhvr override="childStyle">
                                        <p:cTn dur="1" fill="hold" display="0" masterRel="sameClick" afterEffect="1">
                                          <p:stCondLst>
                                            <p:cond evt="end" delay="0">
                                              <p:tn val="8"/>
                                            </p:cond>
                                          </p:stCondLst>
                                        </p:cTn>
                                        <p:tgtEl>
                                          <p:spTgt spid="34"/>
                                        </p:tgtEl>
                                        <p:attrNameLst>
                                          <p:attrName>style.visibility</p:attrName>
                                        </p:attrNameLst>
                                      </p:cBhvr>
                                      <p:to>
                                        <p:strVal val="hidden"/>
                                      </p:to>
                                    </p:set>
                                  </p:subTnLst>
                                </p:cTn>
                              </p:par>
                            </p:childTnLst>
                          </p:cTn>
                        </p:par>
                        <p:par>
                          <p:cTn id="10" fill="hold">
                            <p:stCondLst>
                              <p:cond delay="3000"/>
                            </p:stCondLst>
                            <p:childTnLst>
                              <p:par>
                                <p:cTn id="11" presetID="42" presetClass="path" presetSubtype="0" repeatCount="indefinite" accel="50000" decel="50000" fill="hold" grpId="0" nodeType="afterEffect">
                                  <p:stCondLst>
                                    <p:cond delay="500"/>
                                  </p:stCondLst>
                                  <p:childTnLst>
                                    <p:animMotion origin="layout" path="M -0.28212 0.25308 L -0.16493 0.17963 " pathEditMode="relative" rAng="0" ptsTypes="AA">
                                      <p:cBhvr>
                                        <p:cTn id="12" dur="1000" fill="hold"/>
                                        <p:tgtEl>
                                          <p:spTgt spid="35"/>
                                        </p:tgtEl>
                                        <p:attrNameLst>
                                          <p:attrName>ppt_x</p:attrName>
                                          <p:attrName>ppt_y</p:attrName>
                                        </p:attrNameLst>
                                      </p:cBhvr>
                                      <p:rCtr x="5851" y="-3673"/>
                                    </p:animMotion>
                                  </p:childTnLst>
                                  <p:subTnLst>
                                    <p:set>
                                      <p:cBhvr override="childStyle">
                                        <p:cTn dur="1" fill="hold" display="0" masterRel="sameClick" afterEffect="1">
                                          <p:stCondLst>
                                            <p:cond evt="end" delay="0">
                                              <p:tn val="11"/>
                                            </p:cond>
                                          </p:stCondLst>
                                        </p:cTn>
                                        <p:tgtEl>
                                          <p:spTgt spid="35"/>
                                        </p:tgtEl>
                                        <p:attrNameLst>
                                          <p:attrName>style.visibility</p:attrName>
                                        </p:attrNameLst>
                                      </p:cBhvr>
                                      <p:to>
                                        <p:strVal val="hidden"/>
                                      </p:to>
                                    </p:set>
                                  </p:subTnLst>
                                </p:cTn>
                              </p:par>
                            </p:childTnLst>
                          </p:cTn>
                        </p:par>
                        <p:par>
                          <p:cTn id="13" fill="hold">
                            <p:stCondLst>
                              <p:cond delay="4500"/>
                            </p:stCondLst>
                            <p:childTnLst>
                              <p:par>
                                <p:cTn id="14" presetID="42" presetClass="path" presetSubtype="0" repeatCount="indefinite" accel="50000" decel="50000" fill="hold" grpId="0" nodeType="afterEffect">
                                  <p:stCondLst>
                                    <p:cond delay="500"/>
                                  </p:stCondLst>
                                  <p:childTnLst>
                                    <p:animMotion origin="layout" path="M -0.16493 0.16173 L -0.28212 0.37901 " pathEditMode="relative" rAng="0" ptsTypes="AA">
                                      <p:cBhvr>
                                        <p:cTn id="15" dur="1000" fill="hold"/>
                                        <p:tgtEl>
                                          <p:spTgt spid="36"/>
                                        </p:tgtEl>
                                        <p:attrNameLst>
                                          <p:attrName>ppt_x</p:attrName>
                                          <p:attrName>ppt_y</p:attrName>
                                        </p:attrNameLst>
                                      </p:cBhvr>
                                      <p:rCtr x="-5868" y="10864"/>
                                    </p:animMotion>
                                  </p:childTnLst>
                                  <p:subTnLst>
                                    <p:set>
                                      <p:cBhvr override="childStyle">
                                        <p:cTn dur="1" fill="hold" display="0" masterRel="sameClick" afterEffect="1">
                                          <p:stCondLst>
                                            <p:cond evt="end" delay="0">
                                              <p:tn val="14"/>
                                            </p:cond>
                                          </p:stCondLst>
                                        </p:cTn>
                                        <p:tgtEl>
                                          <p:spTgt spid="36"/>
                                        </p:tgtEl>
                                        <p:attrNameLst>
                                          <p:attrName>style.visibility</p:attrName>
                                        </p:attrNameLst>
                                      </p:cBhvr>
                                      <p:to>
                                        <p:strVal val="hidden"/>
                                      </p:to>
                                    </p:set>
                                  </p:subTnLst>
                                </p:cTn>
                              </p:par>
                            </p:childTnLst>
                          </p:cTn>
                        </p:par>
                        <p:par>
                          <p:cTn id="16" fill="hold">
                            <p:stCondLst>
                              <p:cond delay="6000"/>
                            </p:stCondLst>
                            <p:childTnLst>
                              <p:par>
                                <p:cTn id="17" presetID="42" presetClass="path" presetSubtype="0" repeatCount="indefinite" accel="50000" decel="50000" fill="hold" grpId="0" nodeType="afterEffect">
                                  <p:stCondLst>
                                    <p:cond delay="500"/>
                                  </p:stCondLst>
                                  <p:childTnLst>
                                    <p:animMotion origin="layout" path="M -0.16493 0.14321 L -0.28212 -0.07346 " pathEditMode="relative" rAng="0" ptsTypes="AA">
                                      <p:cBhvr>
                                        <p:cTn id="18" dur="1000" fill="hold"/>
                                        <p:tgtEl>
                                          <p:spTgt spid="37"/>
                                        </p:tgtEl>
                                        <p:attrNameLst>
                                          <p:attrName>ppt_x</p:attrName>
                                          <p:attrName>ppt_y</p:attrName>
                                        </p:attrNameLst>
                                      </p:cBhvr>
                                      <p:rCtr x="-5868" y="-10833"/>
                                    </p:animMotion>
                                  </p:childTnLst>
                                  <p:subTnLst>
                                    <p:set>
                                      <p:cBhvr override="childStyle">
                                        <p:cTn dur="1" fill="hold" display="0" masterRel="sameClick" afterEffect="1">
                                          <p:stCondLst>
                                            <p:cond evt="end" delay="0">
                                              <p:tn val="17"/>
                                            </p:cond>
                                          </p:stCondLst>
                                        </p:cTn>
                                        <p:tgtEl>
                                          <p:spTgt spid="37"/>
                                        </p:tgtEl>
                                        <p:attrNameLst>
                                          <p:attrName>style.visibility</p:attrName>
                                        </p:attrNameLst>
                                      </p:cBhvr>
                                      <p:to>
                                        <p:strVal val="hidden"/>
                                      </p:to>
                                    </p:set>
                                  </p:subTnLst>
                                </p:cTn>
                              </p:par>
                            </p:childTnLst>
                          </p:cTn>
                        </p:par>
                        <p:par>
                          <p:cTn id="19" fill="hold">
                            <p:stCondLst>
                              <p:cond delay="7500"/>
                            </p:stCondLst>
                            <p:childTnLst>
                              <p:par>
                                <p:cTn id="20" presetID="42" presetClass="path" presetSubtype="0" repeatCount="indefinite" accel="50000" decel="50000" fill="hold" grpId="0" nodeType="afterEffect">
                                  <p:stCondLst>
                                    <p:cond delay="500"/>
                                  </p:stCondLst>
                                  <p:childTnLst>
                                    <p:animMotion origin="layout" path="M -0.16494 0.12346 L -0.28212 0.05154 " pathEditMode="relative" rAng="0" ptsTypes="AA">
                                      <p:cBhvr>
                                        <p:cTn id="21" dur="1000" fill="hold"/>
                                        <p:tgtEl>
                                          <p:spTgt spid="39"/>
                                        </p:tgtEl>
                                        <p:attrNameLst>
                                          <p:attrName>ppt_x</p:attrName>
                                          <p:attrName>ppt_y</p:attrName>
                                        </p:attrNameLst>
                                      </p:cBhvr>
                                      <p:rCtr x="-5833" y="-3611"/>
                                    </p:animMotion>
                                  </p:childTnLst>
                                  <p:subTnLst>
                                    <p:set>
                                      <p:cBhvr override="childStyle">
                                        <p:cTn dur="1" fill="hold" display="0" masterRel="sameClick" afterEffect="1">
                                          <p:stCondLst>
                                            <p:cond evt="end" delay="0">
                                              <p:tn val="20"/>
                                            </p:cond>
                                          </p:stCondLst>
                                        </p:cTn>
                                        <p:tgtEl>
                                          <p:spTgt spid="39"/>
                                        </p:tgtEl>
                                        <p:attrNameLst>
                                          <p:attrName>style.visibility</p:attrName>
                                        </p:attrNameLst>
                                      </p:cBhvr>
                                      <p:to>
                                        <p:strVal val="hidden"/>
                                      </p:to>
                                    </p:set>
                                  </p:subTnLst>
                                </p:cTn>
                              </p:par>
                            </p:childTnLst>
                          </p:cTn>
                        </p:par>
                        <p:par>
                          <p:cTn id="22" fill="hold">
                            <p:stCondLst>
                              <p:cond delay="9000"/>
                            </p:stCondLst>
                            <p:childTnLst>
                              <p:par>
                                <p:cTn id="23" presetID="42" presetClass="path" presetSubtype="0" repeatCount="indefinite" accel="50000" decel="50000" fill="hold" grpId="0" nodeType="afterEffect">
                                  <p:stCondLst>
                                    <p:cond delay="500"/>
                                  </p:stCondLst>
                                  <p:childTnLst>
                                    <p:animMotion origin="layout" path="M -0.28212 0.32161 L -0.16493 0.10433 " pathEditMode="relative" rAng="0" ptsTypes="AA">
                                      <p:cBhvr>
                                        <p:cTn id="24" dur="1000" fill="hold"/>
                                        <p:tgtEl>
                                          <p:spTgt spid="40"/>
                                        </p:tgtEl>
                                        <p:attrNameLst>
                                          <p:attrName>ppt_x</p:attrName>
                                          <p:attrName>ppt_y</p:attrName>
                                        </p:attrNameLst>
                                      </p:cBhvr>
                                      <p:rCtr x="5851" y="-10864"/>
                                    </p:animMotion>
                                  </p:childTnLst>
                                  <p:subTnLst>
                                    <p:set>
                                      <p:cBhvr override="childStyle">
                                        <p:cTn dur="1" fill="hold" display="0" masterRel="sameClick" afterEffect="1">
                                          <p:stCondLst>
                                            <p:cond evt="end" delay="0">
                                              <p:tn val="23"/>
                                            </p:cond>
                                          </p:stCondLst>
                                        </p:cTn>
                                        <p:tgtEl>
                                          <p:spTgt spid="40"/>
                                        </p:tgtEl>
                                        <p:attrNameLst>
                                          <p:attrName>style.visibility</p:attrName>
                                        </p:attrNameLst>
                                      </p:cBhvr>
                                      <p:to>
                                        <p:strVal val="hidden"/>
                                      </p:to>
                                    </p:set>
                                  </p:subTnLst>
                                </p:cTn>
                              </p:par>
                            </p:childTnLst>
                          </p:cTn>
                        </p:par>
                        <p:par>
                          <p:cTn id="25" fill="hold">
                            <p:stCondLst>
                              <p:cond delay="10500"/>
                            </p:stCondLst>
                            <p:childTnLst>
                              <p:par>
                                <p:cTn id="26" presetID="42" presetClass="path" presetSubtype="0" repeatCount="indefinite" accel="50000" decel="50000" fill="hold" grpId="0" nodeType="afterEffect">
                                  <p:stCondLst>
                                    <p:cond delay="500"/>
                                  </p:stCondLst>
                                  <p:childTnLst>
                                    <p:animMotion origin="layout" path="M -0.16493 0.08642 L -0.28212 0.15987 " pathEditMode="relative" rAng="0" ptsTypes="AA">
                                      <p:cBhvr>
                                        <p:cTn id="27" dur="1000" fill="hold"/>
                                        <p:tgtEl>
                                          <p:spTgt spid="41"/>
                                        </p:tgtEl>
                                        <p:attrNameLst>
                                          <p:attrName>ppt_x</p:attrName>
                                          <p:attrName>ppt_y</p:attrName>
                                        </p:attrNameLst>
                                      </p:cBhvr>
                                      <p:rCtr x="-5833" y="3580"/>
                                    </p:animMotion>
                                  </p:childTnLst>
                                  <p:subTnLst>
                                    <p:set>
                                      <p:cBhvr override="childStyle">
                                        <p:cTn dur="1" fill="hold" display="0" masterRel="sameClick" afterEffect="1">
                                          <p:stCondLst>
                                            <p:cond evt="end" delay="0">
                                              <p:tn val="26"/>
                                            </p:cond>
                                          </p:stCondLst>
                                        </p:cTn>
                                        <p:tgtEl>
                                          <p:spTgt spid="4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4" grpId="0" animBg="1"/>
      <p:bldP spid="35" grpId="0" animBg="1"/>
      <p:bldP spid="36" grpId="0" animBg="1"/>
      <p:bldP spid="37" grpId="0" animBg="1"/>
      <p:bldP spid="39" grpId="0" animBg="1"/>
      <p:bldP spid="40" grpId="0" animBg="1"/>
      <p:bldP spid="4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3BFADD92-13AA-8034-C944-45E8309F1371}"/>
              </a:ext>
            </a:extLst>
          </p:cNvPr>
          <p:cNvGrpSpPr/>
          <p:nvPr/>
        </p:nvGrpSpPr>
        <p:grpSpPr>
          <a:xfrm>
            <a:off x="571500" y="1104332"/>
            <a:ext cx="5200452" cy="1057718"/>
            <a:chOff x="571499" y="1104332"/>
            <a:chExt cx="5063211" cy="1057718"/>
          </a:xfrm>
        </p:grpSpPr>
        <p:sp>
          <p:nvSpPr>
            <p:cNvPr id="14" name="Text 1">
              <a:extLst>
                <a:ext uri="{FF2B5EF4-FFF2-40B4-BE49-F238E27FC236}">
                  <a16:creationId xmlns:a16="http://schemas.microsoft.com/office/drawing/2014/main" id="{24711CF3-3FF3-27CB-8B59-15E26D1AA2F6}"/>
                </a:ext>
              </a:extLst>
            </p:cNvPr>
            <p:cNvSpPr/>
            <p:nvPr/>
          </p:nvSpPr>
          <p:spPr>
            <a:xfrm>
              <a:off x="767785" y="1104332"/>
              <a:ext cx="4623724"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Every Node is Equal: </a:t>
              </a:r>
              <a:r>
                <a:rPr lang="en-US" sz="1200" dirty="0">
                  <a:solidFill>
                    <a:srgbClr val="1A1A1A"/>
                  </a:solidFill>
                </a:rPr>
                <a:t>No central server, all participants are peers</a:t>
              </a:r>
            </a:p>
          </p:txBody>
        </p:sp>
        <p:sp>
          <p:nvSpPr>
            <p:cNvPr id="15" name="Text 2">
              <a:extLst>
                <a:ext uri="{FF2B5EF4-FFF2-40B4-BE49-F238E27FC236}">
                  <a16:creationId xmlns:a16="http://schemas.microsoft.com/office/drawing/2014/main" id="{42B95C8A-6525-FF2D-C37B-61FE40C68382}"/>
                </a:ext>
              </a:extLst>
            </p:cNvPr>
            <p:cNvSpPr/>
            <p:nvPr/>
          </p:nvSpPr>
          <p:spPr>
            <a:xfrm>
              <a:off x="767785" y="1394384"/>
              <a:ext cx="4866925"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Distributed Storage: </a:t>
              </a:r>
              <a:r>
                <a:rPr lang="en-US" sz="1200" dirty="0">
                  <a:solidFill>
                    <a:srgbClr val="1A1A1A"/>
                  </a:solidFill>
                </a:rPr>
                <a:t>Each node stores data and processes transactions</a:t>
              </a:r>
            </a:p>
          </p:txBody>
        </p:sp>
        <p:sp>
          <p:nvSpPr>
            <p:cNvPr id="16" name="Text 3">
              <a:extLst>
                <a:ext uri="{FF2B5EF4-FFF2-40B4-BE49-F238E27FC236}">
                  <a16:creationId xmlns:a16="http://schemas.microsoft.com/office/drawing/2014/main" id="{A1C0D2BC-066B-C1A7-A828-B9E04B8879A2}"/>
                </a:ext>
              </a:extLst>
            </p:cNvPr>
            <p:cNvSpPr/>
            <p:nvPr/>
          </p:nvSpPr>
          <p:spPr>
            <a:xfrm>
              <a:off x="767785" y="1688449"/>
              <a:ext cx="4552477"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Resilience:</a:t>
              </a:r>
              <a:r>
                <a:rPr lang="en-US" sz="1200" dirty="0">
                  <a:solidFill>
                    <a:srgbClr val="1A1A1A"/>
                  </a:solidFill>
                </a:rPr>
                <a:t> If one node fails, the network continues operating</a:t>
              </a:r>
            </a:p>
          </p:txBody>
        </p:sp>
        <p:sp>
          <p:nvSpPr>
            <p:cNvPr id="17" name="Text 4">
              <a:extLst>
                <a:ext uri="{FF2B5EF4-FFF2-40B4-BE49-F238E27FC236}">
                  <a16:creationId xmlns:a16="http://schemas.microsoft.com/office/drawing/2014/main" id="{8170A80A-CCD8-A4E2-D4E0-92DC4C6934EA}"/>
                </a:ext>
              </a:extLst>
            </p:cNvPr>
            <p:cNvSpPr/>
            <p:nvPr/>
          </p:nvSpPr>
          <p:spPr>
            <a:xfrm>
              <a:off x="767785" y="1982514"/>
              <a:ext cx="4796253"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The Challenge: </a:t>
              </a:r>
              <a:r>
                <a:rPr lang="en-US" sz="1200" dirty="0">
                  <a:solidFill>
                    <a:srgbClr val="1A1A1A"/>
                  </a:solidFill>
                </a:rPr>
                <a:t>How do we reach consensus without a central authority?</a:t>
              </a:r>
            </a:p>
          </p:txBody>
        </p:sp>
        <p:sp>
          <p:nvSpPr>
            <p:cNvPr id="18" name="Shape 17">
              <a:extLst>
                <a:ext uri="{FF2B5EF4-FFF2-40B4-BE49-F238E27FC236}">
                  <a16:creationId xmlns:a16="http://schemas.microsoft.com/office/drawing/2014/main" id="{D8437BA5-AF0E-D0AA-0F32-C4EA94F5ABD4}"/>
                </a:ext>
              </a:extLst>
            </p:cNvPr>
            <p:cNvSpPr/>
            <p:nvPr/>
          </p:nvSpPr>
          <p:spPr>
            <a:xfrm>
              <a:off x="571499" y="1104332"/>
              <a:ext cx="45719" cy="1057718"/>
            </a:xfrm>
            <a:prstGeom prst="rect">
              <a:avLst/>
            </a:prstGeom>
            <a:solidFill>
              <a:srgbClr val="0055FF"/>
            </a:solidFill>
            <a:ln/>
          </p:spPr>
          <p:txBody>
            <a:bodyPr/>
            <a:lstStyle/>
            <a:p>
              <a:endParaRPr lang="es-ES"/>
            </a:p>
          </p:txBody>
        </p:sp>
      </p:grpSp>
      <p:sp>
        <p:nvSpPr>
          <p:cNvPr id="19" name="Text 0">
            <a:extLst>
              <a:ext uri="{FF2B5EF4-FFF2-40B4-BE49-F238E27FC236}">
                <a16:creationId xmlns:a16="http://schemas.microsoft.com/office/drawing/2014/main" id="{C007EB74-9705-80FE-CABF-89084F964E27}"/>
              </a:ext>
            </a:extLst>
          </p:cNvPr>
          <p:cNvSpPr/>
          <p:nvPr/>
        </p:nvSpPr>
        <p:spPr>
          <a:xfrm>
            <a:off x="571499" y="424045"/>
            <a:ext cx="6053236" cy="394275"/>
          </a:xfrm>
          <a:prstGeom prst="rect">
            <a:avLst/>
          </a:prstGeom>
          <a:noFill/>
          <a:ln/>
        </p:spPr>
        <p:txBody>
          <a:bodyPr wrap="square" lIns="0" tIns="0" rIns="0" bIns="0" rtlCol="0" anchor="t">
            <a:spAutoFit/>
          </a:bodyPr>
          <a:lstStyle/>
          <a:p>
            <a:pPr>
              <a:lnSpc>
                <a:spcPts val="3200"/>
              </a:lnSpc>
            </a:pPr>
            <a:r>
              <a:rPr lang="en-US" sz="2436" b="1" dirty="0">
                <a:solidFill>
                  <a:srgbClr val="1A1A1A"/>
                </a:solidFill>
              </a:rPr>
              <a:t>Peer-to-Peer (P2P) Networks: A Better Way</a:t>
            </a:r>
            <a:endParaRPr lang="en-US" sz="2436" dirty="0"/>
          </a:p>
        </p:txBody>
      </p:sp>
      <p:grpSp>
        <p:nvGrpSpPr>
          <p:cNvPr id="96" name="Grupo 95">
            <a:extLst>
              <a:ext uri="{FF2B5EF4-FFF2-40B4-BE49-F238E27FC236}">
                <a16:creationId xmlns:a16="http://schemas.microsoft.com/office/drawing/2014/main" id="{79826CEF-42C9-9F64-44BE-7276AFBC048F}"/>
              </a:ext>
            </a:extLst>
          </p:cNvPr>
          <p:cNvGrpSpPr/>
          <p:nvPr/>
        </p:nvGrpSpPr>
        <p:grpSpPr>
          <a:xfrm>
            <a:off x="5010329" y="2400895"/>
            <a:ext cx="3446894" cy="2318560"/>
            <a:chOff x="5285330" y="2005091"/>
            <a:chExt cx="3446894" cy="2318560"/>
          </a:xfrm>
        </p:grpSpPr>
        <p:pic>
          <p:nvPicPr>
            <p:cNvPr id="51" name="Gráfico 50" descr="Ordenador contorno">
              <a:extLst>
                <a:ext uri="{FF2B5EF4-FFF2-40B4-BE49-F238E27FC236}">
                  <a16:creationId xmlns:a16="http://schemas.microsoft.com/office/drawing/2014/main" id="{2445971B-842F-65E4-FB99-D4884234AB62}"/>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5285330" y="2927198"/>
              <a:ext cx="739783" cy="474345"/>
            </a:xfrm>
            <a:prstGeom prst="rect">
              <a:avLst/>
            </a:prstGeom>
          </p:spPr>
        </p:pic>
        <p:pic>
          <p:nvPicPr>
            <p:cNvPr id="50" name="Gráfico 49" descr="Ordenador contorno">
              <a:extLst>
                <a:ext uri="{FF2B5EF4-FFF2-40B4-BE49-F238E27FC236}">
                  <a16:creationId xmlns:a16="http://schemas.microsoft.com/office/drawing/2014/main" id="{09938075-4E0B-BAC3-816C-7080DA0C23F6}"/>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6025116" y="3849305"/>
              <a:ext cx="739783" cy="474345"/>
            </a:xfrm>
            <a:prstGeom prst="rect">
              <a:avLst/>
            </a:prstGeom>
          </p:spPr>
        </p:pic>
        <p:pic>
          <p:nvPicPr>
            <p:cNvPr id="42" name="Gráfico 41" descr="Ordenador contorno">
              <a:extLst>
                <a:ext uri="{FF2B5EF4-FFF2-40B4-BE49-F238E27FC236}">
                  <a16:creationId xmlns:a16="http://schemas.microsoft.com/office/drawing/2014/main" id="{D533504E-D367-337D-2B48-09FEC30765EA}"/>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6025116" y="2005091"/>
              <a:ext cx="739783" cy="474345"/>
            </a:xfrm>
            <a:prstGeom prst="rect">
              <a:avLst/>
            </a:prstGeom>
          </p:spPr>
        </p:pic>
        <p:pic>
          <p:nvPicPr>
            <p:cNvPr id="49" name="Gráfico 48" descr="Ordenador contorno">
              <a:extLst>
                <a:ext uri="{FF2B5EF4-FFF2-40B4-BE49-F238E27FC236}">
                  <a16:creationId xmlns:a16="http://schemas.microsoft.com/office/drawing/2014/main" id="{605D4D64-686E-77AA-22C8-11A69E94CEB4}"/>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7252658" y="3849306"/>
              <a:ext cx="739783" cy="474345"/>
            </a:xfrm>
            <a:prstGeom prst="rect">
              <a:avLst/>
            </a:prstGeom>
          </p:spPr>
        </p:pic>
        <p:pic>
          <p:nvPicPr>
            <p:cNvPr id="47" name="Gráfico 46" descr="Ordenador contorno">
              <a:extLst>
                <a:ext uri="{FF2B5EF4-FFF2-40B4-BE49-F238E27FC236}">
                  <a16:creationId xmlns:a16="http://schemas.microsoft.com/office/drawing/2014/main" id="{CA322E1B-5ADE-180B-7B0D-2D4599239213}"/>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7992441" y="2929540"/>
              <a:ext cx="739783" cy="474345"/>
            </a:xfrm>
            <a:prstGeom prst="rect">
              <a:avLst/>
            </a:prstGeom>
          </p:spPr>
        </p:pic>
        <p:pic>
          <p:nvPicPr>
            <p:cNvPr id="30" name="Gráfico 29" descr="Ordenador contorno">
              <a:extLst>
                <a:ext uri="{FF2B5EF4-FFF2-40B4-BE49-F238E27FC236}">
                  <a16:creationId xmlns:a16="http://schemas.microsoft.com/office/drawing/2014/main" id="{B6EAB21A-6CC0-CA68-1261-A0C7131BA06A}"/>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7252661" y="2009774"/>
              <a:ext cx="739783" cy="474345"/>
            </a:xfrm>
            <a:prstGeom prst="rect">
              <a:avLst/>
            </a:prstGeom>
          </p:spPr>
        </p:pic>
        <p:cxnSp>
          <p:nvCxnSpPr>
            <p:cNvPr id="38" name="Conector recto 37">
              <a:extLst>
                <a:ext uri="{FF2B5EF4-FFF2-40B4-BE49-F238E27FC236}">
                  <a16:creationId xmlns:a16="http://schemas.microsoft.com/office/drawing/2014/main" id="{3364ABA6-4784-8162-15C4-BBFEE922D8C8}"/>
                </a:ext>
              </a:extLst>
            </p:cNvPr>
            <p:cNvCxnSpPr>
              <a:cxnSpLocks/>
              <a:stCxn id="47" idx="0"/>
              <a:endCxn id="30" idx="3"/>
            </p:cNvCxnSpPr>
            <p:nvPr/>
          </p:nvCxnSpPr>
          <p:spPr>
            <a:xfrm flipH="1" flipV="1">
              <a:off x="7992444" y="2246947"/>
              <a:ext cx="369889" cy="682593"/>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44" name="Conector recto 43">
              <a:extLst>
                <a:ext uri="{FF2B5EF4-FFF2-40B4-BE49-F238E27FC236}">
                  <a16:creationId xmlns:a16="http://schemas.microsoft.com/office/drawing/2014/main" id="{49E63CA3-12C2-6144-4215-F2331FD98934}"/>
                </a:ext>
              </a:extLst>
            </p:cNvPr>
            <p:cNvCxnSpPr>
              <a:cxnSpLocks/>
              <a:stCxn id="30" idx="1"/>
              <a:endCxn id="42" idx="3"/>
            </p:cNvCxnSpPr>
            <p:nvPr/>
          </p:nvCxnSpPr>
          <p:spPr>
            <a:xfrm flipH="1" flipV="1">
              <a:off x="6764899" y="2242264"/>
              <a:ext cx="487762" cy="4683"/>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53" name="Conector recto 52">
              <a:extLst>
                <a:ext uri="{FF2B5EF4-FFF2-40B4-BE49-F238E27FC236}">
                  <a16:creationId xmlns:a16="http://schemas.microsoft.com/office/drawing/2014/main" id="{2FED2209-F13C-7E65-217A-B4C70E915017}"/>
                </a:ext>
              </a:extLst>
            </p:cNvPr>
            <p:cNvCxnSpPr>
              <a:cxnSpLocks/>
              <a:stCxn id="51" idx="0"/>
              <a:endCxn id="42" idx="1"/>
            </p:cNvCxnSpPr>
            <p:nvPr/>
          </p:nvCxnSpPr>
          <p:spPr>
            <a:xfrm flipV="1">
              <a:off x="5655222" y="2242264"/>
              <a:ext cx="369894" cy="684934"/>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69" name="Conector recto 68">
              <a:extLst>
                <a:ext uri="{FF2B5EF4-FFF2-40B4-BE49-F238E27FC236}">
                  <a16:creationId xmlns:a16="http://schemas.microsoft.com/office/drawing/2014/main" id="{BE490A78-D204-FD1D-6B95-BA96A528DC30}"/>
                </a:ext>
              </a:extLst>
            </p:cNvPr>
            <p:cNvCxnSpPr>
              <a:cxnSpLocks/>
              <a:stCxn id="51" idx="2"/>
              <a:endCxn id="50" idx="1"/>
            </p:cNvCxnSpPr>
            <p:nvPr/>
          </p:nvCxnSpPr>
          <p:spPr>
            <a:xfrm>
              <a:off x="5655222" y="3401543"/>
              <a:ext cx="369894" cy="684935"/>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76" name="Conector recto 75">
              <a:extLst>
                <a:ext uri="{FF2B5EF4-FFF2-40B4-BE49-F238E27FC236}">
                  <a16:creationId xmlns:a16="http://schemas.microsoft.com/office/drawing/2014/main" id="{D114A2AE-1CF4-895F-E369-41483B1769CC}"/>
                </a:ext>
              </a:extLst>
            </p:cNvPr>
            <p:cNvCxnSpPr>
              <a:cxnSpLocks/>
              <a:stCxn id="49" idx="1"/>
              <a:endCxn id="50" idx="3"/>
            </p:cNvCxnSpPr>
            <p:nvPr/>
          </p:nvCxnSpPr>
          <p:spPr>
            <a:xfrm flipH="1" flipV="1">
              <a:off x="6764899" y="4086478"/>
              <a:ext cx="487759" cy="1"/>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79" name="Conector recto 78">
              <a:extLst>
                <a:ext uri="{FF2B5EF4-FFF2-40B4-BE49-F238E27FC236}">
                  <a16:creationId xmlns:a16="http://schemas.microsoft.com/office/drawing/2014/main" id="{B97E5D3A-DFE8-ECD6-17AE-588F9EA6779D}"/>
                </a:ext>
              </a:extLst>
            </p:cNvPr>
            <p:cNvCxnSpPr>
              <a:cxnSpLocks/>
              <a:stCxn id="47" idx="2"/>
              <a:endCxn id="49" idx="3"/>
            </p:cNvCxnSpPr>
            <p:nvPr/>
          </p:nvCxnSpPr>
          <p:spPr>
            <a:xfrm flipH="1">
              <a:off x="7992441" y="3403885"/>
              <a:ext cx="369892" cy="682594"/>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82" name="Conector recto 81">
              <a:extLst>
                <a:ext uri="{FF2B5EF4-FFF2-40B4-BE49-F238E27FC236}">
                  <a16:creationId xmlns:a16="http://schemas.microsoft.com/office/drawing/2014/main" id="{523D8156-6CC9-6E1A-E787-4EEFCC0891B3}"/>
                </a:ext>
              </a:extLst>
            </p:cNvPr>
            <p:cNvCxnSpPr>
              <a:cxnSpLocks/>
              <a:stCxn id="51" idx="3"/>
              <a:endCxn id="30" idx="2"/>
            </p:cNvCxnSpPr>
            <p:nvPr/>
          </p:nvCxnSpPr>
          <p:spPr>
            <a:xfrm flipV="1">
              <a:off x="6025113" y="2484119"/>
              <a:ext cx="1597440" cy="680252"/>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85" name="Conector recto 84">
              <a:extLst>
                <a:ext uri="{FF2B5EF4-FFF2-40B4-BE49-F238E27FC236}">
                  <a16:creationId xmlns:a16="http://schemas.microsoft.com/office/drawing/2014/main" id="{725A0518-FA68-91F0-D7F4-636A6A8B96F1}"/>
                </a:ext>
              </a:extLst>
            </p:cNvPr>
            <p:cNvCxnSpPr>
              <a:cxnSpLocks/>
              <a:stCxn id="42" idx="2"/>
              <a:endCxn id="49" idx="0"/>
            </p:cNvCxnSpPr>
            <p:nvPr/>
          </p:nvCxnSpPr>
          <p:spPr>
            <a:xfrm>
              <a:off x="6395008" y="2479436"/>
              <a:ext cx="1227542" cy="1369870"/>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91" name="Conector recto 90">
              <a:extLst>
                <a:ext uri="{FF2B5EF4-FFF2-40B4-BE49-F238E27FC236}">
                  <a16:creationId xmlns:a16="http://schemas.microsoft.com/office/drawing/2014/main" id="{157DD828-146A-71DA-4013-2713F03C07F8}"/>
                </a:ext>
              </a:extLst>
            </p:cNvPr>
            <p:cNvCxnSpPr>
              <a:cxnSpLocks/>
              <a:stCxn id="30" idx="2"/>
              <a:endCxn id="50" idx="0"/>
            </p:cNvCxnSpPr>
            <p:nvPr/>
          </p:nvCxnSpPr>
          <p:spPr>
            <a:xfrm flipH="1">
              <a:off x="6395008" y="2484119"/>
              <a:ext cx="1227545" cy="1365186"/>
            </a:xfrm>
            <a:prstGeom prst="line">
              <a:avLst/>
            </a:prstGeom>
            <a:ln w="38100">
              <a:prstDash val="sysDot"/>
            </a:ln>
          </p:spPr>
          <p:style>
            <a:lnRef idx="1">
              <a:schemeClr val="dk1"/>
            </a:lnRef>
            <a:fillRef idx="0">
              <a:schemeClr val="dk1"/>
            </a:fillRef>
            <a:effectRef idx="0">
              <a:schemeClr val="dk1"/>
            </a:effectRef>
            <a:fontRef idx="minor">
              <a:schemeClr val="tx1"/>
            </a:fontRef>
          </p:style>
        </p:cxnSp>
      </p:grpSp>
      <p:sp>
        <p:nvSpPr>
          <p:cNvPr id="97" name="Rectángulo 96">
            <a:extLst>
              <a:ext uri="{FF2B5EF4-FFF2-40B4-BE49-F238E27FC236}">
                <a16:creationId xmlns:a16="http://schemas.microsoft.com/office/drawing/2014/main" id="{5801B933-9552-2188-D6A3-548F15F22BB2}"/>
              </a:ext>
            </a:extLst>
          </p:cNvPr>
          <p:cNvSpPr/>
          <p:nvPr/>
        </p:nvSpPr>
        <p:spPr>
          <a:xfrm>
            <a:off x="9204050" y="2209768"/>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9" name="Rectángulo 98">
            <a:extLst>
              <a:ext uri="{FF2B5EF4-FFF2-40B4-BE49-F238E27FC236}">
                <a16:creationId xmlns:a16="http://schemas.microsoft.com/office/drawing/2014/main" id="{208DDD58-35D1-41A2-37D4-5EAA32E832DE}"/>
              </a:ext>
            </a:extLst>
          </p:cNvPr>
          <p:cNvSpPr/>
          <p:nvPr/>
        </p:nvSpPr>
        <p:spPr>
          <a:xfrm>
            <a:off x="9204050" y="2301843"/>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0" name="Rectángulo 99">
            <a:extLst>
              <a:ext uri="{FF2B5EF4-FFF2-40B4-BE49-F238E27FC236}">
                <a16:creationId xmlns:a16="http://schemas.microsoft.com/office/drawing/2014/main" id="{908B673B-CB18-FEB5-819D-4CC50D7C90C6}"/>
              </a:ext>
            </a:extLst>
          </p:cNvPr>
          <p:cNvSpPr/>
          <p:nvPr/>
        </p:nvSpPr>
        <p:spPr>
          <a:xfrm>
            <a:off x="9204050" y="2393918"/>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1" name="Rectángulo 100">
            <a:extLst>
              <a:ext uri="{FF2B5EF4-FFF2-40B4-BE49-F238E27FC236}">
                <a16:creationId xmlns:a16="http://schemas.microsoft.com/office/drawing/2014/main" id="{990CDE29-5D0E-B4E0-F67A-2EB8ED72BF66}"/>
              </a:ext>
            </a:extLst>
          </p:cNvPr>
          <p:cNvSpPr/>
          <p:nvPr/>
        </p:nvSpPr>
        <p:spPr>
          <a:xfrm>
            <a:off x="9204049" y="2485993"/>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2" name="Rectángulo 101">
            <a:extLst>
              <a:ext uri="{FF2B5EF4-FFF2-40B4-BE49-F238E27FC236}">
                <a16:creationId xmlns:a16="http://schemas.microsoft.com/office/drawing/2014/main" id="{D520C499-9322-4198-0AE1-1B3844CFFDE6}"/>
              </a:ext>
            </a:extLst>
          </p:cNvPr>
          <p:cNvSpPr/>
          <p:nvPr/>
        </p:nvSpPr>
        <p:spPr>
          <a:xfrm>
            <a:off x="9204049" y="2582426"/>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 name="Rectángulo 102">
            <a:extLst>
              <a:ext uri="{FF2B5EF4-FFF2-40B4-BE49-F238E27FC236}">
                <a16:creationId xmlns:a16="http://schemas.microsoft.com/office/drawing/2014/main" id="{F1994BF6-5D0E-DAE1-C0CE-BC35E9CF56DB}"/>
              </a:ext>
            </a:extLst>
          </p:cNvPr>
          <p:cNvSpPr/>
          <p:nvPr/>
        </p:nvSpPr>
        <p:spPr>
          <a:xfrm>
            <a:off x="9204049" y="2674501"/>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 name="Rectángulo 103">
            <a:extLst>
              <a:ext uri="{FF2B5EF4-FFF2-40B4-BE49-F238E27FC236}">
                <a16:creationId xmlns:a16="http://schemas.microsoft.com/office/drawing/2014/main" id="{0661F59E-DB17-1913-B8B8-2BF3908D5CA2}"/>
              </a:ext>
            </a:extLst>
          </p:cNvPr>
          <p:cNvSpPr/>
          <p:nvPr/>
        </p:nvSpPr>
        <p:spPr>
          <a:xfrm>
            <a:off x="9204050" y="2766576"/>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5" name="Rectángulo 104">
            <a:extLst>
              <a:ext uri="{FF2B5EF4-FFF2-40B4-BE49-F238E27FC236}">
                <a16:creationId xmlns:a16="http://schemas.microsoft.com/office/drawing/2014/main" id="{8AAD0DA9-4843-0439-6245-937BD4EAE76D}"/>
              </a:ext>
            </a:extLst>
          </p:cNvPr>
          <p:cNvSpPr/>
          <p:nvPr/>
        </p:nvSpPr>
        <p:spPr>
          <a:xfrm>
            <a:off x="9204048" y="2858651"/>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10" name="Grupo 109">
            <a:extLst>
              <a:ext uri="{FF2B5EF4-FFF2-40B4-BE49-F238E27FC236}">
                <a16:creationId xmlns:a16="http://schemas.microsoft.com/office/drawing/2014/main" id="{C9348383-4C9C-20AE-DFF8-BF2E5674A2D3}"/>
              </a:ext>
            </a:extLst>
          </p:cNvPr>
          <p:cNvGrpSpPr/>
          <p:nvPr/>
        </p:nvGrpSpPr>
        <p:grpSpPr>
          <a:xfrm>
            <a:off x="7582989" y="2875240"/>
            <a:ext cx="1008685" cy="1402503"/>
            <a:chOff x="7582989" y="2875240"/>
            <a:chExt cx="1008685" cy="1402503"/>
          </a:xfrm>
        </p:grpSpPr>
        <p:sp>
          <p:nvSpPr>
            <p:cNvPr id="107" name="Signo de multiplicación 106">
              <a:extLst>
                <a:ext uri="{FF2B5EF4-FFF2-40B4-BE49-F238E27FC236}">
                  <a16:creationId xmlns:a16="http://schemas.microsoft.com/office/drawing/2014/main" id="{7372491A-F37F-15EF-30F0-F2E9BCD1251C}"/>
                </a:ext>
              </a:extLst>
            </p:cNvPr>
            <p:cNvSpPr/>
            <p:nvPr/>
          </p:nvSpPr>
          <p:spPr>
            <a:xfrm>
              <a:off x="7582989" y="3168256"/>
              <a:ext cx="1008685" cy="794143"/>
            </a:xfrm>
            <a:prstGeom prst="mathMultiply">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 name="Signo de multiplicación 107">
              <a:extLst>
                <a:ext uri="{FF2B5EF4-FFF2-40B4-BE49-F238E27FC236}">
                  <a16:creationId xmlns:a16="http://schemas.microsoft.com/office/drawing/2014/main" id="{154B2332-F957-BABB-937F-9B94ABA50CF3}"/>
                </a:ext>
              </a:extLst>
            </p:cNvPr>
            <p:cNvSpPr/>
            <p:nvPr/>
          </p:nvSpPr>
          <p:spPr>
            <a:xfrm>
              <a:off x="7728373" y="2875240"/>
              <a:ext cx="348028" cy="274005"/>
            </a:xfrm>
            <a:prstGeom prst="mathMultiply">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9" name="Signo de multiplicación 108">
              <a:extLst>
                <a:ext uri="{FF2B5EF4-FFF2-40B4-BE49-F238E27FC236}">
                  <a16:creationId xmlns:a16="http://schemas.microsoft.com/office/drawing/2014/main" id="{59586722-5DD1-438D-3C7A-AC24E3A6C3C5}"/>
                </a:ext>
              </a:extLst>
            </p:cNvPr>
            <p:cNvSpPr/>
            <p:nvPr/>
          </p:nvSpPr>
          <p:spPr>
            <a:xfrm>
              <a:off x="7739300" y="4003738"/>
              <a:ext cx="348028" cy="274005"/>
            </a:xfrm>
            <a:prstGeom prst="mathMultiply">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20" name="Signo de multiplicación 119">
            <a:extLst>
              <a:ext uri="{FF2B5EF4-FFF2-40B4-BE49-F238E27FC236}">
                <a16:creationId xmlns:a16="http://schemas.microsoft.com/office/drawing/2014/main" id="{B8C2D42D-8383-0054-288E-13414DE789E2}"/>
              </a:ext>
            </a:extLst>
          </p:cNvPr>
          <p:cNvSpPr/>
          <p:nvPr/>
        </p:nvSpPr>
        <p:spPr>
          <a:xfrm>
            <a:off x="9137904" y="2911713"/>
            <a:ext cx="348028" cy="274005"/>
          </a:xfrm>
          <a:prstGeom prst="mathMultiply">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1" name="Rectángulo 120">
            <a:extLst>
              <a:ext uri="{FF2B5EF4-FFF2-40B4-BE49-F238E27FC236}">
                <a16:creationId xmlns:a16="http://schemas.microsoft.com/office/drawing/2014/main" id="{8A64C43F-3F6D-1461-EDB1-6D2549992B15}"/>
              </a:ext>
            </a:extLst>
          </p:cNvPr>
          <p:cNvSpPr/>
          <p:nvPr/>
        </p:nvSpPr>
        <p:spPr>
          <a:xfrm>
            <a:off x="9204050" y="3201146"/>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2" name="Rectángulo 121">
            <a:extLst>
              <a:ext uri="{FF2B5EF4-FFF2-40B4-BE49-F238E27FC236}">
                <a16:creationId xmlns:a16="http://schemas.microsoft.com/office/drawing/2014/main" id="{3F93BAD7-D937-91E5-9F79-9C7B3CB308AA}"/>
              </a:ext>
            </a:extLst>
          </p:cNvPr>
          <p:cNvSpPr/>
          <p:nvPr/>
        </p:nvSpPr>
        <p:spPr>
          <a:xfrm>
            <a:off x="9204050" y="3295181"/>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3" name="Rectángulo 122">
            <a:extLst>
              <a:ext uri="{FF2B5EF4-FFF2-40B4-BE49-F238E27FC236}">
                <a16:creationId xmlns:a16="http://schemas.microsoft.com/office/drawing/2014/main" id="{C187A842-34E3-40DB-3AA0-6E1A500567BD}"/>
              </a:ext>
            </a:extLst>
          </p:cNvPr>
          <p:cNvSpPr/>
          <p:nvPr/>
        </p:nvSpPr>
        <p:spPr>
          <a:xfrm>
            <a:off x="9204050" y="3392805"/>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4" name="Rectángulo 123">
            <a:extLst>
              <a:ext uri="{FF2B5EF4-FFF2-40B4-BE49-F238E27FC236}">
                <a16:creationId xmlns:a16="http://schemas.microsoft.com/office/drawing/2014/main" id="{8FDB298E-0AB8-C9B9-83E7-12DA7437C193}"/>
              </a:ext>
            </a:extLst>
          </p:cNvPr>
          <p:cNvSpPr/>
          <p:nvPr/>
        </p:nvSpPr>
        <p:spPr>
          <a:xfrm>
            <a:off x="9204047" y="3490429"/>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5" name="Rectángulo 124">
            <a:extLst>
              <a:ext uri="{FF2B5EF4-FFF2-40B4-BE49-F238E27FC236}">
                <a16:creationId xmlns:a16="http://schemas.microsoft.com/office/drawing/2014/main" id="{74352AFB-D3EF-53CC-AA5A-510077302D4C}"/>
              </a:ext>
            </a:extLst>
          </p:cNvPr>
          <p:cNvSpPr/>
          <p:nvPr/>
        </p:nvSpPr>
        <p:spPr>
          <a:xfrm>
            <a:off x="9204046" y="3585162"/>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6" name="Rectángulo 125">
            <a:extLst>
              <a:ext uri="{FF2B5EF4-FFF2-40B4-BE49-F238E27FC236}">
                <a16:creationId xmlns:a16="http://schemas.microsoft.com/office/drawing/2014/main" id="{11A9CB89-BE77-556F-C02C-10347BCE29A8}"/>
              </a:ext>
            </a:extLst>
          </p:cNvPr>
          <p:cNvSpPr/>
          <p:nvPr/>
        </p:nvSpPr>
        <p:spPr>
          <a:xfrm>
            <a:off x="9204045" y="3677237"/>
            <a:ext cx="60325" cy="60325"/>
          </a:xfrm>
          <a:prstGeom prst="rect">
            <a:avLst/>
          </a:prstGeom>
          <a:solidFill>
            <a:srgbClr val="92D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7" name="Marcador de número de diapositiva 126">
            <a:extLst>
              <a:ext uri="{FF2B5EF4-FFF2-40B4-BE49-F238E27FC236}">
                <a16:creationId xmlns:a16="http://schemas.microsoft.com/office/drawing/2014/main" id="{1190B9FC-8965-7BE3-FBDA-EB30B5CC8BA5}"/>
              </a:ext>
            </a:extLst>
          </p:cNvPr>
          <p:cNvSpPr>
            <a:spLocks noGrp="1"/>
          </p:cNvSpPr>
          <p:nvPr>
            <p:ph type="sldNum" sz="quarter" idx="12"/>
          </p:nvPr>
        </p:nvSpPr>
        <p:spPr/>
        <p:txBody>
          <a:bodyPr/>
          <a:lstStyle/>
          <a:p>
            <a:fld id="{621D377E-C6E5-404B-8AA2-3999D49F21B5}" type="slidenum">
              <a:rPr lang="es-ES" smtClean="0"/>
              <a:t>4</a:t>
            </a:fld>
            <a:endParaRPr lang="es-E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500"/>
                                  </p:stCondLst>
                                  <p:childTnLst>
                                    <p:animMotion origin="layout" path="M -0.16598 0.0784 L -0.12552 0.21667 " pathEditMode="fixed" rAng="0" ptsTypes="AA">
                                      <p:cBhvr>
                                        <p:cTn id="6" dur="1000" fill="hold"/>
                                        <p:tgtEl>
                                          <p:spTgt spid="97"/>
                                        </p:tgtEl>
                                        <p:attrNameLst>
                                          <p:attrName>ppt_x</p:attrName>
                                          <p:attrName>ppt_y</p:attrName>
                                        </p:attrNameLst>
                                      </p:cBhvr>
                                      <p:rCtr x="2014" y="6914"/>
                                    </p:animMotion>
                                  </p:childTnLst>
                                  <p:subTnLst>
                                    <p:set>
                                      <p:cBhvr override="childStyle">
                                        <p:cTn dur="1" fill="hold" display="0" masterRel="sameClick" afterEffect="1">
                                          <p:stCondLst>
                                            <p:cond evt="end" delay="0">
                                              <p:tn val="5"/>
                                            </p:cond>
                                          </p:stCondLst>
                                        </p:cTn>
                                        <p:tgtEl>
                                          <p:spTgt spid="97"/>
                                        </p:tgtEl>
                                        <p:attrNameLst>
                                          <p:attrName>style.visibility</p:attrName>
                                        </p:attrNameLst>
                                      </p:cBhvr>
                                      <p:to>
                                        <p:strVal val="hidden"/>
                                      </p:to>
                                    </p:set>
                                  </p:subTnLst>
                                </p:cTn>
                              </p:par>
                            </p:childTnLst>
                          </p:cTn>
                        </p:par>
                        <p:par>
                          <p:cTn id="7" fill="hold">
                            <p:stCondLst>
                              <p:cond delay="1500"/>
                            </p:stCondLst>
                            <p:childTnLst>
                              <p:par>
                                <p:cTn id="8" presetID="42" presetClass="path" presetSubtype="0" accel="50000" decel="50000" fill="hold" grpId="0" nodeType="afterEffect">
                                  <p:stCondLst>
                                    <p:cond delay="0"/>
                                  </p:stCondLst>
                                  <p:childTnLst>
                                    <p:animMotion origin="layout" path="M -0.19983 0.38672 L -0.34063 0.10555 " pathEditMode="fixed" rAng="0" ptsTypes="AA">
                                      <p:cBhvr>
                                        <p:cTn id="9" dur="1000" fill="hold"/>
                                        <p:tgtEl>
                                          <p:spTgt spid="99"/>
                                        </p:tgtEl>
                                        <p:attrNameLst>
                                          <p:attrName>ppt_x</p:attrName>
                                          <p:attrName>ppt_y</p:attrName>
                                        </p:attrNameLst>
                                      </p:cBhvr>
                                      <p:rCtr x="-7049" y="-14074"/>
                                    </p:animMotion>
                                  </p:childTnLst>
                                  <p:subTnLst>
                                    <p:set>
                                      <p:cBhvr override="childStyle">
                                        <p:cTn dur="1" fill="hold" display="0" masterRel="sameClick" afterEffect="1">
                                          <p:stCondLst>
                                            <p:cond evt="end" delay="0">
                                              <p:tn val="8"/>
                                            </p:cond>
                                          </p:stCondLst>
                                        </p:cTn>
                                        <p:tgtEl>
                                          <p:spTgt spid="99"/>
                                        </p:tgtEl>
                                        <p:attrNameLst>
                                          <p:attrName>style.visibility</p:attrName>
                                        </p:attrNameLst>
                                      </p:cBhvr>
                                      <p:to>
                                        <p:strVal val="hidden"/>
                                      </p:to>
                                    </p:set>
                                  </p:subTnLst>
                                </p:cTn>
                              </p:par>
                            </p:childTnLst>
                          </p:cTn>
                        </p:par>
                        <p:par>
                          <p:cTn id="10" fill="hold">
                            <p:stCondLst>
                              <p:cond delay="2500"/>
                            </p:stCondLst>
                            <p:childTnLst>
                              <p:par>
                                <p:cTn id="11" presetID="42" presetClass="path" presetSubtype="0" accel="50000" decel="50000" fill="hold" grpId="0" nodeType="afterEffect">
                                  <p:stCondLst>
                                    <p:cond delay="0"/>
                                  </p:stCondLst>
                                  <p:childTnLst>
                                    <p:animMotion origin="layout" path="M -0.38108 0.22129 L -0.20643 0.08765 " pathEditMode="fixed" rAng="0" ptsTypes="AA">
                                      <p:cBhvr>
                                        <p:cTn id="12" dur="1000" fill="hold"/>
                                        <p:tgtEl>
                                          <p:spTgt spid="100"/>
                                        </p:tgtEl>
                                        <p:attrNameLst>
                                          <p:attrName>ppt_x</p:attrName>
                                          <p:attrName>ppt_y</p:attrName>
                                        </p:attrNameLst>
                                      </p:cBhvr>
                                      <p:rCtr x="8733" y="-6698"/>
                                    </p:animMotion>
                                  </p:childTnLst>
                                  <p:subTnLst>
                                    <p:set>
                                      <p:cBhvr override="childStyle">
                                        <p:cTn dur="1" fill="hold" display="0" masterRel="sameClick" afterEffect="1">
                                          <p:stCondLst>
                                            <p:cond evt="end" delay="0">
                                              <p:tn val="11"/>
                                            </p:cond>
                                          </p:stCondLst>
                                        </p:cTn>
                                        <p:tgtEl>
                                          <p:spTgt spid="100"/>
                                        </p:tgtEl>
                                        <p:attrNameLst>
                                          <p:attrName>style.visibility</p:attrName>
                                        </p:attrNameLst>
                                      </p:cBhvr>
                                      <p:to>
                                        <p:strVal val="hidden"/>
                                      </p:to>
                                    </p:set>
                                  </p:subTnLst>
                                </p:cTn>
                              </p:par>
                            </p:childTnLst>
                          </p:cTn>
                        </p:par>
                        <p:par>
                          <p:cTn id="13" fill="hold">
                            <p:stCondLst>
                              <p:cond delay="3500"/>
                            </p:stCondLst>
                            <p:childTnLst>
                              <p:par>
                                <p:cTn id="14" presetID="42" presetClass="path" presetSubtype="0" accel="50000" decel="50000" fill="hold" grpId="0" nodeType="afterEffect">
                                  <p:stCondLst>
                                    <p:cond delay="0"/>
                                  </p:stCondLst>
                                  <p:childTnLst>
                                    <p:animMotion origin="layout" path="M -0.20643 0.06975 L -0.34063 0.33703 " pathEditMode="fixed" rAng="0" ptsTypes="AA">
                                      <p:cBhvr>
                                        <p:cTn id="15" dur="1000" fill="hold"/>
                                        <p:tgtEl>
                                          <p:spTgt spid="101"/>
                                        </p:tgtEl>
                                        <p:attrNameLst>
                                          <p:attrName>ppt_x</p:attrName>
                                          <p:attrName>ppt_y</p:attrName>
                                        </p:attrNameLst>
                                      </p:cBhvr>
                                      <p:rCtr x="-6719" y="13272"/>
                                    </p:animMotion>
                                  </p:childTnLst>
                                  <p:subTnLst>
                                    <p:set>
                                      <p:cBhvr override="childStyle">
                                        <p:cTn dur="1" fill="hold" display="0" masterRel="sameClick" afterEffect="1">
                                          <p:stCondLst>
                                            <p:cond evt="end" delay="0">
                                              <p:tn val="14"/>
                                            </p:cond>
                                          </p:stCondLst>
                                        </p:cTn>
                                        <p:tgtEl>
                                          <p:spTgt spid="101"/>
                                        </p:tgtEl>
                                        <p:attrNameLst>
                                          <p:attrName>style.visibility</p:attrName>
                                        </p:attrNameLst>
                                      </p:cBhvr>
                                      <p:to>
                                        <p:strVal val="hidden"/>
                                      </p:to>
                                    </p:set>
                                  </p:subTnLst>
                                </p:cTn>
                              </p:par>
                            </p:childTnLst>
                          </p:cTn>
                        </p:par>
                        <p:par>
                          <p:cTn id="16" fill="hold">
                            <p:stCondLst>
                              <p:cond delay="4500"/>
                            </p:stCondLst>
                            <p:childTnLst>
                              <p:par>
                                <p:cTn id="17" presetID="42" presetClass="path" presetSubtype="0" accel="50000" decel="50000" fill="hold" grpId="0" nodeType="afterEffect">
                                  <p:stCondLst>
                                    <p:cond delay="0"/>
                                  </p:stCondLst>
                                  <p:childTnLst>
                                    <p:animMotion origin="layout" path="M -0.24688 0.3642 L -0.30018 0.3642 " pathEditMode="fixed" rAng="0" ptsTypes="AA">
                                      <p:cBhvr>
                                        <p:cTn id="18" dur="1000" fill="hold"/>
                                        <p:tgtEl>
                                          <p:spTgt spid="102"/>
                                        </p:tgtEl>
                                        <p:attrNameLst>
                                          <p:attrName>ppt_x</p:attrName>
                                          <p:attrName>ppt_y</p:attrName>
                                        </p:attrNameLst>
                                      </p:cBhvr>
                                      <p:rCtr x="-2674" y="0"/>
                                    </p:animMotion>
                                  </p:childTnLst>
                                  <p:subTnLst>
                                    <p:set>
                                      <p:cBhvr override="childStyle">
                                        <p:cTn dur="1" fill="hold" display="0" masterRel="sameClick" afterEffect="1">
                                          <p:stCondLst>
                                            <p:cond evt="end" delay="0">
                                              <p:tn val="17"/>
                                            </p:cond>
                                          </p:stCondLst>
                                        </p:cTn>
                                        <p:tgtEl>
                                          <p:spTgt spid="102"/>
                                        </p:tgtEl>
                                        <p:attrNameLst>
                                          <p:attrName>style.visibility</p:attrName>
                                        </p:attrNameLst>
                                      </p:cBhvr>
                                      <p:to>
                                        <p:strVal val="hidden"/>
                                      </p:to>
                                    </p:set>
                                  </p:subTnLst>
                                </p:cTn>
                              </p:par>
                            </p:childTnLst>
                          </p:cTn>
                        </p:par>
                        <p:par>
                          <p:cTn id="19" fill="hold">
                            <p:stCondLst>
                              <p:cond delay="5500"/>
                            </p:stCondLst>
                            <p:childTnLst>
                              <p:par>
                                <p:cTn id="20" presetID="42" presetClass="path" presetSubtype="0" accel="50000" decel="50000" fill="hold" grpId="0" nodeType="afterEffect">
                                  <p:stCondLst>
                                    <p:cond delay="0"/>
                                  </p:stCondLst>
                                  <p:childTnLst>
                                    <p:animMotion origin="layout" path="M -0.16598 0.34537 L -0.12552 0.21203 " pathEditMode="fixed" rAng="0" ptsTypes="AA">
                                      <p:cBhvr>
                                        <p:cTn id="21" dur="1000" fill="hold"/>
                                        <p:tgtEl>
                                          <p:spTgt spid="103"/>
                                        </p:tgtEl>
                                        <p:attrNameLst>
                                          <p:attrName>ppt_x</p:attrName>
                                          <p:attrName>ppt_y</p:attrName>
                                        </p:attrNameLst>
                                      </p:cBhvr>
                                      <p:rCtr x="2014" y="-6667"/>
                                    </p:animMotion>
                                  </p:childTnLst>
                                  <p:subTnLst>
                                    <p:set>
                                      <p:cBhvr override="childStyle">
                                        <p:cTn dur="1" fill="hold" display="0" masterRel="sameClick" afterEffect="1">
                                          <p:stCondLst>
                                            <p:cond evt="end" delay="0">
                                              <p:tn val="20"/>
                                            </p:cond>
                                          </p:stCondLst>
                                        </p:cTn>
                                        <p:tgtEl>
                                          <p:spTgt spid="103"/>
                                        </p:tgtEl>
                                        <p:attrNameLst>
                                          <p:attrName>style.visibility</p:attrName>
                                        </p:attrNameLst>
                                      </p:cBhvr>
                                      <p:to>
                                        <p:strVal val="hidden"/>
                                      </p:to>
                                    </p:set>
                                  </p:subTnLst>
                                </p:cTn>
                              </p:par>
                            </p:childTnLst>
                          </p:cTn>
                        </p:par>
                        <p:par>
                          <p:cTn id="22" fill="hold">
                            <p:stCondLst>
                              <p:cond delay="6500"/>
                            </p:stCondLst>
                            <p:childTnLst>
                              <p:par>
                                <p:cTn id="23" presetID="42" presetClass="path" presetSubtype="0" accel="50000" decel="50000" fill="hold" grpId="0" nodeType="afterEffect">
                                  <p:stCondLst>
                                    <p:cond delay="0"/>
                                  </p:stCondLst>
                                  <p:childTnLst>
                                    <p:animMotion origin="layout" path="M -0.30018 -0.02902 L -0.24688 -0.03179 " pathEditMode="fixed" rAng="0" ptsTypes="AA">
                                      <p:cBhvr>
                                        <p:cTn id="24" dur="1000" fill="hold"/>
                                        <p:tgtEl>
                                          <p:spTgt spid="104"/>
                                        </p:tgtEl>
                                        <p:attrNameLst>
                                          <p:attrName>ppt_x</p:attrName>
                                          <p:attrName>ppt_y</p:attrName>
                                        </p:attrNameLst>
                                      </p:cBhvr>
                                      <p:rCtr x="2656" y="-154"/>
                                    </p:animMotion>
                                  </p:childTnLst>
                                  <p:subTnLst>
                                    <p:set>
                                      <p:cBhvr override="childStyle">
                                        <p:cTn dur="1" fill="hold" display="0" masterRel="sameClick" afterEffect="1">
                                          <p:stCondLst>
                                            <p:cond evt="end" delay="0">
                                              <p:tn val="23"/>
                                            </p:cond>
                                          </p:stCondLst>
                                        </p:cTn>
                                        <p:tgtEl>
                                          <p:spTgt spid="104"/>
                                        </p:tgtEl>
                                        <p:attrNameLst>
                                          <p:attrName>style.visibility</p:attrName>
                                        </p:attrNameLst>
                                      </p:cBhvr>
                                      <p:to>
                                        <p:strVal val="hidden"/>
                                      </p:to>
                                    </p:set>
                                  </p:subTnLst>
                                </p:cTn>
                              </p:par>
                            </p:childTnLst>
                          </p:cTn>
                        </p:par>
                        <p:par>
                          <p:cTn id="25" fill="hold">
                            <p:stCondLst>
                              <p:cond delay="7500"/>
                            </p:stCondLst>
                            <p:childTnLst>
                              <p:par>
                                <p:cTn id="26" presetID="42" presetClass="path" presetSubtype="0" accel="50000" decel="50000" fill="hold" grpId="0" nodeType="afterEffect">
                                  <p:stCondLst>
                                    <p:cond delay="0"/>
                                  </p:stCondLst>
                                  <p:childTnLst>
                                    <p:animMotion origin="layout" path="M -0.20643 -0.00278 L -0.38108 0.13086 " pathEditMode="fixed" rAng="0" ptsTypes="AA">
                                      <p:cBhvr>
                                        <p:cTn id="27" dur="1000" fill="hold"/>
                                        <p:tgtEl>
                                          <p:spTgt spid="105"/>
                                        </p:tgtEl>
                                        <p:attrNameLst>
                                          <p:attrName>ppt_x</p:attrName>
                                          <p:attrName>ppt_y</p:attrName>
                                        </p:attrNameLst>
                                      </p:cBhvr>
                                      <p:rCtr x="-8733" y="6667"/>
                                    </p:animMotion>
                                  </p:childTnLst>
                                  <p:subTnLst>
                                    <p:set>
                                      <p:cBhvr override="childStyle">
                                        <p:cTn dur="1" fill="hold" display="0" masterRel="sameClick" afterEffect="1">
                                          <p:stCondLst>
                                            <p:cond evt="end" delay="0">
                                              <p:tn val="26"/>
                                            </p:cond>
                                          </p:stCondLst>
                                        </p:cTn>
                                        <p:tgtEl>
                                          <p:spTgt spid="105"/>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10"/>
                                        </p:tgtEl>
                                        <p:attrNameLst>
                                          <p:attrName>style.visibility</p:attrName>
                                        </p:attrNameLst>
                                      </p:cBhvr>
                                      <p:to>
                                        <p:strVal val="visible"/>
                                      </p:to>
                                    </p:set>
                                  </p:childTnLst>
                                </p:cTn>
                              </p:par>
                            </p:childTnLst>
                          </p:cTn>
                        </p:par>
                        <p:par>
                          <p:cTn id="32" fill="hold">
                            <p:stCondLst>
                              <p:cond delay="0"/>
                            </p:stCondLst>
                            <p:childTnLst>
                              <p:par>
                                <p:cTn id="33" presetID="42" presetClass="path" presetSubtype="0" accel="50000" decel="50000" fill="hold" grpId="0" nodeType="afterEffect">
                                  <p:stCondLst>
                                    <p:cond delay="0"/>
                                  </p:stCondLst>
                                  <p:childTnLst>
                                    <p:animMotion origin="layout" path="M -0.19914 0.21327 L -0.34063 -0.06821 " pathEditMode="fixed" rAng="0" ptsTypes="AA">
                                      <p:cBhvr>
                                        <p:cTn id="34" dur="1000" fill="hold"/>
                                        <p:tgtEl>
                                          <p:spTgt spid="121"/>
                                        </p:tgtEl>
                                        <p:attrNameLst>
                                          <p:attrName>ppt_x</p:attrName>
                                          <p:attrName>ppt_y</p:attrName>
                                        </p:attrNameLst>
                                      </p:cBhvr>
                                      <p:rCtr x="-7083" y="-14074"/>
                                    </p:animMotion>
                                  </p:childTnLst>
                                  <p:subTnLst>
                                    <p:set>
                                      <p:cBhvr override="childStyle">
                                        <p:cTn dur="1" fill="hold" display="0" masterRel="sameClick" afterEffect="1">
                                          <p:stCondLst>
                                            <p:cond evt="end" delay="0">
                                              <p:tn val="33"/>
                                            </p:cond>
                                          </p:stCondLst>
                                        </p:cTn>
                                        <p:tgtEl>
                                          <p:spTgt spid="121"/>
                                        </p:tgtEl>
                                        <p:attrNameLst>
                                          <p:attrName>style.visibility</p:attrName>
                                        </p:attrNameLst>
                                      </p:cBhvr>
                                      <p:to>
                                        <p:strVal val="hidden"/>
                                      </p:to>
                                    </p:set>
                                  </p:subTnLst>
                                </p:cTn>
                              </p:par>
                            </p:childTnLst>
                          </p:cTn>
                        </p:par>
                        <p:par>
                          <p:cTn id="35" fill="hold">
                            <p:stCondLst>
                              <p:cond delay="1000"/>
                            </p:stCondLst>
                            <p:childTnLst>
                              <p:par>
                                <p:cTn id="36" presetID="42" presetClass="path" presetSubtype="0" accel="50000" decel="50000" fill="hold" grpId="0" nodeType="afterEffect">
                                  <p:stCondLst>
                                    <p:cond delay="0"/>
                                  </p:stCondLst>
                                  <p:childTnLst>
                                    <p:animMotion origin="layout" path="M -0.20643 -0.08765 L -0.38108 0.04599 " pathEditMode="fixed" rAng="0" ptsTypes="AA">
                                      <p:cBhvr>
                                        <p:cTn id="37" dur="1000" fill="hold"/>
                                        <p:tgtEl>
                                          <p:spTgt spid="122"/>
                                        </p:tgtEl>
                                        <p:attrNameLst>
                                          <p:attrName>ppt_x</p:attrName>
                                          <p:attrName>ppt_y</p:attrName>
                                        </p:attrNameLst>
                                      </p:cBhvr>
                                      <p:rCtr x="-8733" y="6698"/>
                                    </p:animMotion>
                                  </p:childTnLst>
                                  <p:subTnLst>
                                    <p:set>
                                      <p:cBhvr override="childStyle">
                                        <p:cTn dur="1" fill="hold" display="0" masterRel="sameClick" afterEffect="1">
                                          <p:stCondLst>
                                            <p:cond evt="end" delay="0">
                                              <p:tn val="36"/>
                                            </p:cond>
                                          </p:stCondLst>
                                        </p:cTn>
                                        <p:tgtEl>
                                          <p:spTgt spid="122"/>
                                        </p:tgtEl>
                                        <p:attrNameLst>
                                          <p:attrName>style.visibility</p:attrName>
                                        </p:attrNameLst>
                                      </p:cBhvr>
                                      <p:to>
                                        <p:strVal val="hidden"/>
                                      </p:to>
                                    </p:set>
                                  </p:subTnLst>
                                </p:cTn>
                              </p:par>
                            </p:childTnLst>
                          </p:cTn>
                        </p:par>
                        <p:par>
                          <p:cTn id="38" fill="hold">
                            <p:stCondLst>
                              <p:cond delay="2000"/>
                            </p:stCondLst>
                            <p:childTnLst>
                              <p:par>
                                <p:cTn id="39" presetID="42" presetClass="path" presetSubtype="0" accel="50000" decel="50000" fill="hold" grpId="0" nodeType="afterEffect">
                                  <p:stCondLst>
                                    <p:cond delay="0"/>
                                  </p:stCondLst>
                                  <p:childTnLst>
                                    <p:animMotion origin="layout" path="M -0.42448 -0.01296 L -0.37987 -0.15247 " pathEditMode="fixed" rAng="0" ptsTypes="AA">
                                      <p:cBhvr>
                                        <p:cTn id="40" dur="1000" fill="hold"/>
                                        <p:tgtEl>
                                          <p:spTgt spid="123"/>
                                        </p:tgtEl>
                                        <p:attrNameLst>
                                          <p:attrName>ppt_x</p:attrName>
                                          <p:attrName>ppt_y</p:attrName>
                                        </p:attrNameLst>
                                      </p:cBhvr>
                                      <p:rCtr x="2222" y="-6975"/>
                                    </p:animMotion>
                                  </p:childTnLst>
                                  <p:subTnLst>
                                    <p:set>
                                      <p:cBhvr override="childStyle">
                                        <p:cTn dur="1" fill="hold" display="0" masterRel="sameClick" afterEffect="1">
                                          <p:stCondLst>
                                            <p:cond evt="end" delay="0">
                                              <p:tn val="39"/>
                                            </p:cond>
                                          </p:stCondLst>
                                        </p:cTn>
                                        <p:tgtEl>
                                          <p:spTgt spid="123"/>
                                        </p:tgtEl>
                                        <p:attrNameLst>
                                          <p:attrName>style.visibility</p:attrName>
                                        </p:attrNameLst>
                                      </p:cBhvr>
                                      <p:to>
                                        <p:strVal val="hidden"/>
                                      </p:to>
                                    </p:set>
                                  </p:subTnLst>
                                </p:cTn>
                              </p:par>
                            </p:childTnLst>
                          </p:cTn>
                        </p:par>
                        <p:par>
                          <p:cTn id="41" fill="hold">
                            <p:stCondLst>
                              <p:cond delay="3000"/>
                            </p:stCondLst>
                            <p:childTnLst>
                              <p:par>
                                <p:cTn id="42" presetID="42" presetClass="path" presetSubtype="0" accel="50000" decel="50000" fill="hold" grpId="0" nodeType="afterEffect">
                                  <p:stCondLst>
                                    <p:cond delay="0"/>
                                  </p:stCondLst>
                                  <p:childTnLst>
                                    <p:animMotion origin="layout" path="M -0.20642 -0.12561 L -0.34063 0.13981 " pathEditMode="fixed" rAng="0" ptsTypes="AA">
                                      <p:cBhvr>
                                        <p:cTn id="43" dur="1000" fill="hold"/>
                                        <p:tgtEl>
                                          <p:spTgt spid="124"/>
                                        </p:tgtEl>
                                        <p:attrNameLst>
                                          <p:attrName>ppt_x</p:attrName>
                                          <p:attrName>ppt_y</p:attrName>
                                        </p:attrNameLst>
                                      </p:cBhvr>
                                      <p:rCtr x="-6771" y="13210"/>
                                    </p:animMotion>
                                  </p:childTnLst>
                                  <p:subTnLst>
                                    <p:set>
                                      <p:cBhvr override="childStyle">
                                        <p:cTn dur="1" fill="hold" display="0" masterRel="sameClick" afterEffect="1">
                                          <p:stCondLst>
                                            <p:cond evt="end" delay="0">
                                              <p:tn val="42"/>
                                            </p:cond>
                                          </p:stCondLst>
                                        </p:cTn>
                                        <p:tgtEl>
                                          <p:spTgt spid="124"/>
                                        </p:tgtEl>
                                        <p:attrNameLst>
                                          <p:attrName>style.visibility</p:attrName>
                                        </p:attrNameLst>
                                      </p:cBhvr>
                                      <p:to>
                                        <p:strVal val="hidden"/>
                                      </p:to>
                                    </p:set>
                                  </p:subTnLst>
                                </p:cTn>
                              </p:par>
                            </p:childTnLst>
                          </p:cTn>
                        </p:par>
                        <p:par>
                          <p:cTn id="44" fill="hold">
                            <p:stCondLst>
                              <p:cond delay="4000"/>
                            </p:stCondLst>
                            <p:childTnLst>
                              <p:par>
                                <p:cTn id="45" presetID="42" presetClass="path" presetSubtype="0" accel="50000" decel="50000" fill="hold" grpId="0" nodeType="afterEffect">
                                  <p:stCondLst>
                                    <p:cond delay="0"/>
                                  </p:stCondLst>
                                  <p:childTnLst>
                                    <p:animMotion origin="layout" path="M -0.42153 0.03611 L -0.37865 0.17932 " pathEditMode="fixed" rAng="0" ptsTypes="AA">
                                      <p:cBhvr>
                                        <p:cTn id="46" dur="1000" fill="hold"/>
                                        <p:tgtEl>
                                          <p:spTgt spid="125"/>
                                        </p:tgtEl>
                                        <p:attrNameLst>
                                          <p:attrName>ppt_x</p:attrName>
                                          <p:attrName>ppt_y</p:attrName>
                                        </p:attrNameLst>
                                      </p:cBhvr>
                                      <p:rCtr x="2135" y="7160"/>
                                    </p:animMotion>
                                  </p:childTnLst>
                                  <p:subTnLst>
                                    <p:set>
                                      <p:cBhvr override="childStyle">
                                        <p:cTn dur="1" fill="hold" display="0" masterRel="sameClick" afterEffect="1">
                                          <p:stCondLst>
                                            <p:cond evt="end" delay="0">
                                              <p:tn val="45"/>
                                            </p:cond>
                                          </p:stCondLst>
                                        </p:cTn>
                                        <p:tgtEl>
                                          <p:spTgt spid="125"/>
                                        </p:tgtEl>
                                        <p:attrNameLst>
                                          <p:attrName>style.visibility</p:attrName>
                                        </p:attrNameLst>
                                      </p:cBhvr>
                                      <p:to>
                                        <p:strVal val="hidden"/>
                                      </p:to>
                                    </p:set>
                                  </p:subTnLst>
                                </p:cTn>
                              </p:par>
                            </p:childTnLst>
                          </p:cTn>
                        </p:par>
                        <p:par>
                          <p:cTn id="47" fill="hold">
                            <p:stCondLst>
                              <p:cond delay="5000"/>
                            </p:stCondLst>
                            <p:childTnLst>
                              <p:par>
                                <p:cTn id="48" presetID="42" presetClass="path" presetSubtype="0" accel="50000" decel="50000" fill="hold" grpId="0" nodeType="afterEffect">
                                  <p:stCondLst>
                                    <p:cond delay="0"/>
                                  </p:stCondLst>
                                  <p:childTnLst>
                                    <p:animMotion origin="layout" path="M -0.34063 -0.16173 L -0.19983 0.11945 " pathEditMode="fixed" rAng="0" ptsTypes="AA">
                                      <p:cBhvr>
                                        <p:cTn id="49" dur="1000" fill="hold"/>
                                        <p:tgtEl>
                                          <p:spTgt spid="126"/>
                                        </p:tgtEl>
                                        <p:attrNameLst>
                                          <p:attrName>ppt_x</p:attrName>
                                          <p:attrName>ppt_y</p:attrName>
                                        </p:attrNameLst>
                                      </p:cBhvr>
                                      <p:rCtr x="7066" y="14105"/>
                                    </p:animMotion>
                                  </p:childTnLst>
                                  <p:subTnLst>
                                    <p:set>
                                      <p:cBhvr override="childStyle">
                                        <p:cTn dur="1" fill="hold" display="0" masterRel="sameClick" afterEffect="1">
                                          <p:stCondLst>
                                            <p:cond evt="end" delay="0">
                                              <p:tn val="48"/>
                                            </p:cond>
                                          </p:stCondLst>
                                        </p:cTn>
                                        <p:tgtEl>
                                          <p:spTgt spid="12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100" grpId="0" animBg="1"/>
      <p:bldP spid="101" grpId="0" animBg="1"/>
      <p:bldP spid="102" grpId="0" animBg="1"/>
      <p:bldP spid="103" grpId="0" animBg="1"/>
      <p:bldP spid="104" grpId="0" animBg="1"/>
      <p:bldP spid="105" grpId="0" animBg="1"/>
      <p:bldP spid="121" grpId="0" animBg="1"/>
      <p:bldP spid="122" grpId="0" animBg="1"/>
      <p:bldP spid="123" grpId="0" animBg="1"/>
      <p:bldP spid="124" grpId="0" animBg="1"/>
      <p:bldP spid="125" grpId="0" animBg="1"/>
      <p:bldP spid="1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ext 1"/>
          <p:cNvSpPr/>
          <p:nvPr/>
        </p:nvSpPr>
        <p:spPr>
          <a:xfrm>
            <a:off x="571500" y="963019"/>
            <a:ext cx="7589858" cy="363946"/>
          </a:xfrm>
          <a:prstGeom prst="rect">
            <a:avLst/>
          </a:prstGeom>
          <a:noFill/>
          <a:ln/>
        </p:spPr>
        <p:txBody>
          <a:bodyPr wrap="square" lIns="0" tIns="0" rIns="0" bIns="0" rtlCol="0" anchor="t">
            <a:spAutoFit/>
          </a:bodyPr>
          <a:lstStyle/>
          <a:p>
            <a:pPr marL="0" indent="0" algn="l">
              <a:lnSpc>
                <a:spcPts val="1400"/>
              </a:lnSpc>
              <a:buNone/>
            </a:pPr>
            <a:r>
              <a:rPr lang="en-US" sz="1400" dirty="0">
                <a:solidFill>
                  <a:srgbClr val="333333"/>
                </a:solidFill>
              </a:rPr>
              <a:t>A distributed </a:t>
            </a:r>
            <a:r>
              <a:rPr lang="en-US" sz="1400" b="1" dirty="0">
                <a:solidFill>
                  <a:srgbClr val="333333"/>
                </a:solidFill>
              </a:rPr>
              <a:t>database</a:t>
            </a:r>
            <a:r>
              <a:rPr lang="en-US" sz="1400" dirty="0">
                <a:solidFill>
                  <a:srgbClr val="333333"/>
                </a:solidFill>
              </a:rPr>
              <a:t> replicated across thousands of computers, where data can only be added, never modified or deleted.</a:t>
            </a:r>
            <a:endParaRPr lang="en-US" sz="1400" dirty="0"/>
          </a:p>
        </p:txBody>
      </p:sp>
      <p:sp>
        <p:nvSpPr>
          <p:cNvPr id="14" name="Text 10"/>
          <p:cNvSpPr/>
          <p:nvPr/>
        </p:nvSpPr>
        <p:spPr>
          <a:xfrm>
            <a:off x="696298" y="4800332"/>
            <a:ext cx="7465059" cy="127214"/>
          </a:xfrm>
          <a:prstGeom prst="rect">
            <a:avLst/>
          </a:prstGeom>
          <a:noFill/>
          <a:ln/>
        </p:spPr>
        <p:txBody>
          <a:bodyPr wrap="square" lIns="0" tIns="0" rIns="0" bIns="0" rtlCol="0" anchor="t">
            <a:spAutoFit/>
          </a:bodyPr>
          <a:lstStyle/>
          <a:p>
            <a:pPr marL="0" indent="0" algn="ctr">
              <a:lnSpc>
                <a:spcPts val="900"/>
              </a:lnSpc>
              <a:buNone/>
            </a:pPr>
            <a:r>
              <a:rPr lang="en-US" sz="1200" dirty="0">
                <a:solidFill>
                  <a:srgbClr val="333333"/>
                </a:solidFill>
              </a:rPr>
              <a:t>Each block contains transactions and references the previous block's hash, creating an unbreakable chain</a:t>
            </a:r>
            <a:endParaRPr lang="en-US" sz="1200" dirty="0"/>
          </a:p>
        </p:txBody>
      </p:sp>
      <p:sp>
        <p:nvSpPr>
          <p:cNvPr id="19" name="Text 0">
            <a:extLst>
              <a:ext uri="{FF2B5EF4-FFF2-40B4-BE49-F238E27FC236}">
                <a16:creationId xmlns:a16="http://schemas.microsoft.com/office/drawing/2014/main" id="{4718CF94-FBD8-D484-C109-7EEEDF8FA606}"/>
              </a:ext>
            </a:extLst>
          </p:cNvPr>
          <p:cNvSpPr/>
          <p:nvPr/>
        </p:nvSpPr>
        <p:spPr>
          <a:xfrm>
            <a:off x="571499" y="424045"/>
            <a:ext cx="7260937" cy="394275"/>
          </a:xfrm>
          <a:prstGeom prst="rect">
            <a:avLst/>
          </a:prstGeom>
          <a:noFill/>
          <a:ln/>
        </p:spPr>
        <p:txBody>
          <a:bodyPr wrap="square" lIns="0" tIns="0" rIns="0" bIns="0" rtlCol="0" anchor="t">
            <a:spAutoFit/>
          </a:bodyPr>
          <a:lstStyle/>
          <a:p>
            <a:pPr>
              <a:lnSpc>
                <a:spcPts val="3200"/>
              </a:lnSpc>
            </a:pPr>
            <a:r>
              <a:rPr lang="en-US" sz="2436" b="1" dirty="0">
                <a:solidFill>
                  <a:srgbClr val="1A1A1A"/>
                </a:solidFill>
              </a:rPr>
              <a:t>Blockchain: A Distributed, Immutable Ledger</a:t>
            </a:r>
            <a:endParaRPr lang="en-US" sz="2436" dirty="0"/>
          </a:p>
        </p:txBody>
      </p:sp>
      <p:grpSp>
        <p:nvGrpSpPr>
          <p:cNvPr id="20" name="Grupo 19">
            <a:extLst>
              <a:ext uri="{FF2B5EF4-FFF2-40B4-BE49-F238E27FC236}">
                <a16:creationId xmlns:a16="http://schemas.microsoft.com/office/drawing/2014/main" id="{FCA954B4-025E-01AB-5E79-0ACDD75FFFA0}"/>
              </a:ext>
            </a:extLst>
          </p:cNvPr>
          <p:cNvGrpSpPr/>
          <p:nvPr/>
        </p:nvGrpSpPr>
        <p:grpSpPr>
          <a:xfrm>
            <a:off x="571499" y="1523973"/>
            <a:ext cx="3689820" cy="1848252"/>
            <a:chOff x="571499" y="1104332"/>
            <a:chExt cx="6274751" cy="1097197"/>
          </a:xfrm>
        </p:grpSpPr>
        <p:sp>
          <p:nvSpPr>
            <p:cNvPr id="21" name="Text 1">
              <a:extLst>
                <a:ext uri="{FF2B5EF4-FFF2-40B4-BE49-F238E27FC236}">
                  <a16:creationId xmlns:a16="http://schemas.microsoft.com/office/drawing/2014/main" id="{3F2B9167-6220-EFEA-221A-A3A3D0FA8DC6}"/>
                </a:ext>
              </a:extLst>
            </p:cNvPr>
            <p:cNvSpPr/>
            <p:nvPr/>
          </p:nvSpPr>
          <p:spPr>
            <a:xfrm>
              <a:off x="767784" y="1104332"/>
              <a:ext cx="5775936"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Distributed: </a:t>
              </a:r>
              <a:r>
                <a:rPr lang="en-US" sz="1200" dirty="0">
                  <a:solidFill>
                    <a:srgbClr val="1A1A1A"/>
                  </a:solidFill>
                </a:rPr>
                <a:t>Replicated across thousands of computers, not controlled by a single entity</a:t>
              </a:r>
            </a:p>
          </p:txBody>
        </p:sp>
        <p:sp>
          <p:nvSpPr>
            <p:cNvPr id="22" name="Text 2">
              <a:extLst>
                <a:ext uri="{FF2B5EF4-FFF2-40B4-BE49-F238E27FC236}">
                  <a16:creationId xmlns:a16="http://schemas.microsoft.com/office/drawing/2014/main" id="{624C0B7F-8D97-6117-A1E5-80F74073578A}"/>
                </a:ext>
              </a:extLst>
            </p:cNvPr>
            <p:cNvSpPr/>
            <p:nvPr/>
          </p:nvSpPr>
          <p:spPr>
            <a:xfrm>
              <a:off x="767785" y="1394384"/>
              <a:ext cx="5915689"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Append-Only: </a:t>
              </a:r>
              <a:r>
                <a:rPr lang="en-US" sz="1200" dirty="0">
                  <a:solidFill>
                    <a:srgbClr val="1A1A1A"/>
                  </a:solidFill>
                </a:rPr>
                <a:t>Data can only be added; existing entries cannot be modified or deleted</a:t>
              </a:r>
            </a:p>
          </p:txBody>
        </p:sp>
        <p:sp>
          <p:nvSpPr>
            <p:cNvPr id="23" name="Text 3">
              <a:extLst>
                <a:ext uri="{FF2B5EF4-FFF2-40B4-BE49-F238E27FC236}">
                  <a16:creationId xmlns:a16="http://schemas.microsoft.com/office/drawing/2014/main" id="{8FF82542-7B1F-D260-AFC5-E954C12CC61A}"/>
                </a:ext>
              </a:extLst>
            </p:cNvPr>
            <p:cNvSpPr/>
            <p:nvPr/>
          </p:nvSpPr>
          <p:spPr>
            <a:xfrm>
              <a:off x="767784" y="1688449"/>
              <a:ext cx="5915687" cy="213160"/>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Transparent:</a:t>
              </a:r>
              <a:r>
                <a:rPr lang="en-US" sz="1200" dirty="0">
                  <a:solidFill>
                    <a:srgbClr val="1A1A1A"/>
                  </a:solidFill>
                </a:rPr>
                <a:t> All transactions are visible and verifiable by all participants</a:t>
              </a:r>
            </a:p>
          </p:txBody>
        </p:sp>
        <p:sp>
          <p:nvSpPr>
            <p:cNvPr id="24" name="Text 4">
              <a:extLst>
                <a:ext uri="{FF2B5EF4-FFF2-40B4-BE49-F238E27FC236}">
                  <a16:creationId xmlns:a16="http://schemas.microsoft.com/office/drawing/2014/main" id="{9482445E-FFC3-6970-36AC-577E9DE0CEB6}"/>
                </a:ext>
              </a:extLst>
            </p:cNvPr>
            <p:cNvSpPr/>
            <p:nvPr/>
          </p:nvSpPr>
          <p:spPr>
            <a:xfrm>
              <a:off x="767786" y="1982514"/>
              <a:ext cx="6078464" cy="213160"/>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Immutable: </a:t>
              </a:r>
              <a:r>
                <a:rPr lang="en-US" sz="1200" dirty="0">
                  <a:solidFill>
                    <a:srgbClr val="1A1A1A"/>
                  </a:solidFill>
                </a:rPr>
                <a:t>Once recorded, data is permanent and cannot be erased without notice</a:t>
              </a:r>
            </a:p>
          </p:txBody>
        </p:sp>
        <p:sp>
          <p:nvSpPr>
            <p:cNvPr id="25" name="Shape 17">
              <a:extLst>
                <a:ext uri="{FF2B5EF4-FFF2-40B4-BE49-F238E27FC236}">
                  <a16:creationId xmlns:a16="http://schemas.microsoft.com/office/drawing/2014/main" id="{C729958C-7980-62CD-DA1F-0BB1760D2014}"/>
                </a:ext>
              </a:extLst>
            </p:cNvPr>
            <p:cNvSpPr/>
            <p:nvPr/>
          </p:nvSpPr>
          <p:spPr>
            <a:xfrm>
              <a:off x="571499" y="1104332"/>
              <a:ext cx="77748" cy="1097197"/>
            </a:xfrm>
            <a:prstGeom prst="rect">
              <a:avLst/>
            </a:prstGeom>
            <a:solidFill>
              <a:srgbClr val="0055FF"/>
            </a:solidFill>
            <a:ln/>
          </p:spPr>
          <p:txBody>
            <a:bodyPr/>
            <a:lstStyle/>
            <a:p>
              <a:endParaRPr lang="es-ES"/>
            </a:p>
          </p:txBody>
        </p:sp>
      </p:grpSp>
      <p:pic>
        <p:nvPicPr>
          <p:cNvPr id="1026" name="Picture 2">
            <a:extLst>
              <a:ext uri="{FF2B5EF4-FFF2-40B4-BE49-F238E27FC236}">
                <a16:creationId xmlns:a16="http://schemas.microsoft.com/office/drawing/2014/main" id="{63B8F435-BB01-DDC1-1DC8-DD6BD9FAF6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8400" y="1523973"/>
            <a:ext cx="3574395" cy="24751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ngly-linked-list-in-c">
            <a:extLst>
              <a:ext uri="{FF2B5EF4-FFF2-40B4-BE49-F238E27FC236}">
                <a16:creationId xmlns:a16="http://schemas.microsoft.com/office/drawing/2014/main" id="{3027EB27-D5FE-C74C-18C0-DD8C0A15016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34" t="6619" r="3316" b="28607"/>
          <a:stretch>
            <a:fillRect/>
          </a:stretch>
        </p:blipFill>
        <p:spPr bwMode="auto">
          <a:xfrm>
            <a:off x="571499" y="3483960"/>
            <a:ext cx="5007641" cy="1009638"/>
          </a:xfrm>
          <a:prstGeom prst="rect">
            <a:avLst/>
          </a:prstGeom>
          <a:noFill/>
          <a:extLst>
            <a:ext uri="{909E8E84-426E-40DD-AFC4-6F175D3DCCD1}">
              <a14:hiddenFill xmlns:a14="http://schemas.microsoft.com/office/drawing/2010/main">
                <a:solidFill>
                  <a:srgbClr val="FFFFFF"/>
                </a:solidFill>
              </a14:hiddenFill>
            </a:ext>
          </a:extLst>
        </p:spPr>
      </p:pic>
      <p:sp>
        <p:nvSpPr>
          <p:cNvPr id="85" name="Marcador de número de diapositiva 84">
            <a:extLst>
              <a:ext uri="{FF2B5EF4-FFF2-40B4-BE49-F238E27FC236}">
                <a16:creationId xmlns:a16="http://schemas.microsoft.com/office/drawing/2014/main" id="{55637AAA-28FD-A7C9-602E-1F4510AB4BE9}"/>
              </a:ext>
            </a:extLst>
          </p:cNvPr>
          <p:cNvSpPr>
            <a:spLocks noGrp="1"/>
          </p:cNvSpPr>
          <p:nvPr>
            <p:ph type="sldNum" sz="quarter" idx="12"/>
          </p:nvPr>
        </p:nvSpPr>
        <p:spPr/>
        <p:txBody>
          <a:bodyPr/>
          <a:lstStyle/>
          <a:p>
            <a:fld id="{621D377E-C6E5-404B-8AA2-3999D49F21B5}" type="slidenum">
              <a:rPr lang="es-ES" smtClean="0"/>
              <a:t>5</a:t>
            </a:fld>
            <a:endParaRPr lang="es-E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71500" y="428625"/>
            <a:ext cx="6045508" cy="394275"/>
          </a:xfrm>
          <a:prstGeom prst="rect">
            <a:avLst/>
          </a:prstGeom>
          <a:noFill/>
          <a:ln/>
        </p:spPr>
        <p:txBody>
          <a:bodyPr wrap="square" lIns="0" tIns="0" rIns="0" bIns="0" rtlCol="0" anchor="t">
            <a:spAutoFit/>
          </a:bodyPr>
          <a:lstStyle/>
          <a:p>
            <a:pPr marL="0" indent="0" algn="l">
              <a:lnSpc>
                <a:spcPts val="3200"/>
              </a:lnSpc>
              <a:buNone/>
            </a:pPr>
            <a:r>
              <a:rPr lang="en-US" sz="2436" b="1" dirty="0">
                <a:solidFill>
                  <a:srgbClr val="1A1A1A"/>
                </a:solidFill>
              </a:rPr>
              <a:t>Solving the Time Synchronization Problem</a:t>
            </a:r>
            <a:endParaRPr lang="en-US" sz="2436" dirty="0"/>
          </a:p>
        </p:txBody>
      </p:sp>
      <p:sp>
        <p:nvSpPr>
          <p:cNvPr id="4" name="Text 1"/>
          <p:cNvSpPr/>
          <p:nvPr/>
        </p:nvSpPr>
        <p:spPr>
          <a:xfrm>
            <a:off x="571500" y="1001911"/>
            <a:ext cx="4430700" cy="165173"/>
          </a:xfrm>
          <a:prstGeom prst="rect">
            <a:avLst/>
          </a:prstGeom>
          <a:noFill/>
          <a:ln/>
        </p:spPr>
        <p:txBody>
          <a:bodyPr wrap="none" lIns="0" tIns="0" rIns="0" bIns="0" rtlCol="0" anchor="t">
            <a:spAutoFit/>
          </a:bodyPr>
          <a:lstStyle/>
          <a:p>
            <a:pPr marL="0" indent="0" algn="l">
              <a:lnSpc>
                <a:spcPts val="1200"/>
              </a:lnSpc>
              <a:buNone/>
            </a:pPr>
            <a:r>
              <a:rPr lang="en-US" sz="1400" dirty="0">
                <a:solidFill>
                  <a:srgbClr val="333333"/>
                </a:solidFill>
              </a:rPr>
              <a:t>How blocks create temporal order in distributed networks</a:t>
            </a:r>
            <a:endParaRPr lang="en-US" sz="1400" dirty="0"/>
          </a:p>
        </p:txBody>
      </p:sp>
      <p:sp>
        <p:nvSpPr>
          <p:cNvPr id="5" name="Text 2"/>
          <p:cNvSpPr/>
          <p:nvPr/>
        </p:nvSpPr>
        <p:spPr>
          <a:xfrm>
            <a:off x="1409199" y="1445627"/>
            <a:ext cx="328616" cy="535981"/>
          </a:xfrm>
          <a:prstGeom prst="rect">
            <a:avLst/>
          </a:prstGeom>
          <a:noFill/>
          <a:ln/>
        </p:spPr>
        <p:txBody>
          <a:bodyPr wrap="none" lIns="0" tIns="0" rIns="0" bIns="0" rtlCol="0" anchor="t">
            <a:spAutoFit/>
          </a:bodyPr>
          <a:lstStyle/>
          <a:p>
            <a:pPr marL="0" indent="0" algn="ctr">
              <a:lnSpc>
                <a:spcPts val="3800"/>
              </a:lnSpc>
              <a:buNone/>
            </a:pPr>
            <a:r>
              <a:rPr lang="en-US" sz="4800" b="1" dirty="0">
                <a:solidFill>
                  <a:srgbClr val="0055FF"/>
                </a:solidFill>
              </a:rPr>
              <a:t>1</a:t>
            </a:r>
            <a:endParaRPr lang="en-US" sz="4800" dirty="0"/>
          </a:p>
        </p:txBody>
      </p:sp>
      <p:sp>
        <p:nvSpPr>
          <p:cNvPr id="6" name="Text 3"/>
          <p:cNvSpPr/>
          <p:nvPr/>
        </p:nvSpPr>
        <p:spPr>
          <a:xfrm>
            <a:off x="1061604" y="2133213"/>
            <a:ext cx="1023806" cy="184409"/>
          </a:xfrm>
          <a:prstGeom prst="rect">
            <a:avLst/>
          </a:prstGeom>
          <a:noFill/>
          <a:ln/>
        </p:spPr>
        <p:txBody>
          <a:bodyPr wrap="none" lIns="0" tIns="0" rIns="0" bIns="0" rtlCol="0" anchor="t">
            <a:spAutoFit/>
          </a:bodyPr>
          <a:lstStyle/>
          <a:p>
            <a:pPr marL="0" indent="0" algn="ctr">
              <a:lnSpc>
                <a:spcPts val="1400"/>
              </a:lnSpc>
              <a:buNone/>
            </a:pPr>
            <a:r>
              <a:rPr lang="en-US" sz="1400" b="1" dirty="0">
                <a:solidFill>
                  <a:srgbClr val="1A1A1A"/>
                </a:solidFill>
              </a:rPr>
              <a:t>The Problem</a:t>
            </a:r>
            <a:endParaRPr lang="en-US" sz="1400" dirty="0"/>
          </a:p>
        </p:txBody>
      </p:sp>
      <p:sp>
        <p:nvSpPr>
          <p:cNvPr id="7" name="Text 4"/>
          <p:cNvSpPr/>
          <p:nvPr/>
        </p:nvSpPr>
        <p:spPr>
          <a:xfrm>
            <a:off x="587683" y="2450217"/>
            <a:ext cx="1971647" cy="897682"/>
          </a:xfrm>
          <a:prstGeom prst="rect">
            <a:avLst/>
          </a:prstGeom>
          <a:noFill/>
          <a:ln/>
        </p:spPr>
        <p:txBody>
          <a:bodyPr wrap="square" lIns="0" tIns="0" rIns="0" bIns="0" rtlCol="0" anchor="t">
            <a:spAutoFit/>
          </a:bodyPr>
          <a:lstStyle/>
          <a:p>
            <a:pPr marL="0" indent="0" algn="ctr">
              <a:lnSpc>
                <a:spcPts val="1400"/>
              </a:lnSpc>
              <a:buNone/>
            </a:pPr>
            <a:r>
              <a:rPr lang="en-US" sz="1200" dirty="0">
                <a:solidFill>
                  <a:srgbClr val="333333"/>
                </a:solidFill>
              </a:rPr>
              <a:t>Transactions arrive at different times across the network. Clock synchronization is impossible.</a:t>
            </a:r>
            <a:endParaRPr lang="en-US" sz="1200" dirty="0"/>
          </a:p>
        </p:txBody>
      </p:sp>
      <p:sp>
        <p:nvSpPr>
          <p:cNvPr id="8" name="Text 5"/>
          <p:cNvSpPr/>
          <p:nvPr/>
        </p:nvSpPr>
        <p:spPr>
          <a:xfrm>
            <a:off x="2952236" y="2450217"/>
            <a:ext cx="277320" cy="358688"/>
          </a:xfrm>
          <a:prstGeom prst="rect">
            <a:avLst/>
          </a:prstGeom>
          <a:noFill/>
          <a:ln/>
        </p:spPr>
        <p:txBody>
          <a:bodyPr wrap="none" lIns="0" tIns="0" rIns="0" bIns="0" rtlCol="0" anchor="t">
            <a:spAutoFit/>
          </a:bodyPr>
          <a:lstStyle/>
          <a:p>
            <a:pPr marL="0" indent="0" algn="l">
              <a:lnSpc>
                <a:spcPts val="2400"/>
              </a:lnSpc>
              <a:buNone/>
            </a:pPr>
            <a:r>
              <a:rPr lang="en-US" sz="3600" dirty="0">
                <a:solidFill>
                  <a:srgbClr val="0055FF"/>
                </a:solidFill>
              </a:rPr>
              <a:t>→</a:t>
            </a:r>
            <a:endParaRPr lang="en-US" sz="3600" dirty="0"/>
          </a:p>
        </p:txBody>
      </p:sp>
      <p:sp>
        <p:nvSpPr>
          <p:cNvPr id="9" name="Text 6"/>
          <p:cNvSpPr/>
          <p:nvPr/>
        </p:nvSpPr>
        <p:spPr>
          <a:xfrm>
            <a:off x="4423862" y="1445627"/>
            <a:ext cx="328616" cy="535981"/>
          </a:xfrm>
          <a:prstGeom prst="rect">
            <a:avLst/>
          </a:prstGeom>
          <a:noFill/>
          <a:ln/>
        </p:spPr>
        <p:txBody>
          <a:bodyPr wrap="none" lIns="0" tIns="0" rIns="0" bIns="0" rtlCol="0" anchor="t">
            <a:spAutoFit/>
          </a:bodyPr>
          <a:lstStyle/>
          <a:p>
            <a:pPr marL="0" indent="0" algn="ctr">
              <a:lnSpc>
                <a:spcPts val="3800"/>
              </a:lnSpc>
              <a:buNone/>
            </a:pPr>
            <a:r>
              <a:rPr lang="en-US" sz="4800" b="1" dirty="0">
                <a:solidFill>
                  <a:srgbClr val="0055FF"/>
                </a:solidFill>
              </a:rPr>
              <a:t>2</a:t>
            </a:r>
            <a:endParaRPr lang="en-US" sz="4800" dirty="0"/>
          </a:p>
        </p:txBody>
      </p:sp>
      <p:sp>
        <p:nvSpPr>
          <p:cNvPr id="10" name="Text 7"/>
          <p:cNvSpPr/>
          <p:nvPr/>
        </p:nvSpPr>
        <p:spPr>
          <a:xfrm>
            <a:off x="4079216" y="2133213"/>
            <a:ext cx="1017907" cy="184409"/>
          </a:xfrm>
          <a:prstGeom prst="rect">
            <a:avLst/>
          </a:prstGeom>
          <a:noFill/>
          <a:ln/>
        </p:spPr>
        <p:txBody>
          <a:bodyPr wrap="none" lIns="0" tIns="0" rIns="0" bIns="0" rtlCol="0" anchor="t">
            <a:spAutoFit/>
          </a:bodyPr>
          <a:lstStyle/>
          <a:p>
            <a:pPr marL="0" indent="0" algn="ctr">
              <a:lnSpc>
                <a:spcPts val="1400"/>
              </a:lnSpc>
              <a:buNone/>
            </a:pPr>
            <a:r>
              <a:rPr lang="en-US" sz="1400" b="1" dirty="0">
                <a:solidFill>
                  <a:srgbClr val="1A1A1A"/>
                </a:solidFill>
              </a:rPr>
              <a:t>The Solution</a:t>
            </a:r>
            <a:endParaRPr lang="en-US" sz="1400" dirty="0"/>
          </a:p>
        </p:txBody>
      </p:sp>
      <p:sp>
        <p:nvSpPr>
          <p:cNvPr id="11" name="Text 8"/>
          <p:cNvSpPr/>
          <p:nvPr/>
        </p:nvSpPr>
        <p:spPr>
          <a:xfrm>
            <a:off x="3602346" y="2450217"/>
            <a:ext cx="1971647" cy="718145"/>
          </a:xfrm>
          <a:prstGeom prst="rect">
            <a:avLst/>
          </a:prstGeom>
          <a:noFill/>
          <a:ln/>
        </p:spPr>
        <p:txBody>
          <a:bodyPr wrap="square" lIns="0" tIns="0" rIns="0" bIns="0" rtlCol="0" anchor="t">
            <a:spAutoFit/>
          </a:bodyPr>
          <a:lstStyle/>
          <a:p>
            <a:pPr marL="0" indent="0" algn="ctr">
              <a:lnSpc>
                <a:spcPts val="1400"/>
              </a:lnSpc>
              <a:buNone/>
            </a:pPr>
            <a:r>
              <a:rPr lang="en-US" sz="1200" dirty="0">
                <a:solidFill>
                  <a:srgbClr val="333333"/>
                </a:solidFill>
              </a:rPr>
              <a:t>Group transactions into blocks. All transactions in a block are considered simultaneous.</a:t>
            </a:r>
            <a:endParaRPr lang="en-US" sz="1200" dirty="0"/>
          </a:p>
        </p:txBody>
      </p:sp>
      <p:sp>
        <p:nvSpPr>
          <p:cNvPr id="12" name="Text 9"/>
          <p:cNvSpPr/>
          <p:nvPr/>
        </p:nvSpPr>
        <p:spPr>
          <a:xfrm>
            <a:off x="5966899" y="2450217"/>
            <a:ext cx="277320" cy="358688"/>
          </a:xfrm>
          <a:prstGeom prst="rect">
            <a:avLst/>
          </a:prstGeom>
          <a:noFill/>
          <a:ln/>
        </p:spPr>
        <p:txBody>
          <a:bodyPr wrap="none" lIns="0" tIns="0" rIns="0" bIns="0" rtlCol="0" anchor="t">
            <a:spAutoFit/>
          </a:bodyPr>
          <a:lstStyle/>
          <a:p>
            <a:pPr marL="0" indent="0" algn="l">
              <a:lnSpc>
                <a:spcPts val="2400"/>
              </a:lnSpc>
              <a:buNone/>
            </a:pPr>
            <a:r>
              <a:rPr lang="en-US" sz="3600" dirty="0">
                <a:solidFill>
                  <a:srgbClr val="0055FF"/>
                </a:solidFill>
              </a:rPr>
              <a:t>→</a:t>
            </a:r>
            <a:endParaRPr lang="en-US" sz="3600" dirty="0"/>
          </a:p>
        </p:txBody>
      </p:sp>
      <p:sp>
        <p:nvSpPr>
          <p:cNvPr id="13" name="Text 10"/>
          <p:cNvSpPr/>
          <p:nvPr/>
        </p:nvSpPr>
        <p:spPr>
          <a:xfrm>
            <a:off x="7438524" y="1445627"/>
            <a:ext cx="328616" cy="535981"/>
          </a:xfrm>
          <a:prstGeom prst="rect">
            <a:avLst/>
          </a:prstGeom>
          <a:noFill/>
          <a:ln/>
        </p:spPr>
        <p:txBody>
          <a:bodyPr wrap="none" lIns="0" tIns="0" rIns="0" bIns="0" rtlCol="0" anchor="t">
            <a:spAutoFit/>
          </a:bodyPr>
          <a:lstStyle/>
          <a:p>
            <a:pPr marL="0" indent="0" algn="ctr">
              <a:lnSpc>
                <a:spcPts val="3800"/>
              </a:lnSpc>
              <a:buNone/>
            </a:pPr>
            <a:r>
              <a:rPr lang="en-US" sz="4800" b="1" dirty="0">
                <a:solidFill>
                  <a:srgbClr val="0055FF"/>
                </a:solidFill>
              </a:rPr>
              <a:t>3</a:t>
            </a:r>
            <a:endParaRPr lang="en-US" sz="4800" dirty="0"/>
          </a:p>
        </p:txBody>
      </p:sp>
      <p:sp>
        <p:nvSpPr>
          <p:cNvPr id="14" name="Text 11"/>
          <p:cNvSpPr/>
          <p:nvPr/>
        </p:nvSpPr>
        <p:spPr>
          <a:xfrm>
            <a:off x="7173227" y="2133213"/>
            <a:ext cx="859210" cy="184409"/>
          </a:xfrm>
          <a:prstGeom prst="rect">
            <a:avLst/>
          </a:prstGeom>
          <a:noFill/>
          <a:ln/>
        </p:spPr>
        <p:txBody>
          <a:bodyPr wrap="none" lIns="0" tIns="0" rIns="0" bIns="0" rtlCol="0" anchor="t">
            <a:spAutoFit/>
          </a:bodyPr>
          <a:lstStyle/>
          <a:p>
            <a:pPr marL="0" indent="0" algn="ctr">
              <a:lnSpc>
                <a:spcPts val="1400"/>
              </a:lnSpc>
              <a:buNone/>
            </a:pPr>
            <a:r>
              <a:rPr lang="en-US" sz="1400" b="1" dirty="0">
                <a:solidFill>
                  <a:srgbClr val="1A1A1A"/>
                </a:solidFill>
              </a:rPr>
              <a:t>The Result</a:t>
            </a:r>
            <a:endParaRPr lang="en-US" sz="1400" dirty="0"/>
          </a:p>
        </p:txBody>
      </p:sp>
      <p:sp>
        <p:nvSpPr>
          <p:cNvPr id="15" name="Text 12"/>
          <p:cNvSpPr/>
          <p:nvPr/>
        </p:nvSpPr>
        <p:spPr>
          <a:xfrm>
            <a:off x="6617008" y="2450217"/>
            <a:ext cx="1971647" cy="538609"/>
          </a:xfrm>
          <a:prstGeom prst="rect">
            <a:avLst/>
          </a:prstGeom>
          <a:noFill/>
          <a:ln/>
        </p:spPr>
        <p:txBody>
          <a:bodyPr wrap="square" lIns="0" tIns="0" rIns="0" bIns="0" rtlCol="0" anchor="t">
            <a:spAutoFit/>
          </a:bodyPr>
          <a:lstStyle/>
          <a:p>
            <a:pPr marL="0" indent="0" algn="ctr">
              <a:lnSpc>
                <a:spcPts val="1400"/>
              </a:lnSpc>
              <a:buNone/>
            </a:pPr>
            <a:r>
              <a:rPr lang="en-US" sz="1200" dirty="0">
                <a:solidFill>
                  <a:srgbClr val="333333"/>
                </a:solidFill>
              </a:rPr>
              <a:t>Blocks create a chronological sequence. The blockchain orders events reliably.</a:t>
            </a:r>
            <a:endParaRPr lang="en-US" sz="1200" dirty="0"/>
          </a:p>
        </p:txBody>
      </p:sp>
      <p:sp>
        <p:nvSpPr>
          <p:cNvPr id="19" name="Marcador de número de diapositiva 18">
            <a:extLst>
              <a:ext uri="{FF2B5EF4-FFF2-40B4-BE49-F238E27FC236}">
                <a16:creationId xmlns:a16="http://schemas.microsoft.com/office/drawing/2014/main" id="{FE385CA1-2CE7-610E-13FC-1872C8690D8B}"/>
              </a:ext>
            </a:extLst>
          </p:cNvPr>
          <p:cNvSpPr>
            <a:spLocks noGrp="1"/>
          </p:cNvSpPr>
          <p:nvPr>
            <p:ph type="sldNum" sz="quarter" idx="12"/>
          </p:nvPr>
        </p:nvSpPr>
        <p:spPr/>
        <p:txBody>
          <a:bodyPr/>
          <a:lstStyle/>
          <a:p>
            <a:fld id="{621D377E-C6E5-404B-8AA2-3999D49F21B5}" type="slidenum">
              <a:rPr lang="es-ES" smtClean="0"/>
              <a:t>6</a:t>
            </a:fld>
            <a:endParaRPr lang="es-ES"/>
          </a:p>
        </p:txBody>
      </p:sp>
      <p:sp>
        <p:nvSpPr>
          <p:cNvPr id="20" name="Rectángulo 19">
            <a:extLst>
              <a:ext uri="{FF2B5EF4-FFF2-40B4-BE49-F238E27FC236}">
                <a16:creationId xmlns:a16="http://schemas.microsoft.com/office/drawing/2014/main" id="{7BD3DAFA-288D-8161-290A-08ED3665DDBF}"/>
              </a:ext>
            </a:extLst>
          </p:cNvPr>
          <p:cNvSpPr/>
          <p:nvPr/>
        </p:nvSpPr>
        <p:spPr>
          <a:xfrm>
            <a:off x="350722" y="3454193"/>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T1</a:t>
            </a:r>
          </a:p>
        </p:txBody>
      </p:sp>
      <p:sp>
        <p:nvSpPr>
          <p:cNvPr id="21" name="Rectángulo 20">
            <a:extLst>
              <a:ext uri="{FF2B5EF4-FFF2-40B4-BE49-F238E27FC236}">
                <a16:creationId xmlns:a16="http://schemas.microsoft.com/office/drawing/2014/main" id="{0A163B5A-E257-DE82-BC2A-9FFCA665BCA4}"/>
              </a:ext>
            </a:extLst>
          </p:cNvPr>
          <p:cNvSpPr/>
          <p:nvPr/>
        </p:nvSpPr>
        <p:spPr>
          <a:xfrm>
            <a:off x="868036" y="3883778"/>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T2</a:t>
            </a:r>
          </a:p>
        </p:txBody>
      </p:sp>
      <p:sp>
        <p:nvSpPr>
          <p:cNvPr id="22" name="Rectángulo 21">
            <a:extLst>
              <a:ext uri="{FF2B5EF4-FFF2-40B4-BE49-F238E27FC236}">
                <a16:creationId xmlns:a16="http://schemas.microsoft.com/office/drawing/2014/main" id="{EAD7CE39-C93E-15EC-A1D2-B723FA3E3A40}"/>
              </a:ext>
            </a:extLst>
          </p:cNvPr>
          <p:cNvSpPr/>
          <p:nvPr/>
        </p:nvSpPr>
        <p:spPr>
          <a:xfrm>
            <a:off x="868036" y="3454193"/>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T3</a:t>
            </a:r>
          </a:p>
        </p:txBody>
      </p:sp>
      <p:sp>
        <p:nvSpPr>
          <p:cNvPr id="23" name="Rectángulo 22">
            <a:extLst>
              <a:ext uri="{FF2B5EF4-FFF2-40B4-BE49-F238E27FC236}">
                <a16:creationId xmlns:a16="http://schemas.microsoft.com/office/drawing/2014/main" id="{423BE46F-AF4B-DD5D-7029-6C6177C8838B}"/>
              </a:ext>
            </a:extLst>
          </p:cNvPr>
          <p:cNvSpPr/>
          <p:nvPr/>
        </p:nvSpPr>
        <p:spPr>
          <a:xfrm>
            <a:off x="1385350" y="3454192"/>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T4</a:t>
            </a:r>
          </a:p>
        </p:txBody>
      </p:sp>
      <p:sp>
        <p:nvSpPr>
          <p:cNvPr id="24" name="Rectángulo 23">
            <a:extLst>
              <a:ext uri="{FF2B5EF4-FFF2-40B4-BE49-F238E27FC236}">
                <a16:creationId xmlns:a16="http://schemas.microsoft.com/office/drawing/2014/main" id="{1CE832C5-AD40-72D5-D0EC-87C596206E0A}"/>
              </a:ext>
            </a:extLst>
          </p:cNvPr>
          <p:cNvSpPr/>
          <p:nvPr/>
        </p:nvSpPr>
        <p:spPr>
          <a:xfrm>
            <a:off x="350722" y="4315978"/>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T5</a:t>
            </a:r>
          </a:p>
        </p:txBody>
      </p:sp>
      <p:sp>
        <p:nvSpPr>
          <p:cNvPr id="25" name="Rectángulo 24">
            <a:extLst>
              <a:ext uri="{FF2B5EF4-FFF2-40B4-BE49-F238E27FC236}">
                <a16:creationId xmlns:a16="http://schemas.microsoft.com/office/drawing/2014/main" id="{ADA9E527-EC71-161C-B778-9B9889FCAE63}"/>
              </a:ext>
            </a:extLst>
          </p:cNvPr>
          <p:cNvSpPr/>
          <p:nvPr/>
        </p:nvSpPr>
        <p:spPr>
          <a:xfrm>
            <a:off x="1385349" y="3883779"/>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T6</a:t>
            </a:r>
          </a:p>
        </p:txBody>
      </p:sp>
      <p:sp>
        <p:nvSpPr>
          <p:cNvPr id="26" name="Rectángulo 25">
            <a:extLst>
              <a:ext uri="{FF2B5EF4-FFF2-40B4-BE49-F238E27FC236}">
                <a16:creationId xmlns:a16="http://schemas.microsoft.com/office/drawing/2014/main" id="{DB474975-276E-1908-B70F-D53A72BBD54A}"/>
              </a:ext>
            </a:extLst>
          </p:cNvPr>
          <p:cNvSpPr/>
          <p:nvPr/>
        </p:nvSpPr>
        <p:spPr>
          <a:xfrm>
            <a:off x="350722" y="3883779"/>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T7</a:t>
            </a:r>
          </a:p>
        </p:txBody>
      </p:sp>
      <p:sp>
        <p:nvSpPr>
          <p:cNvPr id="27" name="Rectángulo 26">
            <a:extLst>
              <a:ext uri="{FF2B5EF4-FFF2-40B4-BE49-F238E27FC236}">
                <a16:creationId xmlns:a16="http://schemas.microsoft.com/office/drawing/2014/main" id="{3331278E-4343-371C-143F-5AA42720E0A1}"/>
              </a:ext>
            </a:extLst>
          </p:cNvPr>
          <p:cNvSpPr/>
          <p:nvPr/>
        </p:nvSpPr>
        <p:spPr>
          <a:xfrm>
            <a:off x="1906357" y="3883777"/>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T8</a:t>
            </a:r>
          </a:p>
        </p:txBody>
      </p:sp>
      <p:sp>
        <p:nvSpPr>
          <p:cNvPr id="28" name="Rectángulo 27">
            <a:extLst>
              <a:ext uri="{FF2B5EF4-FFF2-40B4-BE49-F238E27FC236}">
                <a16:creationId xmlns:a16="http://schemas.microsoft.com/office/drawing/2014/main" id="{F44BDF86-52D0-4F98-48AD-61137B82A289}"/>
              </a:ext>
            </a:extLst>
          </p:cNvPr>
          <p:cNvSpPr/>
          <p:nvPr/>
        </p:nvSpPr>
        <p:spPr>
          <a:xfrm>
            <a:off x="1906357" y="3454514"/>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T9</a:t>
            </a:r>
          </a:p>
        </p:txBody>
      </p:sp>
      <p:sp>
        <p:nvSpPr>
          <p:cNvPr id="30" name="Rectángulo 29">
            <a:extLst>
              <a:ext uri="{FF2B5EF4-FFF2-40B4-BE49-F238E27FC236}">
                <a16:creationId xmlns:a16="http://schemas.microsoft.com/office/drawing/2014/main" id="{7D7F5744-5D65-3460-1ED0-48CF2507E56D}"/>
              </a:ext>
            </a:extLst>
          </p:cNvPr>
          <p:cNvSpPr/>
          <p:nvPr/>
        </p:nvSpPr>
        <p:spPr>
          <a:xfrm>
            <a:off x="3605295" y="3300957"/>
            <a:ext cx="2312103" cy="1740943"/>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dirty="0"/>
              <a:t>Block 1</a:t>
            </a:r>
          </a:p>
        </p:txBody>
      </p:sp>
      <p:sp>
        <p:nvSpPr>
          <p:cNvPr id="42" name="Rectángulo 41">
            <a:extLst>
              <a:ext uri="{FF2B5EF4-FFF2-40B4-BE49-F238E27FC236}">
                <a16:creationId xmlns:a16="http://schemas.microsoft.com/office/drawing/2014/main" id="{C1D6BFD4-4D6E-CBA4-F6E6-463802CC165F}"/>
              </a:ext>
            </a:extLst>
          </p:cNvPr>
          <p:cNvSpPr/>
          <p:nvPr/>
        </p:nvSpPr>
        <p:spPr>
          <a:xfrm>
            <a:off x="3759402" y="3694434"/>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T1</a:t>
            </a:r>
          </a:p>
        </p:txBody>
      </p:sp>
      <p:sp>
        <p:nvSpPr>
          <p:cNvPr id="43" name="Rectángulo 42">
            <a:extLst>
              <a:ext uri="{FF2B5EF4-FFF2-40B4-BE49-F238E27FC236}">
                <a16:creationId xmlns:a16="http://schemas.microsoft.com/office/drawing/2014/main" id="{6AA3C171-44AB-B8E6-1FBE-455B9FFF15E8}"/>
              </a:ext>
            </a:extLst>
          </p:cNvPr>
          <p:cNvSpPr/>
          <p:nvPr/>
        </p:nvSpPr>
        <p:spPr>
          <a:xfrm>
            <a:off x="4276716" y="4124019"/>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T2</a:t>
            </a:r>
          </a:p>
        </p:txBody>
      </p:sp>
      <p:sp>
        <p:nvSpPr>
          <p:cNvPr id="44" name="Rectángulo 43">
            <a:extLst>
              <a:ext uri="{FF2B5EF4-FFF2-40B4-BE49-F238E27FC236}">
                <a16:creationId xmlns:a16="http://schemas.microsoft.com/office/drawing/2014/main" id="{73DBB402-4F27-0B42-BD3D-8BC897F4D904}"/>
              </a:ext>
            </a:extLst>
          </p:cNvPr>
          <p:cNvSpPr/>
          <p:nvPr/>
        </p:nvSpPr>
        <p:spPr>
          <a:xfrm>
            <a:off x="4276716" y="3694434"/>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T3</a:t>
            </a:r>
          </a:p>
        </p:txBody>
      </p:sp>
      <p:sp>
        <p:nvSpPr>
          <p:cNvPr id="45" name="Rectángulo 44">
            <a:extLst>
              <a:ext uri="{FF2B5EF4-FFF2-40B4-BE49-F238E27FC236}">
                <a16:creationId xmlns:a16="http://schemas.microsoft.com/office/drawing/2014/main" id="{0F5898EF-F448-A4FA-28E1-72A7138809EB}"/>
              </a:ext>
            </a:extLst>
          </p:cNvPr>
          <p:cNvSpPr/>
          <p:nvPr/>
        </p:nvSpPr>
        <p:spPr>
          <a:xfrm>
            <a:off x="4794030" y="3694433"/>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T4</a:t>
            </a:r>
          </a:p>
        </p:txBody>
      </p:sp>
      <p:sp>
        <p:nvSpPr>
          <p:cNvPr id="46" name="Rectángulo 45">
            <a:extLst>
              <a:ext uri="{FF2B5EF4-FFF2-40B4-BE49-F238E27FC236}">
                <a16:creationId xmlns:a16="http://schemas.microsoft.com/office/drawing/2014/main" id="{80A00789-AB95-9EF0-F39C-34EA0835B732}"/>
              </a:ext>
            </a:extLst>
          </p:cNvPr>
          <p:cNvSpPr/>
          <p:nvPr/>
        </p:nvSpPr>
        <p:spPr>
          <a:xfrm>
            <a:off x="3759402" y="4556219"/>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T5</a:t>
            </a:r>
          </a:p>
        </p:txBody>
      </p:sp>
      <p:sp>
        <p:nvSpPr>
          <p:cNvPr id="47" name="Rectángulo 46">
            <a:extLst>
              <a:ext uri="{FF2B5EF4-FFF2-40B4-BE49-F238E27FC236}">
                <a16:creationId xmlns:a16="http://schemas.microsoft.com/office/drawing/2014/main" id="{7D104341-A5FF-336C-FAB4-D8A9E65630B1}"/>
              </a:ext>
            </a:extLst>
          </p:cNvPr>
          <p:cNvSpPr/>
          <p:nvPr/>
        </p:nvSpPr>
        <p:spPr>
          <a:xfrm>
            <a:off x="4794029" y="4124020"/>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T6</a:t>
            </a:r>
          </a:p>
        </p:txBody>
      </p:sp>
      <p:sp>
        <p:nvSpPr>
          <p:cNvPr id="48" name="Rectángulo 47">
            <a:extLst>
              <a:ext uri="{FF2B5EF4-FFF2-40B4-BE49-F238E27FC236}">
                <a16:creationId xmlns:a16="http://schemas.microsoft.com/office/drawing/2014/main" id="{7439DD5E-7F40-581C-497D-AAAC1329DE53}"/>
              </a:ext>
            </a:extLst>
          </p:cNvPr>
          <p:cNvSpPr/>
          <p:nvPr/>
        </p:nvSpPr>
        <p:spPr>
          <a:xfrm>
            <a:off x="3759402" y="4124020"/>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T7</a:t>
            </a:r>
          </a:p>
        </p:txBody>
      </p:sp>
      <p:sp>
        <p:nvSpPr>
          <p:cNvPr id="49" name="Rectángulo 48">
            <a:extLst>
              <a:ext uri="{FF2B5EF4-FFF2-40B4-BE49-F238E27FC236}">
                <a16:creationId xmlns:a16="http://schemas.microsoft.com/office/drawing/2014/main" id="{67FA282C-DB82-BC5F-5AA7-E3242749B150}"/>
              </a:ext>
            </a:extLst>
          </p:cNvPr>
          <p:cNvSpPr/>
          <p:nvPr/>
        </p:nvSpPr>
        <p:spPr>
          <a:xfrm>
            <a:off x="5315037" y="4124018"/>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T8</a:t>
            </a:r>
          </a:p>
        </p:txBody>
      </p:sp>
      <p:sp>
        <p:nvSpPr>
          <p:cNvPr id="50" name="Rectángulo 49">
            <a:extLst>
              <a:ext uri="{FF2B5EF4-FFF2-40B4-BE49-F238E27FC236}">
                <a16:creationId xmlns:a16="http://schemas.microsoft.com/office/drawing/2014/main" id="{42348026-B293-C747-2B00-1A3C44CD1225}"/>
              </a:ext>
            </a:extLst>
          </p:cNvPr>
          <p:cNvSpPr/>
          <p:nvPr/>
        </p:nvSpPr>
        <p:spPr>
          <a:xfrm>
            <a:off x="5315037" y="3694755"/>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T9</a:t>
            </a:r>
          </a:p>
        </p:txBody>
      </p:sp>
      <p:sp>
        <p:nvSpPr>
          <p:cNvPr id="51" name="Rectángulo 50">
            <a:extLst>
              <a:ext uri="{FF2B5EF4-FFF2-40B4-BE49-F238E27FC236}">
                <a16:creationId xmlns:a16="http://schemas.microsoft.com/office/drawing/2014/main" id="{2F8F28D4-A8FB-4D77-E830-D8924F950FAB}"/>
              </a:ext>
            </a:extLst>
          </p:cNvPr>
          <p:cNvSpPr/>
          <p:nvPr/>
        </p:nvSpPr>
        <p:spPr>
          <a:xfrm>
            <a:off x="6374403" y="3300723"/>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B1</a:t>
            </a:r>
          </a:p>
        </p:txBody>
      </p:sp>
      <p:sp>
        <p:nvSpPr>
          <p:cNvPr id="52" name="Rectángulo 51">
            <a:extLst>
              <a:ext uri="{FF2B5EF4-FFF2-40B4-BE49-F238E27FC236}">
                <a16:creationId xmlns:a16="http://schemas.microsoft.com/office/drawing/2014/main" id="{422B625B-B9F0-4D09-CEEB-6674429641DE}"/>
              </a:ext>
            </a:extLst>
          </p:cNvPr>
          <p:cNvSpPr/>
          <p:nvPr/>
        </p:nvSpPr>
        <p:spPr>
          <a:xfrm>
            <a:off x="6897875" y="3300400"/>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B2</a:t>
            </a:r>
          </a:p>
        </p:txBody>
      </p:sp>
      <p:sp>
        <p:nvSpPr>
          <p:cNvPr id="53" name="Rectángulo 52">
            <a:extLst>
              <a:ext uri="{FF2B5EF4-FFF2-40B4-BE49-F238E27FC236}">
                <a16:creationId xmlns:a16="http://schemas.microsoft.com/office/drawing/2014/main" id="{9800E0CD-EF49-6EDC-4FE0-F49E304CC5EF}"/>
              </a:ext>
            </a:extLst>
          </p:cNvPr>
          <p:cNvSpPr/>
          <p:nvPr/>
        </p:nvSpPr>
        <p:spPr>
          <a:xfrm>
            <a:off x="7426402" y="3300399"/>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B3</a:t>
            </a:r>
          </a:p>
        </p:txBody>
      </p:sp>
      <p:sp>
        <p:nvSpPr>
          <p:cNvPr id="54" name="Rectángulo 53">
            <a:extLst>
              <a:ext uri="{FF2B5EF4-FFF2-40B4-BE49-F238E27FC236}">
                <a16:creationId xmlns:a16="http://schemas.microsoft.com/office/drawing/2014/main" id="{4C76E4C5-7BF7-A03E-9AA2-5D34BF85644B}"/>
              </a:ext>
            </a:extLst>
          </p:cNvPr>
          <p:cNvSpPr/>
          <p:nvPr/>
        </p:nvSpPr>
        <p:spPr>
          <a:xfrm>
            <a:off x="7949634" y="3300398"/>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B4</a:t>
            </a:r>
          </a:p>
        </p:txBody>
      </p:sp>
      <p:sp>
        <p:nvSpPr>
          <p:cNvPr id="55" name="Rectángulo 54">
            <a:extLst>
              <a:ext uri="{FF2B5EF4-FFF2-40B4-BE49-F238E27FC236}">
                <a16:creationId xmlns:a16="http://schemas.microsoft.com/office/drawing/2014/main" id="{8B9DB73A-84E5-1915-3EA7-B99B23E16061}"/>
              </a:ext>
            </a:extLst>
          </p:cNvPr>
          <p:cNvSpPr/>
          <p:nvPr/>
        </p:nvSpPr>
        <p:spPr>
          <a:xfrm>
            <a:off x="8461089" y="3300723"/>
            <a:ext cx="473921" cy="378691"/>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B5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500"/>
                                  </p:stCondLst>
                                  <p:childTnLst>
                                    <p:set>
                                      <p:cBhvr>
                                        <p:cTn id="9" dur="1" fill="hold">
                                          <p:stCondLst>
                                            <p:cond delay="0"/>
                                          </p:stCondLst>
                                        </p:cTn>
                                        <p:tgtEl>
                                          <p:spTgt spid="2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500"/>
                                  </p:stCondLst>
                                  <p:childTnLst>
                                    <p:set>
                                      <p:cBhvr>
                                        <p:cTn id="12" dur="1" fill="hold">
                                          <p:stCondLst>
                                            <p:cond delay="0"/>
                                          </p:stCondLst>
                                        </p:cTn>
                                        <p:tgtEl>
                                          <p:spTgt spid="23"/>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500"/>
                                  </p:stCondLst>
                                  <p:childTnLst>
                                    <p:set>
                                      <p:cBhvr>
                                        <p:cTn id="15" dur="1" fill="hold">
                                          <p:stCondLst>
                                            <p:cond delay="0"/>
                                          </p:stCondLst>
                                        </p:cTn>
                                        <p:tgtEl>
                                          <p:spTgt spid="28"/>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500"/>
                                  </p:stCondLst>
                                  <p:childTnLst>
                                    <p:set>
                                      <p:cBhvr>
                                        <p:cTn id="18" dur="1" fill="hold">
                                          <p:stCondLst>
                                            <p:cond delay="0"/>
                                          </p:stCondLst>
                                        </p:cTn>
                                        <p:tgtEl>
                                          <p:spTgt spid="26"/>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500"/>
                                  </p:stCondLst>
                                  <p:childTnLst>
                                    <p:set>
                                      <p:cBhvr>
                                        <p:cTn id="21" dur="1" fill="hold">
                                          <p:stCondLst>
                                            <p:cond delay="0"/>
                                          </p:stCondLst>
                                        </p:cTn>
                                        <p:tgtEl>
                                          <p:spTgt spid="21"/>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500"/>
                                  </p:stCondLst>
                                  <p:childTnLst>
                                    <p:set>
                                      <p:cBhvr>
                                        <p:cTn id="24" dur="1" fill="hold">
                                          <p:stCondLst>
                                            <p:cond delay="0"/>
                                          </p:stCondLst>
                                        </p:cTn>
                                        <p:tgtEl>
                                          <p:spTgt spid="25"/>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500"/>
                                  </p:stCondLst>
                                  <p:childTnLst>
                                    <p:set>
                                      <p:cBhvr>
                                        <p:cTn id="27" dur="1" fill="hold">
                                          <p:stCondLst>
                                            <p:cond delay="0"/>
                                          </p:stCondLst>
                                        </p:cTn>
                                        <p:tgtEl>
                                          <p:spTgt spid="27"/>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50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500"/>
                                  </p:stCondLst>
                                  <p:childTnLst>
                                    <p:set>
                                      <p:cBhvr>
                                        <p:cTn id="76" dur="1" fill="hold">
                                          <p:stCondLst>
                                            <p:cond delay="0"/>
                                          </p:stCondLst>
                                        </p:cTn>
                                        <p:tgtEl>
                                          <p:spTgt spid="51"/>
                                        </p:tgtEl>
                                        <p:attrNameLst>
                                          <p:attrName>style.visibility</p:attrName>
                                        </p:attrNameLst>
                                      </p:cBhvr>
                                      <p:to>
                                        <p:strVal val="visible"/>
                                      </p:to>
                                    </p:set>
                                  </p:childTnLst>
                                </p:cTn>
                              </p:par>
                            </p:childTnLst>
                          </p:cTn>
                        </p:par>
                        <p:par>
                          <p:cTn id="77" fill="hold">
                            <p:stCondLst>
                              <p:cond delay="500"/>
                            </p:stCondLst>
                            <p:childTnLst>
                              <p:par>
                                <p:cTn id="78" presetID="1" presetClass="entr" presetSubtype="0" fill="hold" grpId="0" nodeType="afterEffect">
                                  <p:stCondLst>
                                    <p:cond delay="500"/>
                                  </p:stCondLst>
                                  <p:childTnLst>
                                    <p:set>
                                      <p:cBhvr>
                                        <p:cTn id="79" dur="1" fill="hold">
                                          <p:stCondLst>
                                            <p:cond delay="0"/>
                                          </p:stCondLst>
                                        </p:cTn>
                                        <p:tgtEl>
                                          <p:spTgt spid="52"/>
                                        </p:tgtEl>
                                        <p:attrNameLst>
                                          <p:attrName>style.visibility</p:attrName>
                                        </p:attrNameLst>
                                      </p:cBhvr>
                                      <p:to>
                                        <p:strVal val="visible"/>
                                      </p:to>
                                    </p:set>
                                  </p:childTnLst>
                                </p:cTn>
                              </p:par>
                            </p:childTnLst>
                          </p:cTn>
                        </p:par>
                        <p:par>
                          <p:cTn id="80" fill="hold">
                            <p:stCondLst>
                              <p:cond delay="1000"/>
                            </p:stCondLst>
                            <p:childTnLst>
                              <p:par>
                                <p:cTn id="81" presetID="1" presetClass="entr" presetSubtype="0" fill="hold" grpId="0" nodeType="afterEffect">
                                  <p:stCondLst>
                                    <p:cond delay="500"/>
                                  </p:stCondLst>
                                  <p:childTnLst>
                                    <p:set>
                                      <p:cBhvr>
                                        <p:cTn id="82" dur="1" fill="hold">
                                          <p:stCondLst>
                                            <p:cond delay="0"/>
                                          </p:stCondLst>
                                        </p:cTn>
                                        <p:tgtEl>
                                          <p:spTgt spid="53"/>
                                        </p:tgtEl>
                                        <p:attrNameLst>
                                          <p:attrName>style.visibility</p:attrName>
                                        </p:attrNameLst>
                                      </p:cBhvr>
                                      <p:to>
                                        <p:strVal val="visible"/>
                                      </p:to>
                                    </p:set>
                                  </p:childTnLst>
                                </p:cTn>
                              </p:par>
                            </p:childTnLst>
                          </p:cTn>
                        </p:par>
                        <p:par>
                          <p:cTn id="83" fill="hold">
                            <p:stCondLst>
                              <p:cond delay="1500"/>
                            </p:stCondLst>
                            <p:childTnLst>
                              <p:par>
                                <p:cTn id="84" presetID="1" presetClass="entr" presetSubtype="0" fill="hold" grpId="0" nodeType="afterEffect">
                                  <p:stCondLst>
                                    <p:cond delay="500"/>
                                  </p:stCondLst>
                                  <p:childTnLst>
                                    <p:set>
                                      <p:cBhvr>
                                        <p:cTn id="85" dur="1" fill="hold">
                                          <p:stCondLst>
                                            <p:cond delay="0"/>
                                          </p:stCondLst>
                                        </p:cTn>
                                        <p:tgtEl>
                                          <p:spTgt spid="54"/>
                                        </p:tgtEl>
                                        <p:attrNameLst>
                                          <p:attrName>style.visibility</p:attrName>
                                        </p:attrNameLst>
                                      </p:cBhvr>
                                      <p:to>
                                        <p:strVal val="visible"/>
                                      </p:to>
                                    </p:set>
                                  </p:childTnLst>
                                </p:cTn>
                              </p:par>
                            </p:childTnLst>
                          </p:cTn>
                        </p:par>
                        <p:par>
                          <p:cTn id="86" fill="hold">
                            <p:stCondLst>
                              <p:cond delay="2000"/>
                            </p:stCondLst>
                            <p:childTnLst>
                              <p:par>
                                <p:cTn id="87" presetID="1" presetClass="entr" presetSubtype="0" fill="hold" grpId="0" nodeType="afterEffect">
                                  <p:stCondLst>
                                    <p:cond delay="500"/>
                                  </p:stCondLst>
                                  <p:childTnLst>
                                    <p:set>
                                      <p:cBhvr>
                                        <p:cTn id="8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20" grpId="0" animBg="1"/>
      <p:bldP spid="21" grpId="0" animBg="1"/>
      <p:bldP spid="22" grpId="0" animBg="1"/>
      <p:bldP spid="23" grpId="0" animBg="1"/>
      <p:bldP spid="24" grpId="0" animBg="1"/>
      <p:bldP spid="25" grpId="0" animBg="1"/>
      <p:bldP spid="26" grpId="0" animBg="1"/>
      <p:bldP spid="27" grpId="0" animBg="1"/>
      <p:bldP spid="28" grpId="0" animBg="1"/>
      <p:bldP spid="30"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grpSp>
        <p:nvGrpSpPr>
          <p:cNvPr id="152" name="Grupo 151">
            <a:extLst>
              <a:ext uri="{FF2B5EF4-FFF2-40B4-BE49-F238E27FC236}">
                <a16:creationId xmlns:a16="http://schemas.microsoft.com/office/drawing/2014/main" id="{E0B2A407-8E1B-F058-4BA9-4B7E0AC23190}"/>
              </a:ext>
            </a:extLst>
          </p:cNvPr>
          <p:cNvGrpSpPr/>
          <p:nvPr/>
        </p:nvGrpSpPr>
        <p:grpSpPr>
          <a:xfrm>
            <a:off x="4722304" y="1071339"/>
            <a:ext cx="3791713" cy="601952"/>
            <a:chOff x="4723352" y="1071339"/>
            <a:chExt cx="3791713" cy="601952"/>
          </a:xfrm>
        </p:grpSpPr>
        <p:grpSp>
          <p:nvGrpSpPr>
            <p:cNvPr id="138" name="Grupo 137">
              <a:extLst>
                <a:ext uri="{FF2B5EF4-FFF2-40B4-BE49-F238E27FC236}">
                  <a16:creationId xmlns:a16="http://schemas.microsoft.com/office/drawing/2014/main" id="{F0AA1494-0E00-658F-ABB7-A5AC775A624A}"/>
                </a:ext>
              </a:extLst>
            </p:cNvPr>
            <p:cNvGrpSpPr/>
            <p:nvPr/>
          </p:nvGrpSpPr>
          <p:grpSpPr>
            <a:xfrm>
              <a:off x="4723352" y="1071339"/>
              <a:ext cx="228600" cy="228600"/>
              <a:chOff x="4728878" y="1071339"/>
              <a:chExt cx="228600" cy="228600"/>
            </a:xfrm>
          </p:grpSpPr>
          <p:sp>
            <p:nvSpPr>
              <p:cNvPr id="26" name="Shape 23"/>
              <p:cNvSpPr/>
              <p:nvPr/>
            </p:nvSpPr>
            <p:spPr>
              <a:xfrm>
                <a:off x="4728878" y="1071339"/>
                <a:ext cx="228600" cy="228600"/>
              </a:xfrm>
              <a:prstGeom prst="ellipse">
                <a:avLst/>
              </a:prstGeom>
              <a:solidFill>
                <a:srgbClr val="0055FF"/>
              </a:solidFill>
              <a:ln/>
            </p:spPr>
            <p:txBody>
              <a:bodyPr/>
              <a:lstStyle/>
              <a:p>
                <a:endParaRPr lang="es-ES" sz="1200"/>
              </a:p>
            </p:txBody>
          </p:sp>
          <p:sp>
            <p:nvSpPr>
              <p:cNvPr id="27" name="Text 24"/>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solidFill>
                      <a:srgbClr val="FFFFFF"/>
                    </a:solidFill>
                  </a:rPr>
                  <a:t>1</a:t>
                </a:r>
                <a:endParaRPr lang="en-US" sz="1200" dirty="0"/>
              </a:p>
            </p:txBody>
          </p:sp>
        </p:grpSp>
        <p:grpSp>
          <p:nvGrpSpPr>
            <p:cNvPr id="151" name="Grupo 150">
              <a:extLst>
                <a:ext uri="{FF2B5EF4-FFF2-40B4-BE49-F238E27FC236}">
                  <a16:creationId xmlns:a16="http://schemas.microsoft.com/office/drawing/2014/main" id="{FA6F8B2B-207C-F8C2-57D4-5AB149CA16E0}"/>
                </a:ext>
              </a:extLst>
            </p:cNvPr>
            <p:cNvGrpSpPr/>
            <p:nvPr/>
          </p:nvGrpSpPr>
          <p:grpSpPr>
            <a:xfrm>
              <a:off x="5064633" y="1071339"/>
              <a:ext cx="3450432" cy="601952"/>
              <a:chOff x="5064633" y="1071339"/>
              <a:chExt cx="3450432" cy="601952"/>
            </a:xfrm>
          </p:grpSpPr>
          <p:sp>
            <p:nvSpPr>
              <p:cNvPr id="28" name="Text 25"/>
              <p:cNvSpPr/>
              <p:nvPr/>
            </p:nvSpPr>
            <p:spPr>
              <a:xfrm>
                <a:off x="5064633" y="1071339"/>
                <a:ext cx="1807221" cy="129138"/>
              </a:xfrm>
              <a:prstGeom prst="rect">
                <a:avLst/>
              </a:prstGeom>
              <a:noFill/>
              <a:ln/>
            </p:spPr>
            <p:txBody>
              <a:bodyPr wrap="square" lIns="0" tIns="0" rIns="0" bIns="0" rtlCol="0" anchor="t">
                <a:spAutoFit/>
              </a:bodyPr>
              <a:lstStyle/>
              <a:p>
                <a:pPr marL="0" indent="0" algn="l">
                  <a:lnSpc>
                    <a:spcPts val="900"/>
                  </a:lnSpc>
                  <a:buNone/>
                </a:pPr>
                <a:r>
                  <a:rPr lang="en-US" sz="1200" b="1" dirty="0">
                    <a:solidFill>
                      <a:srgbClr val="1A1A1A"/>
                    </a:solidFill>
                  </a:rPr>
                  <a:t>Previous Block's Hash</a:t>
                </a:r>
                <a:endParaRPr lang="en-US" sz="1200" dirty="0"/>
              </a:p>
            </p:txBody>
          </p:sp>
          <p:sp>
            <p:nvSpPr>
              <p:cNvPr id="29" name="Text 26"/>
              <p:cNvSpPr/>
              <p:nvPr/>
            </p:nvSpPr>
            <p:spPr>
              <a:xfrm>
                <a:off x="5064634" y="1242789"/>
                <a:ext cx="3450431" cy="430502"/>
              </a:xfrm>
              <a:prstGeom prst="rect">
                <a:avLst/>
              </a:prstGeom>
              <a:noFill/>
              <a:ln/>
            </p:spPr>
            <p:txBody>
              <a:bodyPr wrap="square" lIns="0" tIns="0" rIns="0" bIns="0" rtlCol="0" anchor="t">
                <a:spAutoFit/>
              </a:bodyPr>
              <a:lstStyle/>
              <a:p>
                <a:pPr marL="0" indent="0" algn="l">
                  <a:lnSpc>
                    <a:spcPts val="1100"/>
                  </a:lnSpc>
                  <a:buNone/>
                </a:pPr>
                <a:r>
                  <a:rPr lang="en-US" sz="1200" dirty="0">
                    <a:solidFill>
                      <a:srgbClr val="333333"/>
                    </a:solidFill>
                  </a:rPr>
                  <a:t>The cryptographic link to the previous block. This creates the chain. If any data in the previous block changes, its hash changes, breaking the link.</a:t>
                </a:r>
                <a:endParaRPr lang="en-US" sz="1200" dirty="0"/>
              </a:p>
            </p:txBody>
          </p:sp>
        </p:grpSp>
      </p:grpSp>
      <p:sp>
        <p:nvSpPr>
          <p:cNvPr id="46" name="Text 0">
            <a:extLst>
              <a:ext uri="{FF2B5EF4-FFF2-40B4-BE49-F238E27FC236}">
                <a16:creationId xmlns:a16="http://schemas.microsoft.com/office/drawing/2014/main" id="{8FF43682-D644-899A-E186-2F3857076455}"/>
              </a:ext>
            </a:extLst>
          </p:cNvPr>
          <p:cNvSpPr/>
          <p:nvPr/>
        </p:nvSpPr>
        <p:spPr>
          <a:xfrm>
            <a:off x="571499" y="424045"/>
            <a:ext cx="7066974" cy="394275"/>
          </a:xfrm>
          <a:prstGeom prst="rect">
            <a:avLst/>
          </a:prstGeom>
          <a:noFill/>
          <a:ln/>
        </p:spPr>
        <p:txBody>
          <a:bodyPr wrap="square" lIns="0" tIns="0" rIns="0" bIns="0" rtlCol="0" anchor="t">
            <a:spAutoFit/>
          </a:bodyPr>
          <a:lstStyle/>
          <a:p>
            <a:pPr>
              <a:lnSpc>
                <a:spcPts val="3200"/>
              </a:lnSpc>
            </a:pPr>
            <a:r>
              <a:rPr lang="en-US" sz="2436" b="1" dirty="0">
                <a:solidFill>
                  <a:srgbClr val="1A1A1A"/>
                </a:solidFill>
              </a:rPr>
              <a:t>Anatomy of a Block: The Building Blocks of Trust</a:t>
            </a:r>
            <a:endParaRPr lang="en-US" sz="2436" dirty="0"/>
          </a:p>
        </p:txBody>
      </p:sp>
      <p:grpSp>
        <p:nvGrpSpPr>
          <p:cNvPr id="131" name="Grupo 130">
            <a:extLst>
              <a:ext uri="{FF2B5EF4-FFF2-40B4-BE49-F238E27FC236}">
                <a16:creationId xmlns:a16="http://schemas.microsoft.com/office/drawing/2014/main" id="{26C2594A-5C6A-FDD8-F406-330B4F47267E}"/>
              </a:ext>
            </a:extLst>
          </p:cNvPr>
          <p:cNvGrpSpPr/>
          <p:nvPr/>
        </p:nvGrpSpPr>
        <p:grpSpPr>
          <a:xfrm>
            <a:off x="340332" y="941188"/>
            <a:ext cx="4124038" cy="4009503"/>
            <a:chOff x="2227043" y="1088194"/>
            <a:chExt cx="4124038" cy="4009503"/>
          </a:xfrm>
        </p:grpSpPr>
        <p:sp>
          <p:nvSpPr>
            <p:cNvPr id="48" name="Rectángulo 47">
              <a:extLst>
                <a:ext uri="{FF2B5EF4-FFF2-40B4-BE49-F238E27FC236}">
                  <a16:creationId xmlns:a16="http://schemas.microsoft.com/office/drawing/2014/main" id="{1801292C-53CC-1334-5966-083ACBD31245}"/>
                </a:ext>
              </a:extLst>
            </p:cNvPr>
            <p:cNvSpPr/>
            <p:nvPr/>
          </p:nvSpPr>
          <p:spPr>
            <a:xfrm>
              <a:off x="2227043" y="1088194"/>
              <a:ext cx="4124038" cy="4009503"/>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94" name="Grupo 93">
              <a:extLst>
                <a:ext uri="{FF2B5EF4-FFF2-40B4-BE49-F238E27FC236}">
                  <a16:creationId xmlns:a16="http://schemas.microsoft.com/office/drawing/2014/main" id="{CFC0F03F-C53C-F34B-6D42-48CEC74AB22B}"/>
                </a:ext>
              </a:extLst>
            </p:cNvPr>
            <p:cNvGrpSpPr/>
            <p:nvPr/>
          </p:nvGrpSpPr>
          <p:grpSpPr>
            <a:xfrm>
              <a:off x="2502166" y="1292942"/>
              <a:ext cx="3611213" cy="1945875"/>
              <a:chOff x="2502166" y="1292942"/>
              <a:chExt cx="3611213" cy="1945875"/>
            </a:xfrm>
          </p:grpSpPr>
          <p:sp>
            <p:nvSpPr>
              <p:cNvPr id="58" name="Rectángulo 57">
                <a:extLst>
                  <a:ext uri="{FF2B5EF4-FFF2-40B4-BE49-F238E27FC236}">
                    <a16:creationId xmlns:a16="http://schemas.microsoft.com/office/drawing/2014/main" id="{2E0EADF9-2290-7CD9-D662-BADD921B23DE}"/>
                  </a:ext>
                </a:extLst>
              </p:cNvPr>
              <p:cNvSpPr/>
              <p:nvPr/>
            </p:nvSpPr>
            <p:spPr>
              <a:xfrm>
                <a:off x="2502166" y="1292942"/>
                <a:ext cx="3599592" cy="1945875"/>
              </a:xfrm>
              <a:prstGeom prst="rect">
                <a:avLst/>
              </a:prstGeom>
              <a:solidFill>
                <a:srgbClr val="18435B">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9" name="Text 1">
                <a:extLst>
                  <a:ext uri="{FF2B5EF4-FFF2-40B4-BE49-F238E27FC236}">
                    <a16:creationId xmlns:a16="http://schemas.microsoft.com/office/drawing/2014/main" id="{FFCAB918-058A-6E26-FD27-B5593398FA1C}"/>
                  </a:ext>
                </a:extLst>
              </p:cNvPr>
              <p:cNvSpPr/>
              <p:nvPr/>
            </p:nvSpPr>
            <p:spPr>
              <a:xfrm>
                <a:off x="2600866" y="1344829"/>
                <a:ext cx="772648" cy="153889"/>
              </a:xfrm>
              <a:prstGeom prst="rect">
                <a:avLst/>
              </a:prstGeom>
              <a:noFill/>
              <a:ln/>
            </p:spPr>
            <p:txBody>
              <a:bodyPr wrap="none" lIns="0" tIns="0" rIns="0" bIns="0" rtlCol="0" anchor="t">
                <a:spAutoFit/>
              </a:bodyPr>
              <a:lstStyle/>
              <a:p>
                <a:pPr algn="ctr">
                  <a:lnSpc>
                    <a:spcPts val="1200"/>
                  </a:lnSpc>
                </a:pPr>
                <a:r>
                  <a:rPr lang="en-US" sz="1000" b="1" u="sng" dirty="0">
                    <a:solidFill>
                      <a:srgbClr val="DAF2FF"/>
                    </a:solidFill>
                    <a:latin typeface="Bahnschrift" panose="020B0502040204020203" pitchFamily="34" charset="0"/>
                  </a:rPr>
                  <a:t>Block Header</a:t>
                </a:r>
              </a:p>
            </p:txBody>
          </p:sp>
          <p:grpSp>
            <p:nvGrpSpPr>
              <p:cNvPr id="74" name="Grupo 73">
                <a:extLst>
                  <a:ext uri="{FF2B5EF4-FFF2-40B4-BE49-F238E27FC236}">
                    <a16:creationId xmlns:a16="http://schemas.microsoft.com/office/drawing/2014/main" id="{50F56BAA-2A11-09C4-B976-79B72BE79599}"/>
                  </a:ext>
                </a:extLst>
              </p:cNvPr>
              <p:cNvGrpSpPr/>
              <p:nvPr/>
            </p:nvGrpSpPr>
            <p:grpSpPr>
              <a:xfrm>
                <a:off x="2649723" y="1954576"/>
                <a:ext cx="3457213" cy="369332"/>
                <a:chOff x="2656166" y="1461811"/>
                <a:chExt cx="3457213" cy="369332"/>
              </a:xfrm>
            </p:grpSpPr>
            <p:sp>
              <p:nvSpPr>
                <p:cNvPr id="68" name="Text 1">
                  <a:extLst>
                    <a:ext uri="{FF2B5EF4-FFF2-40B4-BE49-F238E27FC236}">
                      <a16:creationId xmlns:a16="http://schemas.microsoft.com/office/drawing/2014/main" id="{73AE3F1B-95E9-8434-6967-80FA441CFE42}"/>
                    </a:ext>
                  </a:extLst>
                </p:cNvPr>
                <p:cNvSpPr/>
                <p:nvPr/>
              </p:nvSpPr>
              <p:spPr>
                <a:xfrm>
                  <a:off x="2656166" y="1572917"/>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Previous Hash: </a:t>
                  </a:r>
                </a:p>
              </p:txBody>
            </p:sp>
            <p:sp>
              <p:nvSpPr>
                <p:cNvPr id="71" name="CuadroTexto 70">
                  <a:extLst>
                    <a:ext uri="{FF2B5EF4-FFF2-40B4-BE49-F238E27FC236}">
                      <a16:creationId xmlns:a16="http://schemas.microsoft.com/office/drawing/2014/main" id="{4BCF4B2A-B736-0C8C-7F63-4F57C493C132}"/>
                    </a:ext>
                  </a:extLst>
                </p:cNvPr>
                <p:cNvSpPr txBox="1"/>
                <p:nvPr/>
              </p:nvSpPr>
              <p:spPr>
                <a:xfrm>
                  <a:off x="3525441" y="1461811"/>
                  <a:ext cx="2587938" cy="369332"/>
                </a:xfrm>
                <a:prstGeom prst="rect">
                  <a:avLst/>
                </a:prstGeom>
                <a:noFill/>
              </p:spPr>
              <p:txBody>
                <a:bodyPr wrap="square">
                  <a:spAutoFit/>
                </a:bodyPr>
                <a:lstStyle/>
                <a:p>
                  <a:r>
                    <a:rPr lang="en-US" sz="900" dirty="0">
                      <a:solidFill>
                        <a:srgbClr val="DAF2FF"/>
                      </a:solidFill>
                      <a:latin typeface="Bahnschrift" panose="020B0502040204020203" pitchFamily="34" charset="0"/>
                    </a:rPr>
                    <a:t>00000000839a8e6886ab5951d76f4114</a:t>
                  </a:r>
                </a:p>
                <a:p>
                  <a:r>
                    <a:rPr lang="en-US" sz="900" dirty="0">
                      <a:solidFill>
                        <a:srgbClr val="DAF2FF"/>
                      </a:solidFill>
                      <a:latin typeface="Bahnschrift" panose="020B0502040204020203" pitchFamily="34" charset="0"/>
                    </a:rPr>
                    <a:t>75428afc90947ee320161bbf18eb6048</a:t>
                  </a:r>
                  <a:endParaRPr lang="es-ES" sz="900" dirty="0"/>
                </a:p>
              </p:txBody>
            </p:sp>
          </p:grpSp>
          <p:grpSp>
            <p:nvGrpSpPr>
              <p:cNvPr id="75" name="Grupo 74">
                <a:extLst>
                  <a:ext uri="{FF2B5EF4-FFF2-40B4-BE49-F238E27FC236}">
                    <a16:creationId xmlns:a16="http://schemas.microsoft.com/office/drawing/2014/main" id="{CAAFEC3D-78B7-4A16-D70D-8650559D4B28}"/>
                  </a:ext>
                </a:extLst>
              </p:cNvPr>
              <p:cNvGrpSpPr/>
              <p:nvPr/>
            </p:nvGrpSpPr>
            <p:grpSpPr>
              <a:xfrm>
                <a:off x="2644544" y="2291794"/>
                <a:ext cx="3457213" cy="369332"/>
                <a:chOff x="2656166" y="1461811"/>
                <a:chExt cx="3457213" cy="369332"/>
              </a:xfrm>
            </p:grpSpPr>
            <p:sp>
              <p:nvSpPr>
                <p:cNvPr id="76" name="Text 1">
                  <a:extLst>
                    <a:ext uri="{FF2B5EF4-FFF2-40B4-BE49-F238E27FC236}">
                      <a16:creationId xmlns:a16="http://schemas.microsoft.com/office/drawing/2014/main" id="{ED6F76D2-C571-67E1-5110-7D5B5A319BA1}"/>
                    </a:ext>
                  </a:extLst>
                </p:cNvPr>
                <p:cNvSpPr/>
                <p:nvPr/>
              </p:nvSpPr>
              <p:spPr>
                <a:xfrm>
                  <a:off x="2656166" y="1572917"/>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Merkle Root: </a:t>
                  </a:r>
                </a:p>
              </p:txBody>
            </p:sp>
            <p:sp>
              <p:nvSpPr>
                <p:cNvPr id="77" name="CuadroTexto 76">
                  <a:extLst>
                    <a:ext uri="{FF2B5EF4-FFF2-40B4-BE49-F238E27FC236}">
                      <a16:creationId xmlns:a16="http://schemas.microsoft.com/office/drawing/2014/main" id="{9A76D3AA-684A-0AB3-E564-E4669D5033B1}"/>
                    </a:ext>
                  </a:extLst>
                </p:cNvPr>
                <p:cNvSpPr txBox="1"/>
                <p:nvPr/>
              </p:nvSpPr>
              <p:spPr>
                <a:xfrm>
                  <a:off x="3525441" y="1461811"/>
                  <a:ext cx="2587938" cy="369332"/>
                </a:xfrm>
                <a:prstGeom prst="rect">
                  <a:avLst/>
                </a:prstGeom>
                <a:noFill/>
              </p:spPr>
              <p:txBody>
                <a:bodyPr wrap="square">
                  <a:spAutoFit/>
                </a:bodyPr>
                <a:lstStyle/>
                <a:p>
                  <a:r>
                    <a:rPr lang="en-US" sz="900" dirty="0">
                      <a:solidFill>
                        <a:srgbClr val="DAF2FF"/>
                      </a:solidFill>
                      <a:latin typeface="Bahnschrift" panose="020B0502040204020203" pitchFamily="34" charset="0"/>
                    </a:rPr>
                    <a:t>9b0fc92260312ce44e74ef369f5c66bbb85848f2eddd5a7a1cde251e54ccfdd5</a:t>
                  </a:r>
                </a:p>
              </p:txBody>
            </p:sp>
          </p:grpSp>
          <p:grpSp>
            <p:nvGrpSpPr>
              <p:cNvPr id="78" name="Grupo 77">
                <a:extLst>
                  <a:ext uri="{FF2B5EF4-FFF2-40B4-BE49-F238E27FC236}">
                    <a16:creationId xmlns:a16="http://schemas.microsoft.com/office/drawing/2014/main" id="{05C32A8D-1E93-2DCC-7D80-509F8533F950}"/>
                  </a:ext>
                </a:extLst>
              </p:cNvPr>
              <p:cNvGrpSpPr/>
              <p:nvPr/>
            </p:nvGrpSpPr>
            <p:grpSpPr>
              <a:xfrm>
                <a:off x="2656166" y="2692895"/>
                <a:ext cx="3457213" cy="230832"/>
                <a:chOff x="2656166" y="1534718"/>
                <a:chExt cx="3457213" cy="230832"/>
              </a:xfrm>
            </p:grpSpPr>
            <p:sp>
              <p:nvSpPr>
                <p:cNvPr id="79" name="Text 1">
                  <a:extLst>
                    <a:ext uri="{FF2B5EF4-FFF2-40B4-BE49-F238E27FC236}">
                      <a16:creationId xmlns:a16="http://schemas.microsoft.com/office/drawing/2014/main" id="{173CC81A-7C31-ECAE-4EC6-7183D2F16DDF}"/>
                    </a:ext>
                  </a:extLst>
                </p:cNvPr>
                <p:cNvSpPr/>
                <p:nvPr/>
              </p:nvSpPr>
              <p:spPr>
                <a:xfrm>
                  <a:off x="2656166" y="1572917"/>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Timestamp: </a:t>
                  </a:r>
                </a:p>
              </p:txBody>
            </p:sp>
            <p:sp>
              <p:nvSpPr>
                <p:cNvPr id="80" name="CuadroTexto 79">
                  <a:extLst>
                    <a:ext uri="{FF2B5EF4-FFF2-40B4-BE49-F238E27FC236}">
                      <a16:creationId xmlns:a16="http://schemas.microsoft.com/office/drawing/2014/main" id="{747D83F3-80FC-4901-DD96-6429BDF9EA29}"/>
                    </a:ext>
                  </a:extLst>
                </p:cNvPr>
                <p:cNvSpPr txBox="1"/>
                <p:nvPr/>
              </p:nvSpPr>
              <p:spPr>
                <a:xfrm>
                  <a:off x="3525441" y="1534718"/>
                  <a:ext cx="2587938" cy="230832"/>
                </a:xfrm>
                <a:prstGeom prst="rect">
                  <a:avLst/>
                </a:prstGeom>
                <a:noFill/>
              </p:spPr>
              <p:txBody>
                <a:bodyPr wrap="square">
                  <a:spAutoFit/>
                </a:bodyPr>
                <a:lstStyle/>
                <a:p>
                  <a:r>
                    <a:rPr lang="en-US" sz="900" dirty="0">
                      <a:solidFill>
                        <a:srgbClr val="DAF2FF"/>
                      </a:solidFill>
                      <a:latin typeface="Bahnschrift" panose="020B0502040204020203" pitchFamily="34" charset="0"/>
                    </a:rPr>
                    <a:t>‎2009-01-09 03:55:44</a:t>
                  </a:r>
                </a:p>
              </p:txBody>
            </p:sp>
          </p:grpSp>
          <p:grpSp>
            <p:nvGrpSpPr>
              <p:cNvPr id="81" name="Grupo 80">
                <a:extLst>
                  <a:ext uri="{FF2B5EF4-FFF2-40B4-BE49-F238E27FC236}">
                    <a16:creationId xmlns:a16="http://schemas.microsoft.com/office/drawing/2014/main" id="{5F77EB37-261C-84F0-98F9-57ECB2DE82C7}"/>
                  </a:ext>
                </a:extLst>
              </p:cNvPr>
              <p:cNvGrpSpPr/>
              <p:nvPr/>
            </p:nvGrpSpPr>
            <p:grpSpPr>
              <a:xfrm>
                <a:off x="2656166" y="2948472"/>
                <a:ext cx="3457213" cy="230832"/>
                <a:chOff x="2656166" y="1534718"/>
                <a:chExt cx="3457213" cy="230832"/>
              </a:xfrm>
            </p:grpSpPr>
            <p:sp>
              <p:nvSpPr>
                <p:cNvPr id="82" name="Text 1">
                  <a:extLst>
                    <a:ext uri="{FF2B5EF4-FFF2-40B4-BE49-F238E27FC236}">
                      <a16:creationId xmlns:a16="http://schemas.microsoft.com/office/drawing/2014/main" id="{2F991483-49C3-3B44-B1A7-59AB190AF5ED}"/>
                    </a:ext>
                  </a:extLst>
                </p:cNvPr>
                <p:cNvSpPr/>
                <p:nvPr/>
              </p:nvSpPr>
              <p:spPr>
                <a:xfrm>
                  <a:off x="2656166" y="1572917"/>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Nonce: </a:t>
                  </a:r>
                </a:p>
              </p:txBody>
            </p:sp>
            <p:sp>
              <p:nvSpPr>
                <p:cNvPr id="83" name="CuadroTexto 82">
                  <a:extLst>
                    <a:ext uri="{FF2B5EF4-FFF2-40B4-BE49-F238E27FC236}">
                      <a16:creationId xmlns:a16="http://schemas.microsoft.com/office/drawing/2014/main" id="{40DC8DA1-08F0-EFE8-B78D-FFC369FBBBD0}"/>
                    </a:ext>
                  </a:extLst>
                </p:cNvPr>
                <p:cNvSpPr txBox="1"/>
                <p:nvPr/>
              </p:nvSpPr>
              <p:spPr>
                <a:xfrm>
                  <a:off x="3525441" y="1534718"/>
                  <a:ext cx="2587938" cy="230832"/>
                </a:xfrm>
                <a:prstGeom prst="rect">
                  <a:avLst/>
                </a:prstGeom>
                <a:noFill/>
              </p:spPr>
              <p:txBody>
                <a:bodyPr wrap="square">
                  <a:spAutoFit/>
                </a:bodyPr>
                <a:lstStyle/>
                <a:p>
                  <a:r>
                    <a:rPr lang="en-US" sz="900" dirty="0">
                      <a:solidFill>
                        <a:srgbClr val="DAF2FF"/>
                      </a:solidFill>
                      <a:latin typeface="Bahnschrift" panose="020B0502040204020203" pitchFamily="34" charset="0"/>
                    </a:rPr>
                    <a:t>‎0x61bdd208</a:t>
                  </a:r>
                </a:p>
              </p:txBody>
            </p:sp>
          </p:grpSp>
          <p:grpSp>
            <p:nvGrpSpPr>
              <p:cNvPr id="90" name="Grupo 89">
                <a:extLst>
                  <a:ext uri="{FF2B5EF4-FFF2-40B4-BE49-F238E27FC236}">
                    <a16:creationId xmlns:a16="http://schemas.microsoft.com/office/drawing/2014/main" id="{D8909746-84BD-1E5B-3D4E-25FA0DEF9D59}"/>
                  </a:ext>
                </a:extLst>
              </p:cNvPr>
              <p:cNvGrpSpPr/>
              <p:nvPr/>
            </p:nvGrpSpPr>
            <p:grpSpPr>
              <a:xfrm>
                <a:off x="2660671" y="1510208"/>
                <a:ext cx="3452034" cy="230832"/>
                <a:chOff x="2661345" y="1534718"/>
                <a:chExt cx="3452034" cy="230832"/>
              </a:xfrm>
            </p:grpSpPr>
            <p:sp>
              <p:nvSpPr>
                <p:cNvPr id="91" name="Text 1">
                  <a:extLst>
                    <a:ext uri="{FF2B5EF4-FFF2-40B4-BE49-F238E27FC236}">
                      <a16:creationId xmlns:a16="http://schemas.microsoft.com/office/drawing/2014/main" id="{3466CF13-5FA3-749C-4A2E-D473BD7B8432}"/>
                    </a:ext>
                  </a:extLst>
                </p:cNvPr>
                <p:cNvSpPr/>
                <p:nvPr/>
              </p:nvSpPr>
              <p:spPr>
                <a:xfrm>
                  <a:off x="2661345" y="1572917"/>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Version: </a:t>
                  </a:r>
                </a:p>
              </p:txBody>
            </p:sp>
            <p:sp>
              <p:nvSpPr>
                <p:cNvPr id="92" name="CuadroTexto 91">
                  <a:extLst>
                    <a:ext uri="{FF2B5EF4-FFF2-40B4-BE49-F238E27FC236}">
                      <a16:creationId xmlns:a16="http://schemas.microsoft.com/office/drawing/2014/main" id="{0A58EA57-0AD8-35F4-2F12-C1680BBD5497}"/>
                    </a:ext>
                  </a:extLst>
                </p:cNvPr>
                <p:cNvSpPr txBox="1"/>
                <p:nvPr/>
              </p:nvSpPr>
              <p:spPr>
                <a:xfrm>
                  <a:off x="3525441" y="1534718"/>
                  <a:ext cx="2587938" cy="230832"/>
                </a:xfrm>
                <a:prstGeom prst="rect">
                  <a:avLst/>
                </a:prstGeom>
                <a:noFill/>
              </p:spPr>
              <p:txBody>
                <a:bodyPr wrap="square">
                  <a:spAutoFit/>
                </a:bodyPr>
                <a:lstStyle/>
                <a:p>
                  <a:r>
                    <a:rPr lang="en-US" sz="900" dirty="0">
                      <a:solidFill>
                        <a:srgbClr val="DAF2FF"/>
                      </a:solidFill>
                      <a:latin typeface="Bahnschrift" panose="020B0502040204020203" pitchFamily="34" charset="0"/>
                    </a:rPr>
                    <a:t>0x00000001</a:t>
                  </a:r>
                </a:p>
              </p:txBody>
            </p:sp>
          </p:grpSp>
        </p:grpSp>
        <p:sp>
          <p:nvSpPr>
            <p:cNvPr id="96" name="Text 1">
              <a:extLst>
                <a:ext uri="{FF2B5EF4-FFF2-40B4-BE49-F238E27FC236}">
                  <a16:creationId xmlns:a16="http://schemas.microsoft.com/office/drawing/2014/main" id="{CBB1C997-3400-1775-3328-6465851816F7}"/>
                </a:ext>
              </a:extLst>
            </p:cNvPr>
            <p:cNvSpPr/>
            <p:nvPr/>
          </p:nvSpPr>
          <p:spPr>
            <a:xfrm>
              <a:off x="2649723" y="1790567"/>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Difficulty(nBits): </a:t>
              </a:r>
            </a:p>
          </p:txBody>
        </p:sp>
        <p:sp>
          <p:nvSpPr>
            <p:cNvPr id="97" name="CuadroTexto 96">
              <a:extLst>
                <a:ext uri="{FF2B5EF4-FFF2-40B4-BE49-F238E27FC236}">
                  <a16:creationId xmlns:a16="http://schemas.microsoft.com/office/drawing/2014/main" id="{BE8C2E91-758A-4403-9927-2611B068A849}"/>
                </a:ext>
              </a:extLst>
            </p:cNvPr>
            <p:cNvSpPr txBox="1"/>
            <p:nvPr/>
          </p:nvSpPr>
          <p:spPr>
            <a:xfrm>
              <a:off x="3518998" y="1758850"/>
              <a:ext cx="2587938" cy="230832"/>
            </a:xfrm>
            <a:prstGeom prst="rect">
              <a:avLst/>
            </a:prstGeom>
            <a:noFill/>
          </p:spPr>
          <p:txBody>
            <a:bodyPr wrap="square">
              <a:spAutoFit/>
            </a:bodyPr>
            <a:lstStyle/>
            <a:p>
              <a:r>
                <a:rPr lang="en-US" sz="900" dirty="0">
                  <a:solidFill>
                    <a:srgbClr val="DAF2FF"/>
                  </a:solidFill>
                  <a:latin typeface="Bahnschrift" panose="020B0502040204020203" pitchFamily="34" charset="0"/>
                </a:rPr>
                <a:t>1</a:t>
              </a:r>
            </a:p>
          </p:txBody>
        </p:sp>
        <p:grpSp>
          <p:nvGrpSpPr>
            <p:cNvPr id="114" name="Grupo 113">
              <a:extLst>
                <a:ext uri="{FF2B5EF4-FFF2-40B4-BE49-F238E27FC236}">
                  <a16:creationId xmlns:a16="http://schemas.microsoft.com/office/drawing/2014/main" id="{60FAA241-00D2-5FEE-B14D-8C8155CBA890}"/>
                </a:ext>
              </a:extLst>
            </p:cNvPr>
            <p:cNvGrpSpPr/>
            <p:nvPr/>
          </p:nvGrpSpPr>
          <p:grpSpPr>
            <a:xfrm>
              <a:off x="2500745" y="3296589"/>
              <a:ext cx="3629410" cy="960378"/>
              <a:chOff x="2500745" y="3296589"/>
              <a:chExt cx="3629410" cy="960378"/>
            </a:xfrm>
          </p:grpSpPr>
          <p:sp>
            <p:nvSpPr>
              <p:cNvPr id="62" name="Rectángulo 61">
                <a:extLst>
                  <a:ext uri="{FF2B5EF4-FFF2-40B4-BE49-F238E27FC236}">
                    <a16:creationId xmlns:a16="http://schemas.microsoft.com/office/drawing/2014/main" id="{CAA1B196-E15F-28D3-4007-8888EB89B3C7}"/>
                  </a:ext>
                </a:extLst>
              </p:cNvPr>
              <p:cNvSpPr/>
              <p:nvPr/>
            </p:nvSpPr>
            <p:spPr>
              <a:xfrm>
                <a:off x="2500745" y="3296589"/>
                <a:ext cx="3599592" cy="960378"/>
              </a:xfrm>
              <a:prstGeom prst="rect">
                <a:avLst/>
              </a:prstGeom>
              <a:solidFill>
                <a:srgbClr val="18435B">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5" name="Text 1">
                <a:extLst>
                  <a:ext uri="{FF2B5EF4-FFF2-40B4-BE49-F238E27FC236}">
                    <a16:creationId xmlns:a16="http://schemas.microsoft.com/office/drawing/2014/main" id="{FE0C3635-EB9C-90EF-052C-9D0B3672D62F}"/>
                  </a:ext>
                </a:extLst>
              </p:cNvPr>
              <p:cNvSpPr/>
              <p:nvPr/>
            </p:nvSpPr>
            <p:spPr>
              <a:xfrm>
                <a:off x="2600866" y="3339084"/>
                <a:ext cx="641201" cy="153888"/>
              </a:xfrm>
              <a:prstGeom prst="rect">
                <a:avLst/>
              </a:prstGeom>
              <a:noFill/>
              <a:ln/>
            </p:spPr>
            <p:txBody>
              <a:bodyPr wrap="none" lIns="0" tIns="0" rIns="0" bIns="0" rtlCol="0" anchor="t">
                <a:spAutoFit/>
              </a:bodyPr>
              <a:lstStyle/>
              <a:p>
                <a:pPr algn="ctr">
                  <a:lnSpc>
                    <a:spcPts val="1200"/>
                  </a:lnSpc>
                </a:pPr>
                <a:r>
                  <a:rPr lang="en-US" sz="1000" b="1" u="sng" dirty="0">
                    <a:solidFill>
                      <a:srgbClr val="DAF2FF"/>
                    </a:solidFill>
                    <a:latin typeface="Bahnschrift" panose="020B0502040204020203" pitchFamily="34" charset="0"/>
                  </a:rPr>
                  <a:t>Block Body</a:t>
                </a:r>
              </a:p>
            </p:txBody>
          </p:sp>
          <p:grpSp>
            <p:nvGrpSpPr>
              <p:cNvPr id="102" name="Grupo 101">
                <a:extLst>
                  <a:ext uri="{FF2B5EF4-FFF2-40B4-BE49-F238E27FC236}">
                    <a16:creationId xmlns:a16="http://schemas.microsoft.com/office/drawing/2014/main" id="{21D1665C-3DD2-F852-9126-B94046092CF4}"/>
                  </a:ext>
                </a:extLst>
              </p:cNvPr>
              <p:cNvGrpSpPr/>
              <p:nvPr/>
            </p:nvGrpSpPr>
            <p:grpSpPr>
              <a:xfrm>
                <a:off x="2672942" y="3488494"/>
                <a:ext cx="3457213" cy="230832"/>
                <a:chOff x="2802123" y="1911250"/>
                <a:chExt cx="3457213" cy="230832"/>
              </a:xfrm>
            </p:grpSpPr>
            <p:sp>
              <p:nvSpPr>
                <p:cNvPr id="100" name="Text 1">
                  <a:extLst>
                    <a:ext uri="{FF2B5EF4-FFF2-40B4-BE49-F238E27FC236}">
                      <a16:creationId xmlns:a16="http://schemas.microsoft.com/office/drawing/2014/main" id="{A0494CB2-B5F5-E1BA-1ACF-B626F02F2837}"/>
                    </a:ext>
                  </a:extLst>
                </p:cNvPr>
                <p:cNvSpPr/>
                <p:nvPr/>
              </p:nvSpPr>
              <p:spPr>
                <a:xfrm>
                  <a:off x="2802123" y="1949449"/>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Transaction 1:</a:t>
                  </a:r>
                </a:p>
              </p:txBody>
            </p:sp>
            <p:sp>
              <p:nvSpPr>
                <p:cNvPr id="101" name="CuadroTexto 100">
                  <a:extLst>
                    <a:ext uri="{FF2B5EF4-FFF2-40B4-BE49-F238E27FC236}">
                      <a16:creationId xmlns:a16="http://schemas.microsoft.com/office/drawing/2014/main" id="{712CB0F3-089E-05E0-55CE-94788ED9D0C4}"/>
                    </a:ext>
                  </a:extLst>
                </p:cNvPr>
                <p:cNvSpPr txBox="1"/>
                <p:nvPr/>
              </p:nvSpPr>
              <p:spPr>
                <a:xfrm>
                  <a:off x="3671398" y="1911250"/>
                  <a:ext cx="2587938" cy="230832"/>
                </a:xfrm>
                <a:prstGeom prst="rect">
                  <a:avLst/>
                </a:prstGeom>
                <a:noFill/>
              </p:spPr>
              <p:txBody>
                <a:bodyPr wrap="square">
                  <a:spAutoFit/>
                </a:bodyPr>
                <a:lstStyle/>
                <a:p>
                  <a:r>
                    <a:rPr lang="en-US" sz="900" dirty="0">
                      <a:solidFill>
                        <a:srgbClr val="DAF2FF"/>
                      </a:solidFill>
                      <a:latin typeface="Bahnschrift" panose="020B0502040204020203" pitchFamily="34" charset="0"/>
                    </a:rPr>
                    <a:t>Carlos -&gt; Elon Musk: 2 </a:t>
                  </a:r>
                  <a:r>
                    <a:rPr lang="en-US" sz="900" dirty="0">
                      <a:solidFill>
                        <a:srgbClr val="FFC000"/>
                      </a:solidFill>
                      <a:latin typeface="Bahnschrift" panose="020B0502040204020203" pitchFamily="34" charset="0"/>
                    </a:rPr>
                    <a:t>BTC</a:t>
                  </a:r>
                </a:p>
              </p:txBody>
            </p:sp>
          </p:grpSp>
          <p:grpSp>
            <p:nvGrpSpPr>
              <p:cNvPr id="103" name="Grupo 102">
                <a:extLst>
                  <a:ext uri="{FF2B5EF4-FFF2-40B4-BE49-F238E27FC236}">
                    <a16:creationId xmlns:a16="http://schemas.microsoft.com/office/drawing/2014/main" id="{017EAE65-0F06-B800-5EE0-E2C5BF9E5F00}"/>
                  </a:ext>
                </a:extLst>
              </p:cNvPr>
              <p:cNvGrpSpPr/>
              <p:nvPr/>
            </p:nvGrpSpPr>
            <p:grpSpPr>
              <a:xfrm>
                <a:off x="2672942" y="3667419"/>
                <a:ext cx="3457213" cy="230832"/>
                <a:chOff x="2802123" y="1911250"/>
                <a:chExt cx="3457213" cy="230832"/>
              </a:xfrm>
            </p:grpSpPr>
            <p:sp>
              <p:nvSpPr>
                <p:cNvPr id="104" name="Text 1">
                  <a:extLst>
                    <a:ext uri="{FF2B5EF4-FFF2-40B4-BE49-F238E27FC236}">
                      <a16:creationId xmlns:a16="http://schemas.microsoft.com/office/drawing/2014/main" id="{0EEF93A7-2B8E-3125-E71A-BA4FEB085C3F}"/>
                    </a:ext>
                  </a:extLst>
                </p:cNvPr>
                <p:cNvSpPr/>
                <p:nvPr/>
              </p:nvSpPr>
              <p:spPr>
                <a:xfrm>
                  <a:off x="2802123" y="1949449"/>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Transaction 2:</a:t>
                  </a:r>
                </a:p>
              </p:txBody>
            </p:sp>
            <p:sp>
              <p:nvSpPr>
                <p:cNvPr id="105" name="CuadroTexto 104">
                  <a:extLst>
                    <a:ext uri="{FF2B5EF4-FFF2-40B4-BE49-F238E27FC236}">
                      <a16:creationId xmlns:a16="http://schemas.microsoft.com/office/drawing/2014/main" id="{BBBEF4D7-242C-DD8B-6FD3-6B1C2ACE5755}"/>
                    </a:ext>
                  </a:extLst>
                </p:cNvPr>
                <p:cNvSpPr txBox="1"/>
                <p:nvPr/>
              </p:nvSpPr>
              <p:spPr>
                <a:xfrm>
                  <a:off x="3671398" y="1911250"/>
                  <a:ext cx="2587938" cy="230832"/>
                </a:xfrm>
                <a:prstGeom prst="rect">
                  <a:avLst/>
                </a:prstGeom>
                <a:noFill/>
              </p:spPr>
              <p:txBody>
                <a:bodyPr wrap="square">
                  <a:spAutoFit/>
                </a:bodyPr>
                <a:lstStyle/>
                <a:p>
                  <a:r>
                    <a:rPr lang="en-US" sz="900" dirty="0">
                      <a:solidFill>
                        <a:srgbClr val="DAF2FF"/>
                      </a:solidFill>
                      <a:latin typeface="Bahnschrift" panose="020B0502040204020203" pitchFamily="34" charset="0"/>
                    </a:rPr>
                    <a:t>Álvaro -&gt; Pedro: 50 </a:t>
                  </a:r>
                  <a:r>
                    <a:rPr lang="en-US" sz="900" dirty="0">
                      <a:solidFill>
                        <a:srgbClr val="FFC000"/>
                      </a:solidFill>
                      <a:latin typeface="Bahnschrift" panose="020B0502040204020203" pitchFamily="34" charset="0"/>
                    </a:rPr>
                    <a:t>BTC</a:t>
                  </a:r>
                </a:p>
              </p:txBody>
            </p:sp>
          </p:grpSp>
          <p:grpSp>
            <p:nvGrpSpPr>
              <p:cNvPr id="106" name="Grupo 105">
                <a:extLst>
                  <a:ext uri="{FF2B5EF4-FFF2-40B4-BE49-F238E27FC236}">
                    <a16:creationId xmlns:a16="http://schemas.microsoft.com/office/drawing/2014/main" id="{03D986E5-7094-A956-2852-2A4C88C86BB5}"/>
                  </a:ext>
                </a:extLst>
              </p:cNvPr>
              <p:cNvGrpSpPr/>
              <p:nvPr/>
            </p:nvGrpSpPr>
            <p:grpSpPr>
              <a:xfrm>
                <a:off x="2670339" y="3839405"/>
                <a:ext cx="3457213" cy="230832"/>
                <a:chOff x="2802123" y="1911250"/>
                <a:chExt cx="3457213" cy="230832"/>
              </a:xfrm>
            </p:grpSpPr>
            <p:sp>
              <p:nvSpPr>
                <p:cNvPr id="107" name="Text 1">
                  <a:extLst>
                    <a:ext uri="{FF2B5EF4-FFF2-40B4-BE49-F238E27FC236}">
                      <a16:creationId xmlns:a16="http://schemas.microsoft.com/office/drawing/2014/main" id="{C91643DE-213A-A275-2974-0D73190CEB2C}"/>
                    </a:ext>
                  </a:extLst>
                </p:cNvPr>
                <p:cNvSpPr/>
                <p:nvPr/>
              </p:nvSpPr>
              <p:spPr>
                <a:xfrm>
                  <a:off x="2802123" y="1949449"/>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Transaction 3:</a:t>
                  </a:r>
                </a:p>
              </p:txBody>
            </p:sp>
            <p:sp>
              <p:nvSpPr>
                <p:cNvPr id="108" name="CuadroTexto 107">
                  <a:extLst>
                    <a:ext uri="{FF2B5EF4-FFF2-40B4-BE49-F238E27FC236}">
                      <a16:creationId xmlns:a16="http://schemas.microsoft.com/office/drawing/2014/main" id="{F3DAAFB5-3773-B3F3-B5E3-483D74D5108A}"/>
                    </a:ext>
                  </a:extLst>
                </p:cNvPr>
                <p:cNvSpPr txBox="1"/>
                <p:nvPr/>
              </p:nvSpPr>
              <p:spPr>
                <a:xfrm>
                  <a:off x="3671398" y="1911250"/>
                  <a:ext cx="2587938" cy="230832"/>
                </a:xfrm>
                <a:prstGeom prst="rect">
                  <a:avLst/>
                </a:prstGeom>
                <a:noFill/>
              </p:spPr>
              <p:txBody>
                <a:bodyPr wrap="square">
                  <a:spAutoFit/>
                </a:bodyPr>
                <a:lstStyle/>
                <a:p>
                  <a:r>
                    <a:rPr lang="en-US" sz="900" dirty="0">
                      <a:solidFill>
                        <a:srgbClr val="DAF2FF"/>
                      </a:solidFill>
                      <a:latin typeface="Bahnschrift" panose="020B0502040204020203" pitchFamily="34" charset="0"/>
                    </a:rPr>
                    <a:t>Satoshi -&gt; Nakamoto: 1000 </a:t>
                  </a:r>
                  <a:r>
                    <a:rPr lang="en-US" sz="900" dirty="0">
                      <a:solidFill>
                        <a:srgbClr val="FFC000"/>
                      </a:solidFill>
                      <a:latin typeface="Bahnschrift" panose="020B0502040204020203" pitchFamily="34" charset="0"/>
                    </a:rPr>
                    <a:t>BTC</a:t>
                  </a:r>
                </a:p>
              </p:txBody>
            </p:sp>
          </p:grpSp>
          <p:grpSp>
            <p:nvGrpSpPr>
              <p:cNvPr id="111" name="Grupo 110">
                <a:extLst>
                  <a:ext uri="{FF2B5EF4-FFF2-40B4-BE49-F238E27FC236}">
                    <a16:creationId xmlns:a16="http://schemas.microsoft.com/office/drawing/2014/main" id="{7C606FC8-3969-5E81-4EDE-461B06B8561A}"/>
                  </a:ext>
                </a:extLst>
              </p:cNvPr>
              <p:cNvGrpSpPr/>
              <p:nvPr/>
            </p:nvGrpSpPr>
            <p:grpSpPr>
              <a:xfrm>
                <a:off x="2672942" y="4007108"/>
                <a:ext cx="3457213" cy="230832"/>
                <a:chOff x="2802123" y="1911250"/>
                <a:chExt cx="3457213" cy="230832"/>
              </a:xfrm>
            </p:grpSpPr>
            <p:sp>
              <p:nvSpPr>
                <p:cNvPr id="112" name="Text 1">
                  <a:extLst>
                    <a:ext uri="{FF2B5EF4-FFF2-40B4-BE49-F238E27FC236}">
                      <a16:creationId xmlns:a16="http://schemas.microsoft.com/office/drawing/2014/main" id="{0E2BD990-C79F-3F92-5536-6882A99F3223}"/>
                    </a:ext>
                  </a:extLst>
                </p:cNvPr>
                <p:cNvSpPr/>
                <p:nvPr/>
              </p:nvSpPr>
              <p:spPr>
                <a:xfrm>
                  <a:off x="2802123" y="1949449"/>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Transaction X:</a:t>
                  </a:r>
                </a:p>
              </p:txBody>
            </p:sp>
            <p:sp>
              <p:nvSpPr>
                <p:cNvPr id="113" name="CuadroTexto 112">
                  <a:extLst>
                    <a:ext uri="{FF2B5EF4-FFF2-40B4-BE49-F238E27FC236}">
                      <a16:creationId xmlns:a16="http://schemas.microsoft.com/office/drawing/2014/main" id="{6F2BB644-1272-13BA-25EC-8E0933EE624A}"/>
                    </a:ext>
                  </a:extLst>
                </p:cNvPr>
                <p:cNvSpPr txBox="1"/>
                <p:nvPr/>
              </p:nvSpPr>
              <p:spPr>
                <a:xfrm>
                  <a:off x="3671398" y="1911250"/>
                  <a:ext cx="2587938" cy="230832"/>
                </a:xfrm>
                <a:prstGeom prst="rect">
                  <a:avLst/>
                </a:prstGeom>
                <a:noFill/>
              </p:spPr>
              <p:txBody>
                <a:bodyPr wrap="square">
                  <a:spAutoFit/>
                </a:bodyPr>
                <a:lstStyle/>
                <a:p>
                  <a:r>
                    <a:rPr lang="en-US" sz="900" dirty="0">
                      <a:solidFill>
                        <a:srgbClr val="DAF2FF"/>
                      </a:solidFill>
                      <a:latin typeface="Bahnschrift" panose="020B0502040204020203" pitchFamily="34" charset="0"/>
                    </a:rPr>
                    <a:t>XXXXX -&gt; XXXXXXXXX: XXX </a:t>
                  </a:r>
                  <a:r>
                    <a:rPr lang="en-US" sz="900" dirty="0">
                      <a:solidFill>
                        <a:srgbClr val="FFC000"/>
                      </a:solidFill>
                      <a:latin typeface="Bahnschrift" panose="020B0502040204020203" pitchFamily="34" charset="0"/>
                    </a:rPr>
                    <a:t>BTC</a:t>
                  </a:r>
                </a:p>
              </p:txBody>
            </p:sp>
          </p:grpSp>
        </p:grpSp>
        <p:grpSp>
          <p:nvGrpSpPr>
            <p:cNvPr id="130" name="Grupo 129">
              <a:extLst>
                <a:ext uri="{FF2B5EF4-FFF2-40B4-BE49-F238E27FC236}">
                  <a16:creationId xmlns:a16="http://schemas.microsoft.com/office/drawing/2014/main" id="{96E1EC6C-D1ED-75BB-D882-7D8CAF768640}"/>
                </a:ext>
              </a:extLst>
            </p:cNvPr>
            <p:cNvGrpSpPr/>
            <p:nvPr/>
          </p:nvGrpSpPr>
          <p:grpSpPr>
            <a:xfrm>
              <a:off x="2500745" y="4307949"/>
              <a:ext cx="3599592" cy="583864"/>
              <a:chOff x="2500745" y="4307949"/>
              <a:chExt cx="3599592" cy="583864"/>
            </a:xfrm>
          </p:grpSpPr>
          <p:sp>
            <p:nvSpPr>
              <p:cNvPr id="116" name="Rectángulo 115">
                <a:extLst>
                  <a:ext uri="{FF2B5EF4-FFF2-40B4-BE49-F238E27FC236}">
                    <a16:creationId xmlns:a16="http://schemas.microsoft.com/office/drawing/2014/main" id="{C42E18EA-201D-6596-9694-225C991CB5B2}"/>
                  </a:ext>
                </a:extLst>
              </p:cNvPr>
              <p:cNvSpPr/>
              <p:nvPr/>
            </p:nvSpPr>
            <p:spPr>
              <a:xfrm>
                <a:off x="2500745" y="4307949"/>
                <a:ext cx="3599592" cy="583864"/>
              </a:xfrm>
              <a:prstGeom prst="rect">
                <a:avLst/>
              </a:prstGeom>
              <a:solidFill>
                <a:srgbClr val="18435B">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7" name="Text 1">
                <a:extLst>
                  <a:ext uri="{FF2B5EF4-FFF2-40B4-BE49-F238E27FC236}">
                    <a16:creationId xmlns:a16="http://schemas.microsoft.com/office/drawing/2014/main" id="{A508E68A-034A-5C75-1029-1CA3B64D91FB}"/>
                  </a:ext>
                </a:extLst>
              </p:cNvPr>
              <p:cNvSpPr/>
              <p:nvPr/>
            </p:nvSpPr>
            <p:spPr>
              <a:xfrm>
                <a:off x="2600866" y="4349666"/>
                <a:ext cx="779060" cy="153888"/>
              </a:xfrm>
              <a:prstGeom prst="rect">
                <a:avLst/>
              </a:prstGeom>
              <a:noFill/>
              <a:ln/>
            </p:spPr>
            <p:txBody>
              <a:bodyPr wrap="none" lIns="0" tIns="0" rIns="0" bIns="0" rtlCol="0" anchor="t">
                <a:spAutoFit/>
              </a:bodyPr>
              <a:lstStyle/>
              <a:p>
                <a:pPr algn="ctr">
                  <a:lnSpc>
                    <a:spcPts val="1200"/>
                  </a:lnSpc>
                </a:pPr>
                <a:r>
                  <a:rPr lang="en-US" sz="1000" b="1" u="sng" dirty="0">
                    <a:solidFill>
                      <a:srgbClr val="DAF2FF"/>
                    </a:solidFill>
                    <a:latin typeface="Bahnschrift" panose="020B0502040204020203" pitchFamily="34" charset="0"/>
                  </a:rPr>
                  <a:t>Block Identity</a:t>
                </a:r>
              </a:p>
            </p:txBody>
          </p:sp>
          <p:grpSp>
            <p:nvGrpSpPr>
              <p:cNvPr id="118" name="Grupo 117">
                <a:extLst>
                  <a:ext uri="{FF2B5EF4-FFF2-40B4-BE49-F238E27FC236}">
                    <a16:creationId xmlns:a16="http://schemas.microsoft.com/office/drawing/2014/main" id="{66EBE33E-4239-246E-9A85-2491E658D98F}"/>
                  </a:ext>
                </a:extLst>
              </p:cNvPr>
              <p:cNvGrpSpPr/>
              <p:nvPr/>
            </p:nvGrpSpPr>
            <p:grpSpPr>
              <a:xfrm>
                <a:off x="2672942" y="4429922"/>
                <a:ext cx="3018436" cy="369332"/>
                <a:chOff x="2802123" y="1862213"/>
                <a:chExt cx="3018436" cy="369332"/>
              </a:xfrm>
            </p:grpSpPr>
            <p:sp>
              <p:nvSpPr>
                <p:cNvPr id="128" name="Text 1">
                  <a:extLst>
                    <a:ext uri="{FF2B5EF4-FFF2-40B4-BE49-F238E27FC236}">
                      <a16:creationId xmlns:a16="http://schemas.microsoft.com/office/drawing/2014/main" id="{795E5A03-F2D4-BE2C-7A8A-B6914651C276}"/>
                    </a:ext>
                  </a:extLst>
                </p:cNvPr>
                <p:cNvSpPr/>
                <p:nvPr/>
              </p:nvSpPr>
              <p:spPr>
                <a:xfrm>
                  <a:off x="2802123" y="1949449"/>
                  <a:ext cx="2587938" cy="153888"/>
                </a:xfrm>
                <a:prstGeom prst="rect">
                  <a:avLst/>
                </a:prstGeom>
                <a:noFill/>
                <a:ln/>
              </p:spPr>
              <p:txBody>
                <a:bodyPr wrap="square" lIns="0" tIns="0" rIns="0" bIns="0" rtlCol="0" anchor="t">
                  <a:spAutoFit/>
                </a:bodyPr>
                <a:lstStyle/>
                <a:p>
                  <a:pPr>
                    <a:lnSpc>
                      <a:spcPts val="1200"/>
                    </a:lnSpc>
                  </a:pPr>
                  <a:r>
                    <a:rPr lang="en-US" sz="1000" dirty="0">
                      <a:solidFill>
                        <a:srgbClr val="DAF2FF"/>
                      </a:solidFill>
                      <a:latin typeface="Bahnschrift" panose="020B0502040204020203" pitchFamily="34" charset="0"/>
                    </a:rPr>
                    <a:t>Block Hash:</a:t>
                  </a:r>
                </a:p>
              </p:txBody>
            </p:sp>
            <p:sp>
              <p:nvSpPr>
                <p:cNvPr id="129" name="CuadroTexto 128">
                  <a:extLst>
                    <a:ext uri="{FF2B5EF4-FFF2-40B4-BE49-F238E27FC236}">
                      <a16:creationId xmlns:a16="http://schemas.microsoft.com/office/drawing/2014/main" id="{85A28BED-F03F-3109-1534-91FBA844FC51}"/>
                    </a:ext>
                  </a:extLst>
                </p:cNvPr>
                <p:cNvSpPr txBox="1"/>
                <p:nvPr/>
              </p:nvSpPr>
              <p:spPr>
                <a:xfrm>
                  <a:off x="3681304" y="1862213"/>
                  <a:ext cx="2139255" cy="369332"/>
                </a:xfrm>
                <a:prstGeom prst="rect">
                  <a:avLst/>
                </a:prstGeom>
                <a:noFill/>
              </p:spPr>
              <p:txBody>
                <a:bodyPr wrap="square">
                  <a:spAutoFit/>
                </a:bodyPr>
                <a:lstStyle/>
                <a:p>
                  <a:r>
                    <a:rPr lang="en-US" sz="900" dirty="0">
                      <a:solidFill>
                        <a:srgbClr val="DAF2FF"/>
                      </a:solidFill>
                      <a:latin typeface="Bahnschrift" panose="020B0502040204020203" pitchFamily="34" charset="0"/>
                    </a:rPr>
                    <a:t>000000006a625f06636b8bb6ac7b960a8d03705d1ace08b1a19da3fdcc99ddbd</a:t>
                  </a:r>
                  <a:endParaRPr lang="en-US" sz="900" dirty="0">
                    <a:solidFill>
                      <a:schemeClr val="accent4"/>
                    </a:solidFill>
                    <a:latin typeface="Bahnschrift" panose="020B0502040204020203" pitchFamily="34" charset="0"/>
                  </a:endParaRPr>
                </a:p>
              </p:txBody>
            </p:sp>
          </p:grpSp>
        </p:grpSp>
      </p:grpSp>
      <p:sp>
        <p:nvSpPr>
          <p:cNvPr id="132" name="Marcador de número de diapositiva 131">
            <a:extLst>
              <a:ext uri="{FF2B5EF4-FFF2-40B4-BE49-F238E27FC236}">
                <a16:creationId xmlns:a16="http://schemas.microsoft.com/office/drawing/2014/main" id="{AFC0107A-9A0F-99AF-8883-96599F005869}"/>
              </a:ext>
            </a:extLst>
          </p:cNvPr>
          <p:cNvSpPr>
            <a:spLocks noGrp="1"/>
          </p:cNvSpPr>
          <p:nvPr>
            <p:ph type="sldNum" sz="quarter" idx="12"/>
          </p:nvPr>
        </p:nvSpPr>
        <p:spPr/>
        <p:txBody>
          <a:bodyPr/>
          <a:lstStyle/>
          <a:p>
            <a:fld id="{621D377E-C6E5-404B-8AA2-3999D49F21B5}" type="slidenum">
              <a:rPr lang="es-ES" smtClean="0"/>
              <a:t>7</a:t>
            </a:fld>
            <a:endParaRPr lang="es-ES"/>
          </a:p>
        </p:txBody>
      </p:sp>
      <p:grpSp>
        <p:nvGrpSpPr>
          <p:cNvPr id="153" name="Grupo 152">
            <a:extLst>
              <a:ext uri="{FF2B5EF4-FFF2-40B4-BE49-F238E27FC236}">
                <a16:creationId xmlns:a16="http://schemas.microsoft.com/office/drawing/2014/main" id="{FE8E5043-54EF-FABE-B558-637E5FE6C740}"/>
              </a:ext>
            </a:extLst>
          </p:cNvPr>
          <p:cNvGrpSpPr/>
          <p:nvPr/>
        </p:nvGrpSpPr>
        <p:grpSpPr>
          <a:xfrm>
            <a:off x="4729457" y="1837592"/>
            <a:ext cx="3791712" cy="601952"/>
            <a:chOff x="4722304" y="1759800"/>
            <a:chExt cx="3791712" cy="601952"/>
          </a:xfrm>
        </p:grpSpPr>
        <p:sp>
          <p:nvSpPr>
            <p:cNvPr id="32" name="Text 29"/>
            <p:cNvSpPr/>
            <p:nvPr/>
          </p:nvSpPr>
          <p:spPr>
            <a:xfrm>
              <a:off x="5063585" y="1759800"/>
              <a:ext cx="1221866" cy="129138"/>
            </a:xfrm>
            <a:prstGeom prst="rect">
              <a:avLst/>
            </a:prstGeom>
            <a:noFill/>
            <a:ln/>
          </p:spPr>
          <p:txBody>
            <a:bodyPr wrap="square" lIns="0" tIns="0" rIns="0" bIns="0" rtlCol="0" anchor="t">
              <a:spAutoFit/>
            </a:bodyPr>
            <a:lstStyle/>
            <a:p>
              <a:pPr marL="0" indent="0" algn="l">
                <a:lnSpc>
                  <a:spcPts val="900"/>
                </a:lnSpc>
                <a:buNone/>
              </a:pPr>
              <a:r>
                <a:rPr lang="en-US" sz="1200" b="1" dirty="0">
                  <a:solidFill>
                    <a:srgbClr val="1A1A1A"/>
                  </a:solidFill>
                </a:rPr>
                <a:t>Merkle Root</a:t>
              </a:r>
              <a:endParaRPr lang="en-US" sz="1200" dirty="0"/>
            </a:p>
          </p:txBody>
        </p:sp>
        <p:sp>
          <p:nvSpPr>
            <p:cNvPr id="33" name="Text 30"/>
            <p:cNvSpPr/>
            <p:nvPr/>
          </p:nvSpPr>
          <p:spPr>
            <a:xfrm>
              <a:off x="5063585" y="1931250"/>
              <a:ext cx="3450431" cy="430502"/>
            </a:xfrm>
            <a:prstGeom prst="rect">
              <a:avLst/>
            </a:prstGeom>
            <a:noFill/>
            <a:ln/>
          </p:spPr>
          <p:txBody>
            <a:bodyPr wrap="square" lIns="0" tIns="0" rIns="0" bIns="0" rtlCol="0" anchor="t">
              <a:spAutoFit/>
            </a:bodyPr>
            <a:lstStyle/>
            <a:p>
              <a:pPr marL="0" indent="0" algn="l">
                <a:lnSpc>
                  <a:spcPts val="1100"/>
                </a:lnSpc>
                <a:buNone/>
              </a:pPr>
              <a:r>
                <a:rPr lang="en-US" sz="1200" dirty="0">
                  <a:solidFill>
                    <a:srgbClr val="333333"/>
                  </a:solidFill>
                </a:rPr>
                <a:t>A single hash that summarizes all transactions in this block. It's like a fingerprint of all transactions, enabling efficient verification.</a:t>
              </a:r>
              <a:endParaRPr lang="en-US" sz="1200" dirty="0"/>
            </a:p>
          </p:txBody>
        </p:sp>
        <p:grpSp>
          <p:nvGrpSpPr>
            <p:cNvPr id="139" name="Grupo 138">
              <a:extLst>
                <a:ext uri="{FF2B5EF4-FFF2-40B4-BE49-F238E27FC236}">
                  <a16:creationId xmlns:a16="http://schemas.microsoft.com/office/drawing/2014/main" id="{FB2E60C9-0D85-C415-C98B-8F68A093177F}"/>
                </a:ext>
              </a:extLst>
            </p:cNvPr>
            <p:cNvGrpSpPr/>
            <p:nvPr/>
          </p:nvGrpSpPr>
          <p:grpSpPr>
            <a:xfrm>
              <a:off x="4722304" y="1766032"/>
              <a:ext cx="228600" cy="228600"/>
              <a:chOff x="4728878" y="1071339"/>
              <a:chExt cx="228600" cy="228600"/>
            </a:xfrm>
          </p:grpSpPr>
          <p:sp>
            <p:nvSpPr>
              <p:cNvPr id="140" name="Shape 23">
                <a:extLst>
                  <a:ext uri="{FF2B5EF4-FFF2-40B4-BE49-F238E27FC236}">
                    <a16:creationId xmlns:a16="http://schemas.microsoft.com/office/drawing/2014/main" id="{B6584D0E-3EEA-EB07-11E4-0D0A11219C1E}"/>
                  </a:ext>
                </a:extLst>
              </p:cNvPr>
              <p:cNvSpPr/>
              <p:nvPr/>
            </p:nvSpPr>
            <p:spPr>
              <a:xfrm>
                <a:off x="4728878" y="1071339"/>
                <a:ext cx="228600" cy="228600"/>
              </a:xfrm>
              <a:prstGeom prst="ellipse">
                <a:avLst/>
              </a:prstGeom>
              <a:solidFill>
                <a:srgbClr val="0055FF"/>
              </a:solidFill>
              <a:ln/>
            </p:spPr>
            <p:txBody>
              <a:bodyPr/>
              <a:lstStyle/>
              <a:p>
                <a:endParaRPr lang="es-ES" sz="1200"/>
              </a:p>
            </p:txBody>
          </p:sp>
          <p:sp>
            <p:nvSpPr>
              <p:cNvPr id="141" name="Text 24">
                <a:extLst>
                  <a:ext uri="{FF2B5EF4-FFF2-40B4-BE49-F238E27FC236}">
                    <a16:creationId xmlns:a16="http://schemas.microsoft.com/office/drawing/2014/main" id="{80E7E6AF-53CE-BF37-6D31-8787269D2FA2}"/>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solidFill>
                      <a:srgbClr val="FFFFFF"/>
                    </a:solidFill>
                  </a:rPr>
                  <a:t>2</a:t>
                </a:r>
                <a:endParaRPr lang="en-US" sz="1200" dirty="0"/>
              </a:p>
            </p:txBody>
          </p:sp>
        </p:grpSp>
      </p:grpSp>
      <p:grpSp>
        <p:nvGrpSpPr>
          <p:cNvPr id="155" name="Grupo 154">
            <a:extLst>
              <a:ext uri="{FF2B5EF4-FFF2-40B4-BE49-F238E27FC236}">
                <a16:creationId xmlns:a16="http://schemas.microsoft.com/office/drawing/2014/main" id="{B54CBBB7-A06E-C27B-5897-7B268F8C2CE5}"/>
              </a:ext>
            </a:extLst>
          </p:cNvPr>
          <p:cNvGrpSpPr/>
          <p:nvPr/>
        </p:nvGrpSpPr>
        <p:grpSpPr>
          <a:xfrm>
            <a:off x="4734687" y="2609221"/>
            <a:ext cx="3793858" cy="460888"/>
            <a:chOff x="4723352" y="2446190"/>
            <a:chExt cx="3793858" cy="460888"/>
          </a:xfrm>
        </p:grpSpPr>
        <p:grpSp>
          <p:nvGrpSpPr>
            <p:cNvPr id="154" name="Grupo 153">
              <a:extLst>
                <a:ext uri="{FF2B5EF4-FFF2-40B4-BE49-F238E27FC236}">
                  <a16:creationId xmlns:a16="http://schemas.microsoft.com/office/drawing/2014/main" id="{9E0E8542-4B47-904A-B76F-9923D2E41FDB}"/>
                </a:ext>
              </a:extLst>
            </p:cNvPr>
            <p:cNvGrpSpPr/>
            <p:nvPr/>
          </p:nvGrpSpPr>
          <p:grpSpPr>
            <a:xfrm>
              <a:off x="5066779" y="2446190"/>
              <a:ext cx="3450431" cy="460888"/>
              <a:chOff x="5064634" y="2724589"/>
              <a:chExt cx="3450431" cy="460888"/>
            </a:xfrm>
          </p:grpSpPr>
          <p:sp>
            <p:nvSpPr>
              <p:cNvPr id="36" name="Text 33"/>
              <p:cNvSpPr/>
              <p:nvPr/>
            </p:nvSpPr>
            <p:spPr>
              <a:xfrm>
                <a:off x="5064634" y="2724589"/>
                <a:ext cx="1159382" cy="129138"/>
              </a:xfrm>
              <a:prstGeom prst="rect">
                <a:avLst/>
              </a:prstGeom>
              <a:noFill/>
              <a:ln/>
            </p:spPr>
            <p:txBody>
              <a:bodyPr wrap="square" lIns="0" tIns="0" rIns="0" bIns="0" rtlCol="0" anchor="t">
                <a:spAutoFit/>
              </a:bodyPr>
              <a:lstStyle/>
              <a:p>
                <a:pPr marL="0" indent="0" algn="l">
                  <a:lnSpc>
                    <a:spcPts val="900"/>
                  </a:lnSpc>
                  <a:buNone/>
                </a:pPr>
                <a:r>
                  <a:rPr lang="en-US" sz="1200" b="1" dirty="0">
                    <a:solidFill>
                      <a:srgbClr val="1A1A1A"/>
                    </a:solidFill>
                  </a:rPr>
                  <a:t>Timestamp</a:t>
                </a:r>
                <a:endParaRPr lang="en-US" sz="1200" dirty="0"/>
              </a:p>
            </p:txBody>
          </p:sp>
          <p:sp>
            <p:nvSpPr>
              <p:cNvPr id="37" name="Text 34"/>
              <p:cNvSpPr/>
              <p:nvPr/>
            </p:nvSpPr>
            <p:spPr>
              <a:xfrm>
                <a:off x="5064634" y="2896039"/>
                <a:ext cx="3450431" cy="289438"/>
              </a:xfrm>
              <a:prstGeom prst="rect">
                <a:avLst/>
              </a:prstGeom>
              <a:noFill/>
              <a:ln/>
            </p:spPr>
            <p:txBody>
              <a:bodyPr wrap="square" lIns="0" tIns="0" rIns="0" bIns="0" rtlCol="0" anchor="t">
                <a:spAutoFit/>
              </a:bodyPr>
              <a:lstStyle/>
              <a:p>
                <a:pPr marL="0" indent="0" algn="l">
                  <a:lnSpc>
                    <a:spcPts val="1100"/>
                  </a:lnSpc>
                  <a:buNone/>
                </a:pPr>
                <a:r>
                  <a:rPr lang="en-US" sz="1200" dirty="0">
                    <a:solidFill>
                      <a:srgbClr val="333333"/>
                    </a:solidFill>
                  </a:rPr>
                  <a:t>Records when the block was created, providing chronological order to the ledger.</a:t>
                </a:r>
                <a:endParaRPr lang="en-US" sz="1200" dirty="0"/>
              </a:p>
            </p:txBody>
          </p:sp>
        </p:grpSp>
        <p:grpSp>
          <p:nvGrpSpPr>
            <p:cNvPr id="142" name="Grupo 141">
              <a:extLst>
                <a:ext uri="{FF2B5EF4-FFF2-40B4-BE49-F238E27FC236}">
                  <a16:creationId xmlns:a16="http://schemas.microsoft.com/office/drawing/2014/main" id="{528A88CF-DA4A-A94B-0202-9CEA54804D38}"/>
                </a:ext>
              </a:extLst>
            </p:cNvPr>
            <p:cNvGrpSpPr/>
            <p:nvPr/>
          </p:nvGrpSpPr>
          <p:grpSpPr>
            <a:xfrm>
              <a:off x="4723352" y="2451908"/>
              <a:ext cx="228600" cy="228600"/>
              <a:chOff x="4728878" y="1071339"/>
              <a:chExt cx="228600" cy="228600"/>
            </a:xfrm>
          </p:grpSpPr>
          <p:sp>
            <p:nvSpPr>
              <p:cNvPr id="143" name="Shape 23">
                <a:extLst>
                  <a:ext uri="{FF2B5EF4-FFF2-40B4-BE49-F238E27FC236}">
                    <a16:creationId xmlns:a16="http://schemas.microsoft.com/office/drawing/2014/main" id="{183F6627-0B00-FA1C-7774-47DFA9F9B223}"/>
                  </a:ext>
                </a:extLst>
              </p:cNvPr>
              <p:cNvSpPr/>
              <p:nvPr/>
            </p:nvSpPr>
            <p:spPr>
              <a:xfrm>
                <a:off x="4728878" y="1071339"/>
                <a:ext cx="228600" cy="228600"/>
              </a:xfrm>
              <a:prstGeom prst="ellipse">
                <a:avLst/>
              </a:prstGeom>
              <a:solidFill>
                <a:srgbClr val="0055FF"/>
              </a:solidFill>
              <a:ln/>
            </p:spPr>
            <p:txBody>
              <a:bodyPr/>
              <a:lstStyle/>
              <a:p>
                <a:endParaRPr lang="es-ES" sz="1200"/>
              </a:p>
            </p:txBody>
          </p:sp>
          <p:sp>
            <p:nvSpPr>
              <p:cNvPr id="144" name="Text 24">
                <a:extLst>
                  <a:ext uri="{FF2B5EF4-FFF2-40B4-BE49-F238E27FC236}">
                    <a16:creationId xmlns:a16="http://schemas.microsoft.com/office/drawing/2014/main" id="{3AF54047-BB64-3168-5829-B526BEE27AAA}"/>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solidFill>
                      <a:srgbClr val="FFFFFF"/>
                    </a:solidFill>
                  </a:rPr>
                  <a:t>3</a:t>
                </a:r>
                <a:endParaRPr lang="en-US" sz="1200" dirty="0"/>
              </a:p>
            </p:txBody>
          </p:sp>
        </p:grpSp>
      </p:grpSp>
      <p:grpSp>
        <p:nvGrpSpPr>
          <p:cNvPr id="156" name="Grupo 155">
            <a:extLst>
              <a:ext uri="{FF2B5EF4-FFF2-40B4-BE49-F238E27FC236}">
                <a16:creationId xmlns:a16="http://schemas.microsoft.com/office/drawing/2014/main" id="{9FC8CFF7-97C9-E80B-5D7B-C3E7AE2813B9}"/>
              </a:ext>
            </a:extLst>
          </p:cNvPr>
          <p:cNvGrpSpPr/>
          <p:nvPr/>
        </p:nvGrpSpPr>
        <p:grpSpPr>
          <a:xfrm>
            <a:off x="4738072" y="3242492"/>
            <a:ext cx="3793858" cy="460888"/>
            <a:chOff x="4718179" y="3091140"/>
            <a:chExt cx="3793858" cy="460888"/>
          </a:xfrm>
        </p:grpSpPr>
        <p:sp>
          <p:nvSpPr>
            <p:cNvPr id="40" name="Text 37"/>
            <p:cNvSpPr/>
            <p:nvPr/>
          </p:nvSpPr>
          <p:spPr>
            <a:xfrm>
              <a:off x="5061606" y="3091140"/>
              <a:ext cx="555116" cy="129138"/>
            </a:xfrm>
            <a:prstGeom prst="rect">
              <a:avLst/>
            </a:prstGeom>
            <a:noFill/>
            <a:ln/>
          </p:spPr>
          <p:txBody>
            <a:bodyPr wrap="square" lIns="0" tIns="0" rIns="0" bIns="0" rtlCol="0" anchor="t">
              <a:spAutoFit/>
            </a:bodyPr>
            <a:lstStyle/>
            <a:p>
              <a:pPr marL="0" indent="0" algn="l">
                <a:lnSpc>
                  <a:spcPts val="900"/>
                </a:lnSpc>
                <a:buNone/>
              </a:pPr>
              <a:r>
                <a:rPr lang="en-US" sz="1200" b="1" dirty="0">
                  <a:solidFill>
                    <a:srgbClr val="1A1A1A"/>
                  </a:solidFill>
                </a:rPr>
                <a:t>Nonce</a:t>
              </a:r>
              <a:endParaRPr lang="en-US" sz="1200" dirty="0"/>
            </a:p>
          </p:txBody>
        </p:sp>
        <p:sp>
          <p:nvSpPr>
            <p:cNvPr id="41" name="Text 38"/>
            <p:cNvSpPr/>
            <p:nvPr/>
          </p:nvSpPr>
          <p:spPr>
            <a:xfrm>
              <a:off x="5061606" y="3262590"/>
              <a:ext cx="3450431" cy="289438"/>
            </a:xfrm>
            <a:prstGeom prst="rect">
              <a:avLst/>
            </a:prstGeom>
            <a:noFill/>
            <a:ln/>
          </p:spPr>
          <p:txBody>
            <a:bodyPr wrap="square" lIns="0" tIns="0" rIns="0" bIns="0" rtlCol="0" anchor="t">
              <a:spAutoFit/>
            </a:bodyPr>
            <a:lstStyle/>
            <a:p>
              <a:pPr marL="0" indent="0" algn="l">
                <a:lnSpc>
                  <a:spcPts val="1100"/>
                </a:lnSpc>
                <a:buNone/>
              </a:pPr>
              <a:r>
                <a:rPr lang="en-US" sz="1200" dirty="0">
                  <a:solidFill>
                    <a:srgbClr val="333333"/>
                  </a:solidFill>
                </a:rPr>
                <a:t>A number used in mining. Miners change this to find a hash that meets the difficulty target.</a:t>
              </a:r>
              <a:endParaRPr lang="en-US" sz="1200" dirty="0"/>
            </a:p>
          </p:txBody>
        </p:sp>
        <p:grpSp>
          <p:nvGrpSpPr>
            <p:cNvPr id="145" name="Grupo 144">
              <a:extLst>
                <a:ext uri="{FF2B5EF4-FFF2-40B4-BE49-F238E27FC236}">
                  <a16:creationId xmlns:a16="http://schemas.microsoft.com/office/drawing/2014/main" id="{C43B1CBA-6BC1-94C1-BDF5-2D0DE217106D}"/>
                </a:ext>
              </a:extLst>
            </p:cNvPr>
            <p:cNvGrpSpPr/>
            <p:nvPr/>
          </p:nvGrpSpPr>
          <p:grpSpPr>
            <a:xfrm>
              <a:off x="4718179" y="3092597"/>
              <a:ext cx="228600" cy="228600"/>
              <a:chOff x="4728878" y="1071339"/>
              <a:chExt cx="228600" cy="228600"/>
            </a:xfrm>
          </p:grpSpPr>
          <p:sp>
            <p:nvSpPr>
              <p:cNvPr id="146" name="Shape 23">
                <a:extLst>
                  <a:ext uri="{FF2B5EF4-FFF2-40B4-BE49-F238E27FC236}">
                    <a16:creationId xmlns:a16="http://schemas.microsoft.com/office/drawing/2014/main" id="{7462356D-0D18-D61E-0E35-14E8D455F717}"/>
                  </a:ext>
                </a:extLst>
              </p:cNvPr>
              <p:cNvSpPr/>
              <p:nvPr/>
            </p:nvSpPr>
            <p:spPr>
              <a:xfrm>
                <a:off x="4728878" y="1071339"/>
                <a:ext cx="228600" cy="228600"/>
              </a:xfrm>
              <a:prstGeom prst="ellipse">
                <a:avLst/>
              </a:prstGeom>
              <a:solidFill>
                <a:srgbClr val="0055FF"/>
              </a:solidFill>
              <a:ln/>
            </p:spPr>
            <p:txBody>
              <a:bodyPr/>
              <a:lstStyle/>
              <a:p>
                <a:endParaRPr lang="es-ES" sz="1200"/>
              </a:p>
            </p:txBody>
          </p:sp>
          <p:sp>
            <p:nvSpPr>
              <p:cNvPr id="147" name="Text 24">
                <a:extLst>
                  <a:ext uri="{FF2B5EF4-FFF2-40B4-BE49-F238E27FC236}">
                    <a16:creationId xmlns:a16="http://schemas.microsoft.com/office/drawing/2014/main" id="{B25F1428-394D-C345-DD9A-8265734E5221}"/>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solidFill>
                      <a:srgbClr val="FFFFFF"/>
                    </a:solidFill>
                  </a:rPr>
                  <a:t>4</a:t>
                </a:r>
                <a:endParaRPr lang="en-US" sz="1200" dirty="0"/>
              </a:p>
            </p:txBody>
          </p:sp>
        </p:grpSp>
      </p:grpSp>
      <p:grpSp>
        <p:nvGrpSpPr>
          <p:cNvPr id="157" name="Grupo 156">
            <a:extLst>
              <a:ext uri="{FF2B5EF4-FFF2-40B4-BE49-F238E27FC236}">
                <a16:creationId xmlns:a16="http://schemas.microsoft.com/office/drawing/2014/main" id="{B1E16B46-0ED3-6E45-D2FA-C59132C2BD68}"/>
              </a:ext>
            </a:extLst>
          </p:cNvPr>
          <p:cNvGrpSpPr/>
          <p:nvPr/>
        </p:nvGrpSpPr>
        <p:grpSpPr>
          <a:xfrm>
            <a:off x="4726580" y="3850195"/>
            <a:ext cx="3796886" cy="621495"/>
            <a:chOff x="4718179" y="3862334"/>
            <a:chExt cx="3796886" cy="621495"/>
          </a:xfrm>
        </p:grpSpPr>
        <p:sp>
          <p:nvSpPr>
            <p:cNvPr id="44" name="Text 41"/>
            <p:cNvSpPr/>
            <p:nvPr/>
          </p:nvSpPr>
          <p:spPr>
            <a:xfrm>
              <a:off x="5064634" y="3881877"/>
              <a:ext cx="1092326" cy="129138"/>
            </a:xfrm>
            <a:prstGeom prst="rect">
              <a:avLst/>
            </a:prstGeom>
            <a:noFill/>
            <a:ln/>
          </p:spPr>
          <p:txBody>
            <a:bodyPr wrap="square" lIns="0" tIns="0" rIns="0" bIns="0" rtlCol="0" anchor="t">
              <a:spAutoFit/>
            </a:bodyPr>
            <a:lstStyle/>
            <a:p>
              <a:pPr marL="0" indent="0" algn="l">
                <a:lnSpc>
                  <a:spcPts val="900"/>
                </a:lnSpc>
                <a:buNone/>
              </a:pPr>
              <a:r>
                <a:rPr lang="en-US" sz="1200" b="1" dirty="0">
                  <a:solidFill>
                    <a:srgbClr val="1A1A1A"/>
                  </a:solidFill>
                </a:rPr>
                <a:t>Block Identity</a:t>
              </a:r>
              <a:endParaRPr lang="en-US" sz="1200" dirty="0"/>
            </a:p>
          </p:txBody>
        </p:sp>
        <p:sp>
          <p:nvSpPr>
            <p:cNvPr id="45" name="Text 42"/>
            <p:cNvSpPr/>
            <p:nvPr/>
          </p:nvSpPr>
          <p:spPr>
            <a:xfrm>
              <a:off x="5064634" y="4053327"/>
              <a:ext cx="3450431" cy="430502"/>
            </a:xfrm>
            <a:prstGeom prst="rect">
              <a:avLst/>
            </a:prstGeom>
            <a:noFill/>
            <a:ln/>
          </p:spPr>
          <p:txBody>
            <a:bodyPr wrap="square" lIns="0" tIns="0" rIns="0" bIns="0" rtlCol="0" anchor="t">
              <a:spAutoFit/>
            </a:bodyPr>
            <a:lstStyle/>
            <a:p>
              <a:pPr marL="0" indent="0" algn="l">
                <a:lnSpc>
                  <a:spcPts val="1100"/>
                </a:lnSpc>
                <a:buNone/>
              </a:pPr>
              <a:r>
                <a:rPr lang="en-US" sz="1200" dirty="0">
                  <a:solidFill>
                    <a:srgbClr val="333333"/>
                  </a:solidFill>
                </a:rPr>
                <a:t>The hash of the header. Change any single bit of data, and the entire hash changes, making tampering instantly detectable.</a:t>
              </a:r>
              <a:endParaRPr lang="en-US" sz="1200" dirty="0"/>
            </a:p>
          </p:txBody>
        </p:sp>
        <p:grpSp>
          <p:nvGrpSpPr>
            <p:cNvPr id="148" name="Grupo 147">
              <a:extLst>
                <a:ext uri="{FF2B5EF4-FFF2-40B4-BE49-F238E27FC236}">
                  <a16:creationId xmlns:a16="http://schemas.microsoft.com/office/drawing/2014/main" id="{E81EA406-6AFA-5AF8-AB08-6132811FCD83}"/>
                </a:ext>
              </a:extLst>
            </p:cNvPr>
            <p:cNvGrpSpPr/>
            <p:nvPr/>
          </p:nvGrpSpPr>
          <p:grpSpPr>
            <a:xfrm>
              <a:off x="4718179" y="3862334"/>
              <a:ext cx="228600" cy="228600"/>
              <a:chOff x="4728878" y="1071339"/>
              <a:chExt cx="228600" cy="228600"/>
            </a:xfrm>
          </p:grpSpPr>
          <p:sp>
            <p:nvSpPr>
              <p:cNvPr id="149" name="Shape 23">
                <a:extLst>
                  <a:ext uri="{FF2B5EF4-FFF2-40B4-BE49-F238E27FC236}">
                    <a16:creationId xmlns:a16="http://schemas.microsoft.com/office/drawing/2014/main" id="{54F645E4-D8A1-B4D1-EEE5-FE14547C7054}"/>
                  </a:ext>
                </a:extLst>
              </p:cNvPr>
              <p:cNvSpPr/>
              <p:nvPr/>
            </p:nvSpPr>
            <p:spPr>
              <a:xfrm>
                <a:off x="4728878" y="1071339"/>
                <a:ext cx="228600" cy="228600"/>
              </a:xfrm>
              <a:prstGeom prst="ellipse">
                <a:avLst/>
              </a:prstGeom>
              <a:solidFill>
                <a:srgbClr val="0055FF"/>
              </a:solidFill>
              <a:ln/>
            </p:spPr>
            <p:txBody>
              <a:bodyPr/>
              <a:lstStyle/>
              <a:p>
                <a:endParaRPr lang="es-ES" sz="1200"/>
              </a:p>
            </p:txBody>
          </p:sp>
          <p:sp>
            <p:nvSpPr>
              <p:cNvPr id="150" name="Text 24">
                <a:extLst>
                  <a:ext uri="{FF2B5EF4-FFF2-40B4-BE49-F238E27FC236}">
                    <a16:creationId xmlns:a16="http://schemas.microsoft.com/office/drawing/2014/main" id="{E6D448AA-C5E2-55CB-8872-CCCA7B0334EF}"/>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solidFill>
                      <a:srgbClr val="FFFFFF"/>
                    </a:solidFill>
                  </a:rPr>
                  <a:t>5</a:t>
                </a:r>
                <a:endParaRPr lang="en-US" sz="1200" dirty="0"/>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1"/>
          <p:cNvSpPr/>
          <p:nvPr/>
        </p:nvSpPr>
        <p:spPr>
          <a:xfrm>
            <a:off x="471055" y="994281"/>
            <a:ext cx="2205615" cy="184409"/>
          </a:xfrm>
          <a:prstGeom prst="rect">
            <a:avLst/>
          </a:prstGeom>
          <a:noFill/>
          <a:ln/>
        </p:spPr>
        <p:txBody>
          <a:bodyPr wrap="square" lIns="0" tIns="0" rIns="0" bIns="0" rtlCol="0" anchor="t">
            <a:spAutoFit/>
          </a:bodyPr>
          <a:lstStyle/>
          <a:p>
            <a:pPr marL="0" indent="0" algn="l">
              <a:lnSpc>
                <a:spcPts val="1400"/>
              </a:lnSpc>
              <a:buNone/>
            </a:pPr>
            <a:r>
              <a:rPr lang="en-US" sz="1400" b="1" dirty="0">
                <a:solidFill>
                  <a:srgbClr val="0055FF"/>
                </a:solidFill>
              </a:rPr>
              <a:t>Key Properties of Hashing</a:t>
            </a:r>
            <a:endParaRPr lang="en-US" sz="1400" dirty="0"/>
          </a:p>
        </p:txBody>
      </p:sp>
      <p:sp>
        <p:nvSpPr>
          <p:cNvPr id="30" name="Marcador de número de diapositiva 29">
            <a:extLst>
              <a:ext uri="{FF2B5EF4-FFF2-40B4-BE49-F238E27FC236}">
                <a16:creationId xmlns:a16="http://schemas.microsoft.com/office/drawing/2014/main" id="{C4F6E038-DB2F-781A-52AC-45255DB3C8E1}"/>
              </a:ext>
            </a:extLst>
          </p:cNvPr>
          <p:cNvSpPr>
            <a:spLocks noGrp="1"/>
          </p:cNvSpPr>
          <p:nvPr>
            <p:ph type="sldNum" sz="quarter" idx="12"/>
          </p:nvPr>
        </p:nvSpPr>
        <p:spPr/>
        <p:txBody>
          <a:bodyPr/>
          <a:lstStyle/>
          <a:p>
            <a:fld id="{621D377E-C6E5-404B-8AA2-3999D49F21B5}" type="slidenum">
              <a:rPr lang="es-ES" smtClean="0"/>
              <a:t>8</a:t>
            </a:fld>
            <a:endParaRPr lang="es-ES"/>
          </a:p>
        </p:txBody>
      </p:sp>
      <p:sp>
        <p:nvSpPr>
          <p:cNvPr id="31" name="Text 0">
            <a:extLst>
              <a:ext uri="{FF2B5EF4-FFF2-40B4-BE49-F238E27FC236}">
                <a16:creationId xmlns:a16="http://schemas.microsoft.com/office/drawing/2014/main" id="{EAAC2C8A-8501-FC45-806A-89A7B3D30206}"/>
              </a:ext>
            </a:extLst>
          </p:cNvPr>
          <p:cNvSpPr/>
          <p:nvPr/>
        </p:nvSpPr>
        <p:spPr>
          <a:xfrm>
            <a:off x="571498" y="424045"/>
            <a:ext cx="7812407" cy="394275"/>
          </a:xfrm>
          <a:prstGeom prst="rect">
            <a:avLst/>
          </a:prstGeom>
          <a:noFill/>
          <a:ln/>
        </p:spPr>
        <p:txBody>
          <a:bodyPr wrap="square" lIns="0" tIns="0" rIns="0" bIns="0" rtlCol="0" anchor="t">
            <a:spAutoFit/>
          </a:bodyPr>
          <a:lstStyle/>
          <a:p>
            <a:pPr>
              <a:lnSpc>
                <a:spcPts val="3200"/>
              </a:lnSpc>
            </a:pPr>
            <a:r>
              <a:rPr lang="en-US" sz="2436" b="1" dirty="0">
                <a:solidFill>
                  <a:srgbClr val="1A1A1A"/>
                </a:solidFill>
              </a:rPr>
              <a:t>Cryptographic Hashing: The Foundation of Security</a:t>
            </a:r>
            <a:endParaRPr lang="en-US" sz="2436" dirty="0"/>
          </a:p>
        </p:txBody>
      </p:sp>
      <p:grpSp>
        <p:nvGrpSpPr>
          <p:cNvPr id="38" name="Grupo 37">
            <a:extLst>
              <a:ext uri="{FF2B5EF4-FFF2-40B4-BE49-F238E27FC236}">
                <a16:creationId xmlns:a16="http://schemas.microsoft.com/office/drawing/2014/main" id="{3C0C2C15-92DA-DFEF-BA19-B4196A026935}"/>
              </a:ext>
            </a:extLst>
          </p:cNvPr>
          <p:cNvGrpSpPr/>
          <p:nvPr/>
        </p:nvGrpSpPr>
        <p:grpSpPr>
          <a:xfrm>
            <a:off x="370612" y="1256106"/>
            <a:ext cx="8402775" cy="1061212"/>
            <a:chOff x="571499" y="1104332"/>
            <a:chExt cx="7912852" cy="1057718"/>
          </a:xfrm>
        </p:grpSpPr>
        <p:sp>
          <p:nvSpPr>
            <p:cNvPr id="39" name="Text 1">
              <a:extLst>
                <a:ext uri="{FF2B5EF4-FFF2-40B4-BE49-F238E27FC236}">
                  <a16:creationId xmlns:a16="http://schemas.microsoft.com/office/drawing/2014/main" id="{FD69625C-70CA-9DE2-FC6E-BB36E1EE63C6}"/>
                </a:ext>
              </a:extLst>
            </p:cNvPr>
            <p:cNvSpPr/>
            <p:nvPr/>
          </p:nvSpPr>
          <p:spPr>
            <a:xfrm>
              <a:off x="767784" y="1104332"/>
              <a:ext cx="7716567" cy="142062"/>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Deterministic:</a:t>
              </a:r>
              <a:r>
                <a:rPr lang="en-US" sz="1200" dirty="0">
                  <a:solidFill>
                    <a:srgbClr val="1A1A1A"/>
                  </a:solidFill>
                </a:rPr>
                <a:t> Same input always produces same output. Hash the same data twice, get identical results.</a:t>
              </a:r>
            </a:p>
          </p:txBody>
        </p:sp>
        <p:sp>
          <p:nvSpPr>
            <p:cNvPr id="40" name="Text 2">
              <a:extLst>
                <a:ext uri="{FF2B5EF4-FFF2-40B4-BE49-F238E27FC236}">
                  <a16:creationId xmlns:a16="http://schemas.microsoft.com/office/drawing/2014/main" id="{26934E03-5FB3-1805-02EE-B9F9C073B130}"/>
                </a:ext>
              </a:extLst>
            </p:cNvPr>
            <p:cNvSpPr/>
            <p:nvPr/>
          </p:nvSpPr>
          <p:spPr>
            <a:xfrm>
              <a:off x="767785" y="1394384"/>
              <a:ext cx="7716566" cy="284125"/>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Avalanche Effect:</a:t>
              </a:r>
              <a:r>
                <a:rPr lang="en-US" sz="1200" dirty="0">
                  <a:solidFill>
                    <a:srgbClr val="1A1A1A"/>
                  </a:solidFill>
                </a:rPr>
                <a:t> Tiny change in input produces completely different output. Change one bit, and the entire hash changes.</a:t>
              </a:r>
            </a:p>
          </p:txBody>
        </p:sp>
        <p:sp>
          <p:nvSpPr>
            <p:cNvPr id="41" name="Text 3">
              <a:extLst>
                <a:ext uri="{FF2B5EF4-FFF2-40B4-BE49-F238E27FC236}">
                  <a16:creationId xmlns:a16="http://schemas.microsoft.com/office/drawing/2014/main" id="{6DB3D606-ED45-C8CF-816E-77B0DE4D8331}"/>
                </a:ext>
              </a:extLst>
            </p:cNvPr>
            <p:cNvSpPr/>
            <p:nvPr/>
          </p:nvSpPr>
          <p:spPr>
            <a:xfrm>
              <a:off x="767785" y="1688449"/>
              <a:ext cx="7716566"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One-Way Function:</a:t>
              </a:r>
              <a:r>
                <a:rPr lang="en-US" sz="1200" dirty="0">
                  <a:solidFill>
                    <a:srgbClr val="1A1A1A"/>
                  </a:solidFill>
                </a:rPr>
                <a:t> Cannot reverse the hash to get the original input. You can only verify by hashing again.</a:t>
              </a:r>
            </a:p>
          </p:txBody>
        </p:sp>
        <p:sp>
          <p:nvSpPr>
            <p:cNvPr id="42" name="Text 4">
              <a:extLst>
                <a:ext uri="{FF2B5EF4-FFF2-40B4-BE49-F238E27FC236}">
                  <a16:creationId xmlns:a16="http://schemas.microsoft.com/office/drawing/2014/main" id="{8DC78DC6-6EFE-F0F2-1F8A-C66D87E2A69C}"/>
                </a:ext>
              </a:extLst>
            </p:cNvPr>
            <p:cNvSpPr/>
            <p:nvPr/>
          </p:nvSpPr>
          <p:spPr>
            <a:xfrm>
              <a:off x="767785" y="1982514"/>
              <a:ext cx="7716566"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Collision-Resistant:</a:t>
              </a:r>
              <a:r>
                <a:rPr lang="en-US" sz="1200" dirty="0">
                  <a:solidFill>
                    <a:srgbClr val="1A1A1A"/>
                  </a:solidFill>
                </a:rPr>
                <a:t> Virtually impossible to find two different inputs that produce the same hash.</a:t>
              </a:r>
            </a:p>
          </p:txBody>
        </p:sp>
        <p:sp>
          <p:nvSpPr>
            <p:cNvPr id="43" name="Shape 17">
              <a:extLst>
                <a:ext uri="{FF2B5EF4-FFF2-40B4-BE49-F238E27FC236}">
                  <a16:creationId xmlns:a16="http://schemas.microsoft.com/office/drawing/2014/main" id="{AAE06770-58AD-E9BF-2FB7-F3C3E695914E}"/>
                </a:ext>
              </a:extLst>
            </p:cNvPr>
            <p:cNvSpPr/>
            <p:nvPr/>
          </p:nvSpPr>
          <p:spPr>
            <a:xfrm>
              <a:off x="571499" y="1104332"/>
              <a:ext cx="45719" cy="1057718"/>
            </a:xfrm>
            <a:prstGeom prst="rect">
              <a:avLst/>
            </a:prstGeom>
            <a:solidFill>
              <a:srgbClr val="0055FF"/>
            </a:solidFill>
            <a:ln/>
          </p:spPr>
          <p:txBody>
            <a:bodyPr/>
            <a:lstStyle/>
            <a:p>
              <a:endParaRPr lang="es-ES"/>
            </a:p>
          </p:txBody>
        </p:sp>
      </p:grpSp>
      <p:sp>
        <p:nvSpPr>
          <p:cNvPr id="44" name="Text 3">
            <a:extLst>
              <a:ext uri="{FF2B5EF4-FFF2-40B4-BE49-F238E27FC236}">
                <a16:creationId xmlns:a16="http://schemas.microsoft.com/office/drawing/2014/main" id="{874D156E-72CD-C868-0446-22BC935AE66B}"/>
              </a:ext>
            </a:extLst>
          </p:cNvPr>
          <p:cNvSpPr/>
          <p:nvPr/>
        </p:nvSpPr>
        <p:spPr>
          <a:xfrm>
            <a:off x="954751" y="2574531"/>
            <a:ext cx="3757842" cy="179536"/>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Practical Example SHA-256 bits:</a:t>
            </a:r>
            <a:r>
              <a:rPr lang="en-US" sz="1200" dirty="0">
                <a:solidFill>
                  <a:srgbClr val="1A1A1A"/>
                </a:solidFill>
              </a:rPr>
              <a:t> </a:t>
            </a:r>
          </a:p>
        </p:txBody>
      </p:sp>
      <p:sp>
        <p:nvSpPr>
          <p:cNvPr id="45" name="Rectángulo 44">
            <a:extLst>
              <a:ext uri="{FF2B5EF4-FFF2-40B4-BE49-F238E27FC236}">
                <a16:creationId xmlns:a16="http://schemas.microsoft.com/office/drawing/2014/main" id="{85FF98C6-8387-EA0F-C94E-E16736B8C104}"/>
              </a:ext>
            </a:extLst>
          </p:cNvPr>
          <p:cNvSpPr/>
          <p:nvPr/>
        </p:nvSpPr>
        <p:spPr>
          <a:xfrm>
            <a:off x="877167" y="3109690"/>
            <a:ext cx="1354267" cy="573362"/>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Alvaro Puebla is a student</a:t>
            </a:r>
            <a:r>
              <a:rPr lang="en-US" sz="1200" b="1" dirty="0">
                <a:solidFill>
                  <a:schemeClr val="tx1"/>
                </a:solidFill>
              </a:rPr>
              <a:t>.</a:t>
            </a:r>
            <a:endParaRPr lang="es-ES" sz="1200" dirty="0">
              <a:solidFill>
                <a:schemeClr val="tx1"/>
              </a:solidFill>
            </a:endParaRPr>
          </a:p>
        </p:txBody>
      </p:sp>
      <p:sp>
        <p:nvSpPr>
          <p:cNvPr id="47" name="CuadroTexto 46">
            <a:extLst>
              <a:ext uri="{FF2B5EF4-FFF2-40B4-BE49-F238E27FC236}">
                <a16:creationId xmlns:a16="http://schemas.microsoft.com/office/drawing/2014/main" id="{A40D085E-A71C-4A6F-669C-7AAAA2A7D3FA}"/>
              </a:ext>
            </a:extLst>
          </p:cNvPr>
          <p:cNvSpPr txBox="1"/>
          <p:nvPr/>
        </p:nvSpPr>
        <p:spPr>
          <a:xfrm>
            <a:off x="2231434" y="3286006"/>
            <a:ext cx="320081" cy="290913"/>
          </a:xfrm>
          <a:prstGeom prst="rect">
            <a:avLst/>
          </a:prstGeom>
          <a:noFill/>
        </p:spPr>
        <p:txBody>
          <a:bodyPr wrap="square">
            <a:spAutoFit/>
          </a:bodyPr>
          <a:lstStyle/>
          <a:p>
            <a:pPr marL="0" indent="0" algn="l">
              <a:lnSpc>
                <a:spcPts val="1400"/>
              </a:lnSpc>
              <a:buNone/>
            </a:pPr>
            <a:r>
              <a:rPr lang="en-US" sz="1800" dirty="0">
                <a:solidFill>
                  <a:srgbClr val="0055FF"/>
                </a:solidFill>
              </a:rPr>
              <a:t>→</a:t>
            </a:r>
            <a:endParaRPr lang="en-US" sz="1800" dirty="0"/>
          </a:p>
        </p:txBody>
      </p:sp>
      <p:grpSp>
        <p:nvGrpSpPr>
          <p:cNvPr id="2054" name="Grupo 2053">
            <a:extLst>
              <a:ext uri="{FF2B5EF4-FFF2-40B4-BE49-F238E27FC236}">
                <a16:creationId xmlns:a16="http://schemas.microsoft.com/office/drawing/2014/main" id="{ED6530FC-217B-677D-FE57-C1A6023460A3}"/>
              </a:ext>
            </a:extLst>
          </p:cNvPr>
          <p:cNvGrpSpPr/>
          <p:nvPr/>
        </p:nvGrpSpPr>
        <p:grpSpPr>
          <a:xfrm>
            <a:off x="2427333" y="2619353"/>
            <a:ext cx="1641853" cy="1466065"/>
            <a:chOff x="2427333" y="2619353"/>
            <a:chExt cx="1641853" cy="1466065"/>
          </a:xfrm>
        </p:grpSpPr>
        <p:pic>
          <p:nvPicPr>
            <p:cNvPr id="49" name="Gráfico 48" descr="Cmd (terminal) con relleno sólido">
              <a:extLst>
                <a:ext uri="{FF2B5EF4-FFF2-40B4-BE49-F238E27FC236}">
                  <a16:creationId xmlns:a16="http://schemas.microsoft.com/office/drawing/2014/main" id="{1F957459-78BE-067B-F7A4-69D61FBAE4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27333" y="2619353"/>
              <a:ext cx="1641853" cy="1466065"/>
            </a:xfrm>
            <a:prstGeom prst="rect">
              <a:avLst/>
            </a:prstGeom>
          </p:spPr>
        </p:pic>
        <p:sp>
          <p:nvSpPr>
            <p:cNvPr id="51" name="CuadroTexto 50">
              <a:extLst>
                <a:ext uri="{FF2B5EF4-FFF2-40B4-BE49-F238E27FC236}">
                  <a16:creationId xmlns:a16="http://schemas.microsoft.com/office/drawing/2014/main" id="{CC8CA751-2919-CC1B-1866-C17093A14E8A}"/>
                </a:ext>
              </a:extLst>
            </p:cNvPr>
            <p:cNvSpPr txBox="1"/>
            <p:nvPr/>
          </p:nvSpPr>
          <p:spPr>
            <a:xfrm>
              <a:off x="2978440" y="3242482"/>
              <a:ext cx="927342" cy="307777"/>
            </a:xfrm>
            <a:prstGeom prst="rect">
              <a:avLst/>
            </a:prstGeom>
            <a:noFill/>
          </p:spPr>
          <p:txBody>
            <a:bodyPr wrap="square">
              <a:spAutoFit/>
            </a:bodyPr>
            <a:lstStyle/>
            <a:p>
              <a:r>
                <a:rPr lang="es-ES" sz="1400" b="1" dirty="0"/>
                <a:t>SHA-256</a:t>
              </a:r>
            </a:p>
          </p:txBody>
        </p:sp>
      </p:grpSp>
      <p:sp>
        <p:nvSpPr>
          <p:cNvPr id="52" name="CuadroTexto 51">
            <a:extLst>
              <a:ext uri="{FF2B5EF4-FFF2-40B4-BE49-F238E27FC236}">
                <a16:creationId xmlns:a16="http://schemas.microsoft.com/office/drawing/2014/main" id="{042B9DDC-AF47-6585-6B2E-E93D92F4A2E9}"/>
              </a:ext>
            </a:extLst>
          </p:cNvPr>
          <p:cNvSpPr txBox="1"/>
          <p:nvPr/>
        </p:nvSpPr>
        <p:spPr>
          <a:xfrm>
            <a:off x="3928254" y="3286006"/>
            <a:ext cx="320081" cy="290913"/>
          </a:xfrm>
          <a:prstGeom prst="rect">
            <a:avLst/>
          </a:prstGeom>
          <a:noFill/>
        </p:spPr>
        <p:txBody>
          <a:bodyPr wrap="square">
            <a:spAutoFit/>
          </a:bodyPr>
          <a:lstStyle/>
          <a:p>
            <a:pPr marL="0" indent="0" algn="l">
              <a:lnSpc>
                <a:spcPts val="1400"/>
              </a:lnSpc>
              <a:buNone/>
            </a:pPr>
            <a:r>
              <a:rPr lang="en-US" sz="1800" dirty="0">
                <a:solidFill>
                  <a:srgbClr val="0055FF"/>
                </a:solidFill>
              </a:rPr>
              <a:t>→</a:t>
            </a:r>
            <a:endParaRPr lang="en-US" sz="1800" dirty="0"/>
          </a:p>
        </p:txBody>
      </p:sp>
      <p:sp>
        <p:nvSpPr>
          <p:cNvPr id="55" name="Rectángulo 54">
            <a:extLst>
              <a:ext uri="{FF2B5EF4-FFF2-40B4-BE49-F238E27FC236}">
                <a16:creationId xmlns:a16="http://schemas.microsoft.com/office/drawing/2014/main" id="{3D2B90D6-C1E2-CE8A-9224-69D31527A018}"/>
              </a:ext>
            </a:extLst>
          </p:cNvPr>
          <p:cNvSpPr/>
          <p:nvPr/>
        </p:nvSpPr>
        <p:spPr>
          <a:xfrm>
            <a:off x="4310437" y="3085486"/>
            <a:ext cx="2631209" cy="681582"/>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00"/>
              </a:lnSpc>
            </a:pPr>
            <a:r>
              <a:rPr lang="en-US" sz="1200" dirty="0">
                <a:solidFill>
                  <a:srgbClr val="1A1A1A"/>
                </a:solidFill>
              </a:rPr>
              <a:t>8B 0B 69 58 F7 BF 39 C5 47 38 B3 61</a:t>
            </a:r>
          </a:p>
          <a:p>
            <a:pPr>
              <a:lnSpc>
                <a:spcPts val="1400"/>
              </a:lnSpc>
            </a:pPr>
            <a:r>
              <a:rPr lang="en-US" sz="1200" dirty="0">
                <a:solidFill>
                  <a:srgbClr val="1A1A1A"/>
                </a:solidFill>
              </a:rPr>
              <a:t>19 EF F2 67 F7 3D A0 6F 9D C6 E8 26</a:t>
            </a:r>
          </a:p>
          <a:p>
            <a:pPr>
              <a:lnSpc>
                <a:spcPts val="1400"/>
              </a:lnSpc>
            </a:pPr>
            <a:r>
              <a:rPr lang="en-US" sz="1200" dirty="0">
                <a:solidFill>
                  <a:srgbClr val="1A1A1A"/>
                </a:solidFill>
              </a:rPr>
              <a:t>32 90 03 B9 63 EB 70 F8</a:t>
            </a:r>
          </a:p>
        </p:txBody>
      </p:sp>
      <p:sp>
        <p:nvSpPr>
          <p:cNvPr id="61" name="Rectángulo 60">
            <a:extLst>
              <a:ext uri="{FF2B5EF4-FFF2-40B4-BE49-F238E27FC236}">
                <a16:creationId xmlns:a16="http://schemas.microsoft.com/office/drawing/2014/main" id="{2C1199B1-72D9-961F-B258-D17885E54D48}"/>
              </a:ext>
            </a:extLst>
          </p:cNvPr>
          <p:cNvSpPr/>
          <p:nvPr/>
        </p:nvSpPr>
        <p:spPr>
          <a:xfrm>
            <a:off x="877167" y="4123923"/>
            <a:ext cx="1354267" cy="573362"/>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Alvaro Puebla is a student</a:t>
            </a:r>
            <a:endParaRPr lang="es-ES" sz="1200" dirty="0">
              <a:solidFill>
                <a:schemeClr val="tx1"/>
              </a:solidFill>
            </a:endParaRPr>
          </a:p>
        </p:txBody>
      </p:sp>
      <p:sp>
        <p:nvSpPr>
          <p:cNvPr id="62" name="CuadroTexto 61">
            <a:extLst>
              <a:ext uri="{FF2B5EF4-FFF2-40B4-BE49-F238E27FC236}">
                <a16:creationId xmlns:a16="http://schemas.microsoft.com/office/drawing/2014/main" id="{B09BCB00-346B-A606-B62A-7C5CBCF1637A}"/>
              </a:ext>
            </a:extLst>
          </p:cNvPr>
          <p:cNvSpPr txBox="1"/>
          <p:nvPr/>
        </p:nvSpPr>
        <p:spPr>
          <a:xfrm>
            <a:off x="2231434" y="4300239"/>
            <a:ext cx="320081" cy="290913"/>
          </a:xfrm>
          <a:prstGeom prst="rect">
            <a:avLst/>
          </a:prstGeom>
          <a:noFill/>
        </p:spPr>
        <p:txBody>
          <a:bodyPr wrap="square">
            <a:spAutoFit/>
          </a:bodyPr>
          <a:lstStyle/>
          <a:p>
            <a:pPr marL="0" indent="0" algn="l">
              <a:lnSpc>
                <a:spcPts val="1400"/>
              </a:lnSpc>
              <a:buNone/>
            </a:pPr>
            <a:r>
              <a:rPr lang="en-US" sz="1800" dirty="0">
                <a:solidFill>
                  <a:srgbClr val="0055FF"/>
                </a:solidFill>
              </a:rPr>
              <a:t>→</a:t>
            </a:r>
            <a:endParaRPr lang="en-US" sz="1800" dirty="0"/>
          </a:p>
        </p:txBody>
      </p:sp>
      <p:grpSp>
        <p:nvGrpSpPr>
          <p:cNvPr id="2055" name="Grupo 2054">
            <a:extLst>
              <a:ext uri="{FF2B5EF4-FFF2-40B4-BE49-F238E27FC236}">
                <a16:creationId xmlns:a16="http://schemas.microsoft.com/office/drawing/2014/main" id="{02DD1EC6-14B2-C1ED-3F76-C1254D01641C}"/>
              </a:ext>
            </a:extLst>
          </p:cNvPr>
          <p:cNvGrpSpPr/>
          <p:nvPr/>
        </p:nvGrpSpPr>
        <p:grpSpPr>
          <a:xfrm>
            <a:off x="2427333" y="3633587"/>
            <a:ext cx="1641853" cy="1276790"/>
            <a:chOff x="2427333" y="3633587"/>
            <a:chExt cx="1641853" cy="1276790"/>
          </a:xfrm>
        </p:grpSpPr>
        <p:pic>
          <p:nvPicPr>
            <p:cNvPr id="63" name="Gráfico 62" descr="Cmd (terminal) con relleno sólido">
              <a:extLst>
                <a:ext uri="{FF2B5EF4-FFF2-40B4-BE49-F238E27FC236}">
                  <a16:creationId xmlns:a16="http://schemas.microsoft.com/office/drawing/2014/main" id="{EA4E7641-8AA7-2A2D-A677-23A17338884F}"/>
                </a:ext>
              </a:extLst>
            </p:cNvPr>
            <p:cNvPicPr>
              <a:picLocks noChangeAspect="1"/>
            </p:cNvPicPr>
            <p:nvPr/>
          </p:nvPicPr>
          <p:blipFill>
            <a:blip r:embed="rId3">
              <a:extLst>
                <a:ext uri="{96DAC541-7B7A-43D3-8B79-37D633B846F1}">
                  <asvg:svgBlip xmlns:asvg="http://schemas.microsoft.com/office/drawing/2016/SVG/main" r:embed="rId4"/>
                </a:ext>
              </a:extLst>
            </a:blip>
            <a:srcRect b="12910"/>
            <a:stretch>
              <a:fillRect/>
            </a:stretch>
          </p:blipFill>
          <p:spPr>
            <a:xfrm>
              <a:off x="2427333" y="3633587"/>
              <a:ext cx="1641853" cy="1276790"/>
            </a:xfrm>
            <a:prstGeom prst="rect">
              <a:avLst/>
            </a:prstGeom>
          </p:spPr>
        </p:pic>
        <p:sp>
          <p:nvSpPr>
            <p:cNvPr id="2048" name="CuadroTexto 2047">
              <a:extLst>
                <a:ext uri="{FF2B5EF4-FFF2-40B4-BE49-F238E27FC236}">
                  <a16:creationId xmlns:a16="http://schemas.microsoft.com/office/drawing/2014/main" id="{D46D4154-1D90-0015-6C2A-363676C4324D}"/>
                </a:ext>
              </a:extLst>
            </p:cNvPr>
            <p:cNvSpPr txBox="1"/>
            <p:nvPr/>
          </p:nvSpPr>
          <p:spPr>
            <a:xfrm>
              <a:off x="2978440" y="4256715"/>
              <a:ext cx="927342" cy="307777"/>
            </a:xfrm>
            <a:prstGeom prst="rect">
              <a:avLst/>
            </a:prstGeom>
            <a:noFill/>
          </p:spPr>
          <p:txBody>
            <a:bodyPr wrap="square">
              <a:spAutoFit/>
            </a:bodyPr>
            <a:lstStyle/>
            <a:p>
              <a:r>
                <a:rPr lang="es-ES" sz="1400" b="1" dirty="0"/>
                <a:t>SHA-256</a:t>
              </a:r>
            </a:p>
          </p:txBody>
        </p:sp>
      </p:grpSp>
      <p:sp>
        <p:nvSpPr>
          <p:cNvPr id="2049" name="CuadroTexto 2048">
            <a:extLst>
              <a:ext uri="{FF2B5EF4-FFF2-40B4-BE49-F238E27FC236}">
                <a16:creationId xmlns:a16="http://schemas.microsoft.com/office/drawing/2014/main" id="{6AE97A04-7A9A-DBFF-CA1C-3A65B94EDD3C}"/>
              </a:ext>
            </a:extLst>
          </p:cNvPr>
          <p:cNvSpPr txBox="1"/>
          <p:nvPr/>
        </p:nvSpPr>
        <p:spPr>
          <a:xfrm>
            <a:off x="3928254" y="4300239"/>
            <a:ext cx="320081" cy="290913"/>
          </a:xfrm>
          <a:prstGeom prst="rect">
            <a:avLst/>
          </a:prstGeom>
          <a:noFill/>
        </p:spPr>
        <p:txBody>
          <a:bodyPr wrap="square">
            <a:spAutoFit/>
          </a:bodyPr>
          <a:lstStyle/>
          <a:p>
            <a:pPr marL="0" indent="0" algn="l">
              <a:lnSpc>
                <a:spcPts val="1400"/>
              </a:lnSpc>
              <a:buNone/>
            </a:pPr>
            <a:r>
              <a:rPr lang="en-US" sz="1800" dirty="0">
                <a:solidFill>
                  <a:srgbClr val="0055FF"/>
                </a:solidFill>
              </a:rPr>
              <a:t>→</a:t>
            </a:r>
            <a:endParaRPr lang="en-US" sz="1800" dirty="0"/>
          </a:p>
        </p:txBody>
      </p:sp>
      <p:sp>
        <p:nvSpPr>
          <p:cNvPr id="2051" name="Rectángulo 2050">
            <a:extLst>
              <a:ext uri="{FF2B5EF4-FFF2-40B4-BE49-F238E27FC236}">
                <a16:creationId xmlns:a16="http://schemas.microsoft.com/office/drawing/2014/main" id="{FB50893E-72A6-1C4B-7F2F-D35AF2C66456}"/>
              </a:ext>
            </a:extLst>
          </p:cNvPr>
          <p:cNvSpPr/>
          <p:nvPr/>
        </p:nvSpPr>
        <p:spPr>
          <a:xfrm>
            <a:off x="4310437" y="4099719"/>
            <a:ext cx="2631209" cy="681582"/>
          </a:xfrm>
          <a:prstGeom prst="rect">
            <a:avLst/>
          </a:prstGeom>
          <a:solidFill>
            <a:srgbClr val="69B4C8"/>
          </a:solidFill>
          <a:ln>
            <a:solidFill>
              <a:srgbClr val="265F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00"/>
              </a:lnSpc>
            </a:pPr>
            <a:r>
              <a:rPr lang="pt-BR" sz="1200" dirty="0">
                <a:solidFill>
                  <a:srgbClr val="1A1A1A"/>
                </a:solidFill>
              </a:rPr>
              <a:t>B6 A8 B3 78 EB 57 D5 5A 34 66 B6 E2</a:t>
            </a:r>
          </a:p>
          <a:p>
            <a:pPr>
              <a:lnSpc>
                <a:spcPts val="1400"/>
              </a:lnSpc>
            </a:pPr>
            <a:r>
              <a:rPr lang="pt-BR" sz="1200" dirty="0">
                <a:solidFill>
                  <a:srgbClr val="1A1A1A"/>
                </a:solidFill>
              </a:rPr>
              <a:t>E6 FE 1B 5B 52 FB 65 40 88 8C 36 68</a:t>
            </a:r>
          </a:p>
          <a:p>
            <a:pPr>
              <a:lnSpc>
                <a:spcPts val="1400"/>
              </a:lnSpc>
            </a:pPr>
            <a:r>
              <a:rPr lang="pt-BR" sz="1200" dirty="0">
                <a:solidFill>
                  <a:srgbClr val="1A1A1A"/>
                </a:solidFill>
              </a:rPr>
              <a:t>49 D5 EA 99 B5 BD 79 64</a:t>
            </a:r>
            <a:endParaRPr lang="en-US" sz="1200" dirty="0">
              <a:solidFill>
                <a:srgbClr val="1A1A1A"/>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45"/>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47"/>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0"/>
                                          </p:stCondLst>
                                        </p:cTn>
                                        <p:tgtEl>
                                          <p:spTgt spid="2054"/>
                                        </p:tgtEl>
                                        <p:attrNameLst>
                                          <p:attrName>style.visibility</p:attrName>
                                        </p:attrNameLst>
                                      </p:cBhvr>
                                      <p:to>
                                        <p:strVal val="visible"/>
                                      </p:to>
                                    </p:set>
                                  </p:childTnLst>
                                </p:cTn>
                              </p:par>
                            </p:childTnLst>
                          </p:cTn>
                        </p:par>
                        <p:par>
                          <p:cTn id="16" fill="hold">
                            <p:stCondLst>
                              <p:cond delay="1000"/>
                            </p:stCondLst>
                            <p:childTnLst>
                              <p:par>
                                <p:cTn id="17" presetID="1" presetClass="entr" presetSubtype="0" fill="hold" grpId="0" nodeType="afterEffect">
                                  <p:stCondLst>
                                    <p:cond delay="500"/>
                                  </p:stCondLst>
                                  <p:childTnLst>
                                    <p:set>
                                      <p:cBhvr>
                                        <p:cTn id="18" dur="1" fill="hold">
                                          <p:stCondLst>
                                            <p:cond delay="0"/>
                                          </p:stCondLst>
                                        </p:cTn>
                                        <p:tgtEl>
                                          <p:spTgt spid="52"/>
                                        </p:tgtEl>
                                        <p:attrNameLst>
                                          <p:attrName>style.visibility</p:attrName>
                                        </p:attrNameLst>
                                      </p:cBhvr>
                                      <p:to>
                                        <p:strVal val="visible"/>
                                      </p:to>
                                    </p:set>
                                  </p:childTnLst>
                                </p:cTn>
                              </p:par>
                            </p:childTnLst>
                          </p:cTn>
                        </p:par>
                        <p:par>
                          <p:cTn id="19" fill="hold">
                            <p:stCondLst>
                              <p:cond delay="1500"/>
                            </p:stCondLst>
                            <p:childTnLst>
                              <p:par>
                                <p:cTn id="20" presetID="1" presetClass="entr" presetSubtype="0" fill="hold" grpId="0" nodeType="afterEffect">
                                  <p:stCondLst>
                                    <p:cond delay="500"/>
                                  </p:stCondLst>
                                  <p:childTnLst>
                                    <p:set>
                                      <p:cBhvr>
                                        <p:cTn id="21" dur="1" fill="hold">
                                          <p:stCondLst>
                                            <p:cond delay="0"/>
                                          </p:stCondLst>
                                        </p:cTn>
                                        <p:tgtEl>
                                          <p:spTgt spid="5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1"/>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500"/>
                                  </p:stCondLst>
                                  <p:childTnLst>
                                    <p:set>
                                      <p:cBhvr>
                                        <p:cTn id="28" dur="1" fill="hold">
                                          <p:stCondLst>
                                            <p:cond delay="0"/>
                                          </p:stCondLst>
                                        </p:cTn>
                                        <p:tgtEl>
                                          <p:spTgt spid="62"/>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0"/>
                                          </p:stCondLst>
                                        </p:cTn>
                                        <p:tgtEl>
                                          <p:spTgt spid="2055"/>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grpId="0" nodeType="afterEffect">
                                  <p:stCondLst>
                                    <p:cond delay="500"/>
                                  </p:stCondLst>
                                  <p:childTnLst>
                                    <p:set>
                                      <p:cBhvr>
                                        <p:cTn id="34" dur="1" fill="hold">
                                          <p:stCondLst>
                                            <p:cond delay="0"/>
                                          </p:stCondLst>
                                        </p:cTn>
                                        <p:tgtEl>
                                          <p:spTgt spid="2049"/>
                                        </p:tgtEl>
                                        <p:attrNameLst>
                                          <p:attrName>style.visibility</p:attrName>
                                        </p:attrNameLst>
                                      </p:cBhvr>
                                      <p:to>
                                        <p:strVal val="visible"/>
                                      </p:to>
                                    </p:set>
                                  </p:childTnLst>
                                </p:cTn>
                              </p:par>
                            </p:childTnLst>
                          </p:cTn>
                        </p:par>
                        <p:par>
                          <p:cTn id="35" fill="hold">
                            <p:stCondLst>
                              <p:cond delay="1000"/>
                            </p:stCondLst>
                            <p:childTnLst>
                              <p:par>
                                <p:cTn id="36" presetID="1" presetClass="entr" presetSubtype="0" fill="hold" grpId="0" nodeType="afterEffect">
                                  <p:stCondLst>
                                    <p:cond delay="500"/>
                                  </p:stCondLst>
                                  <p:childTnLst>
                                    <p:set>
                                      <p:cBhvr>
                                        <p:cTn id="37"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7" grpId="0"/>
      <p:bldP spid="52" grpId="0"/>
      <p:bldP spid="55" grpId="0" animBg="1"/>
      <p:bldP spid="61" grpId="0" animBg="1"/>
      <p:bldP spid="62" grpId="0"/>
      <p:bldP spid="2049" grpId="0"/>
      <p:bldP spid="20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EA78C-1606-58D4-79D3-D90AF3AC3EB1}"/>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7833277-FBE6-F6D6-AF33-06A46622DAE2}"/>
              </a:ext>
            </a:extLst>
          </p:cNvPr>
          <p:cNvSpPr/>
          <p:nvPr/>
        </p:nvSpPr>
        <p:spPr>
          <a:xfrm>
            <a:off x="571500" y="428625"/>
            <a:ext cx="6045508" cy="394275"/>
          </a:xfrm>
          <a:prstGeom prst="rect">
            <a:avLst/>
          </a:prstGeom>
          <a:noFill/>
          <a:ln/>
        </p:spPr>
        <p:txBody>
          <a:bodyPr wrap="square" lIns="0" tIns="0" rIns="0" bIns="0" rtlCol="0" anchor="t">
            <a:spAutoFit/>
          </a:bodyPr>
          <a:lstStyle/>
          <a:p>
            <a:pPr>
              <a:lnSpc>
                <a:spcPts val="3200"/>
              </a:lnSpc>
            </a:pPr>
            <a:r>
              <a:rPr lang="en-US" sz="2436" b="1" dirty="0">
                <a:solidFill>
                  <a:srgbClr val="1A1A1A"/>
                </a:solidFill>
              </a:rPr>
              <a:t>The Sybil Attack: Why Consensus is Hard</a:t>
            </a:r>
            <a:endParaRPr lang="en-US" sz="2436" dirty="0"/>
          </a:p>
        </p:txBody>
      </p:sp>
      <p:sp>
        <p:nvSpPr>
          <p:cNvPr id="4" name="Text 1">
            <a:extLst>
              <a:ext uri="{FF2B5EF4-FFF2-40B4-BE49-F238E27FC236}">
                <a16:creationId xmlns:a16="http://schemas.microsoft.com/office/drawing/2014/main" id="{D5850C43-F6F6-BEE2-088A-4886430179A9}"/>
              </a:ext>
            </a:extLst>
          </p:cNvPr>
          <p:cNvSpPr/>
          <p:nvPr/>
        </p:nvSpPr>
        <p:spPr>
          <a:xfrm>
            <a:off x="571500" y="1001911"/>
            <a:ext cx="4865114" cy="165173"/>
          </a:xfrm>
          <a:prstGeom prst="rect">
            <a:avLst/>
          </a:prstGeom>
          <a:noFill/>
          <a:ln/>
        </p:spPr>
        <p:txBody>
          <a:bodyPr wrap="none" lIns="0" tIns="0" rIns="0" bIns="0" rtlCol="0" anchor="t">
            <a:spAutoFit/>
          </a:bodyPr>
          <a:lstStyle/>
          <a:p>
            <a:pPr>
              <a:lnSpc>
                <a:spcPts val="1200"/>
              </a:lnSpc>
            </a:pPr>
            <a:r>
              <a:rPr lang="en-US" sz="1400" dirty="0">
                <a:solidFill>
                  <a:srgbClr val="333333"/>
                </a:solidFill>
              </a:rPr>
              <a:t>The fundamental challenge of voting without a central authority</a:t>
            </a:r>
            <a:endParaRPr lang="en-US" sz="1400" dirty="0"/>
          </a:p>
        </p:txBody>
      </p:sp>
      <p:sp>
        <p:nvSpPr>
          <p:cNvPr id="5" name="Text 2">
            <a:extLst>
              <a:ext uri="{FF2B5EF4-FFF2-40B4-BE49-F238E27FC236}">
                <a16:creationId xmlns:a16="http://schemas.microsoft.com/office/drawing/2014/main" id="{96BBD58F-D00D-CEFB-F3E0-281A338604AD}"/>
              </a:ext>
            </a:extLst>
          </p:cNvPr>
          <p:cNvSpPr/>
          <p:nvPr/>
        </p:nvSpPr>
        <p:spPr>
          <a:xfrm>
            <a:off x="1409199" y="1445627"/>
            <a:ext cx="328616" cy="535981"/>
          </a:xfrm>
          <a:prstGeom prst="rect">
            <a:avLst/>
          </a:prstGeom>
          <a:noFill/>
          <a:ln/>
        </p:spPr>
        <p:txBody>
          <a:bodyPr wrap="none" lIns="0" tIns="0" rIns="0" bIns="0" rtlCol="0" anchor="t">
            <a:spAutoFit/>
          </a:bodyPr>
          <a:lstStyle/>
          <a:p>
            <a:pPr marL="0" indent="0" algn="ctr">
              <a:lnSpc>
                <a:spcPts val="3800"/>
              </a:lnSpc>
              <a:buNone/>
            </a:pPr>
            <a:r>
              <a:rPr lang="en-US" sz="4800" b="1" dirty="0">
                <a:solidFill>
                  <a:srgbClr val="0055FF"/>
                </a:solidFill>
              </a:rPr>
              <a:t>1</a:t>
            </a:r>
            <a:endParaRPr lang="en-US" sz="4800" dirty="0"/>
          </a:p>
        </p:txBody>
      </p:sp>
      <p:sp>
        <p:nvSpPr>
          <p:cNvPr id="6" name="Text 3">
            <a:extLst>
              <a:ext uri="{FF2B5EF4-FFF2-40B4-BE49-F238E27FC236}">
                <a16:creationId xmlns:a16="http://schemas.microsoft.com/office/drawing/2014/main" id="{1348A709-1CDA-5744-A6BE-82BD2DD2AD59}"/>
              </a:ext>
            </a:extLst>
          </p:cNvPr>
          <p:cNvSpPr/>
          <p:nvPr/>
        </p:nvSpPr>
        <p:spPr>
          <a:xfrm>
            <a:off x="1061604" y="2133213"/>
            <a:ext cx="1023806" cy="184409"/>
          </a:xfrm>
          <a:prstGeom prst="rect">
            <a:avLst/>
          </a:prstGeom>
          <a:noFill/>
          <a:ln/>
        </p:spPr>
        <p:txBody>
          <a:bodyPr wrap="none" lIns="0" tIns="0" rIns="0" bIns="0" rtlCol="0" anchor="t">
            <a:spAutoFit/>
          </a:bodyPr>
          <a:lstStyle/>
          <a:p>
            <a:pPr marL="0" indent="0" algn="ctr">
              <a:lnSpc>
                <a:spcPts val="1400"/>
              </a:lnSpc>
              <a:buNone/>
            </a:pPr>
            <a:r>
              <a:rPr lang="en-US" sz="1400" b="1" dirty="0">
                <a:solidFill>
                  <a:srgbClr val="1A1A1A"/>
                </a:solidFill>
              </a:rPr>
              <a:t>The Problem</a:t>
            </a:r>
            <a:endParaRPr lang="en-US" sz="1400" dirty="0"/>
          </a:p>
        </p:txBody>
      </p:sp>
      <p:sp>
        <p:nvSpPr>
          <p:cNvPr id="7" name="Text 4">
            <a:extLst>
              <a:ext uri="{FF2B5EF4-FFF2-40B4-BE49-F238E27FC236}">
                <a16:creationId xmlns:a16="http://schemas.microsoft.com/office/drawing/2014/main" id="{FF7E6E98-E71E-C1CB-021A-CBDEF31DBDE1}"/>
              </a:ext>
            </a:extLst>
          </p:cNvPr>
          <p:cNvSpPr/>
          <p:nvPr/>
        </p:nvSpPr>
        <p:spPr>
          <a:xfrm>
            <a:off x="587683" y="2450217"/>
            <a:ext cx="1971647" cy="1256754"/>
          </a:xfrm>
          <a:prstGeom prst="rect">
            <a:avLst/>
          </a:prstGeom>
          <a:noFill/>
          <a:ln/>
        </p:spPr>
        <p:txBody>
          <a:bodyPr wrap="square" lIns="0" tIns="0" rIns="0" bIns="0" rtlCol="0" anchor="t">
            <a:spAutoFit/>
          </a:bodyPr>
          <a:lstStyle/>
          <a:p>
            <a:pPr algn="ctr">
              <a:lnSpc>
                <a:spcPts val="1400"/>
              </a:lnSpc>
            </a:pPr>
            <a:r>
              <a:rPr lang="en-US" sz="1200" dirty="0">
                <a:solidFill>
                  <a:srgbClr val="333333"/>
                </a:solidFill>
              </a:rPr>
              <a:t>How do we vote?</a:t>
            </a:r>
          </a:p>
          <a:p>
            <a:pPr algn="ctr">
              <a:lnSpc>
                <a:spcPts val="1400"/>
              </a:lnSpc>
            </a:pPr>
            <a:r>
              <a:rPr lang="en-US" sz="1200" dirty="0">
                <a:solidFill>
                  <a:srgbClr val="333333"/>
                </a:solidFill>
              </a:rPr>
              <a:t>In a decentralized network, there's no central authority to count votes or decide which block is valid.</a:t>
            </a:r>
          </a:p>
          <a:p>
            <a:pPr algn="ctr">
              <a:lnSpc>
                <a:spcPts val="1400"/>
              </a:lnSpc>
            </a:pPr>
            <a:r>
              <a:rPr lang="en-US" sz="1200" dirty="0">
                <a:solidFill>
                  <a:srgbClr val="333333"/>
                </a:solidFill>
              </a:rPr>
              <a:t>We need all participants to reach consensus.</a:t>
            </a:r>
            <a:endParaRPr lang="en-US" sz="1200" dirty="0"/>
          </a:p>
        </p:txBody>
      </p:sp>
      <p:sp>
        <p:nvSpPr>
          <p:cNvPr id="8" name="Text 5">
            <a:extLst>
              <a:ext uri="{FF2B5EF4-FFF2-40B4-BE49-F238E27FC236}">
                <a16:creationId xmlns:a16="http://schemas.microsoft.com/office/drawing/2014/main" id="{6B189534-A712-CB73-E4B3-F003E504E2A4}"/>
              </a:ext>
            </a:extLst>
          </p:cNvPr>
          <p:cNvSpPr/>
          <p:nvPr/>
        </p:nvSpPr>
        <p:spPr>
          <a:xfrm>
            <a:off x="2952236" y="2450217"/>
            <a:ext cx="277320" cy="358688"/>
          </a:xfrm>
          <a:prstGeom prst="rect">
            <a:avLst/>
          </a:prstGeom>
          <a:noFill/>
          <a:ln/>
        </p:spPr>
        <p:txBody>
          <a:bodyPr wrap="none" lIns="0" tIns="0" rIns="0" bIns="0" rtlCol="0" anchor="t">
            <a:spAutoFit/>
          </a:bodyPr>
          <a:lstStyle/>
          <a:p>
            <a:pPr marL="0" indent="0" algn="l">
              <a:lnSpc>
                <a:spcPts val="2400"/>
              </a:lnSpc>
              <a:buNone/>
            </a:pPr>
            <a:r>
              <a:rPr lang="en-US" sz="3600" dirty="0">
                <a:solidFill>
                  <a:srgbClr val="0055FF"/>
                </a:solidFill>
              </a:rPr>
              <a:t>→</a:t>
            </a:r>
            <a:endParaRPr lang="en-US" sz="3600" dirty="0"/>
          </a:p>
        </p:txBody>
      </p:sp>
      <p:sp>
        <p:nvSpPr>
          <p:cNvPr id="9" name="Text 6">
            <a:extLst>
              <a:ext uri="{FF2B5EF4-FFF2-40B4-BE49-F238E27FC236}">
                <a16:creationId xmlns:a16="http://schemas.microsoft.com/office/drawing/2014/main" id="{AE4C18A2-AF40-25A0-B81F-24650445766C}"/>
              </a:ext>
            </a:extLst>
          </p:cNvPr>
          <p:cNvSpPr/>
          <p:nvPr/>
        </p:nvSpPr>
        <p:spPr>
          <a:xfrm>
            <a:off x="4423862" y="1445627"/>
            <a:ext cx="328616" cy="535981"/>
          </a:xfrm>
          <a:prstGeom prst="rect">
            <a:avLst/>
          </a:prstGeom>
          <a:noFill/>
          <a:ln/>
        </p:spPr>
        <p:txBody>
          <a:bodyPr wrap="none" lIns="0" tIns="0" rIns="0" bIns="0" rtlCol="0" anchor="t">
            <a:spAutoFit/>
          </a:bodyPr>
          <a:lstStyle/>
          <a:p>
            <a:pPr marL="0" indent="0" algn="ctr">
              <a:lnSpc>
                <a:spcPts val="3800"/>
              </a:lnSpc>
              <a:buNone/>
            </a:pPr>
            <a:r>
              <a:rPr lang="en-US" sz="4800" b="1" dirty="0">
                <a:solidFill>
                  <a:srgbClr val="0055FF"/>
                </a:solidFill>
              </a:rPr>
              <a:t>2</a:t>
            </a:r>
            <a:endParaRPr lang="en-US" sz="4800" dirty="0"/>
          </a:p>
        </p:txBody>
      </p:sp>
      <p:sp>
        <p:nvSpPr>
          <p:cNvPr id="10" name="Text 7">
            <a:extLst>
              <a:ext uri="{FF2B5EF4-FFF2-40B4-BE49-F238E27FC236}">
                <a16:creationId xmlns:a16="http://schemas.microsoft.com/office/drawing/2014/main" id="{0E0CE312-8B61-95F8-01FC-8650BAFC185D}"/>
              </a:ext>
            </a:extLst>
          </p:cNvPr>
          <p:cNvSpPr/>
          <p:nvPr/>
        </p:nvSpPr>
        <p:spPr>
          <a:xfrm>
            <a:off x="3473603" y="1992192"/>
            <a:ext cx="2196793" cy="363946"/>
          </a:xfrm>
          <a:prstGeom prst="rect">
            <a:avLst/>
          </a:prstGeom>
          <a:noFill/>
          <a:ln/>
        </p:spPr>
        <p:txBody>
          <a:bodyPr wrap="square" lIns="0" tIns="0" rIns="0" bIns="0" rtlCol="0" anchor="t">
            <a:spAutoFit/>
          </a:bodyPr>
          <a:lstStyle/>
          <a:p>
            <a:pPr algn="ctr">
              <a:lnSpc>
                <a:spcPts val="1400"/>
              </a:lnSpc>
            </a:pPr>
            <a:r>
              <a:rPr lang="en-US" sz="1400" b="1" dirty="0">
                <a:solidFill>
                  <a:srgbClr val="1A1A1A"/>
                </a:solidFill>
              </a:rPr>
              <a:t>The Attack</a:t>
            </a:r>
          </a:p>
          <a:p>
            <a:pPr algn="ctr">
              <a:lnSpc>
                <a:spcPts val="1400"/>
              </a:lnSpc>
            </a:pPr>
            <a:r>
              <a:rPr lang="en-US" sz="1400" b="1" dirty="0">
                <a:solidFill>
                  <a:srgbClr val="1A1A1A"/>
                </a:solidFill>
              </a:rPr>
              <a:t>Creating Fake Identities</a:t>
            </a:r>
            <a:endParaRPr lang="en-US" sz="1400" dirty="0"/>
          </a:p>
        </p:txBody>
      </p:sp>
      <p:sp>
        <p:nvSpPr>
          <p:cNvPr id="11" name="Text 8">
            <a:extLst>
              <a:ext uri="{FF2B5EF4-FFF2-40B4-BE49-F238E27FC236}">
                <a16:creationId xmlns:a16="http://schemas.microsoft.com/office/drawing/2014/main" id="{B8B7DC92-24B7-2C5B-9360-2066A9AF6853}"/>
              </a:ext>
            </a:extLst>
          </p:cNvPr>
          <p:cNvSpPr/>
          <p:nvPr/>
        </p:nvSpPr>
        <p:spPr>
          <a:xfrm>
            <a:off x="3602346" y="2450217"/>
            <a:ext cx="2110781" cy="897682"/>
          </a:xfrm>
          <a:prstGeom prst="rect">
            <a:avLst/>
          </a:prstGeom>
          <a:noFill/>
          <a:ln/>
        </p:spPr>
        <p:txBody>
          <a:bodyPr wrap="square" lIns="0" tIns="0" rIns="0" bIns="0" rtlCol="0" anchor="t">
            <a:spAutoFit/>
          </a:bodyPr>
          <a:lstStyle/>
          <a:p>
            <a:pPr algn="ctr">
              <a:lnSpc>
                <a:spcPts val="1400"/>
              </a:lnSpc>
            </a:pPr>
            <a:r>
              <a:rPr lang="en-US" sz="1200" dirty="0">
                <a:solidFill>
                  <a:srgbClr val="333333"/>
                </a:solidFill>
              </a:rPr>
              <a:t>One attacker can create thousands of fake nodes (identities: IP, account, person?) to manipulate the vote.</a:t>
            </a:r>
          </a:p>
          <a:p>
            <a:pPr algn="ctr">
              <a:lnSpc>
                <a:spcPts val="1400"/>
              </a:lnSpc>
            </a:pPr>
            <a:r>
              <a:rPr lang="en-US" sz="1200" dirty="0">
                <a:solidFill>
                  <a:srgbClr val="333333"/>
                </a:solidFill>
              </a:rPr>
              <a:t>This is called a Sybil Attack.</a:t>
            </a:r>
          </a:p>
        </p:txBody>
      </p:sp>
      <p:sp>
        <p:nvSpPr>
          <p:cNvPr id="12" name="Text 9">
            <a:extLst>
              <a:ext uri="{FF2B5EF4-FFF2-40B4-BE49-F238E27FC236}">
                <a16:creationId xmlns:a16="http://schemas.microsoft.com/office/drawing/2014/main" id="{F5DD90BE-4982-A68F-4A54-F9615E2BC1E0}"/>
              </a:ext>
            </a:extLst>
          </p:cNvPr>
          <p:cNvSpPr/>
          <p:nvPr/>
        </p:nvSpPr>
        <p:spPr>
          <a:xfrm>
            <a:off x="5966899" y="2450217"/>
            <a:ext cx="277320" cy="358688"/>
          </a:xfrm>
          <a:prstGeom prst="rect">
            <a:avLst/>
          </a:prstGeom>
          <a:noFill/>
          <a:ln/>
        </p:spPr>
        <p:txBody>
          <a:bodyPr wrap="none" lIns="0" tIns="0" rIns="0" bIns="0" rtlCol="0" anchor="t">
            <a:spAutoFit/>
          </a:bodyPr>
          <a:lstStyle/>
          <a:p>
            <a:pPr marL="0" indent="0" algn="l">
              <a:lnSpc>
                <a:spcPts val="2400"/>
              </a:lnSpc>
              <a:buNone/>
            </a:pPr>
            <a:r>
              <a:rPr lang="en-US" sz="3600" dirty="0">
                <a:solidFill>
                  <a:srgbClr val="0055FF"/>
                </a:solidFill>
              </a:rPr>
              <a:t>→</a:t>
            </a:r>
            <a:endParaRPr lang="en-US" sz="3600" dirty="0"/>
          </a:p>
        </p:txBody>
      </p:sp>
      <p:sp>
        <p:nvSpPr>
          <p:cNvPr id="13" name="Text 10">
            <a:extLst>
              <a:ext uri="{FF2B5EF4-FFF2-40B4-BE49-F238E27FC236}">
                <a16:creationId xmlns:a16="http://schemas.microsoft.com/office/drawing/2014/main" id="{D8FCBB75-0633-B8BD-D9AD-1D103D1ADDCF}"/>
              </a:ext>
            </a:extLst>
          </p:cNvPr>
          <p:cNvSpPr/>
          <p:nvPr/>
        </p:nvSpPr>
        <p:spPr>
          <a:xfrm>
            <a:off x="7438524" y="1445627"/>
            <a:ext cx="328616" cy="535981"/>
          </a:xfrm>
          <a:prstGeom prst="rect">
            <a:avLst/>
          </a:prstGeom>
          <a:noFill/>
          <a:ln/>
        </p:spPr>
        <p:txBody>
          <a:bodyPr wrap="none" lIns="0" tIns="0" rIns="0" bIns="0" rtlCol="0" anchor="t">
            <a:spAutoFit/>
          </a:bodyPr>
          <a:lstStyle/>
          <a:p>
            <a:pPr marL="0" indent="0" algn="ctr">
              <a:lnSpc>
                <a:spcPts val="3800"/>
              </a:lnSpc>
              <a:buNone/>
            </a:pPr>
            <a:r>
              <a:rPr lang="en-US" sz="4800" b="1" dirty="0">
                <a:solidFill>
                  <a:srgbClr val="0055FF"/>
                </a:solidFill>
              </a:rPr>
              <a:t>3</a:t>
            </a:r>
            <a:endParaRPr lang="en-US" sz="4800" dirty="0"/>
          </a:p>
        </p:txBody>
      </p:sp>
      <p:sp>
        <p:nvSpPr>
          <p:cNvPr id="14" name="Text 11">
            <a:extLst>
              <a:ext uri="{FF2B5EF4-FFF2-40B4-BE49-F238E27FC236}">
                <a16:creationId xmlns:a16="http://schemas.microsoft.com/office/drawing/2014/main" id="{EE445BB3-65FA-E20E-9E47-24E90FEDC097}"/>
              </a:ext>
            </a:extLst>
          </p:cNvPr>
          <p:cNvSpPr/>
          <p:nvPr/>
        </p:nvSpPr>
        <p:spPr>
          <a:xfrm>
            <a:off x="6892701" y="2133213"/>
            <a:ext cx="1420261" cy="184409"/>
          </a:xfrm>
          <a:prstGeom prst="rect">
            <a:avLst/>
          </a:prstGeom>
          <a:noFill/>
          <a:ln/>
        </p:spPr>
        <p:txBody>
          <a:bodyPr wrap="none" lIns="0" tIns="0" rIns="0" bIns="0" rtlCol="0" anchor="t">
            <a:spAutoFit/>
          </a:bodyPr>
          <a:lstStyle/>
          <a:p>
            <a:pPr algn="ctr">
              <a:lnSpc>
                <a:spcPts val="1400"/>
              </a:lnSpc>
            </a:pPr>
            <a:r>
              <a:rPr lang="en-US" sz="1400" b="1" dirty="0">
                <a:solidFill>
                  <a:srgbClr val="1A1A1A"/>
                </a:solidFill>
              </a:rPr>
              <a:t>The Real Solution</a:t>
            </a:r>
          </a:p>
        </p:txBody>
      </p:sp>
      <p:sp>
        <p:nvSpPr>
          <p:cNvPr id="15" name="Text 12">
            <a:extLst>
              <a:ext uri="{FF2B5EF4-FFF2-40B4-BE49-F238E27FC236}">
                <a16:creationId xmlns:a16="http://schemas.microsoft.com/office/drawing/2014/main" id="{DE04CDD4-58D5-3950-AFDA-260889F170CB}"/>
              </a:ext>
            </a:extLst>
          </p:cNvPr>
          <p:cNvSpPr/>
          <p:nvPr/>
        </p:nvSpPr>
        <p:spPr>
          <a:xfrm>
            <a:off x="6617008" y="2450217"/>
            <a:ext cx="1971647" cy="1077218"/>
          </a:xfrm>
          <a:prstGeom prst="rect">
            <a:avLst/>
          </a:prstGeom>
          <a:noFill/>
          <a:ln/>
        </p:spPr>
        <p:txBody>
          <a:bodyPr wrap="square" lIns="0" tIns="0" rIns="0" bIns="0" rtlCol="0" anchor="t">
            <a:spAutoFit/>
          </a:bodyPr>
          <a:lstStyle/>
          <a:p>
            <a:pPr algn="ctr">
              <a:lnSpc>
                <a:spcPts val="1400"/>
              </a:lnSpc>
            </a:pPr>
            <a:r>
              <a:rPr lang="en-US" sz="1200" dirty="0">
                <a:solidFill>
                  <a:srgbClr val="333333"/>
                </a:solidFill>
              </a:rPr>
              <a:t>Make participation costly. Require each participant to expend computational resources. </a:t>
            </a:r>
          </a:p>
          <a:p>
            <a:pPr algn="ctr">
              <a:lnSpc>
                <a:spcPts val="1400"/>
              </a:lnSpc>
            </a:pPr>
            <a:r>
              <a:rPr lang="en-US" sz="1200" dirty="0">
                <a:solidFill>
                  <a:srgbClr val="333333"/>
                </a:solidFill>
              </a:rPr>
              <a:t>This is where </a:t>
            </a:r>
            <a:r>
              <a:rPr lang="en-US" sz="1200" b="1" dirty="0">
                <a:solidFill>
                  <a:srgbClr val="333333"/>
                </a:solidFill>
              </a:rPr>
              <a:t>Proof of Work </a:t>
            </a:r>
            <a:r>
              <a:rPr lang="en-US" sz="1200" dirty="0">
                <a:solidFill>
                  <a:srgbClr val="333333"/>
                </a:solidFill>
              </a:rPr>
              <a:t>comes in.</a:t>
            </a:r>
          </a:p>
        </p:txBody>
      </p:sp>
      <p:sp>
        <p:nvSpPr>
          <p:cNvPr id="19" name="Marcador de número de diapositiva 18">
            <a:extLst>
              <a:ext uri="{FF2B5EF4-FFF2-40B4-BE49-F238E27FC236}">
                <a16:creationId xmlns:a16="http://schemas.microsoft.com/office/drawing/2014/main" id="{074E2B5D-F0D9-850E-33F1-37784BB27363}"/>
              </a:ext>
            </a:extLst>
          </p:cNvPr>
          <p:cNvSpPr>
            <a:spLocks noGrp="1"/>
          </p:cNvSpPr>
          <p:nvPr>
            <p:ph type="sldNum" sz="quarter" idx="12"/>
          </p:nvPr>
        </p:nvSpPr>
        <p:spPr/>
        <p:txBody>
          <a:bodyPr/>
          <a:lstStyle/>
          <a:p>
            <a:fld id="{621D377E-C6E5-404B-8AA2-3999D49F21B5}" type="slidenum">
              <a:rPr lang="es-ES" smtClean="0"/>
              <a:t>9</a:t>
            </a:fld>
            <a:endParaRPr lang="es-ES"/>
          </a:p>
        </p:txBody>
      </p:sp>
      <p:grpSp>
        <p:nvGrpSpPr>
          <p:cNvPr id="56" name="Grupo 55">
            <a:extLst>
              <a:ext uri="{FF2B5EF4-FFF2-40B4-BE49-F238E27FC236}">
                <a16:creationId xmlns:a16="http://schemas.microsoft.com/office/drawing/2014/main" id="{4340C8D7-DB32-5526-DEBB-67AC14A29EE4}"/>
              </a:ext>
            </a:extLst>
          </p:cNvPr>
          <p:cNvGrpSpPr/>
          <p:nvPr/>
        </p:nvGrpSpPr>
        <p:grpSpPr>
          <a:xfrm>
            <a:off x="1061604" y="3722573"/>
            <a:ext cx="1072884" cy="1266751"/>
            <a:chOff x="2395464" y="1996830"/>
            <a:chExt cx="2509736" cy="2963242"/>
          </a:xfrm>
        </p:grpSpPr>
        <p:cxnSp>
          <p:nvCxnSpPr>
            <p:cNvPr id="33" name="Conector recto 32">
              <a:extLst>
                <a:ext uri="{FF2B5EF4-FFF2-40B4-BE49-F238E27FC236}">
                  <a16:creationId xmlns:a16="http://schemas.microsoft.com/office/drawing/2014/main" id="{8D2E4268-C627-8B68-80BC-87F0ECF21E2F}"/>
                </a:ext>
              </a:extLst>
            </p:cNvPr>
            <p:cNvCxnSpPr>
              <a:cxnSpLocks/>
              <a:stCxn id="37" idx="3"/>
              <a:endCxn id="41" idx="1"/>
            </p:cNvCxnSpPr>
            <p:nvPr/>
          </p:nvCxnSpPr>
          <p:spPr>
            <a:xfrm>
              <a:off x="3135247" y="2366723"/>
              <a:ext cx="956844" cy="1113783"/>
            </a:xfrm>
            <a:prstGeom prst="line">
              <a:avLst/>
            </a:prstGeom>
            <a:ln w="38100">
              <a:prstDash val="sysDot"/>
            </a:ln>
          </p:spPr>
          <p:style>
            <a:lnRef idx="1">
              <a:schemeClr val="dk1"/>
            </a:lnRef>
            <a:fillRef idx="0">
              <a:schemeClr val="dk1"/>
            </a:fillRef>
            <a:effectRef idx="0">
              <a:schemeClr val="dk1"/>
            </a:effectRef>
            <a:fontRef idx="minor">
              <a:schemeClr val="tx1"/>
            </a:fontRef>
          </p:style>
        </p:cxnSp>
        <p:pic>
          <p:nvPicPr>
            <p:cNvPr id="34" name="Gráfico 33" descr="Ordenador contorno">
              <a:extLst>
                <a:ext uri="{FF2B5EF4-FFF2-40B4-BE49-F238E27FC236}">
                  <a16:creationId xmlns:a16="http://schemas.microsoft.com/office/drawing/2014/main" id="{65448D7B-A048-81C8-0782-4411B347B0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95465" y="4220288"/>
              <a:ext cx="739784" cy="739784"/>
            </a:xfrm>
            <a:prstGeom prst="rect">
              <a:avLst/>
            </a:prstGeom>
          </p:spPr>
        </p:pic>
        <p:pic>
          <p:nvPicPr>
            <p:cNvPr id="35" name="Gráfico 34" descr="Ordenador contorno">
              <a:extLst>
                <a:ext uri="{FF2B5EF4-FFF2-40B4-BE49-F238E27FC236}">
                  <a16:creationId xmlns:a16="http://schemas.microsoft.com/office/drawing/2014/main" id="{BB4B286D-038A-2061-9ABC-B5A43FC1FC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95464" y="3480505"/>
              <a:ext cx="739784" cy="739784"/>
            </a:xfrm>
            <a:prstGeom prst="rect">
              <a:avLst/>
            </a:prstGeom>
          </p:spPr>
        </p:pic>
        <p:pic>
          <p:nvPicPr>
            <p:cNvPr id="36" name="Gráfico 35" descr="Ordenador contorno">
              <a:extLst>
                <a:ext uri="{FF2B5EF4-FFF2-40B4-BE49-F238E27FC236}">
                  <a16:creationId xmlns:a16="http://schemas.microsoft.com/office/drawing/2014/main" id="{47F310F2-FB92-BEB2-298F-0521798E0E2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01497" y="2740721"/>
              <a:ext cx="739784" cy="739784"/>
            </a:xfrm>
            <a:prstGeom prst="rect">
              <a:avLst/>
            </a:prstGeom>
          </p:spPr>
        </p:pic>
        <p:pic>
          <p:nvPicPr>
            <p:cNvPr id="37" name="Gráfico 36" descr="Ordenador contorno">
              <a:extLst>
                <a:ext uri="{FF2B5EF4-FFF2-40B4-BE49-F238E27FC236}">
                  <a16:creationId xmlns:a16="http://schemas.microsoft.com/office/drawing/2014/main" id="{58859039-8F91-FF82-AA4D-FF2FF1F9BF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95465" y="1996830"/>
              <a:ext cx="739784" cy="739784"/>
            </a:xfrm>
            <a:prstGeom prst="rect">
              <a:avLst/>
            </a:prstGeom>
          </p:spPr>
        </p:pic>
        <p:cxnSp>
          <p:nvCxnSpPr>
            <p:cNvPr id="38" name="Conector recto 37">
              <a:extLst>
                <a:ext uri="{FF2B5EF4-FFF2-40B4-BE49-F238E27FC236}">
                  <a16:creationId xmlns:a16="http://schemas.microsoft.com/office/drawing/2014/main" id="{F04D4879-6324-BF4E-65C2-750346329702}"/>
                </a:ext>
              </a:extLst>
            </p:cNvPr>
            <p:cNvCxnSpPr>
              <a:cxnSpLocks/>
              <a:stCxn id="36" idx="3"/>
              <a:endCxn id="41" idx="1"/>
            </p:cNvCxnSpPr>
            <p:nvPr/>
          </p:nvCxnSpPr>
          <p:spPr>
            <a:xfrm>
              <a:off x="3141280" y="3110615"/>
              <a:ext cx="950811" cy="369891"/>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39" name="Conector recto 38">
              <a:extLst>
                <a:ext uri="{FF2B5EF4-FFF2-40B4-BE49-F238E27FC236}">
                  <a16:creationId xmlns:a16="http://schemas.microsoft.com/office/drawing/2014/main" id="{C3F297C5-F5E0-F8B6-839F-BDED6F69BD31}"/>
                </a:ext>
              </a:extLst>
            </p:cNvPr>
            <p:cNvCxnSpPr>
              <a:cxnSpLocks/>
              <a:stCxn id="35" idx="3"/>
              <a:endCxn id="41" idx="1"/>
            </p:cNvCxnSpPr>
            <p:nvPr/>
          </p:nvCxnSpPr>
          <p:spPr>
            <a:xfrm flipV="1">
              <a:off x="3135247" y="3480506"/>
              <a:ext cx="956844" cy="369893"/>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40" name="Conector recto 39">
              <a:extLst>
                <a:ext uri="{FF2B5EF4-FFF2-40B4-BE49-F238E27FC236}">
                  <a16:creationId xmlns:a16="http://schemas.microsoft.com/office/drawing/2014/main" id="{404BBD77-AA56-4F8C-F88D-DA817E0A814A}"/>
                </a:ext>
              </a:extLst>
            </p:cNvPr>
            <p:cNvCxnSpPr>
              <a:cxnSpLocks/>
              <a:stCxn id="34" idx="3"/>
              <a:endCxn id="41" idx="1"/>
            </p:cNvCxnSpPr>
            <p:nvPr/>
          </p:nvCxnSpPr>
          <p:spPr>
            <a:xfrm flipV="1">
              <a:off x="3135247" y="3480506"/>
              <a:ext cx="956844" cy="1109675"/>
            </a:xfrm>
            <a:prstGeom prst="line">
              <a:avLst/>
            </a:prstGeom>
            <a:ln w="38100">
              <a:prstDash val="sysDot"/>
            </a:ln>
          </p:spPr>
          <p:style>
            <a:lnRef idx="1">
              <a:schemeClr val="dk1"/>
            </a:lnRef>
            <a:fillRef idx="0">
              <a:schemeClr val="dk1"/>
            </a:fillRef>
            <a:effectRef idx="0">
              <a:schemeClr val="dk1"/>
            </a:effectRef>
            <a:fontRef idx="minor">
              <a:schemeClr val="tx1"/>
            </a:fontRef>
          </p:style>
        </p:cxnSp>
        <p:pic>
          <p:nvPicPr>
            <p:cNvPr id="41" name="Picture 2" descr="Policía hombre con relleno sólido">
              <a:extLst>
                <a:ext uri="{FF2B5EF4-FFF2-40B4-BE49-F238E27FC236}">
                  <a16:creationId xmlns:a16="http://schemas.microsoft.com/office/drawing/2014/main" id="{FC9F1372-4C9D-9D97-AE6E-87230ACD9509}"/>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a:off x="4092091" y="3073950"/>
              <a:ext cx="813109" cy="813110"/>
            </a:xfrm>
            <a:prstGeom prst="rect">
              <a:avLst/>
            </a:prstGeom>
            <a:extLst>
              <a:ext uri="{909E8E84-426E-40DD-AFC4-6F175D3DCCD1}">
                <a14:hiddenFill xmlns:a14="http://schemas.microsoft.com/office/drawing/2010/main">
                  <a:solidFill>
                    <a:srgbClr val="FFFFFF"/>
                  </a:solidFill>
                </a14:hiddenFill>
              </a:ext>
            </a:extLst>
          </p:spPr>
        </p:pic>
      </p:grpSp>
      <p:sp>
        <p:nvSpPr>
          <p:cNvPr id="57" name="Signo de multiplicación 56">
            <a:extLst>
              <a:ext uri="{FF2B5EF4-FFF2-40B4-BE49-F238E27FC236}">
                <a16:creationId xmlns:a16="http://schemas.microsoft.com/office/drawing/2014/main" id="{40000E90-A2A5-7706-26FE-DAE65F077B35}"/>
              </a:ext>
            </a:extLst>
          </p:cNvPr>
          <p:cNvSpPr/>
          <p:nvPr/>
        </p:nvSpPr>
        <p:spPr>
          <a:xfrm>
            <a:off x="1770476" y="4215438"/>
            <a:ext cx="380430" cy="299514"/>
          </a:xfrm>
          <a:prstGeom prst="mathMultiply">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240" name="Grupo 239">
            <a:extLst>
              <a:ext uri="{FF2B5EF4-FFF2-40B4-BE49-F238E27FC236}">
                <a16:creationId xmlns:a16="http://schemas.microsoft.com/office/drawing/2014/main" id="{3FFE2158-D689-71D1-18EE-F8617EB786DB}"/>
              </a:ext>
            </a:extLst>
          </p:cNvPr>
          <p:cNvGrpSpPr/>
          <p:nvPr/>
        </p:nvGrpSpPr>
        <p:grpSpPr>
          <a:xfrm>
            <a:off x="3318774" y="3410758"/>
            <a:ext cx="2677923" cy="1635781"/>
            <a:chOff x="3055895" y="3449856"/>
            <a:chExt cx="2677923" cy="1635781"/>
          </a:xfrm>
        </p:grpSpPr>
        <p:pic>
          <p:nvPicPr>
            <p:cNvPr id="95" name="Gráfico 94" descr="Ordenador contorno">
              <a:extLst>
                <a:ext uri="{FF2B5EF4-FFF2-40B4-BE49-F238E27FC236}">
                  <a16:creationId xmlns:a16="http://schemas.microsoft.com/office/drawing/2014/main" id="{D2D63D12-B7A0-5493-67A2-F6EF7790AB9C}"/>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3436975" y="3957940"/>
              <a:ext cx="379579" cy="257115"/>
            </a:xfrm>
            <a:prstGeom prst="rect">
              <a:avLst/>
            </a:prstGeom>
          </p:spPr>
        </p:pic>
        <p:pic>
          <p:nvPicPr>
            <p:cNvPr id="96" name="Gráfico 95" descr="Ordenador contorno">
              <a:extLst>
                <a:ext uri="{FF2B5EF4-FFF2-40B4-BE49-F238E27FC236}">
                  <a16:creationId xmlns:a16="http://schemas.microsoft.com/office/drawing/2014/main" id="{D6B3C08B-0EF6-314A-62AC-294F58436653}"/>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3816555" y="4457760"/>
              <a:ext cx="379579" cy="257115"/>
            </a:xfrm>
            <a:prstGeom prst="rect">
              <a:avLst/>
            </a:prstGeom>
          </p:spPr>
        </p:pic>
        <p:pic>
          <p:nvPicPr>
            <p:cNvPr id="97" name="Gráfico 96" descr="Ordenador contorno">
              <a:extLst>
                <a:ext uri="{FF2B5EF4-FFF2-40B4-BE49-F238E27FC236}">
                  <a16:creationId xmlns:a16="http://schemas.microsoft.com/office/drawing/2014/main" id="{D8BA3F66-A644-B8A4-DEFF-26600C2D6317}"/>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3816555" y="3458120"/>
              <a:ext cx="379579" cy="257115"/>
            </a:xfrm>
            <a:prstGeom prst="rect">
              <a:avLst/>
            </a:prstGeom>
          </p:spPr>
        </p:pic>
        <p:pic>
          <p:nvPicPr>
            <p:cNvPr id="98" name="Gráfico 97" descr="Ordenador contorno">
              <a:extLst>
                <a:ext uri="{FF2B5EF4-FFF2-40B4-BE49-F238E27FC236}">
                  <a16:creationId xmlns:a16="http://schemas.microsoft.com/office/drawing/2014/main" id="{5E0C10DE-996A-6064-FBB6-7D00A1435C68}"/>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4446401" y="4457760"/>
              <a:ext cx="379579" cy="257115"/>
            </a:xfrm>
            <a:prstGeom prst="rect">
              <a:avLst/>
            </a:prstGeom>
          </p:spPr>
        </p:pic>
        <p:pic>
          <p:nvPicPr>
            <p:cNvPr id="99" name="Gráfico 98" descr="Ordenador contorno">
              <a:extLst>
                <a:ext uri="{FF2B5EF4-FFF2-40B4-BE49-F238E27FC236}">
                  <a16:creationId xmlns:a16="http://schemas.microsoft.com/office/drawing/2014/main" id="{0BAADE17-8A76-401C-3F21-771FCE5CB3CD}"/>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4825980" y="3959209"/>
              <a:ext cx="379579" cy="257115"/>
            </a:xfrm>
            <a:prstGeom prst="rect">
              <a:avLst/>
            </a:prstGeom>
          </p:spPr>
        </p:pic>
        <p:pic>
          <p:nvPicPr>
            <p:cNvPr id="100" name="Gráfico 99" descr="Ordenador contorno">
              <a:extLst>
                <a:ext uri="{FF2B5EF4-FFF2-40B4-BE49-F238E27FC236}">
                  <a16:creationId xmlns:a16="http://schemas.microsoft.com/office/drawing/2014/main" id="{B3277923-3133-5838-356C-2C802A5AF976}"/>
                </a:ext>
              </a:extLst>
            </p:cNvPr>
            <p:cNvPicPr>
              <a:picLocks noChangeAspect="1"/>
            </p:cNvPicPr>
            <p:nvPr/>
          </p:nvPicPr>
          <p:blipFill>
            <a:blip r:embed="rId3">
              <a:extLst>
                <a:ext uri="{96DAC541-7B7A-43D3-8B79-37D633B846F1}">
                  <asvg:svgBlip xmlns:asvg="http://schemas.microsoft.com/office/drawing/2016/SVG/main" r:embed="rId4"/>
                </a:ext>
              </a:extLst>
            </a:blip>
            <a:srcRect t="16707" b="19172"/>
            <a:stretch>
              <a:fillRect/>
            </a:stretch>
          </p:blipFill>
          <p:spPr>
            <a:xfrm>
              <a:off x="4517546" y="3449856"/>
              <a:ext cx="379579" cy="257115"/>
            </a:xfrm>
            <a:prstGeom prst="rect">
              <a:avLst/>
            </a:prstGeom>
          </p:spPr>
        </p:pic>
        <p:cxnSp>
          <p:nvCxnSpPr>
            <p:cNvPr id="101" name="Conector recto 100">
              <a:extLst>
                <a:ext uri="{FF2B5EF4-FFF2-40B4-BE49-F238E27FC236}">
                  <a16:creationId xmlns:a16="http://schemas.microsoft.com/office/drawing/2014/main" id="{868FA308-5A29-D496-341E-CC028CF6A606}"/>
                </a:ext>
              </a:extLst>
            </p:cNvPr>
            <p:cNvCxnSpPr>
              <a:cxnSpLocks/>
              <a:stCxn id="99" idx="0"/>
              <a:endCxn id="100" idx="3"/>
            </p:cNvCxnSpPr>
            <p:nvPr/>
          </p:nvCxnSpPr>
          <p:spPr>
            <a:xfrm flipH="1" flipV="1">
              <a:off x="4897125" y="3578414"/>
              <a:ext cx="118645" cy="380795"/>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02" name="Conector recto 101">
              <a:extLst>
                <a:ext uri="{FF2B5EF4-FFF2-40B4-BE49-F238E27FC236}">
                  <a16:creationId xmlns:a16="http://schemas.microsoft.com/office/drawing/2014/main" id="{89DA806E-626C-2726-96B6-1B7D63F73A12}"/>
                </a:ext>
              </a:extLst>
            </p:cNvPr>
            <p:cNvCxnSpPr>
              <a:cxnSpLocks/>
              <a:stCxn id="100" idx="1"/>
              <a:endCxn id="97" idx="3"/>
            </p:cNvCxnSpPr>
            <p:nvPr/>
          </p:nvCxnSpPr>
          <p:spPr>
            <a:xfrm flipH="1">
              <a:off x="4196134" y="3578414"/>
              <a:ext cx="321412" cy="8264"/>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03" name="Conector recto 102">
              <a:extLst>
                <a:ext uri="{FF2B5EF4-FFF2-40B4-BE49-F238E27FC236}">
                  <a16:creationId xmlns:a16="http://schemas.microsoft.com/office/drawing/2014/main" id="{82732147-93F7-17F2-AF3A-2BD7D5B20316}"/>
                </a:ext>
              </a:extLst>
            </p:cNvPr>
            <p:cNvCxnSpPr>
              <a:cxnSpLocks/>
              <a:stCxn id="95" idx="0"/>
              <a:endCxn id="97" idx="1"/>
            </p:cNvCxnSpPr>
            <p:nvPr/>
          </p:nvCxnSpPr>
          <p:spPr>
            <a:xfrm flipV="1">
              <a:off x="3626765" y="3586678"/>
              <a:ext cx="189790" cy="371262"/>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04" name="Conector recto 103">
              <a:extLst>
                <a:ext uri="{FF2B5EF4-FFF2-40B4-BE49-F238E27FC236}">
                  <a16:creationId xmlns:a16="http://schemas.microsoft.com/office/drawing/2014/main" id="{E027B900-34E0-DB03-AD03-4C4229E8BE31}"/>
                </a:ext>
              </a:extLst>
            </p:cNvPr>
            <p:cNvCxnSpPr>
              <a:cxnSpLocks/>
              <a:stCxn id="95" idx="2"/>
              <a:endCxn id="96" idx="1"/>
            </p:cNvCxnSpPr>
            <p:nvPr/>
          </p:nvCxnSpPr>
          <p:spPr>
            <a:xfrm>
              <a:off x="3626765" y="4215055"/>
              <a:ext cx="189790" cy="371263"/>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05" name="Conector recto 104">
              <a:extLst>
                <a:ext uri="{FF2B5EF4-FFF2-40B4-BE49-F238E27FC236}">
                  <a16:creationId xmlns:a16="http://schemas.microsoft.com/office/drawing/2014/main" id="{F88A4168-0C07-32F5-3037-12FFD7D78759}"/>
                </a:ext>
              </a:extLst>
            </p:cNvPr>
            <p:cNvCxnSpPr>
              <a:cxnSpLocks/>
              <a:stCxn id="98" idx="1"/>
              <a:endCxn id="96" idx="3"/>
            </p:cNvCxnSpPr>
            <p:nvPr/>
          </p:nvCxnSpPr>
          <p:spPr>
            <a:xfrm flipH="1">
              <a:off x="4196134" y="4586318"/>
              <a:ext cx="250267" cy="0"/>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06" name="Conector recto 105">
              <a:extLst>
                <a:ext uri="{FF2B5EF4-FFF2-40B4-BE49-F238E27FC236}">
                  <a16:creationId xmlns:a16="http://schemas.microsoft.com/office/drawing/2014/main" id="{9A906C67-663E-F9BB-2C76-AD35E48FCBF7}"/>
                </a:ext>
              </a:extLst>
            </p:cNvPr>
            <p:cNvCxnSpPr>
              <a:cxnSpLocks/>
              <a:stCxn id="99" idx="2"/>
              <a:endCxn id="98" idx="3"/>
            </p:cNvCxnSpPr>
            <p:nvPr/>
          </p:nvCxnSpPr>
          <p:spPr>
            <a:xfrm flipH="1">
              <a:off x="4825980" y="4216324"/>
              <a:ext cx="189790" cy="369994"/>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07" name="Conector recto 106">
              <a:extLst>
                <a:ext uri="{FF2B5EF4-FFF2-40B4-BE49-F238E27FC236}">
                  <a16:creationId xmlns:a16="http://schemas.microsoft.com/office/drawing/2014/main" id="{C7A0D408-1B00-DC45-C37B-0F1C699371F7}"/>
                </a:ext>
              </a:extLst>
            </p:cNvPr>
            <p:cNvCxnSpPr>
              <a:cxnSpLocks/>
              <a:stCxn id="95" idx="3"/>
              <a:endCxn id="100" idx="2"/>
            </p:cNvCxnSpPr>
            <p:nvPr/>
          </p:nvCxnSpPr>
          <p:spPr>
            <a:xfrm flipV="1">
              <a:off x="3816554" y="3706971"/>
              <a:ext cx="890782" cy="379527"/>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08" name="Conector recto 107">
              <a:extLst>
                <a:ext uri="{FF2B5EF4-FFF2-40B4-BE49-F238E27FC236}">
                  <a16:creationId xmlns:a16="http://schemas.microsoft.com/office/drawing/2014/main" id="{1D5C6E80-47F3-4162-9868-31E3A48B616A}"/>
                </a:ext>
              </a:extLst>
            </p:cNvPr>
            <p:cNvCxnSpPr>
              <a:cxnSpLocks/>
              <a:stCxn id="97" idx="2"/>
              <a:endCxn id="98" idx="0"/>
            </p:cNvCxnSpPr>
            <p:nvPr/>
          </p:nvCxnSpPr>
          <p:spPr>
            <a:xfrm>
              <a:off x="4006345" y="3715235"/>
              <a:ext cx="629846" cy="742525"/>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09" name="Conector recto 108">
              <a:extLst>
                <a:ext uri="{FF2B5EF4-FFF2-40B4-BE49-F238E27FC236}">
                  <a16:creationId xmlns:a16="http://schemas.microsoft.com/office/drawing/2014/main" id="{4DBD0E7A-C111-73F5-8906-EC225213EF58}"/>
                </a:ext>
              </a:extLst>
            </p:cNvPr>
            <p:cNvCxnSpPr>
              <a:cxnSpLocks/>
              <a:stCxn id="100" idx="2"/>
              <a:endCxn id="96" idx="0"/>
            </p:cNvCxnSpPr>
            <p:nvPr/>
          </p:nvCxnSpPr>
          <p:spPr>
            <a:xfrm flipH="1">
              <a:off x="4006345" y="3706971"/>
              <a:ext cx="700991" cy="750789"/>
            </a:xfrm>
            <a:prstGeom prst="line">
              <a:avLst/>
            </a:prstGeom>
            <a:ln w="38100">
              <a:prstDash val="sysDot"/>
            </a:ln>
          </p:spPr>
          <p:style>
            <a:lnRef idx="1">
              <a:schemeClr val="dk1"/>
            </a:lnRef>
            <a:fillRef idx="0">
              <a:schemeClr val="dk1"/>
            </a:fillRef>
            <a:effectRef idx="0">
              <a:schemeClr val="dk1"/>
            </a:effectRef>
            <a:fontRef idx="minor">
              <a:schemeClr val="tx1"/>
            </a:fontRef>
          </p:style>
        </p:cxnSp>
        <p:pic>
          <p:nvPicPr>
            <p:cNvPr id="110" name="Gráfico 109" descr="Robot contorno">
              <a:extLst>
                <a:ext uri="{FF2B5EF4-FFF2-40B4-BE49-F238E27FC236}">
                  <a16:creationId xmlns:a16="http://schemas.microsoft.com/office/drawing/2014/main" id="{B7C33C79-AACF-C665-85AC-8A7AADAF261E}"/>
                </a:ext>
              </a:extLst>
            </p:cNvPr>
            <p:cNvPicPr>
              <a:picLocks noChangeAspect="1"/>
            </p:cNvPicPr>
            <p:nvPr/>
          </p:nvPicPr>
          <p:blipFill>
            <a:blip r:embed="rId7">
              <a:extLst>
                <a:ext uri="{96DAC541-7B7A-43D3-8B79-37D633B846F1}">
                  <asvg:svgBlip xmlns:asvg="http://schemas.microsoft.com/office/drawing/2016/SVG/main" r:embed="rId8"/>
                </a:ext>
              </a:extLst>
            </a:blip>
            <a:srcRect l="15057" t="4888" r="16688" b="7491"/>
            <a:stretch>
              <a:fillRect/>
            </a:stretch>
          </p:blipFill>
          <p:spPr>
            <a:xfrm>
              <a:off x="5158059" y="3515493"/>
              <a:ext cx="210179" cy="269820"/>
            </a:xfrm>
            <a:prstGeom prst="rect">
              <a:avLst/>
            </a:prstGeom>
          </p:spPr>
        </p:pic>
        <p:pic>
          <p:nvPicPr>
            <p:cNvPr id="125" name="Gráfico 124" descr="Robot contorno">
              <a:extLst>
                <a:ext uri="{FF2B5EF4-FFF2-40B4-BE49-F238E27FC236}">
                  <a16:creationId xmlns:a16="http://schemas.microsoft.com/office/drawing/2014/main" id="{C8B71658-CA22-0C1B-E9F9-B2E5AFB1B9E5}"/>
                </a:ext>
              </a:extLst>
            </p:cNvPr>
            <p:cNvPicPr>
              <a:picLocks noChangeAspect="1"/>
            </p:cNvPicPr>
            <p:nvPr/>
          </p:nvPicPr>
          <p:blipFill>
            <a:blip r:embed="rId7">
              <a:extLst>
                <a:ext uri="{96DAC541-7B7A-43D3-8B79-37D633B846F1}">
                  <asvg:svgBlip xmlns:asvg="http://schemas.microsoft.com/office/drawing/2016/SVG/main" r:embed="rId8"/>
                </a:ext>
              </a:extLst>
            </a:blip>
            <a:srcRect l="15057" t="4888" r="16688" b="7491"/>
            <a:stretch>
              <a:fillRect/>
            </a:stretch>
          </p:blipFill>
          <p:spPr>
            <a:xfrm>
              <a:off x="5523639" y="3846361"/>
              <a:ext cx="210179" cy="269820"/>
            </a:xfrm>
            <a:prstGeom prst="rect">
              <a:avLst/>
            </a:prstGeom>
          </p:spPr>
        </p:pic>
        <p:pic>
          <p:nvPicPr>
            <p:cNvPr id="126" name="Gráfico 125" descr="Robot contorno">
              <a:extLst>
                <a:ext uri="{FF2B5EF4-FFF2-40B4-BE49-F238E27FC236}">
                  <a16:creationId xmlns:a16="http://schemas.microsoft.com/office/drawing/2014/main" id="{E509FB05-8744-DDC6-8877-AF9311400E7F}"/>
                </a:ext>
              </a:extLst>
            </p:cNvPr>
            <p:cNvPicPr>
              <a:picLocks noChangeAspect="1"/>
            </p:cNvPicPr>
            <p:nvPr/>
          </p:nvPicPr>
          <p:blipFill>
            <a:blip r:embed="rId7">
              <a:extLst>
                <a:ext uri="{96DAC541-7B7A-43D3-8B79-37D633B846F1}">
                  <asvg:svgBlip xmlns:asvg="http://schemas.microsoft.com/office/drawing/2016/SVG/main" r:embed="rId8"/>
                </a:ext>
              </a:extLst>
            </a:blip>
            <a:srcRect l="15057" t="4888" r="16688" b="7491"/>
            <a:stretch>
              <a:fillRect/>
            </a:stretch>
          </p:blipFill>
          <p:spPr>
            <a:xfrm>
              <a:off x="5432036" y="4306239"/>
              <a:ext cx="210179" cy="269820"/>
            </a:xfrm>
            <a:prstGeom prst="rect">
              <a:avLst/>
            </a:prstGeom>
          </p:spPr>
        </p:pic>
        <p:pic>
          <p:nvPicPr>
            <p:cNvPr id="127" name="Gráfico 126" descr="Robot contorno">
              <a:extLst>
                <a:ext uri="{FF2B5EF4-FFF2-40B4-BE49-F238E27FC236}">
                  <a16:creationId xmlns:a16="http://schemas.microsoft.com/office/drawing/2014/main" id="{BAC20CB5-5B7E-FE6D-4E53-07BFB618EEDF}"/>
                </a:ext>
              </a:extLst>
            </p:cNvPr>
            <p:cNvPicPr>
              <a:picLocks noChangeAspect="1"/>
            </p:cNvPicPr>
            <p:nvPr/>
          </p:nvPicPr>
          <p:blipFill>
            <a:blip r:embed="rId7">
              <a:extLst>
                <a:ext uri="{96DAC541-7B7A-43D3-8B79-37D633B846F1}">
                  <asvg:svgBlip xmlns:asvg="http://schemas.microsoft.com/office/drawing/2016/SVG/main" r:embed="rId8"/>
                </a:ext>
              </a:extLst>
            </a:blip>
            <a:srcRect l="15057" t="4888" r="16688" b="7491"/>
            <a:stretch>
              <a:fillRect/>
            </a:stretch>
          </p:blipFill>
          <p:spPr>
            <a:xfrm>
              <a:off x="5029298" y="4672301"/>
              <a:ext cx="210179" cy="269820"/>
            </a:xfrm>
            <a:prstGeom prst="rect">
              <a:avLst/>
            </a:prstGeom>
          </p:spPr>
        </p:pic>
        <p:pic>
          <p:nvPicPr>
            <p:cNvPr id="128" name="Gráfico 127" descr="Robot contorno">
              <a:extLst>
                <a:ext uri="{FF2B5EF4-FFF2-40B4-BE49-F238E27FC236}">
                  <a16:creationId xmlns:a16="http://schemas.microsoft.com/office/drawing/2014/main" id="{DC251972-AF02-F6EC-1659-6720F89692D9}"/>
                </a:ext>
              </a:extLst>
            </p:cNvPr>
            <p:cNvPicPr>
              <a:picLocks noChangeAspect="1"/>
            </p:cNvPicPr>
            <p:nvPr/>
          </p:nvPicPr>
          <p:blipFill>
            <a:blip r:embed="rId7">
              <a:extLst>
                <a:ext uri="{96DAC541-7B7A-43D3-8B79-37D633B846F1}">
                  <asvg:svgBlip xmlns:asvg="http://schemas.microsoft.com/office/drawing/2016/SVG/main" r:embed="rId8"/>
                </a:ext>
              </a:extLst>
            </a:blip>
            <a:srcRect l="15057" t="4888" r="16688" b="7491"/>
            <a:stretch>
              <a:fillRect/>
            </a:stretch>
          </p:blipFill>
          <p:spPr>
            <a:xfrm>
              <a:off x="3255880" y="3485124"/>
              <a:ext cx="210179" cy="269820"/>
            </a:xfrm>
            <a:prstGeom prst="rect">
              <a:avLst/>
            </a:prstGeom>
          </p:spPr>
        </p:pic>
        <p:pic>
          <p:nvPicPr>
            <p:cNvPr id="129" name="Gráfico 128" descr="Robot contorno">
              <a:extLst>
                <a:ext uri="{FF2B5EF4-FFF2-40B4-BE49-F238E27FC236}">
                  <a16:creationId xmlns:a16="http://schemas.microsoft.com/office/drawing/2014/main" id="{AD08FC05-3E2D-CF38-A47D-6D068C6990E8}"/>
                </a:ext>
              </a:extLst>
            </p:cNvPr>
            <p:cNvPicPr>
              <a:picLocks noChangeAspect="1"/>
            </p:cNvPicPr>
            <p:nvPr/>
          </p:nvPicPr>
          <p:blipFill>
            <a:blip r:embed="rId7">
              <a:extLst>
                <a:ext uri="{96DAC541-7B7A-43D3-8B79-37D633B846F1}">
                  <asvg:svgBlip xmlns:asvg="http://schemas.microsoft.com/office/drawing/2016/SVG/main" r:embed="rId8"/>
                </a:ext>
              </a:extLst>
            </a:blip>
            <a:srcRect l="15057" t="4888" r="16688" b="7491"/>
            <a:stretch>
              <a:fillRect/>
            </a:stretch>
          </p:blipFill>
          <p:spPr>
            <a:xfrm>
              <a:off x="3055895" y="3957128"/>
              <a:ext cx="210179" cy="269820"/>
            </a:xfrm>
            <a:prstGeom prst="rect">
              <a:avLst/>
            </a:prstGeom>
          </p:spPr>
        </p:pic>
        <p:pic>
          <p:nvPicPr>
            <p:cNvPr id="130" name="Gráfico 129" descr="Robot contorno">
              <a:extLst>
                <a:ext uri="{FF2B5EF4-FFF2-40B4-BE49-F238E27FC236}">
                  <a16:creationId xmlns:a16="http://schemas.microsoft.com/office/drawing/2014/main" id="{AB8A7021-8894-A26E-A7D8-48B9AEDF49F9}"/>
                </a:ext>
              </a:extLst>
            </p:cNvPr>
            <p:cNvPicPr>
              <a:picLocks noChangeAspect="1"/>
            </p:cNvPicPr>
            <p:nvPr/>
          </p:nvPicPr>
          <p:blipFill>
            <a:blip r:embed="rId7">
              <a:extLst>
                <a:ext uri="{96DAC541-7B7A-43D3-8B79-37D633B846F1}">
                  <asvg:svgBlip xmlns:asvg="http://schemas.microsoft.com/office/drawing/2016/SVG/main" r:embed="rId8"/>
                </a:ext>
              </a:extLst>
            </a:blip>
            <a:srcRect l="15057" t="4888" r="16688" b="7491"/>
            <a:stretch>
              <a:fillRect/>
            </a:stretch>
          </p:blipFill>
          <p:spPr>
            <a:xfrm>
              <a:off x="3252997" y="4451407"/>
              <a:ext cx="210179" cy="269820"/>
            </a:xfrm>
            <a:prstGeom prst="rect">
              <a:avLst/>
            </a:prstGeom>
          </p:spPr>
        </p:pic>
        <p:pic>
          <p:nvPicPr>
            <p:cNvPr id="131" name="Gráfico 130" descr="Robot contorno">
              <a:extLst>
                <a:ext uri="{FF2B5EF4-FFF2-40B4-BE49-F238E27FC236}">
                  <a16:creationId xmlns:a16="http://schemas.microsoft.com/office/drawing/2014/main" id="{DAF42B41-E939-29A9-A17F-2C0E13E173D4}"/>
                </a:ext>
              </a:extLst>
            </p:cNvPr>
            <p:cNvPicPr>
              <a:picLocks noChangeAspect="1"/>
            </p:cNvPicPr>
            <p:nvPr/>
          </p:nvPicPr>
          <p:blipFill>
            <a:blip r:embed="rId7">
              <a:extLst>
                <a:ext uri="{96DAC541-7B7A-43D3-8B79-37D633B846F1}">
                  <asvg:svgBlip xmlns:asvg="http://schemas.microsoft.com/office/drawing/2016/SVG/main" r:embed="rId8"/>
                </a:ext>
              </a:extLst>
            </a:blip>
            <a:srcRect l="15057" t="4888" r="16688" b="7491"/>
            <a:stretch>
              <a:fillRect/>
            </a:stretch>
          </p:blipFill>
          <p:spPr>
            <a:xfrm>
              <a:off x="3901254" y="4815817"/>
              <a:ext cx="210179" cy="269820"/>
            </a:xfrm>
            <a:prstGeom prst="rect">
              <a:avLst/>
            </a:prstGeom>
          </p:spPr>
        </p:pic>
        <p:cxnSp>
          <p:nvCxnSpPr>
            <p:cNvPr id="132" name="Conector recto 131">
              <a:extLst>
                <a:ext uri="{FF2B5EF4-FFF2-40B4-BE49-F238E27FC236}">
                  <a16:creationId xmlns:a16="http://schemas.microsoft.com/office/drawing/2014/main" id="{7FE45537-50DA-ED78-3E2F-ADFF6ED71B66}"/>
                </a:ext>
              </a:extLst>
            </p:cNvPr>
            <p:cNvCxnSpPr>
              <a:cxnSpLocks/>
              <a:stCxn id="131" idx="0"/>
              <a:endCxn id="96" idx="2"/>
            </p:cNvCxnSpPr>
            <p:nvPr/>
          </p:nvCxnSpPr>
          <p:spPr>
            <a:xfrm flipV="1">
              <a:off x="4006344" y="4714875"/>
              <a:ext cx="1" cy="100942"/>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35" name="Conector recto 134">
              <a:extLst>
                <a:ext uri="{FF2B5EF4-FFF2-40B4-BE49-F238E27FC236}">
                  <a16:creationId xmlns:a16="http://schemas.microsoft.com/office/drawing/2014/main" id="{922A6677-A10E-7007-A394-319BD0C4ED63}"/>
                </a:ext>
              </a:extLst>
            </p:cNvPr>
            <p:cNvCxnSpPr>
              <a:cxnSpLocks/>
              <a:stCxn id="130" idx="3"/>
              <a:endCxn id="96" idx="1"/>
            </p:cNvCxnSpPr>
            <p:nvPr/>
          </p:nvCxnSpPr>
          <p:spPr>
            <a:xfrm>
              <a:off x="3463176" y="4586317"/>
              <a:ext cx="353379" cy="1"/>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38" name="Conector recto 137">
              <a:extLst>
                <a:ext uri="{FF2B5EF4-FFF2-40B4-BE49-F238E27FC236}">
                  <a16:creationId xmlns:a16="http://schemas.microsoft.com/office/drawing/2014/main" id="{48401740-B154-4385-2DAD-0B1ADB6C2881}"/>
                </a:ext>
              </a:extLst>
            </p:cNvPr>
            <p:cNvCxnSpPr>
              <a:cxnSpLocks/>
              <a:stCxn id="131" idx="1"/>
              <a:endCxn id="130" idx="2"/>
            </p:cNvCxnSpPr>
            <p:nvPr/>
          </p:nvCxnSpPr>
          <p:spPr>
            <a:xfrm flipH="1" flipV="1">
              <a:off x="3358087" y="4721227"/>
              <a:ext cx="543167" cy="229500"/>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51" name="Conector recto 150">
              <a:extLst>
                <a:ext uri="{FF2B5EF4-FFF2-40B4-BE49-F238E27FC236}">
                  <a16:creationId xmlns:a16="http://schemas.microsoft.com/office/drawing/2014/main" id="{1774979D-7067-5331-EF04-4995D25C4801}"/>
                </a:ext>
              </a:extLst>
            </p:cNvPr>
            <p:cNvCxnSpPr>
              <a:cxnSpLocks/>
              <a:stCxn id="131" idx="3"/>
              <a:endCxn id="127" idx="2"/>
            </p:cNvCxnSpPr>
            <p:nvPr/>
          </p:nvCxnSpPr>
          <p:spPr>
            <a:xfrm flipV="1">
              <a:off x="4111433" y="4942121"/>
              <a:ext cx="1022955" cy="8606"/>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54" name="Conector recto 153">
              <a:extLst>
                <a:ext uri="{FF2B5EF4-FFF2-40B4-BE49-F238E27FC236}">
                  <a16:creationId xmlns:a16="http://schemas.microsoft.com/office/drawing/2014/main" id="{E0E8C51F-501F-DC67-63DD-3B1232A61601}"/>
                </a:ext>
              </a:extLst>
            </p:cNvPr>
            <p:cNvCxnSpPr>
              <a:cxnSpLocks/>
              <a:stCxn id="129" idx="3"/>
              <a:endCxn id="95" idx="1"/>
            </p:cNvCxnSpPr>
            <p:nvPr/>
          </p:nvCxnSpPr>
          <p:spPr>
            <a:xfrm flipV="1">
              <a:off x="3266074" y="4086498"/>
              <a:ext cx="170901" cy="5540"/>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58" name="Conector recto 157">
              <a:extLst>
                <a:ext uri="{FF2B5EF4-FFF2-40B4-BE49-F238E27FC236}">
                  <a16:creationId xmlns:a16="http://schemas.microsoft.com/office/drawing/2014/main" id="{14A0A842-C582-CB5C-335C-E2E486A9CB43}"/>
                </a:ext>
              </a:extLst>
            </p:cNvPr>
            <p:cNvCxnSpPr>
              <a:cxnSpLocks/>
              <a:stCxn id="129" idx="2"/>
              <a:endCxn id="130" idx="0"/>
            </p:cNvCxnSpPr>
            <p:nvPr/>
          </p:nvCxnSpPr>
          <p:spPr>
            <a:xfrm>
              <a:off x="3160985" y="4226948"/>
              <a:ext cx="197102" cy="224459"/>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61" name="Conector recto 160">
              <a:extLst>
                <a:ext uri="{FF2B5EF4-FFF2-40B4-BE49-F238E27FC236}">
                  <a16:creationId xmlns:a16="http://schemas.microsoft.com/office/drawing/2014/main" id="{5CA1B991-5E71-E21A-5DDE-9879D0EDAB94}"/>
                </a:ext>
              </a:extLst>
            </p:cNvPr>
            <p:cNvCxnSpPr>
              <a:cxnSpLocks/>
              <a:stCxn id="128" idx="2"/>
              <a:endCxn id="129" idx="0"/>
            </p:cNvCxnSpPr>
            <p:nvPr/>
          </p:nvCxnSpPr>
          <p:spPr>
            <a:xfrm flipH="1">
              <a:off x="3160985" y="3754944"/>
              <a:ext cx="199985" cy="202184"/>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64" name="Conector recto 163">
              <a:extLst>
                <a:ext uri="{FF2B5EF4-FFF2-40B4-BE49-F238E27FC236}">
                  <a16:creationId xmlns:a16="http://schemas.microsoft.com/office/drawing/2014/main" id="{D03823C6-8AF7-9B28-1714-58BCE258C5C3}"/>
                </a:ext>
              </a:extLst>
            </p:cNvPr>
            <p:cNvCxnSpPr>
              <a:cxnSpLocks/>
              <a:stCxn id="128" idx="2"/>
              <a:endCxn id="95" idx="0"/>
            </p:cNvCxnSpPr>
            <p:nvPr/>
          </p:nvCxnSpPr>
          <p:spPr>
            <a:xfrm>
              <a:off x="3360970" y="3754944"/>
              <a:ext cx="265795" cy="202996"/>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67" name="Conector recto 166">
              <a:extLst>
                <a:ext uri="{FF2B5EF4-FFF2-40B4-BE49-F238E27FC236}">
                  <a16:creationId xmlns:a16="http://schemas.microsoft.com/office/drawing/2014/main" id="{7AFC9ABB-7CB5-9B0D-DDA0-E578C424CCCB}"/>
                </a:ext>
              </a:extLst>
            </p:cNvPr>
            <p:cNvCxnSpPr>
              <a:cxnSpLocks/>
              <a:stCxn id="128" idx="3"/>
              <a:endCxn id="97" idx="1"/>
            </p:cNvCxnSpPr>
            <p:nvPr/>
          </p:nvCxnSpPr>
          <p:spPr>
            <a:xfrm flipV="1">
              <a:off x="3466059" y="3586678"/>
              <a:ext cx="350496" cy="33356"/>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71" name="Conector recto 170">
              <a:extLst>
                <a:ext uri="{FF2B5EF4-FFF2-40B4-BE49-F238E27FC236}">
                  <a16:creationId xmlns:a16="http://schemas.microsoft.com/office/drawing/2014/main" id="{529D4457-9F6C-A849-0090-E8CE832581D3}"/>
                </a:ext>
              </a:extLst>
            </p:cNvPr>
            <p:cNvCxnSpPr>
              <a:cxnSpLocks/>
              <a:stCxn id="98" idx="2"/>
              <a:endCxn id="127" idx="1"/>
            </p:cNvCxnSpPr>
            <p:nvPr/>
          </p:nvCxnSpPr>
          <p:spPr>
            <a:xfrm>
              <a:off x="4636191" y="4714875"/>
              <a:ext cx="393107" cy="92336"/>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76" name="Conector recto 175">
              <a:extLst>
                <a:ext uri="{FF2B5EF4-FFF2-40B4-BE49-F238E27FC236}">
                  <a16:creationId xmlns:a16="http://schemas.microsoft.com/office/drawing/2014/main" id="{E325FE9F-FC42-90A3-1A01-D032EC4877D0}"/>
                </a:ext>
              </a:extLst>
            </p:cNvPr>
            <p:cNvCxnSpPr>
              <a:cxnSpLocks/>
              <a:stCxn id="126" idx="2"/>
              <a:endCxn id="127" idx="3"/>
            </p:cNvCxnSpPr>
            <p:nvPr/>
          </p:nvCxnSpPr>
          <p:spPr>
            <a:xfrm flipH="1">
              <a:off x="5239477" y="4576059"/>
              <a:ext cx="297649" cy="231152"/>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79" name="Conector recto 178">
              <a:extLst>
                <a:ext uri="{FF2B5EF4-FFF2-40B4-BE49-F238E27FC236}">
                  <a16:creationId xmlns:a16="http://schemas.microsoft.com/office/drawing/2014/main" id="{D553244F-5469-248B-1E27-284044972BA2}"/>
                </a:ext>
              </a:extLst>
            </p:cNvPr>
            <p:cNvCxnSpPr>
              <a:cxnSpLocks/>
              <a:stCxn id="125" idx="2"/>
              <a:endCxn id="126" idx="0"/>
            </p:cNvCxnSpPr>
            <p:nvPr/>
          </p:nvCxnSpPr>
          <p:spPr>
            <a:xfrm flipH="1">
              <a:off x="5537126" y="4116181"/>
              <a:ext cx="91603" cy="190058"/>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82" name="Conector recto 181">
              <a:extLst>
                <a:ext uri="{FF2B5EF4-FFF2-40B4-BE49-F238E27FC236}">
                  <a16:creationId xmlns:a16="http://schemas.microsoft.com/office/drawing/2014/main" id="{14EADC3C-2DB2-8888-28DA-DBC6E895C231}"/>
                </a:ext>
              </a:extLst>
            </p:cNvPr>
            <p:cNvCxnSpPr>
              <a:cxnSpLocks/>
              <a:stCxn id="110" idx="3"/>
              <a:endCxn id="125" idx="0"/>
            </p:cNvCxnSpPr>
            <p:nvPr/>
          </p:nvCxnSpPr>
          <p:spPr>
            <a:xfrm>
              <a:off x="5368238" y="3650403"/>
              <a:ext cx="260491" cy="195958"/>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85" name="Conector recto 184">
              <a:extLst>
                <a:ext uri="{FF2B5EF4-FFF2-40B4-BE49-F238E27FC236}">
                  <a16:creationId xmlns:a16="http://schemas.microsoft.com/office/drawing/2014/main" id="{A36E09A3-846E-14EB-9BDC-9582852D57CC}"/>
                </a:ext>
              </a:extLst>
            </p:cNvPr>
            <p:cNvCxnSpPr>
              <a:cxnSpLocks/>
              <a:stCxn id="100" idx="3"/>
              <a:endCxn id="110" idx="1"/>
            </p:cNvCxnSpPr>
            <p:nvPr/>
          </p:nvCxnSpPr>
          <p:spPr>
            <a:xfrm>
              <a:off x="4897125" y="3578414"/>
              <a:ext cx="260934" cy="71989"/>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88" name="Conector recto 187">
              <a:extLst>
                <a:ext uri="{FF2B5EF4-FFF2-40B4-BE49-F238E27FC236}">
                  <a16:creationId xmlns:a16="http://schemas.microsoft.com/office/drawing/2014/main" id="{EB93960B-89E5-B01D-716C-FEDB51159871}"/>
                </a:ext>
              </a:extLst>
            </p:cNvPr>
            <p:cNvCxnSpPr>
              <a:cxnSpLocks/>
              <a:stCxn id="110" idx="2"/>
              <a:endCxn id="99" idx="0"/>
            </p:cNvCxnSpPr>
            <p:nvPr/>
          </p:nvCxnSpPr>
          <p:spPr>
            <a:xfrm flipH="1">
              <a:off x="5015770" y="3785313"/>
              <a:ext cx="247379" cy="173896"/>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91" name="Conector recto 190">
              <a:extLst>
                <a:ext uri="{FF2B5EF4-FFF2-40B4-BE49-F238E27FC236}">
                  <a16:creationId xmlns:a16="http://schemas.microsoft.com/office/drawing/2014/main" id="{2470DD4B-9C26-FF3B-1EE2-D686C1AC056E}"/>
                </a:ext>
              </a:extLst>
            </p:cNvPr>
            <p:cNvCxnSpPr>
              <a:cxnSpLocks/>
              <a:stCxn id="125" idx="1"/>
              <a:endCxn id="99" idx="3"/>
            </p:cNvCxnSpPr>
            <p:nvPr/>
          </p:nvCxnSpPr>
          <p:spPr>
            <a:xfrm flipH="1">
              <a:off x="5205559" y="3981271"/>
              <a:ext cx="318080" cy="106496"/>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94" name="Conector recto 193">
              <a:extLst>
                <a:ext uri="{FF2B5EF4-FFF2-40B4-BE49-F238E27FC236}">
                  <a16:creationId xmlns:a16="http://schemas.microsoft.com/office/drawing/2014/main" id="{DEAD6C32-7758-05D7-7056-46C820413DF7}"/>
                </a:ext>
              </a:extLst>
            </p:cNvPr>
            <p:cNvCxnSpPr>
              <a:cxnSpLocks/>
              <a:stCxn id="99" idx="2"/>
              <a:endCxn id="126" idx="1"/>
            </p:cNvCxnSpPr>
            <p:nvPr/>
          </p:nvCxnSpPr>
          <p:spPr>
            <a:xfrm>
              <a:off x="5015770" y="4216324"/>
              <a:ext cx="416266" cy="224825"/>
            </a:xfrm>
            <a:prstGeom prst="line">
              <a:avLst/>
            </a:prstGeom>
            <a:ln w="38100">
              <a:prstDash val="sysDot"/>
            </a:ln>
          </p:spPr>
          <p:style>
            <a:lnRef idx="1">
              <a:schemeClr val="dk1"/>
            </a:lnRef>
            <a:fillRef idx="0">
              <a:schemeClr val="dk1"/>
            </a:fillRef>
            <a:effectRef idx="0">
              <a:schemeClr val="dk1"/>
            </a:effectRef>
            <a:fontRef idx="minor">
              <a:schemeClr val="tx1"/>
            </a:fontRef>
          </p:style>
        </p:cxnSp>
        <p:cxnSp>
          <p:nvCxnSpPr>
            <p:cNvPr id="197" name="Conector recto 196">
              <a:extLst>
                <a:ext uri="{FF2B5EF4-FFF2-40B4-BE49-F238E27FC236}">
                  <a16:creationId xmlns:a16="http://schemas.microsoft.com/office/drawing/2014/main" id="{1C34553D-9233-6F7E-3519-546DCA36874B}"/>
                </a:ext>
              </a:extLst>
            </p:cNvPr>
            <p:cNvCxnSpPr>
              <a:cxnSpLocks/>
              <a:stCxn id="99" idx="2"/>
              <a:endCxn id="127" idx="0"/>
            </p:cNvCxnSpPr>
            <p:nvPr/>
          </p:nvCxnSpPr>
          <p:spPr>
            <a:xfrm>
              <a:off x="5015770" y="4216324"/>
              <a:ext cx="118618" cy="455977"/>
            </a:xfrm>
            <a:prstGeom prst="line">
              <a:avLst/>
            </a:prstGeom>
            <a:ln w="38100">
              <a:prstDash val="sysDot"/>
            </a:ln>
          </p:spPr>
          <p:style>
            <a:lnRef idx="1">
              <a:schemeClr val="dk1"/>
            </a:lnRef>
            <a:fillRef idx="0">
              <a:schemeClr val="dk1"/>
            </a:fillRef>
            <a:effectRef idx="0">
              <a:schemeClr val="dk1"/>
            </a:effectRef>
            <a:fontRef idx="minor">
              <a:schemeClr val="tx1"/>
            </a:fontRef>
          </p:style>
        </p:cxnSp>
      </p:grpSp>
      <p:pic>
        <p:nvPicPr>
          <p:cNvPr id="242" name="Gráfico 241" descr="Trabajo con relleno sólido">
            <a:extLst>
              <a:ext uri="{FF2B5EF4-FFF2-40B4-BE49-F238E27FC236}">
                <a16:creationId xmlns:a16="http://schemas.microsoft.com/office/drawing/2014/main" id="{6D1F49BE-1071-2BA8-64F3-1C55DE58291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06368" y="3661608"/>
            <a:ext cx="914400" cy="914400"/>
          </a:xfrm>
          <a:prstGeom prst="rect">
            <a:avLst/>
          </a:prstGeom>
        </p:spPr>
      </p:pic>
    </p:spTree>
    <p:extLst>
      <p:ext uri="{BB962C8B-B14F-4D97-AF65-F5344CB8AC3E}">
        <p14:creationId xmlns:p14="http://schemas.microsoft.com/office/powerpoint/2010/main" val="3202169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5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rPr>
              <a:t>Proof of Work: Earning the Right to Mine</a:t>
            </a:r>
            <a:endParaRPr lang="en-US" sz="2436" dirty="0"/>
          </a:p>
        </p:txBody>
      </p:sp>
      <p:sp>
        <p:nvSpPr>
          <p:cNvPr id="4" name="Text 1"/>
          <p:cNvSpPr/>
          <p:nvPr/>
        </p:nvSpPr>
        <p:spPr>
          <a:xfrm>
            <a:off x="571500" y="966192"/>
            <a:ext cx="3368102" cy="165173"/>
          </a:xfrm>
          <a:prstGeom prst="rect">
            <a:avLst/>
          </a:prstGeom>
          <a:noFill/>
          <a:ln/>
        </p:spPr>
        <p:txBody>
          <a:bodyPr wrap="none" lIns="0" tIns="0" rIns="0" bIns="0" rtlCol="0" anchor="t">
            <a:spAutoFit/>
          </a:bodyPr>
          <a:lstStyle/>
          <a:p>
            <a:pPr marL="0" indent="0" algn="l">
              <a:lnSpc>
                <a:spcPts val="1200"/>
              </a:lnSpc>
              <a:buNone/>
            </a:pPr>
            <a:r>
              <a:rPr lang="en-US" sz="1400" dirty="0">
                <a:solidFill>
                  <a:srgbClr val="333333"/>
                </a:solidFill>
              </a:rPr>
              <a:t>How miners compete to secure the network</a:t>
            </a:r>
            <a:endParaRPr lang="en-US" sz="1400" dirty="0"/>
          </a:p>
        </p:txBody>
      </p:sp>
      <p:sp>
        <p:nvSpPr>
          <p:cNvPr id="5" name="Shape 2"/>
          <p:cNvSpPr/>
          <p:nvPr/>
        </p:nvSpPr>
        <p:spPr>
          <a:xfrm>
            <a:off x="571500" y="1426964"/>
            <a:ext cx="285750" cy="285750"/>
          </a:xfrm>
          <a:prstGeom prst="ellipse">
            <a:avLst/>
          </a:prstGeom>
          <a:solidFill>
            <a:srgbClr val="0055FF"/>
          </a:solidFill>
          <a:ln/>
        </p:spPr>
        <p:txBody>
          <a:bodyPr/>
          <a:lstStyle/>
          <a:p>
            <a:endParaRPr lang="es-ES" dirty="0"/>
          </a:p>
        </p:txBody>
      </p:sp>
      <p:sp>
        <p:nvSpPr>
          <p:cNvPr id="6" name="Text 3"/>
          <p:cNvSpPr/>
          <p:nvPr/>
        </p:nvSpPr>
        <p:spPr>
          <a:xfrm>
            <a:off x="571500" y="1490843"/>
            <a:ext cx="285750" cy="157992"/>
          </a:xfrm>
          <a:prstGeom prst="rect">
            <a:avLst/>
          </a:prstGeom>
          <a:noFill/>
          <a:ln/>
        </p:spPr>
        <p:txBody>
          <a:bodyPr wrap="square" lIns="0" tIns="0" rIns="0" bIns="0" rtlCol="0" anchor="ctr">
            <a:spAutoFit/>
          </a:bodyPr>
          <a:lstStyle/>
          <a:p>
            <a:pPr marL="0" indent="0" algn="ctr">
              <a:lnSpc>
                <a:spcPts val="1200"/>
              </a:lnSpc>
              <a:buNone/>
            </a:pPr>
            <a:r>
              <a:rPr lang="en-US" sz="1200" b="1" dirty="0">
                <a:solidFill>
                  <a:srgbClr val="FFFFFF"/>
                </a:solidFill>
              </a:rPr>
              <a:t>1</a:t>
            </a:r>
            <a:endParaRPr lang="en-US" sz="885" dirty="0"/>
          </a:p>
        </p:txBody>
      </p:sp>
      <p:sp>
        <p:nvSpPr>
          <p:cNvPr id="7" name="Text 4"/>
          <p:cNvSpPr/>
          <p:nvPr/>
        </p:nvSpPr>
        <p:spPr>
          <a:xfrm>
            <a:off x="964406" y="1482328"/>
            <a:ext cx="995209" cy="157992"/>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A1A1A"/>
                </a:solidFill>
              </a:rPr>
              <a:t>The Challenge</a:t>
            </a:r>
            <a:endParaRPr lang="en-US" sz="1200" dirty="0"/>
          </a:p>
        </p:txBody>
      </p:sp>
      <p:sp>
        <p:nvSpPr>
          <p:cNvPr id="9" name="Shape 6"/>
          <p:cNvSpPr/>
          <p:nvPr/>
        </p:nvSpPr>
        <p:spPr>
          <a:xfrm>
            <a:off x="571500" y="1855589"/>
            <a:ext cx="21431" cy="3287911"/>
          </a:xfrm>
          <a:prstGeom prst="rect">
            <a:avLst/>
          </a:prstGeom>
          <a:solidFill>
            <a:srgbClr val="0055FF"/>
          </a:solidFill>
          <a:ln/>
        </p:spPr>
        <p:txBody>
          <a:bodyPr/>
          <a:lstStyle/>
          <a:p>
            <a:endParaRPr lang="es-ES"/>
          </a:p>
        </p:txBody>
      </p:sp>
      <p:sp>
        <p:nvSpPr>
          <p:cNvPr id="10" name="Text 7"/>
          <p:cNvSpPr/>
          <p:nvPr/>
        </p:nvSpPr>
        <p:spPr>
          <a:xfrm>
            <a:off x="714375" y="1953385"/>
            <a:ext cx="2238366" cy="738664"/>
          </a:xfrm>
          <a:prstGeom prst="rect">
            <a:avLst/>
          </a:prstGeom>
          <a:noFill/>
          <a:ln/>
        </p:spPr>
        <p:txBody>
          <a:bodyPr wrap="square" lIns="0" tIns="0" rIns="0" bIns="0" rtlCol="0" anchor="t">
            <a:spAutoFit/>
          </a:bodyPr>
          <a:lstStyle/>
          <a:p>
            <a:pPr marL="0" indent="0" algn="l">
              <a:buNone/>
            </a:pPr>
            <a:r>
              <a:rPr lang="en-US" sz="1200" dirty="0">
                <a:solidFill>
                  <a:srgbClr val="333333"/>
                </a:solidFill>
              </a:rPr>
              <a:t>Find a (random number) that makes the block's hash start with a specific number of zeros (lower than a given target).</a:t>
            </a:r>
            <a:endParaRPr lang="en-US" sz="1200" dirty="0"/>
          </a:p>
        </p:txBody>
      </p:sp>
      <p:sp>
        <p:nvSpPr>
          <p:cNvPr id="11" name="Shape 8"/>
          <p:cNvSpPr/>
          <p:nvPr/>
        </p:nvSpPr>
        <p:spPr>
          <a:xfrm>
            <a:off x="714375" y="2820782"/>
            <a:ext cx="2238366" cy="1434127"/>
          </a:xfrm>
          <a:prstGeom prst="rect">
            <a:avLst/>
          </a:prstGeom>
          <a:solidFill>
            <a:srgbClr val="F8F8F8"/>
          </a:solidFill>
          <a:ln w="9144">
            <a:solidFill>
              <a:srgbClr val="DDDDDD"/>
            </a:solidFill>
            <a:prstDash val="solid"/>
          </a:ln>
        </p:spPr>
        <p:txBody>
          <a:bodyPr/>
          <a:lstStyle/>
          <a:p>
            <a:endParaRPr lang="es-ES"/>
          </a:p>
        </p:txBody>
      </p:sp>
      <p:sp>
        <p:nvSpPr>
          <p:cNvPr id="12" name="Text 9"/>
          <p:cNvSpPr/>
          <p:nvPr/>
        </p:nvSpPr>
        <p:spPr>
          <a:xfrm>
            <a:off x="714375" y="2801163"/>
            <a:ext cx="2238366" cy="1498872"/>
          </a:xfrm>
          <a:prstGeom prst="rect">
            <a:avLst/>
          </a:prstGeom>
          <a:noFill/>
          <a:ln/>
        </p:spPr>
        <p:txBody>
          <a:bodyPr wrap="square" lIns="102108" tIns="102108" rIns="102108" bIns="102108" rtlCol="0" anchor="t">
            <a:spAutoFit/>
          </a:bodyPr>
          <a:lstStyle/>
          <a:p>
            <a:pPr marL="0" indent="0" algn="l">
              <a:buNone/>
            </a:pPr>
            <a:r>
              <a:rPr lang="en-US" sz="1200" dirty="0">
                <a:solidFill>
                  <a:srgbClr val="1A1A1A"/>
                </a:solidFill>
              </a:rPr>
              <a:t>Input:</a:t>
            </a:r>
          </a:p>
          <a:p>
            <a:pPr marL="0" indent="0" algn="ctr">
              <a:buNone/>
            </a:pPr>
            <a:r>
              <a:rPr lang="en-US" sz="1200" dirty="0">
                <a:solidFill>
                  <a:srgbClr val="1A1A1A"/>
                </a:solidFill>
              </a:rPr>
              <a:t>Block header</a:t>
            </a:r>
          </a:p>
          <a:p>
            <a:pPr marL="0" indent="0" algn="ctr">
              <a:buNone/>
            </a:pPr>
            <a:r>
              <a:rPr lang="en-US" sz="1200" dirty="0">
                <a:solidFill>
                  <a:srgbClr val="1A1A1A"/>
                </a:solidFill>
              </a:rPr>
              <a:t>↓</a:t>
            </a:r>
          </a:p>
          <a:p>
            <a:pPr marL="0" indent="0" algn="ctr">
              <a:buNone/>
            </a:pPr>
            <a:r>
              <a:rPr lang="en-US" sz="1200" dirty="0">
                <a:solidFill>
                  <a:srgbClr val="1A1A1A"/>
                </a:solidFill>
              </a:rPr>
              <a:t>SHA-256 Hash Function</a:t>
            </a:r>
          </a:p>
          <a:p>
            <a:pPr marL="0" indent="0" algn="ctr">
              <a:buNone/>
            </a:pPr>
            <a:r>
              <a:rPr lang="en-US" sz="1200" dirty="0">
                <a:solidFill>
                  <a:srgbClr val="1A1A1A"/>
                </a:solidFill>
              </a:rPr>
              <a:t>↓</a:t>
            </a:r>
          </a:p>
          <a:p>
            <a:pPr marL="0" indent="0" algn="ctr">
              <a:buNone/>
            </a:pPr>
            <a:r>
              <a:rPr lang="en-US" sz="1200" dirty="0">
                <a:solidFill>
                  <a:srgbClr val="1A1A1A"/>
                </a:solidFill>
              </a:rPr>
              <a:t>Output: 000000abcd1234... (Must start with N zeros)</a:t>
            </a:r>
            <a:endParaRPr lang="en-US" sz="1200" dirty="0"/>
          </a:p>
        </p:txBody>
      </p:sp>
      <p:sp>
        <p:nvSpPr>
          <p:cNvPr id="13" name="Text 10"/>
          <p:cNvSpPr/>
          <p:nvPr/>
        </p:nvSpPr>
        <p:spPr>
          <a:xfrm>
            <a:off x="817959" y="4371972"/>
            <a:ext cx="2266941" cy="400110"/>
          </a:xfrm>
          <a:prstGeom prst="rect">
            <a:avLst/>
          </a:prstGeom>
          <a:noFill/>
          <a:ln/>
        </p:spPr>
        <p:txBody>
          <a:bodyPr wrap="square" lIns="0" tIns="0" rIns="0" bIns="0" rtlCol="0" anchor="t">
            <a:spAutoFit/>
          </a:bodyPr>
          <a:lstStyle/>
          <a:p>
            <a:pPr marL="0" indent="0" algn="l">
              <a:buNone/>
            </a:pPr>
            <a:r>
              <a:rPr lang="en-US" sz="1200" b="1" dirty="0">
                <a:solidFill>
                  <a:srgbClr val="333333"/>
                </a:solidFill>
              </a:rPr>
              <a:t>Target:</a:t>
            </a:r>
          </a:p>
          <a:p>
            <a:pPr marL="0" indent="0" algn="l">
              <a:buNone/>
            </a:pPr>
            <a:r>
              <a:rPr lang="en-US" sz="1400" dirty="0">
                <a:solidFill>
                  <a:srgbClr val="333333"/>
                </a:solidFill>
                <a:effectLst>
                  <a:outerShdw blurRad="38100" dist="38100" dir="2700000" algn="tl">
                    <a:srgbClr val="000000">
                      <a:alpha val="43137"/>
                    </a:srgbClr>
                  </a:outerShdw>
                </a:effectLst>
              </a:rPr>
              <a:t>HASH of the block &lt; Difficulty</a:t>
            </a:r>
          </a:p>
        </p:txBody>
      </p:sp>
      <p:sp>
        <p:nvSpPr>
          <p:cNvPr id="14" name="Shape 11"/>
          <p:cNvSpPr/>
          <p:nvPr/>
        </p:nvSpPr>
        <p:spPr>
          <a:xfrm>
            <a:off x="3309928" y="1426964"/>
            <a:ext cx="285750" cy="285750"/>
          </a:xfrm>
          <a:prstGeom prst="ellipse">
            <a:avLst/>
          </a:prstGeom>
          <a:solidFill>
            <a:srgbClr val="0055FF"/>
          </a:solidFill>
          <a:ln/>
        </p:spPr>
        <p:txBody>
          <a:bodyPr/>
          <a:lstStyle/>
          <a:p>
            <a:endParaRPr lang="es-ES" dirty="0"/>
          </a:p>
        </p:txBody>
      </p:sp>
      <p:sp>
        <p:nvSpPr>
          <p:cNvPr id="15" name="Text 12"/>
          <p:cNvSpPr/>
          <p:nvPr/>
        </p:nvSpPr>
        <p:spPr>
          <a:xfrm>
            <a:off x="3309928" y="1490843"/>
            <a:ext cx="285750" cy="157992"/>
          </a:xfrm>
          <a:prstGeom prst="rect">
            <a:avLst/>
          </a:prstGeom>
          <a:noFill/>
          <a:ln/>
        </p:spPr>
        <p:txBody>
          <a:bodyPr wrap="square" lIns="0" tIns="0" rIns="0" bIns="0" rtlCol="0" anchor="ctr">
            <a:spAutoFit/>
          </a:bodyPr>
          <a:lstStyle/>
          <a:p>
            <a:pPr marL="0" indent="0" algn="ctr">
              <a:lnSpc>
                <a:spcPts val="1200"/>
              </a:lnSpc>
              <a:buNone/>
            </a:pPr>
            <a:r>
              <a:rPr lang="en-US" sz="1200" b="1" dirty="0">
                <a:solidFill>
                  <a:srgbClr val="FFFFFF"/>
                </a:solidFill>
              </a:rPr>
              <a:t>2</a:t>
            </a:r>
            <a:endParaRPr lang="en-US" sz="1200" dirty="0"/>
          </a:p>
        </p:txBody>
      </p:sp>
      <p:sp>
        <p:nvSpPr>
          <p:cNvPr id="16" name="Text 13"/>
          <p:cNvSpPr/>
          <p:nvPr/>
        </p:nvSpPr>
        <p:spPr>
          <a:xfrm>
            <a:off x="3702834" y="1482328"/>
            <a:ext cx="849592" cy="157992"/>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A1A1A"/>
                </a:solidFill>
              </a:rPr>
              <a:t>The Process</a:t>
            </a:r>
            <a:endParaRPr lang="en-US" sz="1200" dirty="0"/>
          </a:p>
        </p:txBody>
      </p:sp>
      <p:sp>
        <p:nvSpPr>
          <p:cNvPr id="18" name="Shape 15"/>
          <p:cNvSpPr/>
          <p:nvPr/>
        </p:nvSpPr>
        <p:spPr>
          <a:xfrm>
            <a:off x="3309928" y="1855589"/>
            <a:ext cx="21431" cy="3287911"/>
          </a:xfrm>
          <a:prstGeom prst="rect">
            <a:avLst/>
          </a:prstGeom>
          <a:solidFill>
            <a:srgbClr val="0055FF"/>
          </a:solidFill>
          <a:ln/>
        </p:spPr>
        <p:txBody>
          <a:bodyPr/>
          <a:lstStyle/>
          <a:p>
            <a:endParaRPr lang="es-ES"/>
          </a:p>
        </p:txBody>
      </p:sp>
      <p:sp>
        <p:nvSpPr>
          <p:cNvPr id="19" name="Text 16"/>
          <p:cNvSpPr/>
          <p:nvPr/>
        </p:nvSpPr>
        <p:spPr>
          <a:xfrm>
            <a:off x="3452803" y="1998464"/>
            <a:ext cx="2238366" cy="500137"/>
          </a:xfrm>
          <a:prstGeom prst="rect">
            <a:avLst/>
          </a:prstGeom>
          <a:noFill/>
          <a:ln/>
        </p:spPr>
        <p:txBody>
          <a:bodyPr wrap="square" lIns="0" tIns="0" rIns="0" bIns="0" rtlCol="0" anchor="t">
            <a:spAutoFit/>
          </a:bodyPr>
          <a:lstStyle/>
          <a:p>
            <a:pPr marL="0" indent="0" algn="l">
              <a:lnSpc>
                <a:spcPts val="1300"/>
              </a:lnSpc>
              <a:buNone/>
            </a:pPr>
            <a:r>
              <a:rPr lang="en-US" sz="1200" b="1" dirty="0">
                <a:solidFill>
                  <a:srgbClr val="333333"/>
                </a:solidFill>
              </a:rPr>
              <a:t>Trial and Error:</a:t>
            </a:r>
            <a:r>
              <a:rPr lang="en-US" sz="1200" dirty="0">
                <a:solidFill>
                  <a:srgbClr val="333333"/>
                </a:solidFill>
              </a:rPr>
              <a:t> Miners test billions of Nonce values until one produces a valid hash.</a:t>
            </a:r>
            <a:endParaRPr lang="en-US" sz="1200" dirty="0"/>
          </a:p>
        </p:txBody>
      </p:sp>
      <p:sp>
        <p:nvSpPr>
          <p:cNvPr id="20" name="Shape 17"/>
          <p:cNvSpPr/>
          <p:nvPr/>
        </p:nvSpPr>
        <p:spPr>
          <a:xfrm>
            <a:off x="3476708" y="2609796"/>
            <a:ext cx="2385911" cy="1205284"/>
          </a:xfrm>
          <a:prstGeom prst="rect">
            <a:avLst/>
          </a:prstGeom>
          <a:solidFill>
            <a:srgbClr val="F8F8F8"/>
          </a:solidFill>
          <a:ln w="9144">
            <a:solidFill>
              <a:srgbClr val="DDDDDD"/>
            </a:solidFill>
            <a:prstDash val="solid"/>
          </a:ln>
        </p:spPr>
        <p:txBody>
          <a:bodyPr/>
          <a:lstStyle/>
          <a:p>
            <a:endParaRPr lang="es-ES"/>
          </a:p>
        </p:txBody>
      </p:sp>
      <p:sp>
        <p:nvSpPr>
          <p:cNvPr id="21" name="Text 18"/>
          <p:cNvSpPr/>
          <p:nvPr/>
        </p:nvSpPr>
        <p:spPr>
          <a:xfrm>
            <a:off x="3476709" y="2571750"/>
            <a:ext cx="2385910" cy="1314206"/>
          </a:xfrm>
          <a:prstGeom prst="rect">
            <a:avLst/>
          </a:prstGeom>
          <a:noFill/>
          <a:ln/>
        </p:spPr>
        <p:txBody>
          <a:bodyPr wrap="square" lIns="102108" tIns="102108" rIns="102108" bIns="102108" rtlCol="0" anchor="t">
            <a:spAutoFit/>
          </a:bodyPr>
          <a:lstStyle/>
          <a:p>
            <a:pPr marL="0" indent="0" algn="l">
              <a:buNone/>
            </a:pPr>
            <a:r>
              <a:rPr lang="en-US" sz="1200" dirty="0">
                <a:solidFill>
                  <a:srgbClr val="1A1A1A"/>
                </a:solidFill>
              </a:rPr>
              <a:t>Nonce = 1 → Hash = 3a7f2c9e... Nonce = 2 → Hash = 7b2a1f4e... Nonce = 3 → Hash = 1c8d5e2b... ...</a:t>
            </a:r>
          </a:p>
          <a:p>
            <a:pPr marL="0" indent="0" algn="l">
              <a:buNone/>
            </a:pPr>
            <a:r>
              <a:rPr lang="en-US" sz="1200" dirty="0">
                <a:solidFill>
                  <a:srgbClr val="1A1A1A"/>
                </a:solidFill>
              </a:rPr>
              <a:t>Nonce = 2,147,483,648 → </a:t>
            </a:r>
          </a:p>
          <a:p>
            <a:pPr marL="0" indent="0" algn="l">
              <a:buNone/>
            </a:pPr>
            <a:r>
              <a:rPr lang="en-US" sz="1200" dirty="0">
                <a:solidFill>
                  <a:srgbClr val="1A1A1A"/>
                </a:solidFill>
              </a:rPr>
              <a:t>Hash = 000000abcd... ✓ Found!</a:t>
            </a:r>
            <a:endParaRPr lang="en-US" sz="1200" dirty="0"/>
          </a:p>
        </p:txBody>
      </p:sp>
      <p:sp>
        <p:nvSpPr>
          <p:cNvPr id="22" name="Text 19"/>
          <p:cNvSpPr/>
          <p:nvPr/>
        </p:nvSpPr>
        <p:spPr>
          <a:xfrm>
            <a:off x="3476709" y="3997151"/>
            <a:ext cx="2238365" cy="738664"/>
          </a:xfrm>
          <a:prstGeom prst="rect">
            <a:avLst/>
          </a:prstGeom>
          <a:noFill/>
          <a:ln/>
        </p:spPr>
        <p:txBody>
          <a:bodyPr wrap="square" lIns="0" tIns="0" rIns="0" bIns="0" rtlCol="0" anchor="t">
            <a:spAutoFit/>
          </a:bodyPr>
          <a:lstStyle/>
          <a:p>
            <a:pPr marL="0" indent="0" algn="l">
              <a:buNone/>
            </a:pPr>
            <a:r>
              <a:rPr lang="en-US" sz="1200" b="1" dirty="0">
                <a:solidFill>
                  <a:srgbClr val="333333"/>
                </a:solidFill>
              </a:rPr>
              <a:t>Difficulty Adjustment:</a:t>
            </a:r>
            <a:r>
              <a:rPr lang="en-US" sz="1200" dirty="0">
                <a:solidFill>
                  <a:srgbClr val="333333"/>
                </a:solidFill>
              </a:rPr>
              <a:t> Automatically adjusts to maintain consistent block creation time (~10 min for Bitcoin)</a:t>
            </a:r>
            <a:endParaRPr lang="en-US" sz="1200" dirty="0"/>
          </a:p>
        </p:txBody>
      </p:sp>
      <p:sp>
        <p:nvSpPr>
          <p:cNvPr id="23" name="Shape 20"/>
          <p:cNvSpPr/>
          <p:nvPr/>
        </p:nvSpPr>
        <p:spPr>
          <a:xfrm>
            <a:off x="6048356" y="1426964"/>
            <a:ext cx="285750" cy="285750"/>
          </a:xfrm>
          <a:prstGeom prst="ellipse">
            <a:avLst/>
          </a:prstGeom>
          <a:solidFill>
            <a:srgbClr val="0055FF"/>
          </a:solidFill>
          <a:ln/>
        </p:spPr>
        <p:txBody>
          <a:bodyPr/>
          <a:lstStyle/>
          <a:p>
            <a:endParaRPr lang="es-ES"/>
          </a:p>
        </p:txBody>
      </p:sp>
      <p:sp>
        <p:nvSpPr>
          <p:cNvPr id="24" name="Text 21"/>
          <p:cNvSpPr/>
          <p:nvPr/>
        </p:nvSpPr>
        <p:spPr>
          <a:xfrm>
            <a:off x="6048356" y="1490843"/>
            <a:ext cx="285750" cy="157992"/>
          </a:xfrm>
          <a:prstGeom prst="rect">
            <a:avLst/>
          </a:prstGeom>
          <a:noFill/>
          <a:ln/>
        </p:spPr>
        <p:txBody>
          <a:bodyPr wrap="square" lIns="0" tIns="0" rIns="0" bIns="0" rtlCol="0" anchor="ctr">
            <a:spAutoFit/>
          </a:bodyPr>
          <a:lstStyle/>
          <a:p>
            <a:pPr marL="0" indent="0" algn="ctr">
              <a:lnSpc>
                <a:spcPts val="1200"/>
              </a:lnSpc>
              <a:buNone/>
            </a:pPr>
            <a:r>
              <a:rPr lang="en-US" sz="1200" b="1" dirty="0">
                <a:solidFill>
                  <a:srgbClr val="FFFFFF"/>
                </a:solidFill>
              </a:rPr>
              <a:t>3</a:t>
            </a:r>
            <a:endParaRPr lang="en-US" sz="885" dirty="0"/>
          </a:p>
        </p:txBody>
      </p:sp>
      <p:sp>
        <p:nvSpPr>
          <p:cNvPr id="25" name="Text 22"/>
          <p:cNvSpPr/>
          <p:nvPr/>
        </p:nvSpPr>
        <p:spPr>
          <a:xfrm>
            <a:off x="6441263" y="1482328"/>
            <a:ext cx="812017" cy="157992"/>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A1A1A"/>
                </a:solidFill>
              </a:rPr>
              <a:t>The Reward</a:t>
            </a:r>
            <a:endParaRPr lang="en-US" sz="1200" dirty="0"/>
          </a:p>
        </p:txBody>
      </p:sp>
      <p:sp>
        <p:nvSpPr>
          <p:cNvPr id="27" name="Shape 24"/>
          <p:cNvSpPr/>
          <p:nvPr/>
        </p:nvSpPr>
        <p:spPr>
          <a:xfrm>
            <a:off x="6048356" y="1855589"/>
            <a:ext cx="21431" cy="3287911"/>
          </a:xfrm>
          <a:prstGeom prst="rect">
            <a:avLst/>
          </a:prstGeom>
          <a:solidFill>
            <a:srgbClr val="0055FF"/>
          </a:solidFill>
          <a:ln/>
        </p:spPr>
        <p:txBody>
          <a:bodyPr/>
          <a:lstStyle/>
          <a:p>
            <a:endParaRPr lang="es-ES"/>
          </a:p>
        </p:txBody>
      </p:sp>
      <p:sp>
        <p:nvSpPr>
          <p:cNvPr id="28" name="Text 25"/>
          <p:cNvSpPr/>
          <p:nvPr/>
        </p:nvSpPr>
        <p:spPr>
          <a:xfrm>
            <a:off x="6191231" y="1998464"/>
            <a:ext cx="2238366" cy="500137"/>
          </a:xfrm>
          <a:prstGeom prst="rect">
            <a:avLst/>
          </a:prstGeom>
          <a:noFill/>
          <a:ln/>
        </p:spPr>
        <p:txBody>
          <a:bodyPr wrap="square" lIns="0" tIns="0" rIns="0" bIns="0" rtlCol="0" anchor="t">
            <a:spAutoFit/>
          </a:bodyPr>
          <a:lstStyle/>
          <a:p>
            <a:pPr marL="0" indent="0" algn="l">
              <a:lnSpc>
                <a:spcPts val="1300"/>
              </a:lnSpc>
              <a:buNone/>
            </a:pPr>
            <a:r>
              <a:rPr lang="en-US" sz="1200" dirty="0">
                <a:solidFill>
                  <a:srgbClr val="333333"/>
                </a:solidFill>
              </a:rPr>
              <a:t>The miner who finds the solution first wins the right to add their block to the chain.</a:t>
            </a:r>
            <a:endParaRPr lang="en-US" sz="1200" dirty="0"/>
          </a:p>
        </p:txBody>
      </p:sp>
      <p:sp>
        <p:nvSpPr>
          <p:cNvPr id="29" name="Shape 26"/>
          <p:cNvSpPr/>
          <p:nvPr/>
        </p:nvSpPr>
        <p:spPr>
          <a:xfrm>
            <a:off x="6195840" y="2609795"/>
            <a:ext cx="2324119" cy="500137"/>
          </a:xfrm>
          <a:prstGeom prst="rect">
            <a:avLst/>
          </a:prstGeom>
          <a:solidFill>
            <a:srgbClr val="F8F8F8"/>
          </a:solidFill>
          <a:ln w="9144">
            <a:solidFill>
              <a:srgbClr val="DDDDDD"/>
            </a:solidFill>
            <a:prstDash val="solid"/>
          </a:ln>
        </p:spPr>
        <p:txBody>
          <a:bodyPr/>
          <a:lstStyle/>
          <a:p>
            <a:endParaRPr lang="es-ES"/>
          </a:p>
        </p:txBody>
      </p:sp>
      <p:sp>
        <p:nvSpPr>
          <p:cNvPr id="30" name="Text 27"/>
          <p:cNvSpPr/>
          <p:nvPr/>
        </p:nvSpPr>
        <p:spPr>
          <a:xfrm>
            <a:off x="6191231" y="2566165"/>
            <a:ext cx="2174073" cy="575542"/>
          </a:xfrm>
          <a:prstGeom prst="rect">
            <a:avLst/>
          </a:prstGeom>
          <a:noFill/>
          <a:ln/>
        </p:spPr>
        <p:txBody>
          <a:bodyPr wrap="square" lIns="102108" tIns="102108" rIns="102108" bIns="102108" rtlCol="0" anchor="t">
            <a:spAutoFit/>
          </a:bodyPr>
          <a:lstStyle/>
          <a:p>
            <a:pPr marL="0" indent="0" algn="l">
              <a:buNone/>
            </a:pPr>
            <a:r>
              <a:rPr lang="en-US" sz="1200" dirty="0">
                <a:solidFill>
                  <a:srgbClr val="1A1A1A"/>
                </a:solidFill>
              </a:rPr>
              <a:t>Reward = Newly Created BTC + Transaction Fees</a:t>
            </a:r>
            <a:endParaRPr lang="en-US" sz="1200" dirty="0"/>
          </a:p>
        </p:txBody>
      </p:sp>
      <p:sp>
        <p:nvSpPr>
          <p:cNvPr id="31" name="Text 28"/>
          <p:cNvSpPr/>
          <p:nvPr/>
        </p:nvSpPr>
        <p:spPr>
          <a:xfrm>
            <a:off x="6191247" y="3284293"/>
            <a:ext cx="2443934" cy="430502"/>
          </a:xfrm>
          <a:prstGeom prst="rect">
            <a:avLst/>
          </a:prstGeom>
          <a:noFill/>
          <a:ln/>
        </p:spPr>
        <p:txBody>
          <a:bodyPr wrap="square" lIns="0" tIns="0" rIns="0" bIns="0" rtlCol="0" anchor="t">
            <a:spAutoFit/>
          </a:bodyPr>
          <a:lstStyle/>
          <a:p>
            <a:pPr marL="0" indent="0" algn="l">
              <a:lnSpc>
                <a:spcPts val="1100"/>
              </a:lnSpc>
              <a:buNone/>
            </a:pPr>
            <a:r>
              <a:rPr lang="en-US" sz="1200" b="1" dirty="0">
                <a:solidFill>
                  <a:srgbClr val="333333"/>
                </a:solidFill>
              </a:rPr>
              <a:t>Incentive:</a:t>
            </a:r>
            <a:r>
              <a:rPr lang="en-US" sz="1200" dirty="0">
                <a:solidFill>
                  <a:srgbClr val="333333"/>
                </a:solidFill>
              </a:rPr>
              <a:t> Miners are motivated to work on the main chain, securing the network</a:t>
            </a:r>
            <a:endParaRPr lang="en-US" sz="1200" dirty="0"/>
          </a:p>
        </p:txBody>
      </p:sp>
      <p:sp>
        <p:nvSpPr>
          <p:cNvPr id="32" name="Text 29"/>
          <p:cNvSpPr/>
          <p:nvPr/>
        </p:nvSpPr>
        <p:spPr>
          <a:xfrm>
            <a:off x="6191229" y="3796902"/>
            <a:ext cx="2443933" cy="430502"/>
          </a:xfrm>
          <a:prstGeom prst="rect">
            <a:avLst/>
          </a:prstGeom>
          <a:noFill/>
          <a:ln/>
        </p:spPr>
        <p:txBody>
          <a:bodyPr wrap="square" lIns="0" tIns="0" rIns="0" bIns="0" rtlCol="0" anchor="t">
            <a:spAutoFit/>
          </a:bodyPr>
          <a:lstStyle/>
          <a:p>
            <a:pPr marL="0" indent="0" algn="l">
              <a:lnSpc>
                <a:spcPts val="1100"/>
              </a:lnSpc>
              <a:buNone/>
            </a:pPr>
            <a:r>
              <a:rPr lang="en-US" sz="1200" b="1" dirty="0">
                <a:solidFill>
                  <a:srgbClr val="333333"/>
                </a:solidFill>
              </a:rPr>
              <a:t>Cost:</a:t>
            </a:r>
            <a:r>
              <a:rPr lang="en-US" sz="1200" dirty="0">
                <a:solidFill>
                  <a:srgbClr val="333333"/>
                </a:solidFill>
              </a:rPr>
              <a:t> Massive computational power and electricity required, making attacks economically prohibitive</a:t>
            </a:r>
            <a:endParaRPr lang="en-US" sz="1200" dirty="0"/>
          </a:p>
        </p:txBody>
      </p:sp>
      <p:sp>
        <p:nvSpPr>
          <p:cNvPr id="36" name="Marcador de número de diapositiva 35">
            <a:extLst>
              <a:ext uri="{FF2B5EF4-FFF2-40B4-BE49-F238E27FC236}">
                <a16:creationId xmlns:a16="http://schemas.microsoft.com/office/drawing/2014/main" id="{014DC2A1-465E-2F96-9964-903C45659634}"/>
              </a:ext>
            </a:extLst>
          </p:cNvPr>
          <p:cNvSpPr>
            <a:spLocks noGrp="1"/>
          </p:cNvSpPr>
          <p:nvPr>
            <p:ph type="sldNum" sz="quarter" idx="12"/>
          </p:nvPr>
        </p:nvSpPr>
        <p:spPr/>
        <p:txBody>
          <a:bodyPr/>
          <a:lstStyle/>
          <a:p>
            <a:fld id="{621D377E-C6E5-404B-8AA2-3999D49F21B5}" type="slidenum">
              <a:rPr lang="es-ES" smtClean="0"/>
              <a:t>10</a:t>
            </a:fld>
            <a:endParaRPr lang="es-ES"/>
          </a:p>
        </p:txBody>
      </p:sp>
      <p:pic>
        <p:nvPicPr>
          <p:cNvPr id="38" name="Gráfico 37" descr="Bitcoin con relleno sólido">
            <a:extLst>
              <a:ext uri="{FF2B5EF4-FFF2-40B4-BE49-F238E27FC236}">
                <a16:creationId xmlns:a16="http://schemas.microsoft.com/office/drawing/2014/main" id="{6224C80E-2284-AF98-0A0E-7959896E38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71085" y="4294402"/>
            <a:ext cx="678657" cy="67865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571500" y="428625"/>
            <a:ext cx="4232890" cy="394275"/>
          </a:xfrm>
          <a:prstGeom prst="rect">
            <a:avLst/>
          </a:prstGeom>
          <a:noFill/>
          <a:ln/>
        </p:spPr>
        <p:txBody>
          <a:bodyPr wrap="none" lIns="0" tIns="0" rIns="0" bIns="0" rtlCol="0" anchor="t">
            <a:spAutoFit/>
          </a:bodyPr>
          <a:lstStyle/>
          <a:p>
            <a:pPr marL="0" indent="0" algn="l">
              <a:lnSpc>
                <a:spcPts val="3200"/>
              </a:lnSpc>
              <a:buNone/>
            </a:pPr>
            <a:r>
              <a:rPr lang="en-US" sz="2436" b="1" dirty="0"/>
              <a:t>The Longest Chain is the Truth</a:t>
            </a:r>
            <a:endParaRPr lang="en-US" sz="2436" dirty="0"/>
          </a:p>
        </p:txBody>
      </p:sp>
      <p:sp>
        <p:nvSpPr>
          <p:cNvPr id="4" name="Text 1"/>
          <p:cNvSpPr/>
          <p:nvPr/>
        </p:nvSpPr>
        <p:spPr>
          <a:xfrm>
            <a:off x="571500" y="966192"/>
            <a:ext cx="4697120" cy="165173"/>
          </a:xfrm>
          <a:prstGeom prst="rect">
            <a:avLst/>
          </a:prstGeom>
          <a:noFill/>
          <a:ln/>
        </p:spPr>
        <p:txBody>
          <a:bodyPr wrap="none" lIns="0" tIns="0" rIns="0" bIns="0" rtlCol="0" anchor="t">
            <a:spAutoFit/>
          </a:bodyPr>
          <a:lstStyle/>
          <a:p>
            <a:pPr marL="0" indent="0" algn="l">
              <a:lnSpc>
                <a:spcPts val="1200"/>
              </a:lnSpc>
              <a:buNone/>
            </a:pPr>
            <a:r>
              <a:rPr lang="en-US" sz="1400" dirty="0"/>
              <a:t>How the network reaches consensus on the canonical ledger</a:t>
            </a:r>
          </a:p>
        </p:txBody>
      </p:sp>
      <p:sp>
        <p:nvSpPr>
          <p:cNvPr id="5" name="Text 2"/>
          <p:cNvSpPr/>
          <p:nvPr/>
        </p:nvSpPr>
        <p:spPr>
          <a:xfrm>
            <a:off x="485740" y="1958831"/>
            <a:ext cx="589905" cy="129138"/>
          </a:xfrm>
          <a:prstGeom prst="rect">
            <a:avLst/>
          </a:prstGeom>
          <a:noFill/>
          <a:ln/>
        </p:spPr>
        <p:txBody>
          <a:bodyPr wrap="none" lIns="0" tIns="0" rIns="0" bIns="0" rtlCol="0" anchor="t">
            <a:spAutoFit/>
          </a:bodyPr>
          <a:lstStyle/>
          <a:p>
            <a:pPr marL="0" indent="0" algn="l">
              <a:lnSpc>
                <a:spcPts val="900"/>
              </a:lnSpc>
              <a:buNone/>
            </a:pPr>
            <a:r>
              <a:rPr lang="en-US" sz="1200" b="1" dirty="0"/>
              <a:t>Chain A:</a:t>
            </a:r>
            <a:endParaRPr lang="en-US" sz="1200" dirty="0"/>
          </a:p>
        </p:txBody>
      </p:sp>
      <p:sp>
        <p:nvSpPr>
          <p:cNvPr id="14" name="Text 11"/>
          <p:cNvSpPr/>
          <p:nvPr/>
        </p:nvSpPr>
        <p:spPr>
          <a:xfrm>
            <a:off x="3886443" y="1973349"/>
            <a:ext cx="1013739" cy="129138"/>
          </a:xfrm>
          <a:prstGeom prst="rect">
            <a:avLst/>
          </a:prstGeom>
          <a:noFill/>
          <a:ln/>
        </p:spPr>
        <p:txBody>
          <a:bodyPr wrap="none" lIns="0" tIns="0" rIns="0" bIns="0" rtlCol="0" anchor="t">
            <a:spAutoFit/>
          </a:bodyPr>
          <a:lstStyle/>
          <a:p>
            <a:pPr marL="0" indent="0" algn="l">
              <a:lnSpc>
                <a:spcPts val="900"/>
              </a:lnSpc>
              <a:buNone/>
            </a:pPr>
            <a:r>
              <a:rPr lang="en-US" sz="1200" b="1" dirty="0"/>
              <a:t>✓ CANONICAL</a:t>
            </a:r>
            <a:endParaRPr lang="en-US" sz="1200" dirty="0"/>
          </a:p>
        </p:txBody>
      </p:sp>
      <p:sp>
        <p:nvSpPr>
          <p:cNvPr id="15" name="Text 12"/>
          <p:cNvSpPr/>
          <p:nvPr/>
        </p:nvSpPr>
        <p:spPr>
          <a:xfrm>
            <a:off x="1143000" y="2288409"/>
            <a:ext cx="3757182" cy="119520"/>
          </a:xfrm>
          <a:prstGeom prst="rect">
            <a:avLst/>
          </a:prstGeom>
          <a:noFill/>
          <a:ln/>
        </p:spPr>
        <p:txBody>
          <a:bodyPr wrap="none" lIns="0" tIns="0" rIns="0" bIns="0" rtlCol="0" anchor="t">
            <a:spAutoFit/>
          </a:bodyPr>
          <a:lstStyle/>
          <a:p>
            <a:pPr marL="0" indent="0" algn="l">
              <a:lnSpc>
                <a:spcPts val="800"/>
              </a:lnSpc>
              <a:buNone/>
            </a:pPr>
            <a:r>
              <a:rPr lang="en-US" sz="1200" dirty="0"/>
              <a:t>4 blocks | More confirmations | Most computational work</a:t>
            </a:r>
          </a:p>
        </p:txBody>
      </p:sp>
      <p:sp>
        <p:nvSpPr>
          <p:cNvPr id="16" name="Text 13"/>
          <p:cNvSpPr/>
          <p:nvPr/>
        </p:nvSpPr>
        <p:spPr>
          <a:xfrm>
            <a:off x="485740" y="2663045"/>
            <a:ext cx="588303" cy="129138"/>
          </a:xfrm>
          <a:prstGeom prst="rect">
            <a:avLst/>
          </a:prstGeom>
          <a:noFill/>
          <a:ln/>
        </p:spPr>
        <p:txBody>
          <a:bodyPr wrap="none" lIns="0" tIns="0" rIns="0" bIns="0" rtlCol="0" anchor="t">
            <a:spAutoFit/>
          </a:bodyPr>
          <a:lstStyle/>
          <a:p>
            <a:pPr marL="0" indent="0" algn="l">
              <a:lnSpc>
                <a:spcPts val="900"/>
              </a:lnSpc>
              <a:buNone/>
            </a:pPr>
            <a:r>
              <a:rPr lang="en-US" sz="1200" b="1" dirty="0"/>
              <a:t>Chain B:</a:t>
            </a:r>
            <a:endParaRPr lang="en-US" sz="1200" dirty="0"/>
          </a:p>
        </p:txBody>
      </p:sp>
      <p:sp>
        <p:nvSpPr>
          <p:cNvPr id="23" name="Text 20"/>
          <p:cNvSpPr/>
          <p:nvPr/>
        </p:nvSpPr>
        <p:spPr>
          <a:xfrm>
            <a:off x="1143000" y="2986790"/>
            <a:ext cx="2960490" cy="119520"/>
          </a:xfrm>
          <a:prstGeom prst="rect">
            <a:avLst/>
          </a:prstGeom>
          <a:noFill/>
          <a:ln/>
        </p:spPr>
        <p:txBody>
          <a:bodyPr wrap="none" lIns="0" tIns="0" rIns="0" bIns="0" rtlCol="0" anchor="t">
            <a:spAutoFit/>
          </a:bodyPr>
          <a:lstStyle/>
          <a:p>
            <a:pPr marL="0" indent="0" algn="l">
              <a:lnSpc>
                <a:spcPts val="800"/>
              </a:lnSpc>
              <a:buNone/>
            </a:pPr>
            <a:r>
              <a:rPr lang="en-US" sz="1200" dirty="0"/>
              <a:t>3 blocks | Orphaned | Abandoned by network</a:t>
            </a:r>
          </a:p>
        </p:txBody>
      </p:sp>
      <p:sp>
        <p:nvSpPr>
          <p:cNvPr id="24" name="Text 21"/>
          <p:cNvSpPr/>
          <p:nvPr/>
        </p:nvSpPr>
        <p:spPr>
          <a:xfrm>
            <a:off x="485740" y="3343169"/>
            <a:ext cx="4468368" cy="465769"/>
          </a:xfrm>
          <a:prstGeom prst="rect">
            <a:avLst/>
          </a:prstGeom>
          <a:noFill/>
          <a:ln/>
        </p:spPr>
        <p:txBody>
          <a:bodyPr wrap="square" lIns="0" tIns="0" rIns="0" bIns="0" rtlCol="0" anchor="t">
            <a:spAutoFit/>
          </a:bodyPr>
          <a:lstStyle/>
          <a:p>
            <a:pPr marL="0" indent="0" algn="l">
              <a:lnSpc>
                <a:spcPts val="1200"/>
              </a:lnSpc>
              <a:buNone/>
            </a:pPr>
            <a:r>
              <a:rPr lang="en-US" sz="1200" b="1" dirty="0"/>
              <a:t>Fork Resolution:</a:t>
            </a:r>
            <a:r>
              <a:rPr lang="en-US" sz="1200" dirty="0"/>
              <a:t> When two chains compete, nodes follow both temporarily. As Chain A grows longer, nodes abandon Chain B. Miners working on Chain B lose their rewards.</a:t>
            </a:r>
          </a:p>
        </p:txBody>
      </p:sp>
      <p:sp>
        <p:nvSpPr>
          <p:cNvPr id="25" name="Text 22"/>
          <p:cNvSpPr/>
          <p:nvPr/>
        </p:nvSpPr>
        <p:spPr>
          <a:xfrm>
            <a:off x="5394488" y="1316742"/>
            <a:ext cx="1327928" cy="165173"/>
          </a:xfrm>
          <a:prstGeom prst="rect">
            <a:avLst/>
          </a:prstGeom>
          <a:noFill/>
          <a:ln/>
        </p:spPr>
        <p:txBody>
          <a:bodyPr wrap="none" lIns="0" tIns="0" rIns="0" bIns="0" rtlCol="0" anchor="t">
            <a:spAutoFit/>
          </a:bodyPr>
          <a:lstStyle/>
          <a:p>
            <a:pPr marL="0" indent="0" algn="l">
              <a:lnSpc>
                <a:spcPts val="1200"/>
              </a:lnSpc>
              <a:buNone/>
            </a:pPr>
            <a:r>
              <a:rPr lang="en-US" sz="1400" b="1" dirty="0"/>
              <a:t>Consensus Rule</a:t>
            </a:r>
            <a:endParaRPr lang="en-US" sz="1400" dirty="0"/>
          </a:p>
        </p:txBody>
      </p:sp>
      <p:sp>
        <p:nvSpPr>
          <p:cNvPr id="45" name="Marcador de número de diapositiva 44">
            <a:extLst>
              <a:ext uri="{FF2B5EF4-FFF2-40B4-BE49-F238E27FC236}">
                <a16:creationId xmlns:a16="http://schemas.microsoft.com/office/drawing/2014/main" id="{C0A31D07-9812-7BFB-A542-2F00519E656F}"/>
              </a:ext>
            </a:extLst>
          </p:cNvPr>
          <p:cNvSpPr>
            <a:spLocks noGrp="1"/>
          </p:cNvSpPr>
          <p:nvPr>
            <p:ph type="sldNum" sz="quarter" idx="12"/>
          </p:nvPr>
        </p:nvSpPr>
        <p:spPr/>
        <p:txBody>
          <a:bodyPr/>
          <a:lstStyle/>
          <a:p>
            <a:fld id="{621D377E-C6E5-404B-8AA2-3999D49F21B5}" type="slidenum">
              <a:rPr lang="es-ES" smtClean="0"/>
              <a:t>11</a:t>
            </a:fld>
            <a:endParaRPr lang="es-ES"/>
          </a:p>
        </p:txBody>
      </p:sp>
      <p:sp>
        <p:nvSpPr>
          <p:cNvPr id="46" name="Rectángulo 45">
            <a:extLst>
              <a:ext uri="{FF2B5EF4-FFF2-40B4-BE49-F238E27FC236}">
                <a16:creationId xmlns:a16="http://schemas.microsoft.com/office/drawing/2014/main" id="{33EDBE46-21CE-5FCE-539D-5844F4462C05}"/>
              </a:ext>
            </a:extLst>
          </p:cNvPr>
          <p:cNvSpPr/>
          <p:nvPr/>
        </p:nvSpPr>
        <p:spPr>
          <a:xfrm>
            <a:off x="1219084" y="1880525"/>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a:t>
            </a:r>
          </a:p>
        </p:txBody>
      </p:sp>
      <p:sp>
        <p:nvSpPr>
          <p:cNvPr id="47" name="Rectángulo 46">
            <a:extLst>
              <a:ext uri="{FF2B5EF4-FFF2-40B4-BE49-F238E27FC236}">
                <a16:creationId xmlns:a16="http://schemas.microsoft.com/office/drawing/2014/main" id="{A8BAAC39-1302-B95A-F084-749975CB1B55}"/>
              </a:ext>
            </a:extLst>
          </p:cNvPr>
          <p:cNvSpPr/>
          <p:nvPr/>
        </p:nvSpPr>
        <p:spPr>
          <a:xfrm>
            <a:off x="1725041" y="1880525"/>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2</a:t>
            </a:r>
          </a:p>
        </p:txBody>
      </p:sp>
      <p:sp>
        <p:nvSpPr>
          <p:cNvPr id="48" name="Rectángulo 47">
            <a:extLst>
              <a:ext uri="{FF2B5EF4-FFF2-40B4-BE49-F238E27FC236}">
                <a16:creationId xmlns:a16="http://schemas.microsoft.com/office/drawing/2014/main" id="{B21C2742-DC9E-4FE5-D36C-E366512B737D}"/>
              </a:ext>
            </a:extLst>
          </p:cNvPr>
          <p:cNvSpPr/>
          <p:nvPr/>
        </p:nvSpPr>
        <p:spPr>
          <a:xfrm>
            <a:off x="2230998" y="1883429"/>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3</a:t>
            </a:r>
          </a:p>
        </p:txBody>
      </p:sp>
      <p:sp>
        <p:nvSpPr>
          <p:cNvPr id="49" name="Rectángulo 48">
            <a:extLst>
              <a:ext uri="{FF2B5EF4-FFF2-40B4-BE49-F238E27FC236}">
                <a16:creationId xmlns:a16="http://schemas.microsoft.com/office/drawing/2014/main" id="{63728DA2-21E3-305A-B63D-1E9BAE062FE0}"/>
              </a:ext>
            </a:extLst>
          </p:cNvPr>
          <p:cNvSpPr/>
          <p:nvPr/>
        </p:nvSpPr>
        <p:spPr>
          <a:xfrm>
            <a:off x="2731476" y="1883429"/>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4</a:t>
            </a:r>
          </a:p>
        </p:txBody>
      </p:sp>
      <p:sp>
        <p:nvSpPr>
          <p:cNvPr id="50" name="Rectángulo 49">
            <a:extLst>
              <a:ext uri="{FF2B5EF4-FFF2-40B4-BE49-F238E27FC236}">
                <a16:creationId xmlns:a16="http://schemas.microsoft.com/office/drawing/2014/main" id="{DA7E91AC-964F-E98D-313E-E8417B6DBBD2}"/>
              </a:ext>
            </a:extLst>
          </p:cNvPr>
          <p:cNvSpPr/>
          <p:nvPr/>
        </p:nvSpPr>
        <p:spPr>
          <a:xfrm>
            <a:off x="1219083" y="2576619"/>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a:t>
            </a:r>
          </a:p>
        </p:txBody>
      </p:sp>
      <p:sp>
        <p:nvSpPr>
          <p:cNvPr id="51" name="Rectángulo 50">
            <a:extLst>
              <a:ext uri="{FF2B5EF4-FFF2-40B4-BE49-F238E27FC236}">
                <a16:creationId xmlns:a16="http://schemas.microsoft.com/office/drawing/2014/main" id="{D0F5BC05-99E5-35DF-BB45-01BF262EE637}"/>
              </a:ext>
            </a:extLst>
          </p:cNvPr>
          <p:cNvSpPr/>
          <p:nvPr/>
        </p:nvSpPr>
        <p:spPr>
          <a:xfrm>
            <a:off x="1725041" y="2573747"/>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2</a:t>
            </a:r>
          </a:p>
        </p:txBody>
      </p:sp>
      <p:sp>
        <p:nvSpPr>
          <p:cNvPr id="52" name="Rectángulo 51">
            <a:extLst>
              <a:ext uri="{FF2B5EF4-FFF2-40B4-BE49-F238E27FC236}">
                <a16:creationId xmlns:a16="http://schemas.microsoft.com/office/drawing/2014/main" id="{EA9ECA54-0488-9C87-AE3A-4B1D3D52A792}"/>
              </a:ext>
            </a:extLst>
          </p:cNvPr>
          <p:cNvSpPr/>
          <p:nvPr/>
        </p:nvSpPr>
        <p:spPr>
          <a:xfrm>
            <a:off x="2230998" y="2573747"/>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3</a:t>
            </a:r>
          </a:p>
        </p:txBody>
      </p:sp>
      <p:grpSp>
        <p:nvGrpSpPr>
          <p:cNvPr id="53" name="Grupo 52">
            <a:extLst>
              <a:ext uri="{FF2B5EF4-FFF2-40B4-BE49-F238E27FC236}">
                <a16:creationId xmlns:a16="http://schemas.microsoft.com/office/drawing/2014/main" id="{87E720B1-E8B9-C869-D547-F995C0E9978E}"/>
              </a:ext>
            </a:extLst>
          </p:cNvPr>
          <p:cNvGrpSpPr/>
          <p:nvPr/>
        </p:nvGrpSpPr>
        <p:grpSpPr>
          <a:xfrm>
            <a:off x="5114909" y="1650782"/>
            <a:ext cx="3791713" cy="460888"/>
            <a:chOff x="4723352" y="1071339"/>
            <a:chExt cx="3791713" cy="460888"/>
          </a:xfrm>
        </p:grpSpPr>
        <p:grpSp>
          <p:nvGrpSpPr>
            <p:cNvPr id="54" name="Grupo 53">
              <a:extLst>
                <a:ext uri="{FF2B5EF4-FFF2-40B4-BE49-F238E27FC236}">
                  <a16:creationId xmlns:a16="http://schemas.microsoft.com/office/drawing/2014/main" id="{4974F32A-54BA-30D4-E242-99F3098AE923}"/>
                </a:ext>
              </a:extLst>
            </p:cNvPr>
            <p:cNvGrpSpPr/>
            <p:nvPr/>
          </p:nvGrpSpPr>
          <p:grpSpPr>
            <a:xfrm>
              <a:off x="4723352" y="1071339"/>
              <a:ext cx="228600" cy="228600"/>
              <a:chOff x="4728878" y="1071339"/>
              <a:chExt cx="228600" cy="228600"/>
            </a:xfrm>
          </p:grpSpPr>
          <p:sp>
            <p:nvSpPr>
              <p:cNvPr id="58" name="Shape 23">
                <a:extLst>
                  <a:ext uri="{FF2B5EF4-FFF2-40B4-BE49-F238E27FC236}">
                    <a16:creationId xmlns:a16="http://schemas.microsoft.com/office/drawing/2014/main" id="{C64F1E68-527D-0EA7-C499-722935C195D4}"/>
                  </a:ext>
                </a:extLst>
              </p:cNvPr>
              <p:cNvSpPr/>
              <p:nvPr/>
            </p:nvSpPr>
            <p:spPr>
              <a:xfrm>
                <a:off x="4728878" y="1071339"/>
                <a:ext cx="228600" cy="228600"/>
              </a:xfrm>
              <a:prstGeom prst="ellipse">
                <a:avLst/>
              </a:prstGeom>
              <a:solidFill>
                <a:srgbClr val="0055FF"/>
              </a:solidFill>
              <a:ln/>
            </p:spPr>
            <p:txBody>
              <a:bodyPr/>
              <a:lstStyle/>
              <a:p>
                <a:endParaRPr lang="es-ES" sz="1200"/>
              </a:p>
            </p:txBody>
          </p:sp>
          <p:sp>
            <p:nvSpPr>
              <p:cNvPr id="59" name="Text 24">
                <a:extLst>
                  <a:ext uri="{FF2B5EF4-FFF2-40B4-BE49-F238E27FC236}">
                    <a16:creationId xmlns:a16="http://schemas.microsoft.com/office/drawing/2014/main" id="{60738D5E-F0A3-2E1C-A878-5DB771E59C50}"/>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t>1</a:t>
                </a:r>
                <a:endParaRPr lang="en-US" sz="1200" dirty="0"/>
              </a:p>
            </p:txBody>
          </p:sp>
        </p:grpSp>
        <p:grpSp>
          <p:nvGrpSpPr>
            <p:cNvPr id="55" name="Grupo 54">
              <a:extLst>
                <a:ext uri="{FF2B5EF4-FFF2-40B4-BE49-F238E27FC236}">
                  <a16:creationId xmlns:a16="http://schemas.microsoft.com/office/drawing/2014/main" id="{AC191272-D307-2F78-8936-572BC9C91E17}"/>
                </a:ext>
              </a:extLst>
            </p:cNvPr>
            <p:cNvGrpSpPr/>
            <p:nvPr/>
          </p:nvGrpSpPr>
          <p:grpSpPr>
            <a:xfrm>
              <a:off x="5064633" y="1071339"/>
              <a:ext cx="3450432" cy="460888"/>
              <a:chOff x="5064633" y="1071339"/>
              <a:chExt cx="3450432" cy="460888"/>
            </a:xfrm>
          </p:grpSpPr>
          <p:sp>
            <p:nvSpPr>
              <p:cNvPr id="56" name="Text 25">
                <a:extLst>
                  <a:ext uri="{FF2B5EF4-FFF2-40B4-BE49-F238E27FC236}">
                    <a16:creationId xmlns:a16="http://schemas.microsoft.com/office/drawing/2014/main" id="{EFC10D6E-8EDB-6A90-8A8D-99CB2D3D4383}"/>
                  </a:ext>
                </a:extLst>
              </p:cNvPr>
              <p:cNvSpPr/>
              <p:nvPr/>
            </p:nvSpPr>
            <p:spPr>
              <a:xfrm>
                <a:off x="5064633" y="1071339"/>
                <a:ext cx="1807221" cy="129138"/>
              </a:xfrm>
              <a:prstGeom prst="rect">
                <a:avLst/>
              </a:prstGeom>
              <a:noFill/>
              <a:ln/>
            </p:spPr>
            <p:txBody>
              <a:bodyPr wrap="square" lIns="0" tIns="0" rIns="0" bIns="0" rtlCol="0" anchor="t">
                <a:spAutoFit/>
              </a:bodyPr>
              <a:lstStyle/>
              <a:p>
                <a:pPr marL="0" indent="0" algn="l">
                  <a:lnSpc>
                    <a:spcPts val="900"/>
                  </a:lnSpc>
                  <a:buNone/>
                </a:pPr>
                <a:r>
                  <a:rPr lang="en-US" sz="1200" b="1" dirty="0"/>
                  <a:t>Longest Chain Wins</a:t>
                </a:r>
              </a:p>
            </p:txBody>
          </p:sp>
          <p:sp>
            <p:nvSpPr>
              <p:cNvPr id="57" name="Text 26">
                <a:extLst>
                  <a:ext uri="{FF2B5EF4-FFF2-40B4-BE49-F238E27FC236}">
                    <a16:creationId xmlns:a16="http://schemas.microsoft.com/office/drawing/2014/main" id="{B3C0E8DE-7020-01B6-7F39-811FBF9C1E0D}"/>
                  </a:ext>
                </a:extLst>
              </p:cNvPr>
              <p:cNvSpPr/>
              <p:nvPr/>
            </p:nvSpPr>
            <p:spPr>
              <a:xfrm>
                <a:off x="5064634" y="1242789"/>
                <a:ext cx="3450431" cy="289438"/>
              </a:xfrm>
              <a:prstGeom prst="rect">
                <a:avLst/>
              </a:prstGeom>
              <a:noFill/>
              <a:ln/>
            </p:spPr>
            <p:txBody>
              <a:bodyPr wrap="square" lIns="0" tIns="0" rIns="0" bIns="0" rtlCol="0" anchor="t">
                <a:spAutoFit/>
              </a:bodyPr>
              <a:lstStyle/>
              <a:p>
                <a:pPr marL="0" indent="0" algn="l">
                  <a:lnSpc>
                    <a:spcPts val="1100"/>
                  </a:lnSpc>
                  <a:buNone/>
                </a:pPr>
                <a:r>
                  <a:rPr lang="en-US" sz="1200" dirty="0"/>
                  <a:t>The network always accepts the longest valid chain as the true version of the ledger.</a:t>
                </a:r>
              </a:p>
            </p:txBody>
          </p:sp>
        </p:grpSp>
      </p:grpSp>
      <p:grpSp>
        <p:nvGrpSpPr>
          <p:cNvPr id="60" name="Grupo 59">
            <a:extLst>
              <a:ext uri="{FF2B5EF4-FFF2-40B4-BE49-F238E27FC236}">
                <a16:creationId xmlns:a16="http://schemas.microsoft.com/office/drawing/2014/main" id="{DF75A4FC-EFC6-04AE-8244-38B7B3774ED2}"/>
              </a:ext>
            </a:extLst>
          </p:cNvPr>
          <p:cNvGrpSpPr/>
          <p:nvPr/>
        </p:nvGrpSpPr>
        <p:grpSpPr>
          <a:xfrm>
            <a:off x="5119558" y="2247704"/>
            <a:ext cx="3791712" cy="460888"/>
            <a:chOff x="4722304" y="1759800"/>
            <a:chExt cx="3791712" cy="460888"/>
          </a:xfrm>
        </p:grpSpPr>
        <p:sp>
          <p:nvSpPr>
            <p:cNvPr id="61" name="Text 29">
              <a:extLst>
                <a:ext uri="{FF2B5EF4-FFF2-40B4-BE49-F238E27FC236}">
                  <a16:creationId xmlns:a16="http://schemas.microsoft.com/office/drawing/2014/main" id="{C6CE1705-0463-2A28-BFB6-1F4DAB27B835}"/>
                </a:ext>
              </a:extLst>
            </p:cNvPr>
            <p:cNvSpPr/>
            <p:nvPr/>
          </p:nvSpPr>
          <p:spPr>
            <a:xfrm>
              <a:off x="5063584" y="1759800"/>
              <a:ext cx="1964497" cy="129138"/>
            </a:xfrm>
            <a:prstGeom prst="rect">
              <a:avLst/>
            </a:prstGeom>
            <a:noFill/>
            <a:ln/>
          </p:spPr>
          <p:txBody>
            <a:bodyPr wrap="square" lIns="0" tIns="0" rIns="0" bIns="0" rtlCol="0" anchor="t">
              <a:spAutoFit/>
            </a:bodyPr>
            <a:lstStyle/>
            <a:p>
              <a:pPr marL="0" indent="0" algn="l">
                <a:lnSpc>
                  <a:spcPts val="900"/>
                </a:lnSpc>
                <a:buNone/>
              </a:pPr>
              <a:r>
                <a:rPr lang="en-US" sz="1200" b="1" dirty="0"/>
                <a:t>Computational Work</a:t>
              </a:r>
            </a:p>
          </p:txBody>
        </p:sp>
        <p:sp>
          <p:nvSpPr>
            <p:cNvPr id="62" name="Text 30">
              <a:extLst>
                <a:ext uri="{FF2B5EF4-FFF2-40B4-BE49-F238E27FC236}">
                  <a16:creationId xmlns:a16="http://schemas.microsoft.com/office/drawing/2014/main" id="{071EF6D7-A56E-DE8B-BD4F-E2B9FACCE519}"/>
                </a:ext>
              </a:extLst>
            </p:cNvPr>
            <p:cNvSpPr/>
            <p:nvPr/>
          </p:nvSpPr>
          <p:spPr>
            <a:xfrm>
              <a:off x="5063585" y="1931250"/>
              <a:ext cx="3450431" cy="289438"/>
            </a:xfrm>
            <a:prstGeom prst="rect">
              <a:avLst/>
            </a:prstGeom>
            <a:noFill/>
            <a:ln/>
          </p:spPr>
          <p:txBody>
            <a:bodyPr wrap="square" lIns="0" tIns="0" rIns="0" bIns="0" rtlCol="0" anchor="t">
              <a:spAutoFit/>
            </a:bodyPr>
            <a:lstStyle/>
            <a:p>
              <a:pPr marL="0" indent="0" algn="l">
                <a:lnSpc>
                  <a:spcPts val="1100"/>
                </a:lnSpc>
                <a:buNone/>
              </a:pPr>
              <a:r>
                <a:rPr lang="en-US" sz="1200" dirty="0"/>
                <a:t>The longest chain represents the most computational work performed by the network.</a:t>
              </a:r>
            </a:p>
          </p:txBody>
        </p:sp>
        <p:grpSp>
          <p:nvGrpSpPr>
            <p:cNvPr id="63" name="Grupo 62">
              <a:extLst>
                <a:ext uri="{FF2B5EF4-FFF2-40B4-BE49-F238E27FC236}">
                  <a16:creationId xmlns:a16="http://schemas.microsoft.com/office/drawing/2014/main" id="{A69E9DD8-8CC7-0A6E-18BE-F193A8641E04}"/>
                </a:ext>
              </a:extLst>
            </p:cNvPr>
            <p:cNvGrpSpPr/>
            <p:nvPr/>
          </p:nvGrpSpPr>
          <p:grpSpPr>
            <a:xfrm>
              <a:off x="4722304" y="1766032"/>
              <a:ext cx="228600" cy="228600"/>
              <a:chOff x="4728878" y="1071339"/>
              <a:chExt cx="228600" cy="228600"/>
            </a:xfrm>
          </p:grpSpPr>
          <p:sp>
            <p:nvSpPr>
              <p:cNvPr id="64" name="Shape 23">
                <a:extLst>
                  <a:ext uri="{FF2B5EF4-FFF2-40B4-BE49-F238E27FC236}">
                    <a16:creationId xmlns:a16="http://schemas.microsoft.com/office/drawing/2014/main" id="{0E33F80E-742A-6D7E-F23F-77CC8124192A}"/>
                  </a:ext>
                </a:extLst>
              </p:cNvPr>
              <p:cNvSpPr/>
              <p:nvPr/>
            </p:nvSpPr>
            <p:spPr>
              <a:xfrm>
                <a:off x="4728878" y="1071339"/>
                <a:ext cx="228600" cy="228600"/>
              </a:xfrm>
              <a:prstGeom prst="ellipse">
                <a:avLst/>
              </a:prstGeom>
              <a:solidFill>
                <a:srgbClr val="0055FF"/>
              </a:solidFill>
              <a:ln/>
            </p:spPr>
            <p:txBody>
              <a:bodyPr/>
              <a:lstStyle/>
              <a:p>
                <a:endParaRPr lang="es-ES" sz="1200"/>
              </a:p>
            </p:txBody>
          </p:sp>
          <p:sp>
            <p:nvSpPr>
              <p:cNvPr id="65" name="Text 24">
                <a:extLst>
                  <a:ext uri="{FF2B5EF4-FFF2-40B4-BE49-F238E27FC236}">
                    <a16:creationId xmlns:a16="http://schemas.microsoft.com/office/drawing/2014/main" id="{1590C9ED-F79C-C5B4-663B-1A1B5370A9BA}"/>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t>2</a:t>
                </a:r>
                <a:endParaRPr lang="en-US" sz="1200" dirty="0"/>
              </a:p>
            </p:txBody>
          </p:sp>
        </p:grpSp>
      </p:grpSp>
      <p:grpSp>
        <p:nvGrpSpPr>
          <p:cNvPr id="66" name="Grupo 65">
            <a:extLst>
              <a:ext uri="{FF2B5EF4-FFF2-40B4-BE49-F238E27FC236}">
                <a16:creationId xmlns:a16="http://schemas.microsoft.com/office/drawing/2014/main" id="{E4205798-9E61-12C3-3E31-F49D947B376D}"/>
              </a:ext>
            </a:extLst>
          </p:cNvPr>
          <p:cNvGrpSpPr/>
          <p:nvPr/>
        </p:nvGrpSpPr>
        <p:grpSpPr>
          <a:xfrm>
            <a:off x="5114909" y="2824910"/>
            <a:ext cx="3793858" cy="460888"/>
            <a:chOff x="4723352" y="2446190"/>
            <a:chExt cx="3793858" cy="460888"/>
          </a:xfrm>
        </p:grpSpPr>
        <p:grpSp>
          <p:nvGrpSpPr>
            <p:cNvPr id="67" name="Grupo 66">
              <a:extLst>
                <a:ext uri="{FF2B5EF4-FFF2-40B4-BE49-F238E27FC236}">
                  <a16:creationId xmlns:a16="http://schemas.microsoft.com/office/drawing/2014/main" id="{B63436B2-3E7D-380C-0A12-C84B444CDEEB}"/>
                </a:ext>
              </a:extLst>
            </p:cNvPr>
            <p:cNvGrpSpPr/>
            <p:nvPr/>
          </p:nvGrpSpPr>
          <p:grpSpPr>
            <a:xfrm>
              <a:off x="5066779" y="2446190"/>
              <a:ext cx="3450431" cy="460888"/>
              <a:chOff x="5064634" y="2724589"/>
              <a:chExt cx="3450431" cy="460888"/>
            </a:xfrm>
          </p:grpSpPr>
          <p:sp>
            <p:nvSpPr>
              <p:cNvPr id="71" name="Text 33">
                <a:extLst>
                  <a:ext uri="{FF2B5EF4-FFF2-40B4-BE49-F238E27FC236}">
                    <a16:creationId xmlns:a16="http://schemas.microsoft.com/office/drawing/2014/main" id="{81E15B3D-4D5A-EC7F-1AD9-FBE55BF58FBA}"/>
                  </a:ext>
                </a:extLst>
              </p:cNvPr>
              <p:cNvSpPr/>
              <p:nvPr/>
            </p:nvSpPr>
            <p:spPr>
              <a:xfrm>
                <a:off x="5064634" y="2724589"/>
                <a:ext cx="1159382" cy="129138"/>
              </a:xfrm>
              <a:prstGeom prst="rect">
                <a:avLst/>
              </a:prstGeom>
              <a:noFill/>
              <a:ln/>
            </p:spPr>
            <p:txBody>
              <a:bodyPr wrap="square" lIns="0" tIns="0" rIns="0" bIns="0" rtlCol="0" anchor="t">
                <a:spAutoFit/>
              </a:bodyPr>
              <a:lstStyle/>
              <a:p>
                <a:pPr marL="0" indent="0" algn="l">
                  <a:lnSpc>
                    <a:spcPts val="900"/>
                  </a:lnSpc>
                  <a:buNone/>
                </a:pPr>
                <a:r>
                  <a:rPr lang="en-US" sz="1200" b="1" dirty="0"/>
                  <a:t>Finality</a:t>
                </a:r>
              </a:p>
            </p:txBody>
          </p:sp>
          <p:sp>
            <p:nvSpPr>
              <p:cNvPr id="72" name="Text 34">
                <a:extLst>
                  <a:ext uri="{FF2B5EF4-FFF2-40B4-BE49-F238E27FC236}">
                    <a16:creationId xmlns:a16="http://schemas.microsoft.com/office/drawing/2014/main" id="{A8B90A02-52B9-DF1B-1169-BF9FC8F41B53}"/>
                  </a:ext>
                </a:extLst>
              </p:cNvPr>
              <p:cNvSpPr/>
              <p:nvPr/>
            </p:nvSpPr>
            <p:spPr>
              <a:xfrm>
                <a:off x="5064634" y="2896039"/>
                <a:ext cx="3450431" cy="289438"/>
              </a:xfrm>
              <a:prstGeom prst="rect">
                <a:avLst/>
              </a:prstGeom>
              <a:noFill/>
              <a:ln/>
            </p:spPr>
            <p:txBody>
              <a:bodyPr wrap="square" lIns="0" tIns="0" rIns="0" bIns="0" rtlCol="0" anchor="t">
                <a:spAutoFit/>
              </a:bodyPr>
              <a:lstStyle/>
              <a:p>
                <a:pPr marL="0" indent="0" algn="l">
                  <a:lnSpc>
                    <a:spcPts val="1100"/>
                  </a:lnSpc>
                  <a:buNone/>
                </a:pPr>
                <a:r>
                  <a:rPr lang="en-US" sz="1200" dirty="0"/>
                  <a:t>After several confirmations (e.g., 6 blocks), transactions become essentially irreversible.</a:t>
                </a:r>
              </a:p>
            </p:txBody>
          </p:sp>
        </p:grpSp>
        <p:grpSp>
          <p:nvGrpSpPr>
            <p:cNvPr id="68" name="Grupo 67">
              <a:extLst>
                <a:ext uri="{FF2B5EF4-FFF2-40B4-BE49-F238E27FC236}">
                  <a16:creationId xmlns:a16="http://schemas.microsoft.com/office/drawing/2014/main" id="{F0372326-771B-E891-1096-581832A6BA4D}"/>
                </a:ext>
              </a:extLst>
            </p:cNvPr>
            <p:cNvGrpSpPr/>
            <p:nvPr/>
          </p:nvGrpSpPr>
          <p:grpSpPr>
            <a:xfrm>
              <a:off x="4723352" y="2451908"/>
              <a:ext cx="228600" cy="228600"/>
              <a:chOff x="4728878" y="1071339"/>
              <a:chExt cx="228600" cy="228600"/>
            </a:xfrm>
          </p:grpSpPr>
          <p:sp>
            <p:nvSpPr>
              <p:cNvPr id="69" name="Shape 23">
                <a:extLst>
                  <a:ext uri="{FF2B5EF4-FFF2-40B4-BE49-F238E27FC236}">
                    <a16:creationId xmlns:a16="http://schemas.microsoft.com/office/drawing/2014/main" id="{4C0A3D5A-0E29-32E7-714B-5835578C25CB}"/>
                  </a:ext>
                </a:extLst>
              </p:cNvPr>
              <p:cNvSpPr/>
              <p:nvPr/>
            </p:nvSpPr>
            <p:spPr>
              <a:xfrm>
                <a:off x="4728878" y="1071339"/>
                <a:ext cx="228600" cy="228600"/>
              </a:xfrm>
              <a:prstGeom prst="ellipse">
                <a:avLst/>
              </a:prstGeom>
              <a:solidFill>
                <a:srgbClr val="0055FF"/>
              </a:solidFill>
              <a:ln/>
            </p:spPr>
            <p:txBody>
              <a:bodyPr/>
              <a:lstStyle/>
              <a:p>
                <a:endParaRPr lang="es-ES" sz="1200"/>
              </a:p>
            </p:txBody>
          </p:sp>
          <p:sp>
            <p:nvSpPr>
              <p:cNvPr id="70" name="Text 24">
                <a:extLst>
                  <a:ext uri="{FF2B5EF4-FFF2-40B4-BE49-F238E27FC236}">
                    <a16:creationId xmlns:a16="http://schemas.microsoft.com/office/drawing/2014/main" id="{AEE48426-AD7B-DB99-9965-1E4A9E051454}"/>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t>3</a:t>
                </a:r>
                <a:endParaRPr lang="en-US" sz="1200" dirty="0"/>
              </a:p>
            </p:txBody>
          </p:sp>
        </p:grpSp>
      </p:grpSp>
      <p:grpSp>
        <p:nvGrpSpPr>
          <p:cNvPr id="73" name="Grupo 72">
            <a:extLst>
              <a:ext uri="{FF2B5EF4-FFF2-40B4-BE49-F238E27FC236}">
                <a16:creationId xmlns:a16="http://schemas.microsoft.com/office/drawing/2014/main" id="{CCC4F089-BAD9-AEC1-4679-CFB071C8EFAA}"/>
              </a:ext>
            </a:extLst>
          </p:cNvPr>
          <p:cNvGrpSpPr/>
          <p:nvPr/>
        </p:nvGrpSpPr>
        <p:grpSpPr>
          <a:xfrm>
            <a:off x="5119558" y="3410412"/>
            <a:ext cx="3793858" cy="460888"/>
            <a:chOff x="4718179" y="3091140"/>
            <a:chExt cx="3793858" cy="460888"/>
          </a:xfrm>
        </p:grpSpPr>
        <p:sp>
          <p:nvSpPr>
            <p:cNvPr id="74" name="Text 37">
              <a:extLst>
                <a:ext uri="{FF2B5EF4-FFF2-40B4-BE49-F238E27FC236}">
                  <a16:creationId xmlns:a16="http://schemas.microsoft.com/office/drawing/2014/main" id="{72290367-3575-52D3-1374-9937F95BB504}"/>
                </a:ext>
              </a:extLst>
            </p:cNvPr>
            <p:cNvSpPr/>
            <p:nvPr/>
          </p:nvSpPr>
          <p:spPr>
            <a:xfrm>
              <a:off x="5061605" y="3091140"/>
              <a:ext cx="1523143" cy="129138"/>
            </a:xfrm>
            <a:prstGeom prst="rect">
              <a:avLst/>
            </a:prstGeom>
            <a:noFill/>
            <a:ln/>
          </p:spPr>
          <p:txBody>
            <a:bodyPr wrap="square" lIns="0" tIns="0" rIns="0" bIns="0" rtlCol="0" anchor="t">
              <a:spAutoFit/>
            </a:bodyPr>
            <a:lstStyle/>
            <a:p>
              <a:pPr marL="0" indent="0" algn="l">
                <a:lnSpc>
                  <a:spcPts val="900"/>
                </a:lnSpc>
                <a:buNone/>
              </a:pPr>
              <a:r>
                <a:rPr lang="en-US" sz="1200" b="1" dirty="0"/>
                <a:t>Incentive Alignment</a:t>
              </a:r>
            </a:p>
          </p:txBody>
        </p:sp>
        <p:sp>
          <p:nvSpPr>
            <p:cNvPr id="75" name="Text 38">
              <a:extLst>
                <a:ext uri="{FF2B5EF4-FFF2-40B4-BE49-F238E27FC236}">
                  <a16:creationId xmlns:a16="http://schemas.microsoft.com/office/drawing/2014/main" id="{8E63EA8D-C2E7-1046-0A66-0F8BA3B1C351}"/>
                </a:ext>
              </a:extLst>
            </p:cNvPr>
            <p:cNvSpPr/>
            <p:nvPr/>
          </p:nvSpPr>
          <p:spPr>
            <a:xfrm>
              <a:off x="5061606" y="3262590"/>
              <a:ext cx="3450431" cy="289438"/>
            </a:xfrm>
            <a:prstGeom prst="rect">
              <a:avLst/>
            </a:prstGeom>
            <a:noFill/>
            <a:ln/>
          </p:spPr>
          <p:txBody>
            <a:bodyPr wrap="square" lIns="0" tIns="0" rIns="0" bIns="0" rtlCol="0" anchor="t">
              <a:spAutoFit/>
            </a:bodyPr>
            <a:lstStyle/>
            <a:p>
              <a:pPr marL="0" indent="0" algn="l">
                <a:lnSpc>
                  <a:spcPts val="1100"/>
                </a:lnSpc>
                <a:buNone/>
              </a:pPr>
              <a:r>
                <a:rPr lang="en-US" sz="1200" dirty="0"/>
                <a:t>Miners are incentivized to work on the main chain because that's where rewards are valid.</a:t>
              </a:r>
            </a:p>
          </p:txBody>
        </p:sp>
        <p:grpSp>
          <p:nvGrpSpPr>
            <p:cNvPr id="76" name="Grupo 75">
              <a:extLst>
                <a:ext uri="{FF2B5EF4-FFF2-40B4-BE49-F238E27FC236}">
                  <a16:creationId xmlns:a16="http://schemas.microsoft.com/office/drawing/2014/main" id="{18DBCBB6-E462-2DED-5392-87A08458132A}"/>
                </a:ext>
              </a:extLst>
            </p:cNvPr>
            <p:cNvGrpSpPr/>
            <p:nvPr/>
          </p:nvGrpSpPr>
          <p:grpSpPr>
            <a:xfrm>
              <a:off x="4718179" y="3092597"/>
              <a:ext cx="228600" cy="228600"/>
              <a:chOff x="4728878" y="1071339"/>
              <a:chExt cx="228600" cy="228600"/>
            </a:xfrm>
          </p:grpSpPr>
          <p:sp>
            <p:nvSpPr>
              <p:cNvPr id="77" name="Shape 23">
                <a:extLst>
                  <a:ext uri="{FF2B5EF4-FFF2-40B4-BE49-F238E27FC236}">
                    <a16:creationId xmlns:a16="http://schemas.microsoft.com/office/drawing/2014/main" id="{6257E3D5-C0D1-5421-FC23-E60EF1BF1C0B}"/>
                  </a:ext>
                </a:extLst>
              </p:cNvPr>
              <p:cNvSpPr/>
              <p:nvPr/>
            </p:nvSpPr>
            <p:spPr>
              <a:xfrm>
                <a:off x="4728878" y="1071339"/>
                <a:ext cx="228600" cy="228600"/>
              </a:xfrm>
              <a:prstGeom prst="ellipse">
                <a:avLst/>
              </a:prstGeom>
              <a:solidFill>
                <a:srgbClr val="0055FF"/>
              </a:solidFill>
              <a:ln/>
            </p:spPr>
            <p:txBody>
              <a:bodyPr/>
              <a:lstStyle/>
              <a:p>
                <a:endParaRPr lang="es-ES" sz="1200"/>
              </a:p>
            </p:txBody>
          </p:sp>
          <p:sp>
            <p:nvSpPr>
              <p:cNvPr id="78" name="Text 24">
                <a:extLst>
                  <a:ext uri="{FF2B5EF4-FFF2-40B4-BE49-F238E27FC236}">
                    <a16:creationId xmlns:a16="http://schemas.microsoft.com/office/drawing/2014/main" id="{58A9331F-AD4F-C556-D737-9923DD4756AE}"/>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t>4</a:t>
                </a:r>
                <a:endParaRPr lang="en-US" sz="1200" dirty="0"/>
              </a:p>
            </p:txBody>
          </p:sp>
        </p:grpSp>
      </p:grpSp>
      <p:sp>
        <p:nvSpPr>
          <p:cNvPr id="79" name="Text 3">
            <a:extLst>
              <a:ext uri="{FF2B5EF4-FFF2-40B4-BE49-F238E27FC236}">
                <a16:creationId xmlns:a16="http://schemas.microsoft.com/office/drawing/2014/main" id="{37792E12-F661-BFCB-195E-B82986A6B9E7}"/>
              </a:ext>
            </a:extLst>
          </p:cNvPr>
          <p:cNvSpPr/>
          <p:nvPr/>
        </p:nvSpPr>
        <p:spPr>
          <a:xfrm>
            <a:off x="352283" y="4391210"/>
            <a:ext cx="1625766" cy="179536"/>
          </a:xfrm>
          <a:prstGeom prst="rect">
            <a:avLst/>
          </a:prstGeom>
          <a:noFill/>
          <a:ln/>
        </p:spPr>
        <p:txBody>
          <a:bodyPr wrap="none" lIns="0" tIns="0" rIns="0" bIns="0" rtlCol="0" anchor="t">
            <a:spAutoFit/>
          </a:bodyPr>
          <a:lstStyle/>
          <a:p>
            <a:pPr marL="0" indent="0" algn="ctr">
              <a:lnSpc>
                <a:spcPts val="1400"/>
              </a:lnSpc>
              <a:buNone/>
            </a:pPr>
            <a:r>
              <a:rPr lang="en-US" sz="1200" b="1" dirty="0"/>
              <a:t>Hard Fork</a:t>
            </a:r>
            <a:r>
              <a:rPr lang="en-US" sz="1200" dirty="0"/>
              <a:t> and </a:t>
            </a:r>
            <a:r>
              <a:rPr lang="en-US" sz="1200" b="1" dirty="0"/>
              <a:t>Soft Fork</a:t>
            </a:r>
            <a:endParaRPr lang="en-US" sz="1100" dirty="0"/>
          </a:p>
        </p:txBody>
      </p:sp>
      <p:sp>
        <p:nvSpPr>
          <p:cNvPr id="82" name="Rectángulo 81">
            <a:extLst>
              <a:ext uri="{FF2B5EF4-FFF2-40B4-BE49-F238E27FC236}">
                <a16:creationId xmlns:a16="http://schemas.microsoft.com/office/drawing/2014/main" id="{D7660CFB-F98F-A1AB-AAD3-ABF8648328F1}"/>
              </a:ext>
            </a:extLst>
          </p:cNvPr>
          <p:cNvSpPr/>
          <p:nvPr/>
        </p:nvSpPr>
        <p:spPr>
          <a:xfrm>
            <a:off x="2121560" y="4320183"/>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1</a:t>
            </a:r>
          </a:p>
        </p:txBody>
      </p:sp>
      <p:sp>
        <p:nvSpPr>
          <p:cNvPr id="83" name="Rectángulo 82">
            <a:extLst>
              <a:ext uri="{FF2B5EF4-FFF2-40B4-BE49-F238E27FC236}">
                <a16:creationId xmlns:a16="http://schemas.microsoft.com/office/drawing/2014/main" id="{E494F628-369F-C21E-482E-BDDCAF275F16}"/>
              </a:ext>
            </a:extLst>
          </p:cNvPr>
          <p:cNvSpPr/>
          <p:nvPr/>
        </p:nvSpPr>
        <p:spPr>
          <a:xfrm>
            <a:off x="2545067" y="4320183"/>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2</a:t>
            </a:r>
          </a:p>
        </p:txBody>
      </p:sp>
      <p:sp>
        <p:nvSpPr>
          <p:cNvPr id="85" name="Rectángulo 84">
            <a:extLst>
              <a:ext uri="{FF2B5EF4-FFF2-40B4-BE49-F238E27FC236}">
                <a16:creationId xmlns:a16="http://schemas.microsoft.com/office/drawing/2014/main" id="{54519175-BCEE-6099-7927-F5CF183AFB3D}"/>
              </a:ext>
            </a:extLst>
          </p:cNvPr>
          <p:cNvSpPr/>
          <p:nvPr/>
        </p:nvSpPr>
        <p:spPr>
          <a:xfrm>
            <a:off x="2968574" y="4320183"/>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3</a:t>
            </a:r>
          </a:p>
        </p:txBody>
      </p:sp>
      <p:sp>
        <p:nvSpPr>
          <p:cNvPr id="86" name="Rectángulo 85">
            <a:extLst>
              <a:ext uri="{FF2B5EF4-FFF2-40B4-BE49-F238E27FC236}">
                <a16:creationId xmlns:a16="http://schemas.microsoft.com/office/drawing/2014/main" id="{C9634B6C-F222-1B6D-1EDB-1BC2FB173C16}"/>
              </a:ext>
            </a:extLst>
          </p:cNvPr>
          <p:cNvSpPr/>
          <p:nvPr/>
        </p:nvSpPr>
        <p:spPr>
          <a:xfrm>
            <a:off x="3397836" y="4034433"/>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4</a:t>
            </a:r>
          </a:p>
        </p:txBody>
      </p:sp>
      <p:sp>
        <p:nvSpPr>
          <p:cNvPr id="87" name="Rectángulo 86">
            <a:extLst>
              <a:ext uri="{FF2B5EF4-FFF2-40B4-BE49-F238E27FC236}">
                <a16:creationId xmlns:a16="http://schemas.microsoft.com/office/drawing/2014/main" id="{0B25F8A2-9D97-107C-DA2B-9B53F55F0ED1}"/>
              </a:ext>
            </a:extLst>
          </p:cNvPr>
          <p:cNvSpPr/>
          <p:nvPr/>
        </p:nvSpPr>
        <p:spPr>
          <a:xfrm>
            <a:off x="3392081" y="4605933"/>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4</a:t>
            </a:r>
          </a:p>
        </p:txBody>
      </p:sp>
      <p:sp>
        <p:nvSpPr>
          <p:cNvPr id="88" name="Rectángulo 87">
            <a:extLst>
              <a:ext uri="{FF2B5EF4-FFF2-40B4-BE49-F238E27FC236}">
                <a16:creationId xmlns:a16="http://schemas.microsoft.com/office/drawing/2014/main" id="{DD9405FE-FFD4-1DE8-9DF8-D42F87AA6E57}"/>
              </a:ext>
            </a:extLst>
          </p:cNvPr>
          <p:cNvSpPr/>
          <p:nvPr/>
        </p:nvSpPr>
        <p:spPr>
          <a:xfrm>
            <a:off x="3821343" y="4034433"/>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5</a:t>
            </a:r>
          </a:p>
        </p:txBody>
      </p:sp>
      <p:sp>
        <p:nvSpPr>
          <p:cNvPr id="89" name="Rectángulo 88">
            <a:extLst>
              <a:ext uri="{FF2B5EF4-FFF2-40B4-BE49-F238E27FC236}">
                <a16:creationId xmlns:a16="http://schemas.microsoft.com/office/drawing/2014/main" id="{718E805F-800C-876A-6E6F-53F1D6EE39C8}"/>
              </a:ext>
            </a:extLst>
          </p:cNvPr>
          <p:cNvSpPr/>
          <p:nvPr/>
        </p:nvSpPr>
        <p:spPr>
          <a:xfrm>
            <a:off x="3821343" y="4605933"/>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5</a:t>
            </a:r>
          </a:p>
        </p:txBody>
      </p:sp>
      <p:sp>
        <p:nvSpPr>
          <p:cNvPr id="90" name="Rectángulo 89">
            <a:extLst>
              <a:ext uri="{FF2B5EF4-FFF2-40B4-BE49-F238E27FC236}">
                <a16:creationId xmlns:a16="http://schemas.microsoft.com/office/drawing/2014/main" id="{BC5F617E-22F0-5883-D0F8-23F39F469B53}"/>
              </a:ext>
            </a:extLst>
          </p:cNvPr>
          <p:cNvSpPr/>
          <p:nvPr/>
        </p:nvSpPr>
        <p:spPr>
          <a:xfrm>
            <a:off x="4244850" y="4034433"/>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6</a:t>
            </a:r>
          </a:p>
        </p:txBody>
      </p:sp>
      <p:sp>
        <p:nvSpPr>
          <p:cNvPr id="91" name="Rectángulo 90">
            <a:extLst>
              <a:ext uri="{FF2B5EF4-FFF2-40B4-BE49-F238E27FC236}">
                <a16:creationId xmlns:a16="http://schemas.microsoft.com/office/drawing/2014/main" id="{8F478B5C-8A2D-276A-5368-8B839D30092F}"/>
              </a:ext>
            </a:extLst>
          </p:cNvPr>
          <p:cNvSpPr/>
          <p:nvPr/>
        </p:nvSpPr>
        <p:spPr>
          <a:xfrm>
            <a:off x="4668357" y="4034433"/>
            <a:ext cx="285751" cy="285750"/>
          </a:xfrm>
          <a:prstGeom prst="rect">
            <a:avLst/>
          </a:prstGeom>
          <a:solidFill>
            <a:srgbClr val="265F8E">
              <a:alpha val="34118"/>
            </a:srgbClr>
          </a:solidFill>
          <a:ln w="76200">
            <a:solidFill>
              <a:srgbClr val="2E84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rPr>
              <a:t>Why Blockchain is Secure: The Domino Effect</a:t>
            </a:r>
            <a:endParaRPr lang="en-US" sz="2436" dirty="0"/>
          </a:p>
        </p:txBody>
      </p:sp>
      <p:grpSp>
        <p:nvGrpSpPr>
          <p:cNvPr id="97" name="Grupo 96">
            <a:extLst>
              <a:ext uri="{FF2B5EF4-FFF2-40B4-BE49-F238E27FC236}">
                <a16:creationId xmlns:a16="http://schemas.microsoft.com/office/drawing/2014/main" id="{0A5B1667-D9FB-CAAD-5373-FFB01CB122E6}"/>
              </a:ext>
            </a:extLst>
          </p:cNvPr>
          <p:cNvGrpSpPr/>
          <p:nvPr/>
        </p:nvGrpSpPr>
        <p:grpSpPr>
          <a:xfrm>
            <a:off x="509006" y="1044774"/>
            <a:ext cx="1553736" cy="501848"/>
            <a:chOff x="571500" y="1458218"/>
            <a:chExt cx="1428750" cy="501848"/>
          </a:xfrm>
        </p:grpSpPr>
        <p:sp>
          <p:nvSpPr>
            <p:cNvPr id="4" name="Shape 1"/>
            <p:cNvSpPr/>
            <p:nvPr/>
          </p:nvSpPr>
          <p:spPr>
            <a:xfrm>
              <a:off x="571500" y="1458218"/>
              <a:ext cx="1428750" cy="501848"/>
            </a:xfrm>
            <a:prstGeom prst="rect">
              <a:avLst/>
            </a:prstGeom>
            <a:solidFill>
              <a:srgbClr val="FFFFFF"/>
            </a:solidFill>
            <a:ln w="18288">
              <a:solidFill>
                <a:srgbClr val="0055FF"/>
              </a:solidFill>
              <a:prstDash val="solid"/>
            </a:ln>
          </p:spPr>
          <p:txBody>
            <a:bodyPr/>
            <a:lstStyle/>
            <a:p>
              <a:endParaRPr lang="es-ES" sz="1200" dirty="0"/>
            </a:p>
          </p:txBody>
        </p:sp>
        <p:sp>
          <p:nvSpPr>
            <p:cNvPr id="5" name="Text 2"/>
            <p:cNvSpPr/>
            <p:nvPr/>
          </p:nvSpPr>
          <p:spPr>
            <a:xfrm>
              <a:off x="1031799" y="1579662"/>
              <a:ext cx="508152" cy="119520"/>
            </a:xfrm>
            <a:prstGeom prst="rect">
              <a:avLst/>
            </a:prstGeom>
            <a:noFill/>
            <a:ln/>
          </p:spPr>
          <p:txBody>
            <a:bodyPr wrap="none" lIns="0" tIns="0" rIns="0" bIns="0" rtlCol="0" anchor="t">
              <a:spAutoFit/>
            </a:bodyPr>
            <a:lstStyle/>
            <a:p>
              <a:pPr marL="0" indent="0" algn="ctr">
                <a:lnSpc>
                  <a:spcPts val="800"/>
                </a:lnSpc>
                <a:buNone/>
              </a:pPr>
              <a:r>
                <a:rPr lang="en-US" sz="1200" b="1" dirty="0">
                  <a:solidFill>
                    <a:srgbClr val="0055FF"/>
                  </a:solidFill>
                </a:rPr>
                <a:t>Block 1</a:t>
              </a:r>
              <a:endParaRPr lang="en-US" sz="1200" dirty="0"/>
            </a:p>
          </p:txBody>
        </p:sp>
        <p:sp>
          <p:nvSpPr>
            <p:cNvPr id="6" name="Text 3"/>
            <p:cNvSpPr/>
            <p:nvPr/>
          </p:nvSpPr>
          <p:spPr>
            <a:xfrm>
              <a:off x="701516" y="1784734"/>
              <a:ext cx="1168717" cy="109902"/>
            </a:xfrm>
            <a:prstGeom prst="rect">
              <a:avLst/>
            </a:prstGeom>
            <a:noFill/>
            <a:ln/>
          </p:spPr>
          <p:txBody>
            <a:bodyPr wrap="none" lIns="0" tIns="0" rIns="0" bIns="0" rtlCol="0" anchor="t">
              <a:spAutoFit/>
            </a:bodyPr>
            <a:lstStyle/>
            <a:p>
              <a:pPr marL="0" indent="0" algn="ctr">
                <a:lnSpc>
                  <a:spcPts val="700"/>
                </a:lnSpc>
                <a:buNone/>
              </a:pPr>
              <a:r>
                <a:rPr lang="en-US" sz="1200" dirty="0">
                  <a:solidFill>
                    <a:srgbClr val="333333"/>
                  </a:solidFill>
                </a:rPr>
                <a:t>Hash: 3a7f2c9e...</a:t>
              </a:r>
              <a:endParaRPr lang="en-US" sz="1200" dirty="0"/>
            </a:p>
          </p:txBody>
        </p:sp>
      </p:grpSp>
      <p:sp>
        <p:nvSpPr>
          <p:cNvPr id="40" name="Marcador de número de diapositiva 39">
            <a:extLst>
              <a:ext uri="{FF2B5EF4-FFF2-40B4-BE49-F238E27FC236}">
                <a16:creationId xmlns:a16="http://schemas.microsoft.com/office/drawing/2014/main" id="{30359904-F194-4C3C-E905-BD9BE1514978}"/>
              </a:ext>
            </a:extLst>
          </p:cNvPr>
          <p:cNvSpPr>
            <a:spLocks noGrp="1"/>
          </p:cNvSpPr>
          <p:nvPr>
            <p:ph type="sldNum" sz="quarter" idx="12"/>
          </p:nvPr>
        </p:nvSpPr>
        <p:spPr/>
        <p:txBody>
          <a:bodyPr/>
          <a:lstStyle/>
          <a:p>
            <a:fld id="{621D377E-C6E5-404B-8AA2-3999D49F21B5}" type="slidenum">
              <a:rPr lang="es-ES" smtClean="0"/>
              <a:t>12</a:t>
            </a:fld>
            <a:endParaRPr lang="es-ES"/>
          </a:p>
        </p:txBody>
      </p:sp>
      <p:sp>
        <p:nvSpPr>
          <p:cNvPr id="68" name="Text 22">
            <a:extLst>
              <a:ext uri="{FF2B5EF4-FFF2-40B4-BE49-F238E27FC236}">
                <a16:creationId xmlns:a16="http://schemas.microsoft.com/office/drawing/2014/main" id="{69FBD2E8-0D89-4A25-23D8-601D1A8B1DC9}"/>
              </a:ext>
            </a:extLst>
          </p:cNvPr>
          <p:cNvSpPr/>
          <p:nvPr/>
        </p:nvSpPr>
        <p:spPr>
          <a:xfrm>
            <a:off x="4917039" y="1493503"/>
            <a:ext cx="2378152" cy="165173"/>
          </a:xfrm>
          <a:prstGeom prst="rect">
            <a:avLst/>
          </a:prstGeom>
          <a:noFill/>
          <a:ln/>
        </p:spPr>
        <p:txBody>
          <a:bodyPr wrap="none" lIns="0" tIns="0" rIns="0" bIns="0" rtlCol="0" anchor="t">
            <a:spAutoFit/>
          </a:bodyPr>
          <a:lstStyle/>
          <a:p>
            <a:pPr>
              <a:lnSpc>
                <a:spcPts val="1200"/>
              </a:lnSpc>
            </a:pPr>
            <a:r>
              <a:rPr lang="en-US" sz="1400" b="1" dirty="0">
                <a:solidFill>
                  <a:srgbClr val="1A1A1A"/>
                </a:solidFill>
              </a:rPr>
              <a:t>Why Tampering is Impossible</a:t>
            </a:r>
            <a:endParaRPr lang="en-US" sz="1400" dirty="0"/>
          </a:p>
        </p:txBody>
      </p:sp>
      <p:grpSp>
        <p:nvGrpSpPr>
          <p:cNvPr id="69" name="Grupo 68">
            <a:extLst>
              <a:ext uri="{FF2B5EF4-FFF2-40B4-BE49-F238E27FC236}">
                <a16:creationId xmlns:a16="http://schemas.microsoft.com/office/drawing/2014/main" id="{917E5DC7-00F5-0DBE-65EA-0BFDC2113604}"/>
              </a:ext>
            </a:extLst>
          </p:cNvPr>
          <p:cNvGrpSpPr/>
          <p:nvPr/>
        </p:nvGrpSpPr>
        <p:grpSpPr>
          <a:xfrm>
            <a:off x="4637460" y="1827543"/>
            <a:ext cx="3791713" cy="460888"/>
            <a:chOff x="4723352" y="1071339"/>
            <a:chExt cx="3791713" cy="460888"/>
          </a:xfrm>
        </p:grpSpPr>
        <p:grpSp>
          <p:nvGrpSpPr>
            <p:cNvPr id="70" name="Grupo 69">
              <a:extLst>
                <a:ext uri="{FF2B5EF4-FFF2-40B4-BE49-F238E27FC236}">
                  <a16:creationId xmlns:a16="http://schemas.microsoft.com/office/drawing/2014/main" id="{040AF055-C8B9-018B-1922-06EFAF98357E}"/>
                </a:ext>
              </a:extLst>
            </p:cNvPr>
            <p:cNvGrpSpPr/>
            <p:nvPr/>
          </p:nvGrpSpPr>
          <p:grpSpPr>
            <a:xfrm>
              <a:off x="4723352" y="1071339"/>
              <a:ext cx="228600" cy="228600"/>
              <a:chOff x="4728878" y="1071339"/>
              <a:chExt cx="228600" cy="228600"/>
            </a:xfrm>
          </p:grpSpPr>
          <p:sp>
            <p:nvSpPr>
              <p:cNvPr id="74" name="Shape 23">
                <a:extLst>
                  <a:ext uri="{FF2B5EF4-FFF2-40B4-BE49-F238E27FC236}">
                    <a16:creationId xmlns:a16="http://schemas.microsoft.com/office/drawing/2014/main" id="{581E8A1F-933B-60DA-3456-F390CE13E213}"/>
                  </a:ext>
                </a:extLst>
              </p:cNvPr>
              <p:cNvSpPr/>
              <p:nvPr/>
            </p:nvSpPr>
            <p:spPr>
              <a:xfrm>
                <a:off x="4728878" y="1071339"/>
                <a:ext cx="228600" cy="228600"/>
              </a:xfrm>
              <a:prstGeom prst="ellipse">
                <a:avLst/>
              </a:prstGeom>
              <a:solidFill>
                <a:srgbClr val="0055FF"/>
              </a:solidFill>
              <a:ln/>
            </p:spPr>
            <p:txBody>
              <a:bodyPr/>
              <a:lstStyle/>
              <a:p>
                <a:endParaRPr lang="es-ES" sz="3600"/>
              </a:p>
            </p:txBody>
          </p:sp>
          <p:sp>
            <p:nvSpPr>
              <p:cNvPr id="75" name="Text 24">
                <a:extLst>
                  <a:ext uri="{FF2B5EF4-FFF2-40B4-BE49-F238E27FC236}">
                    <a16:creationId xmlns:a16="http://schemas.microsoft.com/office/drawing/2014/main" id="{1455BFAA-2596-A365-5F91-6C5B6322BBA7}"/>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t>1</a:t>
                </a:r>
                <a:endParaRPr lang="en-US" sz="1200" dirty="0"/>
              </a:p>
            </p:txBody>
          </p:sp>
        </p:grpSp>
        <p:grpSp>
          <p:nvGrpSpPr>
            <p:cNvPr id="71" name="Grupo 70">
              <a:extLst>
                <a:ext uri="{FF2B5EF4-FFF2-40B4-BE49-F238E27FC236}">
                  <a16:creationId xmlns:a16="http://schemas.microsoft.com/office/drawing/2014/main" id="{8D5312E8-6093-AF1A-8D73-926F98C9ABD2}"/>
                </a:ext>
              </a:extLst>
            </p:cNvPr>
            <p:cNvGrpSpPr/>
            <p:nvPr/>
          </p:nvGrpSpPr>
          <p:grpSpPr>
            <a:xfrm>
              <a:off x="5064633" y="1071339"/>
              <a:ext cx="3450432" cy="460888"/>
              <a:chOff x="5064633" y="1071339"/>
              <a:chExt cx="3450432" cy="460888"/>
            </a:xfrm>
          </p:grpSpPr>
          <p:sp>
            <p:nvSpPr>
              <p:cNvPr id="72" name="Text 25">
                <a:extLst>
                  <a:ext uri="{FF2B5EF4-FFF2-40B4-BE49-F238E27FC236}">
                    <a16:creationId xmlns:a16="http://schemas.microsoft.com/office/drawing/2014/main" id="{259045D0-F5F7-8FB5-CC3E-85486405AE4F}"/>
                  </a:ext>
                </a:extLst>
              </p:cNvPr>
              <p:cNvSpPr/>
              <p:nvPr/>
            </p:nvSpPr>
            <p:spPr>
              <a:xfrm>
                <a:off x="5064633" y="1071339"/>
                <a:ext cx="1807221" cy="129138"/>
              </a:xfrm>
              <a:prstGeom prst="rect">
                <a:avLst/>
              </a:prstGeom>
              <a:noFill/>
              <a:ln/>
            </p:spPr>
            <p:txBody>
              <a:bodyPr wrap="square" lIns="0" tIns="0" rIns="0" bIns="0" rtlCol="0" anchor="t">
                <a:spAutoFit/>
              </a:bodyPr>
              <a:lstStyle/>
              <a:p>
                <a:pPr marL="0" indent="0" algn="l">
                  <a:lnSpc>
                    <a:spcPts val="900"/>
                  </a:lnSpc>
                  <a:buNone/>
                </a:pPr>
                <a:r>
                  <a:rPr lang="en-US" sz="1200" b="1" dirty="0"/>
                  <a:t>Chaining</a:t>
                </a:r>
              </a:p>
            </p:txBody>
          </p:sp>
          <p:sp>
            <p:nvSpPr>
              <p:cNvPr id="73" name="Text 26">
                <a:extLst>
                  <a:ext uri="{FF2B5EF4-FFF2-40B4-BE49-F238E27FC236}">
                    <a16:creationId xmlns:a16="http://schemas.microsoft.com/office/drawing/2014/main" id="{982B4B3B-C171-C557-1203-996BF702C0C7}"/>
                  </a:ext>
                </a:extLst>
              </p:cNvPr>
              <p:cNvSpPr/>
              <p:nvPr/>
            </p:nvSpPr>
            <p:spPr>
              <a:xfrm>
                <a:off x="5064634" y="1242789"/>
                <a:ext cx="3450431" cy="289438"/>
              </a:xfrm>
              <a:prstGeom prst="rect">
                <a:avLst/>
              </a:prstGeom>
              <a:noFill/>
              <a:ln/>
            </p:spPr>
            <p:txBody>
              <a:bodyPr wrap="square" lIns="0" tIns="0" rIns="0" bIns="0" rtlCol="0" anchor="t">
                <a:spAutoFit/>
              </a:bodyPr>
              <a:lstStyle/>
              <a:p>
                <a:pPr marL="0" indent="0" algn="l">
                  <a:lnSpc>
                    <a:spcPts val="1100"/>
                  </a:lnSpc>
                  <a:buNone/>
                </a:pPr>
                <a:r>
                  <a:rPr lang="en-US" sz="1200" dirty="0"/>
                  <a:t>Each block contains the hash of the previous block, creating an unbreakable chain.</a:t>
                </a:r>
              </a:p>
            </p:txBody>
          </p:sp>
        </p:grpSp>
      </p:grpSp>
      <p:grpSp>
        <p:nvGrpSpPr>
          <p:cNvPr id="76" name="Grupo 75">
            <a:extLst>
              <a:ext uri="{FF2B5EF4-FFF2-40B4-BE49-F238E27FC236}">
                <a16:creationId xmlns:a16="http://schemas.microsoft.com/office/drawing/2014/main" id="{9BF965B0-CBB4-70BC-BD65-8B6115E4DBC7}"/>
              </a:ext>
            </a:extLst>
          </p:cNvPr>
          <p:cNvGrpSpPr/>
          <p:nvPr/>
        </p:nvGrpSpPr>
        <p:grpSpPr>
          <a:xfrm>
            <a:off x="4642109" y="2424465"/>
            <a:ext cx="3791712" cy="460888"/>
            <a:chOff x="4722304" y="1759800"/>
            <a:chExt cx="3791712" cy="460888"/>
          </a:xfrm>
        </p:grpSpPr>
        <p:sp>
          <p:nvSpPr>
            <p:cNvPr id="77" name="Text 29">
              <a:extLst>
                <a:ext uri="{FF2B5EF4-FFF2-40B4-BE49-F238E27FC236}">
                  <a16:creationId xmlns:a16="http://schemas.microsoft.com/office/drawing/2014/main" id="{79A6E8DF-1AB2-3BAE-8E38-15D03A6B24CD}"/>
                </a:ext>
              </a:extLst>
            </p:cNvPr>
            <p:cNvSpPr/>
            <p:nvPr/>
          </p:nvSpPr>
          <p:spPr>
            <a:xfrm>
              <a:off x="5063584" y="1759800"/>
              <a:ext cx="1964497" cy="129138"/>
            </a:xfrm>
            <a:prstGeom prst="rect">
              <a:avLst/>
            </a:prstGeom>
            <a:noFill/>
            <a:ln/>
          </p:spPr>
          <p:txBody>
            <a:bodyPr wrap="square" lIns="0" tIns="0" rIns="0" bIns="0" rtlCol="0" anchor="t">
              <a:spAutoFit/>
            </a:bodyPr>
            <a:lstStyle/>
            <a:p>
              <a:pPr marL="0" indent="0" algn="l">
                <a:lnSpc>
                  <a:spcPts val="900"/>
                </a:lnSpc>
                <a:buNone/>
              </a:pPr>
              <a:r>
                <a:rPr lang="en-US" sz="1200" b="1" dirty="0"/>
                <a:t>Avalanche Effect</a:t>
              </a:r>
            </a:p>
          </p:txBody>
        </p:sp>
        <p:sp>
          <p:nvSpPr>
            <p:cNvPr id="78" name="Text 30">
              <a:extLst>
                <a:ext uri="{FF2B5EF4-FFF2-40B4-BE49-F238E27FC236}">
                  <a16:creationId xmlns:a16="http://schemas.microsoft.com/office/drawing/2014/main" id="{C2718A7E-D5AE-FBB9-D463-AC01F54E0948}"/>
                </a:ext>
              </a:extLst>
            </p:cNvPr>
            <p:cNvSpPr/>
            <p:nvPr/>
          </p:nvSpPr>
          <p:spPr>
            <a:xfrm>
              <a:off x="5063585" y="1931250"/>
              <a:ext cx="3450431" cy="289438"/>
            </a:xfrm>
            <a:prstGeom prst="rect">
              <a:avLst/>
            </a:prstGeom>
            <a:noFill/>
            <a:ln/>
          </p:spPr>
          <p:txBody>
            <a:bodyPr wrap="square" lIns="0" tIns="0" rIns="0" bIns="0" rtlCol="0" anchor="t">
              <a:spAutoFit/>
            </a:bodyPr>
            <a:lstStyle/>
            <a:p>
              <a:pPr marL="0" indent="0" algn="l">
                <a:lnSpc>
                  <a:spcPts val="1100"/>
                </a:lnSpc>
                <a:buNone/>
              </a:pPr>
              <a:r>
                <a:rPr lang="en-US" sz="1200" dirty="0"/>
                <a:t>Change one byte in Block 3, and its hash changes completely, breaking the link to Block 4.</a:t>
              </a:r>
            </a:p>
          </p:txBody>
        </p:sp>
        <p:grpSp>
          <p:nvGrpSpPr>
            <p:cNvPr id="79" name="Grupo 78">
              <a:extLst>
                <a:ext uri="{FF2B5EF4-FFF2-40B4-BE49-F238E27FC236}">
                  <a16:creationId xmlns:a16="http://schemas.microsoft.com/office/drawing/2014/main" id="{7503D44E-6CB0-F05C-2DF0-57E740263CE4}"/>
                </a:ext>
              </a:extLst>
            </p:cNvPr>
            <p:cNvGrpSpPr/>
            <p:nvPr/>
          </p:nvGrpSpPr>
          <p:grpSpPr>
            <a:xfrm>
              <a:off x="4722304" y="1766032"/>
              <a:ext cx="228600" cy="228600"/>
              <a:chOff x="4728878" y="1071339"/>
              <a:chExt cx="228600" cy="228600"/>
            </a:xfrm>
          </p:grpSpPr>
          <p:sp>
            <p:nvSpPr>
              <p:cNvPr id="80" name="Shape 23">
                <a:extLst>
                  <a:ext uri="{FF2B5EF4-FFF2-40B4-BE49-F238E27FC236}">
                    <a16:creationId xmlns:a16="http://schemas.microsoft.com/office/drawing/2014/main" id="{4ED4D821-68EF-78B3-9B06-21AC221E0EDF}"/>
                  </a:ext>
                </a:extLst>
              </p:cNvPr>
              <p:cNvSpPr/>
              <p:nvPr/>
            </p:nvSpPr>
            <p:spPr>
              <a:xfrm>
                <a:off x="4728878" y="1071339"/>
                <a:ext cx="228600" cy="228600"/>
              </a:xfrm>
              <a:prstGeom prst="ellipse">
                <a:avLst/>
              </a:prstGeom>
              <a:solidFill>
                <a:srgbClr val="0055FF"/>
              </a:solidFill>
              <a:ln/>
            </p:spPr>
            <p:txBody>
              <a:bodyPr/>
              <a:lstStyle/>
              <a:p>
                <a:endParaRPr lang="es-ES" sz="3600"/>
              </a:p>
            </p:txBody>
          </p:sp>
          <p:sp>
            <p:nvSpPr>
              <p:cNvPr id="81" name="Text 24">
                <a:extLst>
                  <a:ext uri="{FF2B5EF4-FFF2-40B4-BE49-F238E27FC236}">
                    <a16:creationId xmlns:a16="http://schemas.microsoft.com/office/drawing/2014/main" id="{985C90F8-77E5-A5C7-2397-A2A25E50975A}"/>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t>2</a:t>
                </a:r>
                <a:endParaRPr lang="en-US" sz="1200" dirty="0"/>
              </a:p>
            </p:txBody>
          </p:sp>
        </p:grpSp>
      </p:grpSp>
      <p:grpSp>
        <p:nvGrpSpPr>
          <p:cNvPr id="82" name="Grupo 81">
            <a:extLst>
              <a:ext uri="{FF2B5EF4-FFF2-40B4-BE49-F238E27FC236}">
                <a16:creationId xmlns:a16="http://schemas.microsoft.com/office/drawing/2014/main" id="{C2386342-8B47-66F5-E046-923CAB69E98F}"/>
              </a:ext>
            </a:extLst>
          </p:cNvPr>
          <p:cNvGrpSpPr/>
          <p:nvPr/>
        </p:nvGrpSpPr>
        <p:grpSpPr>
          <a:xfrm>
            <a:off x="4637460" y="3001671"/>
            <a:ext cx="3793858" cy="601952"/>
            <a:chOff x="4723352" y="2446190"/>
            <a:chExt cx="3793858" cy="601952"/>
          </a:xfrm>
        </p:grpSpPr>
        <p:grpSp>
          <p:nvGrpSpPr>
            <p:cNvPr id="83" name="Grupo 82">
              <a:extLst>
                <a:ext uri="{FF2B5EF4-FFF2-40B4-BE49-F238E27FC236}">
                  <a16:creationId xmlns:a16="http://schemas.microsoft.com/office/drawing/2014/main" id="{8476B7D7-53DA-CB75-DDA6-8BD26A1C90D7}"/>
                </a:ext>
              </a:extLst>
            </p:cNvPr>
            <p:cNvGrpSpPr/>
            <p:nvPr/>
          </p:nvGrpSpPr>
          <p:grpSpPr>
            <a:xfrm>
              <a:off x="5066779" y="2446190"/>
              <a:ext cx="3450431" cy="601952"/>
              <a:chOff x="5064634" y="2724589"/>
              <a:chExt cx="3450431" cy="601952"/>
            </a:xfrm>
          </p:grpSpPr>
          <p:sp>
            <p:nvSpPr>
              <p:cNvPr id="87" name="Text 33">
                <a:extLst>
                  <a:ext uri="{FF2B5EF4-FFF2-40B4-BE49-F238E27FC236}">
                    <a16:creationId xmlns:a16="http://schemas.microsoft.com/office/drawing/2014/main" id="{2C37C72B-0C66-372E-9E4D-1105C6D93C41}"/>
                  </a:ext>
                </a:extLst>
              </p:cNvPr>
              <p:cNvSpPr/>
              <p:nvPr/>
            </p:nvSpPr>
            <p:spPr>
              <a:xfrm>
                <a:off x="5064634" y="2724589"/>
                <a:ext cx="1159382" cy="129138"/>
              </a:xfrm>
              <a:prstGeom prst="rect">
                <a:avLst/>
              </a:prstGeom>
              <a:noFill/>
              <a:ln/>
            </p:spPr>
            <p:txBody>
              <a:bodyPr wrap="square" lIns="0" tIns="0" rIns="0" bIns="0" rtlCol="0" anchor="t">
                <a:spAutoFit/>
              </a:bodyPr>
              <a:lstStyle/>
              <a:p>
                <a:pPr marL="0" indent="0" algn="l">
                  <a:lnSpc>
                    <a:spcPts val="900"/>
                  </a:lnSpc>
                  <a:buNone/>
                </a:pPr>
                <a:r>
                  <a:rPr lang="en-US" sz="1200" b="1" dirty="0"/>
                  <a:t>Cascade</a:t>
                </a:r>
              </a:p>
            </p:txBody>
          </p:sp>
          <p:sp>
            <p:nvSpPr>
              <p:cNvPr id="88" name="Text 34">
                <a:extLst>
                  <a:ext uri="{FF2B5EF4-FFF2-40B4-BE49-F238E27FC236}">
                    <a16:creationId xmlns:a16="http://schemas.microsoft.com/office/drawing/2014/main" id="{4D2ED0A8-8049-33BA-7380-311FC4875229}"/>
                  </a:ext>
                </a:extLst>
              </p:cNvPr>
              <p:cNvSpPr/>
              <p:nvPr/>
            </p:nvSpPr>
            <p:spPr>
              <a:xfrm>
                <a:off x="5064634" y="2896039"/>
                <a:ext cx="3450431" cy="430502"/>
              </a:xfrm>
              <a:prstGeom prst="rect">
                <a:avLst/>
              </a:prstGeom>
              <a:noFill/>
              <a:ln/>
            </p:spPr>
            <p:txBody>
              <a:bodyPr wrap="square" lIns="0" tIns="0" rIns="0" bIns="0" rtlCol="0" anchor="t">
                <a:spAutoFit/>
              </a:bodyPr>
              <a:lstStyle/>
              <a:p>
                <a:pPr marL="0" indent="0" algn="l">
                  <a:lnSpc>
                    <a:spcPts val="1100"/>
                  </a:lnSpc>
                  <a:buNone/>
                </a:pPr>
                <a:r>
                  <a:rPr lang="en-US" sz="1200" dirty="0"/>
                  <a:t>The attacker must recalculate the hash for Block 4, which changes its hash, breaking the link to Block 5, and so on.</a:t>
                </a:r>
              </a:p>
            </p:txBody>
          </p:sp>
        </p:grpSp>
        <p:grpSp>
          <p:nvGrpSpPr>
            <p:cNvPr id="84" name="Grupo 83">
              <a:extLst>
                <a:ext uri="{FF2B5EF4-FFF2-40B4-BE49-F238E27FC236}">
                  <a16:creationId xmlns:a16="http://schemas.microsoft.com/office/drawing/2014/main" id="{03F07E26-F50B-6B99-C7CF-54006C85A973}"/>
                </a:ext>
              </a:extLst>
            </p:cNvPr>
            <p:cNvGrpSpPr/>
            <p:nvPr/>
          </p:nvGrpSpPr>
          <p:grpSpPr>
            <a:xfrm>
              <a:off x="4723352" y="2451908"/>
              <a:ext cx="228600" cy="228600"/>
              <a:chOff x="4728878" y="1071339"/>
              <a:chExt cx="228600" cy="228600"/>
            </a:xfrm>
          </p:grpSpPr>
          <p:sp>
            <p:nvSpPr>
              <p:cNvPr id="85" name="Shape 23">
                <a:extLst>
                  <a:ext uri="{FF2B5EF4-FFF2-40B4-BE49-F238E27FC236}">
                    <a16:creationId xmlns:a16="http://schemas.microsoft.com/office/drawing/2014/main" id="{92DD4EBC-F481-F5F4-8B24-8C2B176F26BC}"/>
                  </a:ext>
                </a:extLst>
              </p:cNvPr>
              <p:cNvSpPr/>
              <p:nvPr/>
            </p:nvSpPr>
            <p:spPr>
              <a:xfrm>
                <a:off x="4728878" y="1071339"/>
                <a:ext cx="228600" cy="228600"/>
              </a:xfrm>
              <a:prstGeom prst="ellipse">
                <a:avLst/>
              </a:prstGeom>
              <a:solidFill>
                <a:srgbClr val="0055FF"/>
              </a:solidFill>
              <a:ln/>
            </p:spPr>
            <p:txBody>
              <a:bodyPr/>
              <a:lstStyle/>
              <a:p>
                <a:endParaRPr lang="es-ES" sz="3600"/>
              </a:p>
            </p:txBody>
          </p:sp>
          <p:sp>
            <p:nvSpPr>
              <p:cNvPr id="86" name="Text 24">
                <a:extLst>
                  <a:ext uri="{FF2B5EF4-FFF2-40B4-BE49-F238E27FC236}">
                    <a16:creationId xmlns:a16="http://schemas.microsoft.com/office/drawing/2014/main" id="{E2314457-BF22-C047-CC96-E19E5B2A61F4}"/>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t>3</a:t>
                </a:r>
                <a:endParaRPr lang="en-US" sz="1200" dirty="0"/>
              </a:p>
            </p:txBody>
          </p:sp>
        </p:grpSp>
      </p:grpSp>
      <p:grpSp>
        <p:nvGrpSpPr>
          <p:cNvPr id="89" name="Grupo 88">
            <a:extLst>
              <a:ext uri="{FF2B5EF4-FFF2-40B4-BE49-F238E27FC236}">
                <a16:creationId xmlns:a16="http://schemas.microsoft.com/office/drawing/2014/main" id="{42C2A6AB-D99A-CF20-C356-665B53F4DE8D}"/>
              </a:ext>
            </a:extLst>
          </p:cNvPr>
          <p:cNvGrpSpPr/>
          <p:nvPr/>
        </p:nvGrpSpPr>
        <p:grpSpPr>
          <a:xfrm>
            <a:off x="4635315" y="3687239"/>
            <a:ext cx="3793858" cy="460888"/>
            <a:chOff x="4718179" y="3091140"/>
            <a:chExt cx="3793858" cy="460888"/>
          </a:xfrm>
        </p:grpSpPr>
        <p:sp>
          <p:nvSpPr>
            <p:cNvPr id="90" name="Text 37">
              <a:extLst>
                <a:ext uri="{FF2B5EF4-FFF2-40B4-BE49-F238E27FC236}">
                  <a16:creationId xmlns:a16="http://schemas.microsoft.com/office/drawing/2014/main" id="{A8598295-F180-268A-619F-65F1314EBC68}"/>
                </a:ext>
              </a:extLst>
            </p:cNvPr>
            <p:cNvSpPr/>
            <p:nvPr/>
          </p:nvSpPr>
          <p:spPr>
            <a:xfrm>
              <a:off x="5061605" y="3091140"/>
              <a:ext cx="1523143" cy="129138"/>
            </a:xfrm>
            <a:prstGeom prst="rect">
              <a:avLst/>
            </a:prstGeom>
            <a:noFill/>
            <a:ln/>
          </p:spPr>
          <p:txBody>
            <a:bodyPr wrap="square" lIns="0" tIns="0" rIns="0" bIns="0" rtlCol="0" anchor="t">
              <a:spAutoFit/>
            </a:bodyPr>
            <a:lstStyle/>
            <a:p>
              <a:pPr marL="0" indent="0" algn="l">
                <a:lnSpc>
                  <a:spcPts val="900"/>
                </a:lnSpc>
                <a:buNone/>
              </a:pPr>
              <a:r>
                <a:rPr lang="en-US" sz="1200" b="1" dirty="0"/>
                <a:t>The Race</a:t>
              </a:r>
            </a:p>
          </p:txBody>
        </p:sp>
        <p:sp>
          <p:nvSpPr>
            <p:cNvPr id="91" name="Text 38">
              <a:extLst>
                <a:ext uri="{FF2B5EF4-FFF2-40B4-BE49-F238E27FC236}">
                  <a16:creationId xmlns:a16="http://schemas.microsoft.com/office/drawing/2014/main" id="{ADDCF4A3-2538-41B4-C028-7425DC7FBFE6}"/>
                </a:ext>
              </a:extLst>
            </p:cNvPr>
            <p:cNvSpPr/>
            <p:nvPr/>
          </p:nvSpPr>
          <p:spPr>
            <a:xfrm>
              <a:off x="5061606" y="3262590"/>
              <a:ext cx="3450431" cy="289438"/>
            </a:xfrm>
            <a:prstGeom prst="rect">
              <a:avLst/>
            </a:prstGeom>
            <a:noFill/>
            <a:ln/>
          </p:spPr>
          <p:txBody>
            <a:bodyPr wrap="square" lIns="0" tIns="0" rIns="0" bIns="0" rtlCol="0" anchor="t">
              <a:spAutoFit/>
            </a:bodyPr>
            <a:lstStyle/>
            <a:p>
              <a:pPr marL="0" indent="0" algn="l">
                <a:lnSpc>
                  <a:spcPts val="1100"/>
                </a:lnSpc>
                <a:buNone/>
              </a:pPr>
              <a:r>
                <a:rPr lang="en-US" sz="1200" dirty="0"/>
                <a:t>The </a:t>
              </a:r>
              <a:r>
                <a:rPr lang="en-US" sz="1200" b="1" dirty="0"/>
                <a:t>attacker must outpace the entire network </a:t>
              </a:r>
              <a:r>
                <a:rPr lang="en-US" sz="1200" dirty="0"/>
                <a:t>adding new blocks. Computationally impossible.</a:t>
              </a:r>
            </a:p>
          </p:txBody>
        </p:sp>
        <p:grpSp>
          <p:nvGrpSpPr>
            <p:cNvPr id="92" name="Grupo 91">
              <a:extLst>
                <a:ext uri="{FF2B5EF4-FFF2-40B4-BE49-F238E27FC236}">
                  <a16:creationId xmlns:a16="http://schemas.microsoft.com/office/drawing/2014/main" id="{951E7DB8-0309-E2E0-8B2F-2068AFECCD46}"/>
                </a:ext>
              </a:extLst>
            </p:cNvPr>
            <p:cNvGrpSpPr/>
            <p:nvPr/>
          </p:nvGrpSpPr>
          <p:grpSpPr>
            <a:xfrm>
              <a:off x="4718179" y="3092597"/>
              <a:ext cx="228600" cy="228600"/>
              <a:chOff x="4728878" y="1071339"/>
              <a:chExt cx="228600" cy="228600"/>
            </a:xfrm>
          </p:grpSpPr>
          <p:sp>
            <p:nvSpPr>
              <p:cNvPr id="93" name="Shape 23">
                <a:extLst>
                  <a:ext uri="{FF2B5EF4-FFF2-40B4-BE49-F238E27FC236}">
                    <a16:creationId xmlns:a16="http://schemas.microsoft.com/office/drawing/2014/main" id="{145E4ADE-71A7-B2E7-9A7C-36809F82601A}"/>
                  </a:ext>
                </a:extLst>
              </p:cNvPr>
              <p:cNvSpPr/>
              <p:nvPr/>
            </p:nvSpPr>
            <p:spPr>
              <a:xfrm>
                <a:off x="4728878" y="1071339"/>
                <a:ext cx="228600" cy="228600"/>
              </a:xfrm>
              <a:prstGeom prst="ellipse">
                <a:avLst/>
              </a:prstGeom>
              <a:solidFill>
                <a:srgbClr val="0055FF"/>
              </a:solidFill>
              <a:ln/>
            </p:spPr>
            <p:txBody>
              <a:bodyPr/>
              <a:lstStyle/>
              <a:p>
                <a:endParaRPr lang="es-ES" sz="3600"/>
              </a:p>
            </p:txBody>
          </p:sp>
          <p:sp>
            <p:nvSpPr>
              <p:cNvPr id="94" name="Text 24">
                <a:extLst>
                  <a:ext uri="{FF2B5EF4-FFF2-40B4-BE49-F238E27FC236}">
                    <a16:creationId xmlns:a16="http://schemas.microsoft.com/office/drawing/2014/main" id="{7CF96C03-239F-FB66-F6AE-9397B9050B5B}"/>
                  </a:ext>
                </a:extLst>
              </p:cNvPr>
              <p:cNvSpPr/>
              <p:nvPr/>
            </p:nvSpPr>
            <p:spPr>
              <a:xfrm>
                <a:off x="4728878" y="1144173"/>
                <a:ext cx="228600" cy="129138"/>
              </a:xfrm>
              <a:prstGeom prst="rect">
                <a:avLst/>
              </a:prstGeom>
              <a:noFill/>
              <a:ln/>
            </p:spPr>
            <p:txBody>
              <a:bodyPr wrap="square" lIns="0" tIns="0" rIns="0" bIns="0" rtlCol="0" anchor="ctr">
                <a:spAutoFit/>
              </a:bodyPr>
              <a:lstStyle/>
              <a:p>
                <a:pPr marL="0" indent="0" algn="ctr">
                  <a:lnSpc>
                    <a:spcPts val="900"/>
                  </a:lnSpc>
                  <a:buNone/>
                </a:pPr>
                <a:r>
                  <a:rPr lang="en-US" sz="1200" b="1" dirty="0"/>
                  <a:t>4</a:t>
                </a:r>
                <a:endParaRPr lang="en-US" sz="1200" dirty="0"/>
              </a:p>
            </p:txBody>
          </p:sp>
        </p:grpSp>
      </p:grpSp>
      <p:sp>
        <p:nvSpPr>
          <p:cNvPr id="96" name="CuadroTexto 95">
            <a:extLst>
              <a:ext uri="{FF2B5EF4-FFF2-40B4-BE49-F238E27FC236}">
                <a16:creationId xmlns:a16="http://schemas.microsoft.com/office/drawing/2014/main" id="{39ECA5E2-17C3-DDE2-A8B1-9305BD7FBFC9}"/>
              </a:ext>
            </a:extLst>
          </p:cNvPr>
          <p:cNvSpPr txBox="1"/>
          <p:nvPr/>
        </p:nvSpPr>
        <p:spPr>
          <a:xfrm>
            <a:off x="63315" y="4841823"/>
            <a:ext cx="4572000" cy="276999"/>
          </a:xfrm>
          <a:prstGeom prst="rect">
            <a:avLst/>
          </a:prstGeom>
          <a:noFill/>
        </p:spPr>
        <p:txBody>
          <a:bodyPr wrap="square">
            <a:spAutoFit/>
          </a:bodyPr>
          <a:lstStyle/>
          <a:p>
            <a:r>
              <a:rPr lang="en-US" sz="1200" b="0" i="0" dirty="0">
                <a:effectLst/>
                <a:latin typeface="Inter Variable"/>
              </a:rPr>
              <a:t>Tampering: the act of altering something secretly or improperly</a:t>
            </a:r>
            <a:endParaRPr lang="es-ES" sz="1200" dirty="0"/>
          </a:p>
        </p:txBody>
      </p:sp>
      <p:sp>
        <p:nvSpPr>
          <p:cNvPr id="104" name="Text 4"/>
          <p:cNvSpPr/>
          <p:nvPr/>
        </p:nvSpPr>
        <p:spPr>
          <a:xfrm>
            <a:off x="1193700" y="1661467"/>
            <a:ext cx="184346" cy="239104"/>
          </a:xfrm>
          <a:prstGeom prst="rect">
            <a:avLst/>
          </a:prstGeom>
          <a:noFill/>
          <a:ln/>
        </p:spPr>
        <p:txBody>
          <a:bodyPr wrap="none" lIns="0" tIns="0" rIns="0" bIns="0" rtlCol="0" anchor="t">
            <a:spAutoFit/>
          </a:bodyPr>
          <a:lstStyle/>
          <a:p>
            <a:pPr marL="0" indent="0" algn="ctr">
              <a:lnSpc>
                <a:spcPts val="1600"/>
              </a:lnSpc>
              <a:buNone/>
            </a:pPr>
            <a:r>
              <a:rPr lang="en-US" sz="2400" dirty="0">
                <a:solidFill>
                  <a:srgbClr val="0055FF"/>
                </a:solidFill>
              </a:rPr>
              <a:t>↓</a:t>
            </a:r>
            <a:endParaRPr lang="en-US" sz="2400" dirty="0"/>
          </a:p>
        </p:txBody>
      </p:sp>
      <p:grpSp>
        <p:nvGrpSpPr>
          <p:cNvPr id="105" name="Grupo 104">
            <a:extLst>
              <a:ext uri="{FF2B5EF4-FFF2-40B4-BE49-F238E27FC236}">
                <a16:creationId xmlns:a16="http://schemas.microsoft.com/office/drawing/2014/main" id="{703B8BE8-833C-55F3-7FE2-17EBC071AD91}"/>
              </a:ext>
            </a:extLst>
          </p:cNvPr>
          <p:cNvGrpSpPr/>
          <p:nvPr/>
        </p:nvGrpSpPr>
        <p:grpSpPr>
          <a:xfrm>
            <a:off x="477223" y="1896495"/>
            <a:ext cx="1617301" cy="644723"/>
            <a:chOff x="542274" y="2260104"/>
            <a:chExt cx="1487202" cy="644723"/>
          </a:xfrm>
        </p:grpSpPr>
        <p:sp>
          <p:nvSpPr>
            <p:cNvPr id="106" name="Shape 5"/>
            <p:cNvSpPr/>
            <p:nvPr/>
          </p:nvSpPr>
          <p:spPr>
            <a:xfrm>
              <a:off x="571500" y="2260104"/>
              <a:ext cx="1428750" cy="644723"/>
            </a:xfrm>
            <a:prstGeom prst="rect">
              <a:avLst/>
            </a:prstGeom>
            <a:solidFill>
              <a:srgbClr val="FFFFFF"/>
            </a:solidFill>
            <a:ln w="18288">
              <a:solidFill>
                <a:srgbClr val="0055FF"/>
              </a:solidFill>
              <a:prstDash val="solid"/>
            </a:ln>
          </p:spPr>
          <p:txBody>
            <a:bodyPr/>
            <a:lstStyle/>
            <a:p>
              <a:endParaRPr lang="es-ES" sz="1200" dirty="0"/>
            </a:p>
          </p:txBody>
        </p:sp>
        <p:sp>
          <p:nvSpPr>
            <p:cNvPr id="107" name="Text 6"/>
            <p:cNvSpPr/>
            <p:nvPr/>
          </p:nvSpPr>
          <p:spPr>
            <a:xfrm>
              <a:off x="1031799" y="2381548"/>
              <a:ext cx="508152" cy="119520"/>
            </a:xfrm>
            <a:prstGeom prst="rect">
              <a:avLst/>
            </a:prstGeom>
            <a:noFill/>
            <a:ln/>
          </p:spPr>
          <p:txBody>
            <a:bodyPr wrap="none" lIns="0" tIns="0" rIns="0" bIns="0" rtlCol="0" anchor="t">
              <a:spAutoFit/>
            </a:bodyPr>
            <a:lstStyle/>
            <a:p>
              <a:pPr marL="0" indent="0" algn="ctr">
                <a:lnSpc>
                  <a:spcPts val="800"/>
                </a:lnSpc>
                <a:buNone/>
              </a:pPr>
              <a:r>
                <a:rPr lang="en-US" sz="1200" b="1" dirty="0">
                  <a:solidFill>
                    <a:srgbClr val="0055FF"/>
                  </a:solidFill>
                </a:rPr>
                <a:t>Block 2</a:t>
              </a:r>
              <a:endParaRPr lang="en-US" sz="1200" dirty="0"/>
            </a:p>
          </p:txBody>
        </p:sp>
        <p:sp>
          <p:nvSpPr>
            <p:cNvPr id="108" name="Text 7"/>
            <p:cNvSpPr/>
            <p:nvPr/>
          </p:nvSpPr>
          <p:spPr>
            <a:xfrm>
              <a:off x="542274" y="2583446"/>
              <a:ext cx="1487202" cy="109902"/>
            </a:xfrm>
            <a:prstGeom prst="rect">
              <a:avLst/>
            </a:prstGeom>
            <a:noFill/>
            <a:ln/>
          </p:spPr>
          <p:txBody>
            <a:bodyPr wrap="none" lIns="0" tIns="0" rIns="0" bIns="0" rtlCol="0" anchor="t">
              <a:spAutoFit/>
            </a:bodyPr>
            <a:lstStyle/>
            <a:p>
              <a:pPr marL="0" indent="0" algn="ctr">
                <a:lnSpc>
                  <a:spcPts val="700"/>
                </a:lnSpc>
                <a:buNone/>
              </a:pPr>
              <a:r>
                <a:rPr lang="en-US" sz="1200" dirty="0">
                  <a:solidFill>
                    <a:srgbClr val="333333"/>
                  </a:solidFill>
                </a:rPr>
                <a:t>Prev Hash: 3a7f2c9e...</a:t>
              </a:r>
              <a:endParaRPr lang="en-US" sz="1200" dirty="0"/>
            </a:p>
          </p:txBody>
        </p:sp>
        <p:sp>
          <p:nvSpPr>
            <p:cNvPr id="109" name="Text 8"/>
            <p:cNvSpPr/>
            <p:nvPr/>
          </p:nvSpPr>
          <p:spPr>
            <a:xfrm>
              <a:off x="709875" y="2764699"/>
              <a:ext cx="1175129" cy="109902"/>
            </a:xfrm>
            <a:prstGeom prst="rect">
              <a:avLst/>
            </a:prstGeom>
            <a:noFill/>
            <a:ln/>
          </p:spPr>
          <p:txBody>
            <a:bodyPr wrap="none" lIns="0" tIns="0" rIns="0" bIns="0" rtlCol="0" anchor="t">
              <a:spAutoFit/>
            </a:bodyPr>
            <a:lstStyle/>
            <a:p>
              <a:pPr marL="0" indent="0" algn="ctr">
                <a:lnSpc>
                  <a:spcPts val="700"/>
                </a:lnSpc>
                <a:buNone/>
              </a:pPr>
              <a:r>
                <a:rPr lang="en-US" sz="1200" dirty="0">
                  <a:solidFill>
                    <a:srgbClr val="333333"/>
                  </a:solidFill>
                </a:rPr>
                <a:t>Hash: 7b2a1f4e...</a:t>
              </a:r>
              <a:endParaRPr lang="en-US" sz="1200" dirty="0"/>
            </a:p>
          </p:txBody>
        </p:sp>
      </p:grpSp>
      <p:sp>
        <p:nvSpPr>
          <p:cNvPr id="110" name="Text 4">
            <a:extLst>
              <a:ext uri="{FF2B5EF4-FFF2-40B4-BE49-F238E27FC236}">
                <a16:creationId xmlns:a16="http://schemas.microsoft.com/office/drawing/2014/main" id="{6B087EF4-4ACE-7431-9A61-411420D533B4}"/>
              </a:ext>
            </a:extLst>
          </p:cNvPr>
          <p:cNvSpPr/>
          <p:nvPr/>
        </p:nvSpPr>
        <p:spPr>
          <a:xfrm>
            <a:off x="1183146" y="2660993"/>
            <a:ext cx="184346" cy="239104"/>
          </a:xfrm>
          <a:prstGeom prst="rect">
            <a:avLst/>
          </a:prstGeom>
          <a:noFill/>
          <a:ln/>
        </p:spPr>
        <p:txBody>
          <a:bodyPr wrap="none" lIns="0" tIns="0" rIns="0" bIns="0" rtlCol="0" anchor="t">
            <a:spAutoFit/>
          </a:bodyPr>
          <a:lstStyle/>
          <a:p>
            <a:pPr marL="0" indent="0" algn="ctr">
              <a:lnSpc>
                <a:spcPts val="1600"/>
              </a:lnSpc>
              <a:buNone/>
            </a:pPr>
            <a:r>
              <a:rPr lang="en-US" sz="2400" dirty="0">
                <a:solidFill>
                  <a:srgbClr val="0055FF"/>
                </a:solidFill>
              </a:rPr>
              <a:t>↓</a:t>
            </a:r>
            <a:endParaRPr lang="en-US" sz="2400" dirty="0"/>
          </a:p>
        </p:txBody>
      </p:sp>
      <p:grpSp>
        <p:nvGrpSpPr>
          <p:cNvPr id="111" name="Grupo 110">
            <a:extLst>
              <a:ext uri="{FF2B5EF4-FFF2-40B4-BE49-F238E27FC236}">
                <a16:creationId xmlns:a16="http://schemas.microsoft.com/office/drawing/2014/main" id="{97558504-689B-627E-7005-58A2C6B01C1B}"/>
              </a:ext>
            </a:extLst>
          </p:cNvPr>
          <p:cNvGrpSpPr/>
          <p:nvPr/>
        </p:nvGrpSpPr>
        <p:grpSpPr>
          <a:xfrm>
            <a:off x="2530470" y="2890027"/>
            <a:ext cx="1553736" cy="644723"/>
            <a:chOff x="571500" y="2260104"/>
            <a:chExt cx="1428750" cy="644723"/>
          </a:xfrm>
        </p:grpSpPr>
        <p:sp>
          <p:nvSpPr>
            <p:cNvPr id="112" name="Shape 5">
              <a:extLst>
                <a:ext uri="{FF2B5EF4-FFF2-40B4-BE49-F238E27FC236}">
                  <a16:creationId xmlns:a16="http://schemas.microsoft.com/office/drawing/2014/main" id="{E293E5ED-5D22-E681-5BF2-C8BF9949BC51}"/>
                </a:ext>
              </a:extLst>
            </p:cNvPr>
            <p:cNvSpPr/>
            <p:nvPr/>
          </p:nvSpPr>
          <p:spPr>
            <a:xfrm>
              <a:off x="571500" y="2260104"/>
              <a:ext cx="1428750" cy="644723"/>
            </a:xfrm>
            <a:prstGeom prst="rect">
              <a:avLst/>
            </a:prstGeom>
            <a:solidFill>
              <a:srgbClr val="FFE5E5"/>
            </a:solidFill>
            <a:ln w="18288">
              <a:solidFill>
                <a:srgbClr val="C00000"/>
              </a:solidFill>
              <a:prstDash val="solid"/>
            </a:ln>
          </p:spPr>
          <p:txBody>
            <a:bodyPr/>
            <a:lstStyle/>
            <a:p>
              <a:endParaRPr lang="es-ES" sz="1200" dirty="0">
                <a:solidFill>
                  <a:srgbClr val="FF0000"/>
                </a:solidFill>
              </a:endParaRPr>
            </a:p>
          </p:txBody>
        </p:sp>
        <p:sp>
          <p:nvSpPr>
            <p:cNvPr id="113" name="Text 6">
              <a:extLst>
                <a:ext uri="{FF2B5EF4-FFF2-40B4-BE49-F238E27FC236}">
                  <a16:creationId xmlns:a16="http://schemas.microsoft.com/office/drawing/2014/main" id="{D0ED8DC0-A032-6DAA-23B4-14EA61340CFB}"/>
                </a:ext>
              </a:extLst>
            </p:cNvPr>
            <p:cNvSpPr/>
            <p:nvPr/>
          </p:nvSpPr>
          <p:spPr>
            <a:xfrm>
              <a:off x="657933" y="2381548"/>
              <a:ext cx="1255893" cy="119520"/>
            </a:xfrm>
            <a:prstGeom prst="rect">
              <a:avLst/>
            </a:prstGeom>
            <a:noFill/>
            <a:ln/>
          </p:spPr>
          <p:txBody>
            <a:bodyPr wrap="none" lIns="0" tIns="0" rIns="0" bIns="0" rtlCol="0" anchor="t">
              <a:spAutoFit/>
            </a:bodyPr>
            <a:lstStyle/>
            <a:p>
              <a:pPr marL="0" indent="0" algn="ctr">
                <a:lnSpc>
                  <a:spcPts val="800"/>
                </a:lnSpc>
                <a:buNone/>
              </a:pPr>
              <a:r>
                <a:rPr lang="en-US" sz="1200" b="1" dirty="0">
                  <a:solidFill>
                    <a:srgbClr val="FF0000"/>
                  </a:solidFill>
                </a:rPr>
                <a:t>Block 3 (CHANGED)</a:t>
              </a:r>
              <a:endParaRPr lang="en-US" sz="1200" dirty="0">
                <a:solidFill>
                  <a:srgbClr val="FF0000"/>
                </a:solidFill>
              </a:endParaRPr>
            </a:p>
          </p:txBody>
        </p:sp>
        <p:sp>
          <p:nvSpPr>
            <p:cNvPr id="114" name="Text 7">
              <a:extLst>
                <a:ext uri="{FF2B5EF4-FFF2-40B4-BE49-F238E27FC236}">
                  <a16:creationId xmlns:a16="http://schemas.microsoft.com/office/drawing/2014/main" id="{52A9C7FF-45DA-F50D-80D0-7C4304CF9FBF}"/>
                </a:ext>
              </a:extLst>
            </p:cNvPr>
            <p:cNvSpPr/>
            <p:nvPr/>
          </p:nvSpPr>
          <p:spPr>
            <a:xfrm>
              <a:off x="602003" y="2581317"/>
              <a:ext cx="1367568" cy="109902"/>
            </a:xfrm>
            <a:prstGeom prst="rect">
              <a:avLst/>
            </a:prstGeom>
            <a:noFill/>
            <a:ln/>
          </p:spPr>
          <p:txBody>
            <a:bodyPr wrap="none" lIns="0" tIns="0" rIns="0" bIns="0" rtlCol="0" anchor="t">
              <a:spAutoFit/>
            </a:bodyPr>
            <a:lstStyle/>
            <a:p>
              <a:pPr marL="0" indent="0" algn="ctr">
                <a:lnSpc>
                  <a:spcPts val="700"/>
                </a:lnSpc>
                <a:buNone/>
              </a:pPr>
              <a:r>
                <a:rPr lang="en-US" sz="1200" dirty="0"/>
                <a:t>Prev Hash: 3a7f2c9e...</a:t>
              </a:r>
            </a:p>
          </p:txBody>
        </p:sp>
        <p:sp>
          <p:nvSpPr>
            <p:cNvPr id="115" name="Text 8">
              <a:extLst>
                <a:ext uri="{FF2B5EF4-FFF2-40B4-BE49-F238E27FC236}">
                  <a16:creationId xmlns:a16="http://schemas.microsoft.com/office/drawing/2014/main" id="{A1758ED3-5485-D397-93C7-C6BB53C27BC6}"/>
                </a:ext>
              </a:extLst>
            </p:cNvPr>
            <p:cNvSpPr/>
            <p:nvPr/>
          </p:nvSpPr>
          <p:spPr>
            <a:xfrm>
              <a:off x="658437" y="2764699"/>
              <a:ext cx="1278005" cy="108171"/>
            </a:xfrm>
            <a:prstGeom prst="rect">
              <a:avLst/>
            </a:prstGeom>
            <a:noFill/>
            <a:ln/>
          </p:spPr>
          <p:txBody>
            <a:bodyPr wrap="none" lIns="0" tIns="0" rIns="0" bIns="0" rtlCol="0" anchor="t">
              <a:spAutoFit/>
            </a:bodyPr>
            <a:lstStyle/>
            <a:p>
              <a:pPr algn="ctr">
                <a:lnSpc>
                  <a:spcPts val="700"/>
                </a:lnSpc>
              </a:pPr>
              <a:r>
                <a:rPr lang="en-US" sz="1200" dirty="0">
                  <a:solidFill>
                    <a:srgbClr val="FF0000"/>
                  </a:solidFill>
                </a:rPr>
                <a:t>Hash: </a:t>
              </a:r>
              <a:r>
                <a:rPr lang="en-US" sz="1200" b="1" dirty="0">
                  <a:solidFill>
                    <a:srgbClr val="FF0000"/>
                  </a:solidFill>
                </a:rPr>
                <a:t>9c5d3b1a</a:t>
              </a:r>
              <a:r>
                <a:rPr lang="en-US" sz="1200" dirty="0">
                  <a:solidFill>
                    <a:srgbClr val="FF0000"/>
                  </a:solidFill>
                </a:rPr>
                <a:t>... </a:t>
              </a:r>
              <a:r>
                <a:rPr lang="en-US" sz="1200" b="1" dirty="0">
                  <a:solidFill>
                    <a:srgbClr val="FF0000"/>
                  </a:solidFill>
                </a:rPr>
                <a:t>✗</a:t>
              </a:r>
              <a:endParaRPr lang="en-US" sz="1200" dirty="0">
                <a:solidFill>
                  <a:srgbClr val="FF0000"/>
                </a:solidFill>
              </a:endParaRPr>
            </a:p>
          </p:txBody>
        </p:sp>
      </p:grpSp>
      <p:grpSp>
        <p:nvGrpSpPr>
          <p:cNvPr id="116" name="Grupo 115">
            <a:extLst>
              <a:ext uri="{FF2B5EF4-FFF2-40B4-BE49-F238E27FC236}">
                <a16:creationId xmlns:a16="http://schemas.microsoft.com/office/drawing/2014/main" id="{7C353CF4-7793-325E-99AE-53DC65A0E683}"/>
              </a:ext>
            </a:extLst>
          </p:cNvPr>
          <p:cNvGrpSpPr/>
          <p:nvPr/>
        </p:nvGrpSpPr>
        <p:grpSpPr>
          <a:xfrm>
            <a:off x="509006" y="2889047"/>
            <a:ext cx="1553736" cy="644723"/>
            <a:chOff x="571500" y="2260104"/>
            <a:chExt cx="1428750" cy="644723"/>
          </a:xfrm>
        </p:grpSpPr>
        <p:sp>
          <p:nvSpPr>
            <p:cNvPr id="117" name="Shape 5">
              <a:extLst>
                <a:ext uri="{FF2B5EF4-FFF2-40B4-BE49-F238E27FC236}">
                  <a16:creationId xmlns:a16="http://schemas.microsoft.com/office/drawing/2014/main" id="{AF22D5E1-B45B-AE27-7766-907BC9FEE108}"/>
                </a:ext>
              </a:extLst>
            </p:cNvPr>
            <p:cNvSpPr/>
            <p:nvPr/>
          </p:nvSpPr>
          <p:spPr>
            <a:xfrm>
              <a:off x="571500" y="2260104"/>
              <a:ext cx="1428750" cy="644723"/>
            </a:xfrm>
            <a:prstGeom prst="rect">
              <a:avLst/>
            </a:prstGeom>
            <a:solidFill>
              <a:srgbClr val="FFFFFF"/>
            </a:solidFill>
            <a:ln w="18288">
              <a:solidFill>
                <a:srgbClr val="0055FF"/>
              </a:solidFill>
              <a:prstDash val="solid"/>
            </a:ln>
          </p:spPr>
          <p:txBody>
            <a:bodyPr/>
            <a:lstStyle/>
            <a:p>
              <a:endParaRPr lang="es-ES" sz="1200" dirty="0"/>
            </a:p>
          </p:txBody>
        </p:sp>
        <p:sp>
          <p:nvSpPr>
            <p:cNvPr id="118" name="Text 6">
              <a:extLst>
                <a:ext uri="{FF2B5EF4-FFF2-40B4-BE49-F238E27FC236}">
                  <a16:creationId xmlns:a16="http://schemas.microsoft.com/office/drawing/2014/main" id="{A53A361E-7D20-BF8D-6ADC-A251D9C90708}"/>
                </a:ext>
              </a:extLst>
            </p:cNvPr>
            <p:cNvSpPr/>
            <p:nvPr/>
          </p:nvSpPr>
          <p:spPr>
            <a:xfrm>
              <a:off x="1052238" y="2381548"/>
              <a:ext cx="467275" cy="119520"/>
            </a:xfrm>
            <a:prstGeom prst="rect">
              <a:avLst/>
            </a:prstGeom>
            <a:noFill/>
            <a:ln/>
          </p:spPr>
          <p:txBody>
            <a:bodyPr wrap="none" lIns="0" tIns="0" rIns="0" bIns="0" rtlCol="0" anchor="t">
              <a:spAutoFit/>
            </a:bodyPr>
            <a:lstStyle/>
            <a:p>
              <a:pPr marL="0" indent="0" algn="ctr">
                <a:lnSpc>
                  <a:spcPts val="800"/>
                </a:lnSpc>
                <a:buNone/>
              </a:pPr>
              <a:r>
                <a:rPr lang="en-US" sz="1200" b="1" dirty="0">
                  <a:solidFill>
                    <a:srgbClr val="0055FF"/>
                  </a:solidFill>
                </a:rPr>
                <a:t>Block 3</a:t>
              </a:r>
              <a:endParaRPr lang="en-US" sz="1200" dirty="0"/>
            </a:p>
          </p:txBody>
        </p:sp>
        <p:sp>
          <p:nvSpPr>
            <p:cNvPr id="119" name="Text 7">
              <a:extLst>
                <a:ext uri="{FF2B5EF4-FFF2-40B4-BE49-F238E27FC236}">
                  <a16:creationId xmlns:a16="http://schemas.microsoft.com/office/drawing/2014/main" id="{E5E7619C-DB8D-7764-7BCB-C94CB2FAA61E}"/>
                </a:ext>
              </a:extLst>
            </p:cNvPr>
            <p:cNvSpPr/>
            <p:nvPr/>
          </p:nvSpPr>
          <p:spPr>
            <a:xfrm>
              <a:off x="599142" y="2583446"/>
              <a:ext cx="1373465" cy="109902"/>
            </a:xfrm>
            <a:prstGeom prst="rect">
              <a:avLst/>
            </a:prstGeom>
            <a:noFill/>
            <a:ln/>
          </p:spPr>
          <p:txBody>
            <a:bodyPr wrap="none" lIns="0" tIns="0" rIns="0" bIns="0" rtlCol="0" anchor="t">
              <a:spAutoFit/>
            </a:bodyPr>
            <a:lstStyle/>
            <a:p>
              <a:pPr algn="ctr">
                <a:lnSpc>
                  <a:spcPts val="700"/>
                </a:lnSpc>
              </a:pPr>
              <a:r>
                <a:rPr lang="en-US" sz="1200" dirty="0">
                  <a:solidFill>
                    <a:srgbClr val="333333"/>
                  </a:solidFill>
                </a:rPr>
                <a:t>Prev Hash: 7b2a1f4e...</a:t>
              </a:r>
              <a:endParaRPr lang="en-US" sz="1200" dirty="0"/>
            </a:p>
          </p:txBody>
        </p:sp>
        <p:sp>
          <p:nvSpPr>
            <p:cNvPr id="120" name="Text 8">
              <a:extLst>
                <a:ext uri="{FF2B5EF4-FFF2-40B4-BE49-F238E27FC236}">
                  <a16:creationId xmlns:a16="http://schemas.microsoft.com/office/drawing/2014/main" id="{E0835EAB-43BA-89F0-8774-272DE76F6371}"/>
                </a:ext>
              </a:extLst>
            </p:cNvPr>
            <p:cNvSpPr/>
            <p:nvPr/>
          </p:nvSpPr>
          <p:spPr>
            <a:xfrm>
              <a:off x="760764" y="2764699"/>
              <a:ext cx="1073348" cy="109902"/>
            </a:xfrm>
            <a:prstGeom prst="rect">
              <a:avLst/>
            </a:prstGeom>
            <a:noFill/>
            <a:ln/>
          </p:spPr>
          <p:txBody>
            <a:bodyPr wrap="none" lIns="0" tIns="0" rIns="0" bIns="0" rtlCol="0" anchor="t">
              <a:spAutoFit/>
            </a:bodyPr>
            <a:lstStyle/>
            <a:p>
              <a:pPr marL="0" indent="0" algn="ctr">
                <a:lnSpc>
                  <a:spcPts val="700"/>
                </a:lnSpc>
                <a:buNone/>
              </a:pPr>
              <a:r>
                <a:rPr lang="en-US" sz="1200" dirty="0">
                  <a:solidFill>
                    <a:srgbClr val="333333"/>
                  </a:solidFill>
                </a:rPr>
                <a:t>Hash: 5c6781af...</a:t>
              </a:r>
              <a:endParaRPr lang="en-US" sz="1200" dirty="0"/>
            </a:p>
          </p:txBody>
        </p:sp>
      </p:grpSp>
      <p:grpSp>
        <p:nvGrpSpPr>
          <p:cNvPr id="122" name="Grupo 121">
            <a:extLst>
              <a:ext uri="{FF2B5EF4-FFF2-40B4-BE49-F238E27FC236}">
                <a16:creationId xmlns:a16="http://schemas.microsoft.com/office/drawing/2014/main" id="{B56C9A0C-58AF-833B-11B4-C1DB257BFBFC}"/>
              </a:ext>
            </a:extLst>
          </p:cNvPr>
          <p:cNvGrpSpPr/>
          <p:nvPr/>
        </p:nvGrpSpPr>
        <p:grpSpPr>
          <a:xfrm>
            <a:off x="509006" y="3881599"/>
            <a:ext cx="1553736" cy="644723"/>
            <a:chOff x="571500" y="2260104"/>
            <a:chExt cx="1428750" cy="644723"/>
          </a:xfrm>
        </p:grpSpPr>
        <p:sp>
          <p:nvSpPr>
            <p:cNvPr id="123" name="Shape 5">
              <a:extLst>
                <a:ext uri="{FF2B5EF4-FFF2-40B4-BE49-F238E27FC236}">
                  <a16:creationId xmlns:a16="http://schemas.microsoft.com/office/drawing/2014/main" id="{A915A342-630F-27E1-9748-00ABA7E8A716}"/>
                </a:ext>
              </a:extLst>
            </p:cNvPr>
            <p:cNvSpPr/>
            <p:nvPr/>
          </p:nvSpPr>
          <p:spPr>
            <a:xfrm>
              <a:off x="571500" y="2260104"/>
              <a:ext cx="1428750" cy="644723"/>
            </a:xfrm>
            <a:prstGeom prst="rect">
              <a:avLst/>
            </a:prstGeom>
            <a:solidFill>
              <a:srgbClr val="FFFFFF"/>
            </a:solidFill>
            <a:ln w="18288">
              <a:solidFill>
                <a:srgbClr val="0055FF"/>
              </a:solidFill>
              <a:prstDash val="solid"/>
            </a:ln>
          </p:spPr>
          <p:txBody>
            <a:bodyPr/>
            <a:lstStyle/>
            <a:p>
              <a:endParaRPr lang="es-ES" sz="1200" dirty="0"/>
            </a:p>
          </p:txBody>
        </p:sp>
        <p:sp>
          <p:nvSpPr>
            <p:cNvPr id="124" name="Text 6">
              <a:extLst>
                <a:ext uri="{FF2B5EF4-FFF2-40B4-BE49-F238E27FC236}">
                  <a16:creationId xmlns:a16="http://schemas.microsoft.com/office/drawing/2014/main" id="{76299B8C-0C42-2693-CF75-69FB1230120F}"/>
                </a:ext>
              </a:extLst>
            </p:cNvPr>
            <p:cNvSpPr/>
            <p:nvPr/>
          </p:nvSpPr>
          <p:spPr>
            <a:xfrm>
              <a:off x="1052238" y="2381548"/>
              <a:ext cx="467275" cy="119520"/>
            </a:xfrm>
            <a:prstGeom prst="rect">
              <a:avLst/>
            </a:prstGeom>
            <a:noFill/>
            <a:ln/>
          </p:spPr>
          <p:txBody>
            <a:bodyPr wrap="none" lIns="0" tIns="0" rIns="0" bIns="0" rtlCol="0" anchor="t">
              <a:spAutoFit/>
            </a:bodyPr>
            <a:lstStyle/>
            <a:p>
              <a:pPr marL="0" indent="0" algn="ctr">
                <a:lnSpc>
                  <a:spcPts val="800"/>
                </a:lnSpc>
                <a:buNone/>
              </a:pPr>
              <a:r>
                <a:rPr lang="en-US" sz="1200" b="1" dirty="0">
                  <a:solidFill>
                    <a:srgbClr val="0055FF"/>
                  </a:solidFill>
                </a:rPr>
                <a:t>Block 4</a:t>
              </a:r>
              <a:endParaRPr lang="en-US" sz="1200" dirty="0"/>
            </a:p>
          </p:txBody>
        </p:sp>
        <p:sp>
          <p:nvSpPr>
            <p:cNvPr id="125" name="Text 7">
              <a:extLst>
                <a:ext uri="{FF2B5EF4-FFF2-40B4-BE49-F238E27FC236}">
                  <a16:creationId xmlns:a16="http://schemas.microsoft.com/office/drawing/2014/main" id="{6BD3328A-AC9F-06DA-0B31-838CBFC5BCCA}"/>
                </a:ext>
              </a:extLst>
            </p:cNvPr>
            <p:cNvSpPr/>
            <p:nvPr/>
          </p:nvSpPr>
          <p:spPr>
            <a:xfrm>
              <a:off x="599142" y="2583446"/>
              <a:ext cx="1373465" cy="109902"/>
            </a:xfrm>
            <a:prstGeom prst="rect">
              <a:avLst/>
            </a:prstGeom>
            <a:noFill/>
            <a:ln/>
          </p:spPr>
          <p:txBody>
            <a:bodyPr wrap="none" lIns="0" tIns="0" rIns="0" bIns="0" rtlCol="0" anchor="t">
              <a:spAutoFit/>
            </a:bodyPr>
            <a:lstStyle/>
            <a:p>
              <a:pPr algn="ctr">
                <a:lnSpc>
                  <a:spcPts val="700"/>
                </a:lnSpc>
              </a:pPr>
              <a:r>
                <a:rPr lang="en-US" sz="1200" dirty="0">
                  <a:solidFill>
                    <a:srgbClr val="333333"/>
                  </a:solidFill>
                </a:rPr>
                <a:t>Prev Hash: </a:t>
              </a:r>
              <a:r>
                <a:rPr lang="en-US" sz="1200" b="1" dirty="0">
                  <a:solidFill>
                    <a:srgbClr val="333333"/>
                  </a:solidFill>
                </a:rPr>
                <a:t>5c6781af...</a:t>
              </a:r>
              <a:endParaRPr lang="en-US" sz="1200" b="1" dirty="0"/>
            </a:p>
          </p:txBody>
        </p:sp>
        <p:sp>
          <p:nvSpPr>
            <p:cNvPr id="126" name="Text 8">
              <a:extLst>
                <a:ext uri="{FF2B5EF4-FFF2-40B4-BE49-F238E27FC236}">
                  <a16:creationId xmlns:a16="http://schemas.microsoft.com/office/drawing/2014/main" id="{4471A6BE-6673-BE09-13E8-1523C65ADBB8}"/>
                </a:ext>
              </a:extLst>
            </p:cNvPr>
            <p:cNvSpPr/>
            <p:nvPr/>
          </p:nvSpPr>
          <p:spPr>
            <a:xfrm>
              <a:off x="740248" y="2764699"/>
              <a:ext cx="1114384" cy="109902"/>
            </a:xfrm>
            <a:prstGeom prst="rect">
              <a:avLst/>
            </a:prstGeom>
            <a:noFill/>
            <a:ln/>
          </p:spPr>
          <p:txBody>
            <a:bodyPr wrap="none" lIns="0" tIns="0" rIns="0" bIns="0" rtlCol="0" anchor="t">
              <a:spAutoFit/>
            </a:bodyPr>
            <a:lstStyle/>
            <a:p>
              <a:pPr marL="0" indent="0" algn="ctr">
                <a:lnSpc>
                  <a:spcPts val="700"/>
                </a:lnSpc>
                <a:buNone/>
              </a:pPr>
              <a:r>
                <a:rPr lang="en-US" sz="1200" dirty="0">
                  <a:solidFill>
                    <a:srgbClr val="333333"/>
                  </a:solidFill>
                </a:rPr>
                <a:t>Hash: 189abcc2...</a:t>
              </a:r>
              <a:endParaRPr lang="en-US" sz="1200" dirty="0"/>
            </a:p>
          </p:txBody>
        </p:sp>
      </p:grpSp>
      <p:sp>
        <p:nvSpPr>
          <p:cNvPr id="127" name="Text 4">
            <a:extLst>
              <a:ext uri="{FF2B5EF4-FFF2-40B4-BE49-F238E27FC236}">
                <a16:creationId xmlns:a16="http://schemas.microsoft.com/office/drawing/2014/main" id="{2ABA9E55-7920-5ADD-01CD-C6A48C54FF3F}"/>
              </a:ext>
            </a:extLst>
          </p:cNvPr>
          <p:cNvSpPr/>
          <p:nvPr/>
        </p:nvSpPr>
        <p:spPr>
          <a:xfrm>
            <a:off x="1183146" y="3645633"/>
            <a:ext cx="184346" cy="239104"/>
          </a:xfrm>
          <a:prstGeom prst="rect">
            <a:avLst/>
          </a:prstGeom>
          <a:noFill/>
          <a:ln/>
        </p:spPr>
        <p:txBody>
          <a:bodyPr wrap="none" lIns="0" tIns="0" rIns="0" bIns="0" rtlCol="0" anchor="t">
            <a:spAutoFit/>
          </a:bodyPr>
          <a:lstStyle/>
          <a:p>
            <a:pPr marL="0" indent="0" algn="ctr">
              <a:lnSpc>
                <a:spcPts val="1600"/>
              </a:lnSpc>
              <a:buNone/>
            </a:pPr>
            <a:r>
              <a:rPr lang="en-US" sz="2400" dirty="0">
                <a:solidFill>
                  <a:srgbClr val="0055FF"/>
                </a:solidFill>
              </a:rPr>
              <a:t>↓</a:t>
            </a:r>
            <a:endParaRPr lang="en-US" sz="2400" dirty="0"/>
          </a:p>
        </p:txBody>
      </p:sp>
      <p:sp>
        <p:nvSpPr>
          <p:cNvPr id="128" name="Text 4">
            <a:extLst>
              <a:ext uri="{FF2B5EF4-FFF2-40B4-BE49-F238E27FC236}">
                <a16:creationId xmlns:a16="http://schemas.microsoft.com/office/drawing/2014/main" id="{B8A66806-E983-1E69-AE60-552B4371E8D7}"/>
              </a:ext>
            </a:extLst>
          </p:cNvPr>
          <p:cNvSpPr/>
          <p:nvPr/>
        </p:nvSpPr>
        <p:spPr>
          <a:xfrm rot="18575425">
            <a:off x="2271031" y="2636215"/>
            <a:ext cx="184346" cy="239104"/>
          </a:xfrm>
          <a:prstGeom prst="rect">
            <a:avLst/>
          </a:prstGeom>
          <a:noFill/>
          <a:ln/>
        </p:spPr>
        <p:txBody>
          <a:bodyPr wrap="none" lIns="0" tIns="0" rIns="0" bIns="0" rtlCol="0" anchor="t">
            <a:spAutoFit/>
          </a:bodyPr>
          <a:lstStyle/>
          <a:p>
            <a:pPr marL="0" indent="0" algn="ctr">
              <a:lnSpc>
                <a:spcPts val="1600"/>
              </a:lnSpc>
              <a:buNone/>
            </a:pPr>
            <a:r>
              <a:rPr lang="en-US" sz="2400" dirty="0">
                <a:solidFill>
                  <a:srgbClr val="FF0000"/>
                </a:solidFill>
              </a:rPr>
              <a:t>↓</a:t>
            </a:r>
          </a:p>
        </p:txBody>
      </p:sp>
      <p:sp>
        <p:nvSpPr>
          <p:cNvPr id="129" name="Text 4">
            <a:extLst>
              <a:ext uri="{FF2B5EF4-FFF2-40B4-BE49-F238E27FC236}">
                <a16:creationId xmlns:a16="http://schemas.microsoft.com/office/drawing/2014/main" id="{BB19483F-A875-29FA-2DFE-85052FAC5F7C}"/>
              </a:ext>
            </a:extLst>
          </p:cNvPr>
          <p:cNvSpPr/>
          <p:nvPr/>
        </p:nvSpPr>
        <p:spPr>
          <a:xfrm rot="2957072">
            <a:off x="2153091" y="3650283"/>
            <a:ext cx="184346" cy="239104"/>
          </a:xfrm>
          <a:prstGeom prst="rect">
            <a:avLst/>
          </a:prstGeom>
          <a:noFill/>
          <a:ln/>
        </p:spPr>
        <p:txBody>
          <a:bodyPr wrap="none" lIns="0" tIns="0" rIns="0" bIns="0" rtlCol="0" anchor="t">
            <a:spAutoFit/>
          </a:bodyPr>
          <a:lstStyle/>
          <a:p>
            <a:pPr marL="0" indent="0" algn="ctr">
              <a:lnSpc>
                <a:spcPts val="1600"/>
              </a:lnSpc>
              <a:buNone/>
            </a:pPr>
            <a:r>
              <a:rPr lang="en-US" sz="2400" dirty="0">
                <a:solidFill>
                  <a:srgbClr val="FF0000"/>
                </a:solidFill>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9F929-1809-D647-ECEB-009AA120CB4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4C20054-D542-9DC9-84E0-FC22D78521E9}"/>
              </a:ext>
            </a:extLst>
          </p:cNvPr>
          <p:cNvSpPr/>
          <p:nvPr/>
        </p:nvSpPr>
        <p:spPr>
          <a:xfrm>
            <a:off x="571500" y="428625"/>
            <a:ext cx="5131854" cy="394275"/>
          </a:xfrm>
          <a:prstGeom prst="rect">
            <a:avLst/>
          </a:prstGeom>
          <a:noFill/>
          <a:ln/>
        </p:spPr>
        <p:txBody>
          <a:bodyPr wrap="none" lIns="0" tIns="0" rIns="0" bIns="0" rtlCol="0" anchor="t">
            <a:spAutoFit/>
          </a:bodyPr>
          <a:lstStyle/>
          <a:p>
            <a:pPr>
              <a:lnSpc>
                <a:spcPts val="3200"/>
              </a:lnSpc>
            </a:pPr>
            <a:r>
              <a:rPr lang="en-US" sz="2436" b="1" dirty="0">
                <a:solidFill>
                  <a:srgbClr val="1A1A1A"/>
                </a:solidFill>
              </a:rPr>
              <a:t>The 51% Attack: Why It's Impractical</a:t>
            </a:r>
            <a:endParaRPr lang="en-US" sz="2436" dirty="0"/>
          </a:p>
        </p:txBody>
      </p:sp>
      <p:sp>
        <p:nvSpPr>
          <p:cNvPr id="4" name="Text 1">
            <a:extLst>
              <a:ext uri="{FF2B5EF4-FFF2-40B4-BE49-F238E27FC236}">
                <a16:creationId xmlns:a16="http://schemas.microsoft.com/office/drawing/2014/main" id="{D0069538-9E45-B3E3-40D2-65A7E3237C29}"/>
              </a:ext>
            </a:extLst>
          </p:cNvPr>
          <p:cNvSpPr/>
          <p:nvPr/>
        </p:nvSpPr>
        <p:spPr>
          <a:xfrm>
            <a:off x="571500" y="966192"/>
            <a:ext cx="4581639" cy="165173"/>
          </a:xfrm>
          <a:prstGeom prst="rect">
            <a:avLst/>
          </a:prstGeom>
          <a:noFill/>
          <a:ln/>
        </p:spPr>
        <p:txBody>
          <a:bodyPr wrap="none" lIns="0" tIns="0" rIns="0" bIns="0" rtlCol="0" anchor="t">
            <a:spAutoFit/>
          </a:bodyPr>
          <a:lstStyle/>
          <a:p>
            <a:pPr>
              <a:lnSpc>
                <a:spcPts val="1200"/>
              </a:lnSpc>
            </a:pPr>
            <a:r>
              <a:rPr lang="en-US" sz="1400" dirty="0">
                <a:solidFill>
                  <a:srgbClr val="333333"/>
                </a:solidFill>
              </a:rPr>
              <a:t>Economic analysis of attacking a major blockchain network</a:t>
            </a:r>
            <a:endParaRPr lang="en-US" sz="1400" dirty="0"/>
          </a:p>
        </p:txBody>
      </p:sp>
      <p:sp>
        <p:nvSpPr>
          <p:cNvPr id="5" name="Shape 2">
            <a:extLst>
              <a:ext uri="{FF2B5EF4-FFF2-40B4-BE49-F238E27FC236}">
                <a16:creationId xmlns:a16="http://schemas.microsoft.com/office/drawing/2014/main" id="{B6810F42-D8BF-5A0E-9426-19801E27B1F3}"/>
              </a:ext>
            </a:extLst>
          </p:cNvPr>
          <p:cNvSpPr/>
          <p:nvPr/>
        </p:nvSpPr>
        <p:spPr>
          <a:xfrm>
            <a:off x="571500" y="1426964"/>
            <a:ext cx="285750" cy="285750"/>
          </a:xfrm>
          <a:prstGeom prst="ellipse">
            <a:avLst/>
          </a:prstGeom>
          <a:solidFill>
            <a:srgbClr val="0055FF"/>
          </a:solidFill>
          <a:ln/>
        </p:spPr>
        <p:txBody>
          <a:bodyPr/>
          <a:lstStyle/>
          <a:p>
            <a:endParaRPr lang="es-ES" dirty="0"/>
          </a:p>
        </p:txBody>
      </p:sp>
      <p:sp>
        <p:nvSpPr>
          <p:cNvPr id="6" name="Text 3">
            <a:extLst>
              <a:ext uri="{FF2B5EF4-FFF2-40B4-BE49-F238E27FC236}">
                <a16:creationId xmlns:a16="http://schemas.microsoft.com/office/drawing/2014/main" id="{6182FA00-F6AD-931E-407A-94CC0BC8992F}"/>
              </a:ext>
            </a:extLst>
          </p:cNvPr>
          <p:cNvSpPr/>
          <p:nvPr/>
        </p:nvSpPr>
        <p:spPr>
          <a:xfrm>
            <a:off x="571500" y="1490843"/>
            <a:ext cx="285750" cy="157992"/>
          </a:xfrm>
          <a:prstGeom prst="rect">
            <a:avLst/>
          </a:prstGeom>
          <a:noFill/>
          <a:ln/>
        </p:spPr>
        <p:txBody>
          <a:bodyPr wrap="square" lIns="0" tIns="0" rIns="0" bIns="0" rtlCol="0" anchor="ctr">
            <a:spAutoFit/>
          </a:bodyPr>
          <a:lstStyle/>
          <a:p>
            <a:pPr marL="0" indent="0" algn="ctr">
              <a:lnSpc>
                <a:spcPts val="1200"/>
              </a:lnSpc>
              <a:buNone/>
            </a:pPr>
            <a:r>
              <a:rPr lang="en-US" sz="1200" b="1" dirty="0">
                <a:solidFill>
                  <a:srgbClr val="FFFFFF"/>
                </a:solidFill>
              </a:rPr>
              <a:t>1</a:t>
            </a:r>
            <a:endParaRPr lang="en-US" sz="885" dirty="0"/>
          </a:p>
        </p:txBody>
      </p:sp>
      <p:sp>
        <p:nvSpPr>
          <p:cNvPr id="7" name="Text 4">
            <a:extLst>
              <a:ext uri="{FF2B5EF4-FFF2-40B4-BE49-F238E27FC236}">
                <a16:creationId xmlns:a16="http://schemas.microsoft.com/office/drawing/2014/main" id="{88C878E7-EAA3-CDA6-9E0B-AD4AC287CD68}"/>
              </a:ext>
            </a:extLst>
          </p:cNvPr>
          <p:cNvSpPr/>
          <p:nvPr/>
        </p:nvSpPr>
        <p:spPr>
          <a:xfrm>
            <a:off x="964406" y="1482328"/>
            <a:ext cx="983283" cy="157992"/>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A1A1A"/>
                </a:solidFill>
              </a:rPr>
              <a:t>What and why</a:t>
            </a:r>
            <a:endParaRPr lang="en-US" sz="1200" dirty="0"/>
          </a:p>
        </p:txBody>
      </p:sp>
      <p:sp>
        <p:nvSpPr>
          <p:cNvPr id="9" name="Shape 6">
            <a:extLst>
              <a:ext uri="{FF2B5EF4-FFF2-40B4-BE49-F238E27FC236}">
                <a16:creationId xmlns:a16="http://schemas.microsoft.com/office/drawing/2014/main" id="{2EAACA08-DCDF-8C6E-9C0D-D33B6A57412D}"/>
              </a:ext>
            </a:extLst>
          </p:cNvPr>
          <p:cNvSpPr/>
          <p:nvPr/>
        </p:nvSpPr>
        <p:spPr>
          <a:xfrm flipH="1">
            <a:off x="592931" y="1855589"/>
            <a:ext cx="45719" cy="3287911"/>
          </a:xfrm>
          <a:prstGeom prst="rect">
            <a:avLst/>
          </a:prstGeom>
          <a:solidFill>
            <a:srgbClr val="0055FF"/>
          </a:solidFill>
          <a:ln/>
        </p:spPr>
        <p:txBody>
          <a:bodyPr/>
          <a:lstStyle/>
          <a:p>
            <a:endParaRPr lang="es-ES"/>
          </a:p>
        </p:txBody>
      </p:sp>
      <p:sp>
        <p:nvSpPr>
          <p:cNvPr id="10" name="Text 7">
            <a:extLst>
              <a:ext uri="{FF2B5EF4-FFF2-40B4-BE49-F238E27FC236}">
                <a16:creationId xmlns:a16="http://schemas.microsoft.com/office/drawing/2014/main" id="{44185C79-561F-6BD6-BDE0-447DFAB4F484}"/>
              </a:ext>
            </a:extLst>
          </p:cNvPr>
          <p:cNvSpPr/>
          <p:nvPr/>
        </p:nvSpPr>
        <p:spPr>
          <a:xfrm>
            <a:off x="714375" y="1953385"/>
            <a:ext cx="2238366" cy="553998"/>
          </a:xfrm>
          <a:prstGeom prst="rect">
            <a:avLst/>
          </a:prstGeom>
          <a:noFill/>
          <a:ln/>
        </p:spPr>
        <p:txBody>
          <a:bodyPr wrap="square" lIns="0" tIns="0" rIns="0" bIns="0" rtlCol="0" anchor="t">
            <a:spAutoFit/>
          </a:bodyPr>
          <a:lstStyle/>
          <a:p>
            <a:pPr marL="0" indent="0" algn="l">
              <a:buNone/>
            </a:pPr>
            <a:r>
              <a:rPr lang="en-US" sz="1200" dirty="0">
                <a:solidFill>
                  <a:srgbClr val="333333"/>
                </a:solidFill>
              </a:rPr>
              <a:t>An attacker gains control of the network's total computational power (hash rate).</a:t>
            </a:r>
          </a:p>
        </p:txBody>
      </p:sp>
      <p:sp>
        <p:nvSpPr>
          <p:cNvPr id="11" name="Shape 8">
            <a:extLst>
              <a:ext uri="{FF2B5EF4-FFF2-40B4-BE49-F238E27FC236}">
                <a16:creationId xmlns:a16="http://schemas.microsoft.com/office/drawing/2014/main" id="{AE5712B9-6101-262E-ECB8-C081F60A0EAF}"/>
              </a:ext>
            </a:extLst>
          </p:cNvPr>
          <p:cNvSpPr/>
          <p:nvPr/>
        </p:nvSpPr>
        <p:spPr>
          <a:xfrm>
            <a:off x="716737" y="2660590"/>
            <a:ext cx="2238366" cy="1434127"/>
          </a:xfrm>
          <a:prstGeom prst="rect">
            <a:avLst/>
          </a:prstGeom>
          <a:solidFill>
            <a:srgbClr val="F8F8F8"/>
          </a:solidFill>
          <a:ln w="9144">
            <a:solidFill>
              <a:srgbClr val="DDDDDD"/>
            </a:solidFill>
            <a:prstDash val="solid"/>
          </a:ln>
        </p:spPr>
        <p:txBody>
          <a:bodyPr/>
          <a:lstStyle/>
          <a:p>
            <a:endParaRPr lang="es-ES"/>
          </a:p>
        </p:txBody>
      </p:sp>
      <p:sp>
        <p:nvSpPr>
          <p:cNvPr id="12" name="Text 9">
            <a:extLst>
              <a:ext uri="{FF2B5EF4-FFF2-40B4-BE49-F238E27FC236}">
                <a16:creationId xmlns:a16="http://schemas.microsoft.com/office/drawing/2014/main" id="{295DE422-E853-8155-375C-C7569C78556A}"/>
              </a:ext>
            </a:extLst>
          </p:cNvPr>
          <p:cNvSpPr/>
          <p:nvPr/>
        </p:nvSpPr>
        <p:spPr>
          <a:xfrm>
            <a:off x="738281" y="2623484"/>
            <a:ext cx="2238366" cy="1498872"/>
          </a:xfrm>
          <a:prstGeom prst="rect">
            <a:avLst/>
          </a:prstGeom>
          <a:noFill/>
          <a:ln/>
        </p:spPr>
        <p:txBody>
          <a:bodyPr wrap="square" lIns="102108" tIns="102108" rIns="102108" bIns="102108" rtlCol="0" anchor="t">
            <a:spAutoFit/>
          </a:bodyPr>
          <a:lstStyle/>
          <a:p>
            <a:pPr marL="0" indent="0" algn="l">
              <a:buNone/>
            </a:pPr>
            <a:r>
              <a:rPr lang="en-US" sz="1200" dirty="0"/>
              <a:t>With the full control of the network, they can:</a:t>
            </a:r>
          </a:p>
          <a:p>
            <a:pPr marL="171450" indent="-171450" algn="l">
              <a:buFontTx/>
              <a:buChar char="-"/>
            </a:pPr>
            <a:r>
              <a:rPr lang="en-US" sz="1200" dirty="0"/>
              <a:t>Create the longest fork</a:t>
            </a:r>
          </a:p>
          <a:p>
            <a:pPr marL="171450" indent="-171450">
              <a:buFontTx/>
              <a:buChar char="-"/>
            </a:pPr>
            <a:r>
              <a:rPr lang="en-US" sz="1200" dirty="0">
                <a:solidFill>
                  <a:srgbClr val="333333"/>
                </a:solidFill>
              </a:rPr>
              <a:t>Reverse recent transactions (double-spend)</a:t>
            </a:r>
          </a:p>
          <a:p>
            <a:pPr marL="171450" indent="-171450">
              <a:buFontTx/>
              <a:buChar char="-"/>
            </a:pPr>
            <a:r>
              <a:rPr lang="en-US" sz="1200" dirty="0">
                <a:solidFill>
                  <a:srgbClr val="333333"/>
                </a:solidFill>
              </a:rPr>
              <a:t>Prevent new transactions from being confirmed</a:t>
            </a:r>
            <a:endParaRPr lang="en-US" sz="1200" dirty="0"/>
          </a:p>
        </p:txBody>
      </p:sp>
      <p:sp>
        <p:nvSpPr>
          <p:cNvPr id="14" name="Shape 11">
            <a:extLst>
              <a:ext uri="{FF2B5EF4-FFF2-40B4-BE49-F238E27FC236}">
                <a16:creationId xmlns:a16="http://schemas.microsoft.com/office/drawing/2014/main" id="{295467A8-4F78-C32D-7957-BBCDD52B5D03}"/>
              </a:ext>
            </a:extLst>
          </p:cNvPr>
          <p:cNvSpPr/>
          <p:nvPr/>
        </p:nvSpPr>
        <p:spPr>
          <a:xfrm>
            <a:off x="3309928" y="1426964"/>
            <a:ext cx="285750" cy="285750"/>
          </a:xfrm>
          <a:prstGeom prst="ellipse">
            <a:avLst/>
          </a:prstGeom>
          <a:solidFill>
            <a:srgbClr val="0055FF"/>
          </a:solidFill>
          <a:ln/>
        </p:spPr>
        <p:txBody>
          <a:bodyPr/>
          <a:lstStyle/>
          <a:p>
            <a:endParaRPr lang="es-ES" dirty="0"/>
          </a:p>
        </p:txBody>
      </p:sp>
      <p:sp>
        <p:nvSpPr>
          <p:cNvPr id="15" name="Text 12">
            <a:extLst>
              <a:ext uri="{FF2B5EF4-FFF2-40B4-BE49-F238E27FC236}">
                <a16:creationId xmlns:a16="http://schemas.microsoft.com/office/drawing/2014/main" id="{EAB347D2-3785-9D7A-6C44-F01FDBE93B17}"/>
              </a:ext>
            </a:extLst>
          </p:cNvPr>
          <p:cNvSpPr/>
          <p:nvPr/>
        </p:nvSpPr>
        <p:spPr>
          <a:xfrm>
            <a:off x="3309928" y="1490843"/>
            <a:ext cx="285750" cy="157992"/>
          </a:xfrm>
          <a:prstGeom prst="rect">
            <a:avLst/>
          </a:prstGeom>
          <a:noFill/>
          <a:ln/>
        </p:spPr>
        <p:txBody>
          <a:bodyPr wrap="square" lIns="0" tIns="0" rIns="0" bIns="0" rtlCol="0" anchor="ctr">
            <a:spAutoFit/>
          </a:bodyPr>
          <a:lstStyle/>
          <a:p>
            <a:pPr marL="0" indent="0" algn="ctr">
              <a:lnSpc>
                <a:spcPts val="1200"/>
              </a:lnSpc>
              <a:buNone/>
            </a:pPr>
            <a:r>
              <a:rPr lang="en-US" sz="1200" b="1" dirty="0">
                <a:solidFill>
                  <a:srgbClr val="FFFFFF"/>
                </a:solidFill>
              </a:rPr>
              <a:t>2</a:t>
            </a:r>
            <a:endParaRPr lang="en-US" sz="1200" dirty="0"/>
          </a:p>
        </p:txBody>
      </p:sp>
      <p:sp>
        <p:nvSpPr>
          <p:cNvPr id="16" name="Text 13">
            <a:extLst>
              <a:ext uri="{FF2B5EF4-FFF2-40B4-BE49-F238E27FC236}">
                <a16:creationId xmlns:a16="http://schemas.microsoft.com/office/drawing/2014/main" id="{972B0D2E-7D6C-9818-544E-A6A54B1E9FB2}"/>
              </a:ext>
            </a:extLst>
          </p:cNvPr>
          <p:cNvSpPr/>
          <p:nvPr/>
        </p:nvSpPr>
        <p:spPr>
          <a:xfrm>
            <a:off x="3702834" y="1482328"/>
            <a:ext cx="330540" cy="157992"/>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A1A1A"/>
                </a:solidFill>
              </a:rPr>
              <a:t>Cost</a:t>
            </a:r>
            <a:endParaRPr lang="en-US" sz="1200" dirty="0"/>
          </a:p>
        </p:txBody>
      </p:sp>
      <p:sp>
        <p:nvSpPr>
          <p:cNvPr id="18" name="Shape 15">
            <a:extLst>
              <a:ext uri="{FF2B5EF4-FFF2-40B4-BE49-F238E27FC236}">
                <a16:creationId xmlns:a16="http://schemas.microsoft.com/office/drawing/2014/main" id="{ADEED6AE-CE1B-07E1-B9D3-9B00481566A2}"/>
              </a:ext>
            </a:extLst>
          </p:cNvPr>
          <p:cNvSpPr/>
          <p:nvPr/>
        </p:nvSpPr>
        <p:spPr>
          <a:xfrm>
            <a:off x="3309928" y="1855589"/>
            <a:ext cx="45719" cy="3287911"/>
          </a:xfrm>
          <a:prstGeom prst="rect">
            <a:avLst/>
          </a:prstGeom>
          <a:solidFill>
            <a:srgbClr val="0055FF"/>
          </a:solidFill>
          <a:ln/>
        </p:spPr>
        <p:txBody>
          <a:bodyPr/>
          <a:lstStyle/>
          <a:p>
            <a:endParaRPr lang="es-ES"/>
          </a:p>
        </p:txBody>
      </p:sp>
      <p:sp>
        <p:nvSpPr>
          <p:cNvPr id="19" name="Text 16">
            <a:extLst>
              <a:ext uri="{FF2B5EF4-FFF2-40B4-BE49-F238E27FC236}">
                <a16:creationId xmlns:a16="http://schemas.microsoft.com/office/drawing/2014/main" id="{E377172B-9817-935F-C7B3-90BBA98F40E4}"/>
              </a:ext>
            </a:extLst>
          </p:cNvPr>
          <p:cNvSpPr/>
          <p:nvPr/>
        </p:nvSpPr>
        <p:spPr>
          <a:xfrm>
            <a:off x="3452803" y="1953385"/>
            <a:ext cx="2385910" cy="553998"/>
          </a:xfrm>
          <a:prstGeom prst="rect">
            <a:avLst/>
          </a:prstGeom>
          <a:noFill/>
          <a:ln/>
        </p:spPr>
        <p:txBody>
          <a:bodyPr wrap="square" lIns="0" tIns="0" rIns="0" bIns="0" rtlCol="0" anchor="t">
            <a:spAutoFit/>
          </a:bodyPr>
          <a:lstStyle/>
          <a:p>
            <a:r>
              <a:rPr lang="en-US" sz="1200" dirty="0"/>
              <a:t>The attacker would </a:t>
            </a:r>
            <a:r>
              <a:rPr lang="en-US" sz="1200" b="1" dirty="0"/>
              <a:t>need resources equivalent to more than half of the network’s total spending</a:t>
            </a:r>
            <a:r>
              <a:rPr lang="en-US" sz="1200" dirty="0"/>
              <a:t>.</a:t>
            </a:r>
          </a:p>
        </p:txBody>
      </p:sp>
      <p:sp>
        <p:nvSpPr>
          <p:cNvPr id="20" name="Shape 17">
            <a:extLst>
              <a:ext uri="{FF2B5EF4-FFF2-40B4-BE49-F238E27FC236}">
                <a16:creationId xmlns:a16="http://schemas.microsoft.com/office/drawing/2014/main" id="{3DF26876-C528-F84A-5C49-A6CDB3D0C099}"/>
              </a:ext>
            </a:extLst>
          </p:cNvPr>
          <p:cNvSpPr/>
          <p:nvPr/>
        </p:nvSpPr>
        <p:spPr>
          <a:xfrm>
            <a:off x="3476708" y="2609796"/>
            <a:ext cx="2385911" cy="1028072"/>
          </a:xfrm>
          <a:prstGeom prst="rect">
            <a:avLst/>
          </a:prstGeom>
          <a:solidFill>
            <a:srgbClr val="F8F8F8"/>
          </a:solidFill>
          <a:ln w="9144">
            <a:solidFill>
              <a:srgbClr val="DDDDDD"/>
            </a:solidFill>
            <a:prstDash val="solid"/>
          </a:ln>
        </p:spPr>
        <p:txBody>
          <a:bodyPr/>
          <a:lstStyle/>
          <a:p>
            <a:endParaRPr lang="es-ES"/>
          </a:p>
        </p:txBody>
      </p:sp>
      <p:sp>
        <p:nvSpPr>
          <p:cNvPr id="21" name="Text 18">
            <a:extLst>
              <a:ext uri="{FF2B5EF4-FFF2-40B4-BE49-F238E27FC236}">
                <a16:creationId xmlns:a16="http://schemas.microsoft.com/office/drawing/2014/main" id="{C1B346D0-0A40-B119-CF2B-5B71AB7A4515}"/>
              </a:ext>
            </a:extLst>
          </p:cNvPr>
          <p:cNvSpPr/>
          <p:nvPr/>
        </p:nvSpPr>
        <p:spPr>
          <a:xfrm>
            <a:off x="3476709" y="2571750"/>
            <a:ext cx="2385910" cy="1129540"/>
          </a:xfrm>
          <a:prstGeom prst="rect">
            <a:avLst/>
          </a:prstGeom>
          <a:noFill/>
          <a:ln/>
        </p:spPr>
        <p:txBody>
          <a:bodyPr wrap="square" lIns="102108" tIns="102108" rIns="102108" bIns="102108" rtlCol="0" anchor="t">
            <a:spAutoFit/>
          </a:bodyPr>
          <a:lstStyle/>
          <a:p>
            <a:pPr marL="0" indent="0" algn="l">
              <a:buNone/>
            </a:pPr>
            <a:r>
              <a:rPr lang="en-US" sz="1200" dirty="0"/>
              <a:t>Hardware -&gt; Millions of miners</a:t>
            </a:r>
          </a:p>
          <a:p>
            <a:r>
              <a:rPr lang="en-US" sz="1200" dirty="0"/>
              <a:t>Electricity -&gt; </a:t>
            </a:r>
            <a:r>
              <a:rPr lang="es-ES" sz="1200" b="1" dirty="0" err="1"/>
              <a:t>Gigawatts</a:t>
            </a:r>
            <a:r>
              <a:rPr lang="es-ES" sz="1200" dirty="0"/>
              <a:t> of </a:t>
            </a:r>
            <a:r>
              <a:rPr lang="es-ES" sz="1200" dirty="0" err="1"/>
              <a:t>continuous</a:t>
            </a:r>
            <a:r>
              <a:rPr lang="es-ES" sz="1200" dirty="0"/>
              <a:t> </a:t>
            </a:r>
            <a:r>
              <a:rPr lang="es-ES" sz="1200" dirty="0" err="1"/>
              <a:t>power</a:t>
            </a:r>
            <a:r>
              <a:rPr lang="es-ES" sz="1200" dirty="0"/>
              <a:t> </a:t>
            </a:r>
            <a:r>
              <a:rPr lang="es-ES" sz="1200" dirty="0" err="1"/>
              <a:t>every</a:t>
            </a:r>
            <a:r>
              <a:rPr lang="es-ES" sz="1200" dirty="0"/>
              <a:t> </a:t>
            </a:r>
            <a:r>
              <a:rPr lang="es-ES" sz="1200" dirty="0" err="1"/>
              <a:t>day</a:t>
            </a:r>
            <a:endParaRPr lang="en-US" sz="1200" dirty="0"/>
          </a:p>
          <a:p>
            <a:r>
              <a:rPr lang="en-US" sz="1200" dirty="0"/>
              <a:t>Infrastructure -&gt; </a:t>
            </a:r>
            <a:r>
              <a:rPr lang="es-ES" sz="1200" dirty="0" err="1"/>
              <a:t>Warehouses</a:t>
            </a:r>
            <a:r>
              <a:rPr lang="es-ES" sz="1200" dirty="0"/>
              <a:t> / </a:t>
            </a:r>
            <a:r>
              <a:rPr lang="es-ES" sz="1200" dirty="0" err="1"/>
              <a:t>Cooling</a:t>
            </a:r>
            <a:r>
              <a:rPr lang="es-ES" sz="1200" dirty="0"/>
              <a:t> </a:t>
            </a:r>
            <a:r>
              <a:rPr lang="es-ES" sz="1200" dirty="0" err="1"/>
              <a:t>systems</a:t>
            </a:r>
            <a:r>
              <a:rPr lang="es-ES" sz="1200" dirty="0"/>
              <a:t> / </a:t>
            </a:r>
            <a:r>
              <a:rPr lang="es-ES" sz="1200" dirty="0" err="1"/>
              <a:t>Maintenance</a:t>
            </a:r>
            <a:endParaRPr lang="en-US" sz="1200" dirty="0"/>
          </a:p>
        </p:txBody>
      </p:sp>
      <p:sp>
        <p:nvSpPr>
          <p:cNvPr id="22" name="Text 19">
            <a:extLst>
              <a:ext uri="{FF2B5EF4-FFF2-40B4-BE49-F238E27FC236}">
                <a16:creationId xmlns:a16="http://schemas.microsoft.com/office/drawing/2014/main" id="{D5A3E42D-DCFD-787B-2597-1FF49C93346A}"/>
              </a:ext>
            </a:extLst>
          </p:cNvPr>
          <p:cNvSpPr/>
          <p:nvPr/>
        </p:nvSpPr>
        <p:spPr>
          <a:xfrm>
            <a:off x="3489782" y="3849121"/>
            <a:ext cx="2437114" cy="923330"/>
          </a:xfrm>
          <a:prstGeom prst="rect">
            <a:avLst/>
          </a:prstGeom>
          <a:noFill/>
          <a:ln/>
        </p:spPr>
        <p:txBody>
          <a:bodyPr wrap="square" lIns="0" tIns="0" rIns="0" bIns="0" rtlCol="0" anchor="t">
            <a:spAutoFit/>
          </a:bodyPr>
          <a:lstStyle/>
          <a:p>
            <a:r>
              <a:rPr lang="en-US" sz="1200" dirty="0"/>
              <a:t>A realistically executed 51% attack on Bitcoin would likely cost </a:t>
            </a:r>
            <a:r>
              <a:rPr lang="en-US" sz="1200" b="1" dirty="0"/>
              <a:t>tens of billions of US dollars:</a:t>
            </a:r>
          </a:p>
          <a:p>
            <a:r>
              <a:rPr lang="es-ES" sz="1200" dirty="0"/>
              <a:t>30,000,000,000 $ is what </a:t>
            </a:r>
            <a:r>
              <a:rPr lang="en-US" sz="1200" b="1" dirty="0"/>
              <a:t>1.2 million</a:t>
            </a:r>
            <a:r>
              <a:rPr lang="en-US" sz="1200" dirty="0"/>
              <a:t> Polish people generate in 1 year</a:t>
            </a:r>
          </a:p>
        </p:txBody>
      </p:sp>
      <p:sp>
        <p:nvSpPr>
          <p:cNvPr id="23" name="Shape 20">
            <a:extLst>
              <a:ext uri="{FF2B5EF4-FFF2-40B4-BE49-F238E27FC236}">
                <a16:creationId xmlns:a16="http://schemas.microsoft.com/office/drawing/2014/main" id="{3862AAD5-0EE6-DF82-57A7-E9A30189BA1B}"/>
              </a:ext>
            </a:extLst>
          </p:cNvPr>
          <p:cNvSpPr/>
          <p:nvPr/>
        </p:nvSpPr>
        <p:spPr>
          <a:xfrm>
            <a:off x="6048356" y="1426964"/>
            <a:ext cx="285750" cy="285750"/>
          </a:xfrm>
          <a:prstGeom prst="ellipse">
            <a:avLst/>
          </a:prstGeom>
          <a:solidFill>
            <a:srgbClr val="0055FF"/>
          </a:solidFill>
          <a:ln/>
        </p:spPr>
        <p:txBody>
          <a:bodyPr/>
          <a:lstStyle/>
          <a:p>
            <a:endParaRPr lang="es-ES"/>
          </a:p>
        </p:txBody>
      </p:sp>
      <p:sp>
        <p:nvSpPr>
          <p:cNvPr id="24" name="Text 21">
            <a:extLst>
              <a:ext uri="{FF2B5EF4-FFF2-40B4-BE49-F238E27FC236}">
                <a16:creationId xmlns:a16="http://schemas.microsoft.com/office/drawing/2014/main" id="{727B753C-89DA-067B-1366-E55271A40C47}"/>
              </a:ext>
            </a:extLst>
          </p:cNvPr>
          <p:cNvSpPr/>
          <p:nvPr/>
        </p:nvSpPr>
        <p:spPr>
          <a:xfrm>
            <a:off x="6048356" y="1490843"/>
            <a:ext cx="285750" cy="157992"/>
          </a:xfrm>
          <a:prstGeom prst="rect">
            <a:avLst/>
          </a:prstGeom>
          <a:noFill/>
          <a:ln/>
        </p:spPr>
        <p:txBody>
          <a:bodyPr wrap="square" lIns="0" tIns="0" rIns="0" bIns="0" rtlCol="0" anchor="ctr">
            <a:spAutoFit/>
          </a:bodyPr>
          <a:lstStyle/>
          <a:p>
            <a:pPr marL="0" indent="0" algn="ctr">
              <a:lnSpc>
                <a:spcPts val="1200"/>
              </a:lnSpc>
              <a:buNone/>
            </a:pPr>
            <a:r>
              <a:rPr lang="en-US" sz="1200" b="1" dirty="0">
                <a:solidFill>
                  <a:srgbClr val="FFFFFF"/>
                </a:solidFill>
              </a:rPr>
              <a:t>3</a:t>
            </a:r>
            <a:endParaRPr lang="en-US" sz="885" dirty="0"/>
          </a:p>
        </p:txBody>
      </p:sp>
      <p:sp>
        <p:nvSpPr>
          <p:cNvPr id="25" name="Text 22">
            <a:extLst>
              <a:ext uri="{FF2B5EF4-FFF2-40B4-BE49-F238E27FC236}">
                <a16:creationId xmlns:a16="http://schemas.microsoft.com/office/drawing/2014/main" id="{BA6FA05C-4915-2CBF-D174-A38F5665C190}"/>
              </a:ext>
            </a:extLst>
          </p:cNvPr>
          <p:cNvSpPr/>
          <p:nvPr/>
        </p:nvSpPr>
        <p:spPr>
          <a:xfrm>
            <a:off x="6441263" y="1482328"/>
            <a:ext cx="1266372" cy="157992"/>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A1A1A"/>
                </a:solidFill>
              </a:rPr>
              <a:t>Why is impossible</a:t>
            </a:r>
            <a:endParaRPr lang="en-US" sz="1200" dirty="0"/>
          </a:p>
        </p:txBody>
      </p:sp>
      <p:sp>
        <p:nvSpPr>
          <p:cNvPr id="27" name="Shape 24">
            <a:extLst>
              <a:ext uri="{FF2B5EF4-FFF2-40B4-BE49-F238E27FC236}">
                <a16:creationId xmlns:a16="http://schemas.microsoft.com/office/drawing/2014/main" id="{880E6400-BCAE-1D1F-D01D-BC21A4965B34}"/>
              </a:ext>
            </a:extLst>
          </p:cNvPr>
          <p:cNvSpPr/>
          <p:nvPr/>
        </p:nvSpPr>
        <p:spPr>
          <a:xfrm flipH="1">
            <a:off x="6069787" y="1855589"/>
            <a:ext cx="45719" cy="3287911"/>
          </a:xfrm>
          <a:prstGeom prst="rect">
            <a:avLst/>
          </a:prstGeom>
          <a:solidFill>
            <a:srgbClr val="0055FF"/>
          </a:solidFill>
          <a:ln/>
        </p:spPr>
        <p:txBody>
          <a:bodyPr/>
          <a:lstStyle/>
          <a:p>
            <a:endParaRPr lang="es-ES"/>
          </a:p>
        </p:txBody>
      </p:sp>
      <p:sp>
        <p:nvSpPr>
          <p:cNvPr id="36" name="Marcador de número de diapositiva 35">
            <a:extLst>
              <a:ext uri="{FF2B5EF4-FFF2-40B4-BE49-F238E27FC236}">
                <a16:creationId xmlns:a16="http://schemas.microsoft.com/office/drawing/2014/main" id="{8A986F93-7E04-2FDE-7B30-B9666CE451AE}"/>
              </a:ext>
            </a:extLst>
          </p:cNvPr>
          <p:cNvSpPr>
            <a:spLocks noGrp="1"/>
          </p:cNvSpPr>
          <p:nvPr>
            <p:ph type="sldNum" sz="quarter" idx="12"/>
          </p:nvPr>
        </p:nvSpPr>
        <p:spPr/>
        <p:txBody>
          <a:bodyPr/>
          <a:lstStyle/>
          <a:p>
            <a:fld id="{621D377E-C6E5-404B-8AA2-3999D49F21B5}" type="slidenum">
              <a:rPr lang="es-ES" smtClean="0"/>
              <a:t>13</a:t>
            </a:fld>
            <a:endParaRPr lang="es-ES"/>
          </a:p>
        </p:txBody>
      </p:sp>
      <p:pic>
        <p:nvPicPr>
          <p:cNvPr id="8" name="Gráfico 7" descr="Torre eléctrica con relleno sólido">
            <a:extLst>
              <a:ext uri="{FF2B5EF4-FFF2-40B4-BE49-F238E27FC236}">
                <a16:creationId xmlns:a16="http://schemas.microsoft.com/office/drawing/2014/main" id="{CBF41FF0-3068-D5CA-3AC2-6AC5249C9E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24183" y="4247924"/>
            <a:ext cx="707185" cy="707185"/>
          </a:xfrm>
          <a:prstGeom prst="rect">
            <a:avLst/>
          </a:prstGeom>
        </p:spPr>
      </p:pic>
      <p:pic>
        <p:nvPicPr>
          <p:cNvPr id="26" name="Gráfico 25" descr="Grúa con relleno sólido">
            <a:extLst>
              <a:ext uri="{FF2B5EF4-FFF2-40B4-BE49-F238E27FC236}">
                <a16:creationId xmlns:a16="http://schemas.microsoft.com/office/drawing/2014/main" id="{2AB4829C-031D-5C92-2CD1-7E7A8441B4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5646" y="4220131"/>
            <a:ext cx="820878" cy="820878"/>
          </a:xfrm>
          <a:prstGeom prst="rect">
            <a:avLst/>
          </a:prstGeom>
        </p:spPr>
      </p:pic>
      <p:pic>
        <p:nvPicPr>
          <p:cNvPr id="34" name="Gráfico 33" descr="Procesador con relleno sólido">
            <a:extLst>
              <a:ext uri="{FF2B5EF4-FFF2-40B4-BE49-F238E27FC236}">
                <a16:creationId xmlns:a16="http://schemas.microsoft.com/office/drawing/2014/main" id="{B36D0FCC-2251-8D99-7F11-68AB00FCC2E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78948" y="4427631"/>
            <a:ext cx="584505" cy="584505"/>
          </a:xfrm>
          <a:prstGeom prst="rect">
            <a:avLst/>
          </a:prstGeom>
        </p:spPr>
      </p:pic>
      <p:sp>
        <p:nvSpPr>
          <p:cNvPr id="39" name="Text 28">
            <a:extLst>
              <a:ext uri="{FF2B5EF4-FFF2-40B4-BE49-F238E27FC236}">
                <a16:creationId xmlns:a16="http://schemas.microsoft.com/office/drawing/2014/main" id="{3B2903B7-252F-4E10-B910-A54D4D1495D6}"/>
              </a:ext>
            </a:extLst>
          </p:cNvPr>
          <p:cNvSpPr/>
          <p:nvPr/>
        </p:nvSpPr>
        <p:spPr>
          <a:xfrm>
            <a:off x="6195840" y="1953385"/>
            <a:ext cx="2646504" cy="369332"/>
          </a:xfrm>
          <a:prstGeom prst="rect">
            <a:avLst/>
          </a:prstGeom>
          <a:noFill/>
          <a:ln/>
        </p:spPr>
        <p:txBody>
          <a:bodyPr wrap="square" lIns="0" tIns="0" rIns="0" bIns="0" rtlCol="0" anchor="t">
            <a:spAutoFit/>
          </a:bodyPr>
          <a:lstStyle/>
          <a:p>
            <a:r>
              <a:rPr lang="en-US" sz="1200" b="1" dirty="0">
                <a:solidFill>
                  <a:srgbClr val="1A1A1A"/>
                </a:solidFill>
              </a:rPr>
              <a:t>Economic Irrationality:</a:t>
            </a:r>
          </a:p>
          <a:p>
            <a:r>
              <a:rPr lang="en-US" sz="1200" dirty="0">
                <a:solidFill>
                  <a:srgbClr val="333333"/>
                </a:solidFill>
              </a:rPr>
              <a:t>You'd spend billions to steal millions.</a:t>
            </a:r>
            <a:endParaRPr lang="en-US" sz="1200" dirty="0"/>
          </a:p>
        </p:txBody>
      </p:sp>
      <p:sp>
        <p:nvSpPr>
          <p:cNvPr id="40" name="Text 28">
            <a:extLst>
              <a:ext uri="{FF2B5EF4-FFF2-40B4-BE49-F238E27FC236}">
                <a16:creationId xmlns:a16="http://schemas.microsoft.com/office/drawing/2014/main" id="{069BC9C7-73D1-72D8-8CA7-7877C8323727}"/>
              </a:ext>
            </a:extLst>
          </p:cNvPr>
          <p:cNvSpPr/>
          <p:nvPr/>
        </p:nvSpPr>
        <p:spPr>
          <a:xfrm>
            <a:off x="6195839" y="2404160"/>
            <a:ext cx="2646505" cy="738664"/>
          </a:xfrm>
          <a:prstGeom prst="rect">
            <a:avLst/>
          </a:prstGeom>
          <a:noFill/>
          <a:ln/>
        </p:spPr>
        <p:txBody>
          <a:bodyPr wrap="square" lIns="0" tIns="0" rIns="0" bIns="0" rtlCol="0" anchor="t">
            <a:spAutoFit/>
          </a:bodyPr>
          <a:lstStyle/>
          <a:p>
            <a:r>
              <a:rPr lang="en-US" sz="1200" b="1" dirty="0">
                <a:solidFill>
                  <a:srgbClr val="1A1A1A"/>
                </a:solidFill>
              </a:rPr>
              <a:t>Immediate Detection</a:t>
            </a:r>
          </a:p>
          <a:p>
            <a:r>
              <a:rPr lang="en-US" sz="1200" dirty="0">
                <a:solidFill>
                  <a:srgbClr val="333333"/>
                </a:solidFill>
              </a:rPr>
              <a:t>The network would instantly detect and hard fork to change the consensus rules to exclude the attacker.</a:t>
            </a:r>
          </a:p>
        </p:txBody>
      </p:sp>
      <p:sp>
        <p:nvSpPr>
          <p:cNvPr id="41" name="Text 28">
            <a:extLst>
              <a:ext uri="{FF2B5EF4-FFF2-40B4-BE49-F238E27FC236}">
                <a16:creationId xmlns:a16="http://schemas.microsoft.com/office/drawing/2014/main" id="{1985DF5B-5CFE-91B8-ADB8-48C3158D3DB7}"/>
              </a:ext>
            </a:extLst>
          </p:cNvPr>
          <p:cNvSpPr/>
          <p:nvPr/>
        </p:nvSpPr>
        <p:spPr>
          <a:xfrm>
            <a:off x="6195839" y="3225608"/>
            <a:ext cx="2646504" cy="738664"/>
          </a:xfrm>
          <a:prstGeom prst="rect">
            <a:avLst/>
          </a:prstGeom>
          <a:noFill/>
          <a:ln/>
        </p:spPr>
        <p:txBody>
          <a:bodyPr wrap="square" lIns="0" tIns="0" rIns="0" bIns="0" rtlCol="0" anchor="t">
            <a:spAutoFit/>
          </a:bodyPr>
          <a:lstStyle/>
          <a:p>
            <a:r>
              <a:rPr lang="en-US" sz="1200" b="1" dirty="0">
                <a:solidFill>
                  <a:srgbClr val="1A1A1A"/>
                </a:solidFill>
              </a:rPr>
              <a:t>Network Response</a:t>
            </a:r>
          </a:p>
          <a:p>
            <a:r>
              <a:rPr lang="en-US" sz="1200" dirty="0">
                <a:solidFill>
                  <a:srgbClr val="333333"/>
                </a:solidFill>
              </a:rPr>
              <a:t>The community would hard fork to change the consensus rules, rendering the attack useless.</a:t>
            </a:r>
          </a:p>
        </p:txBody>
      </p:sp>
      <p:sp>
        <p:nvSpPr>
          <p:cNvPr id="42" name="Text 28">
            <a:extLst>
              <a:ext uri="{FF2B5EF4-FFF2-40B4-BE49-F238E27FC236}">
                <a16:creationId xmlns:a16="http://schemas.microsoft.com/office/drawing/2014/main" id="{85ADF985-6603-5F3D-ADB7-01B5283CA12D}"/>
              </a:ext>
            </a:extLst>
          </p:cNvPr>
          <p:cNvSpPr/>
          <p:nvPr/>
        </p:nvSpPr>
        <p:spPr>
          <a:xfrm>
            <a:off x="6195840" y="4047518"/>
            <a:ext cx="2651113" cy="553998"/>
          </a:xfrm>
          <a:prstGeom prst="rect">
            <a:avLst/>
          </a:prstGeom>
          <a:noFill/>
          <a:ln/>
        </p:spPr>
        <p:txBody>
          <a:bodyPr wrap="square" lIns="0" tIns="0" rIns="0" bIns="0" rtlCol="0" anchor="t">
            <a:spAutoFit/>
          </a:bodyPr>
          <a:lstStyle/>
          <a:p>
            <a:r>
              <a:rPr lang="en-US" sz="1200" b="1" dirty="0">
                <a:solidFill>
                  <a:srgbClr val="1A1A1A"/>
                </a:solidFill>
              </a:rPr>
              <a:t>Network Growth</a:t>
            </a:r>
          </a:p>
          <a:p>
            <a:r>
              <a:rPr lang="en-US" sz="1200" dirty="0">
                <a:solidFill>
                  <a:srgbClr val="333333"/>
                </a:solidFill>
              </a:rPr>
              <a:t>As the network grows, the cost of a 51% attack increases </a:t>
            </a:r>
            <a:r>
              <a:rPr lang="en-US" sz="1200" b="1" dirty="0">
                <a:solidFill>
                  <a:srgbClr val="333333"/>
                </a:solidFill>
              </a:rPr>
              <a:t>exponentially</a:t>
            </a:r>
            <a:r>
              <a:rPr lang="en-US" sz="1200" dirty="0">
                <a:solidFill>
                  <a:srgbClr val="333333"/>
                </a:solidFill>
              </a:rPr>
              <a:t>.</a:t>
            </a:r>
          </a:p>
        </p:txBody>
      </p:sp>
    </p:spTree>
    <p:extLst>
      <p:ext uri="{BB962C8B-B14F-4D97-AF65-F5344CB8AC3E}">
        <p14:creationId xmlns:p14="http://schemas.microsoft.com/office/powerpoint/2010/main" val="3781214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136E3-52BA-1A77-C20B-1C2A4344471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09D779B-B4A1-6318-7B76-C69AAE111C35}"/>
              </a:ext>
            </a:extLst>
          </p:cNvPr>
          <p:cNvSpPr/>
          <p:nvPr/>
        </p:nvSpPr>
        <p:spPr>
          <a:xfrm>
            <a:off x="571500" y="428625"/>
            <a:ext cx="3927357" cy="394275"/>
          </a:xfrm>
          <a:prstGeom prst="rect">
            <a:avLst/>
          </a:prstGeom>
          <a:noFill/>
          <a:ln/>
        </p:spPr>
        <p:txBody>
          <a:bodyPr wrap="none" lIns="0" tIns="0" rIns="0" bIns="0" rtlCol="0" anchor="t">
            <a:spAutoFit/>
          </a:bodyPr>
          <a:lstStyle/>
          <a:p>
            <a:pPr>
              <a:lnSpc>
                <a:spcPts val="3200"/>
              </a:lnSpc>
            </a:pPr>
            <a:r>
              <a:rPr lang="en-US" sz="2436" b="1" dirty="0">
                <a:solidFill>
                  <a:srgbClr val="1A1A1A"/>
                </a:solidFill>
              </a:rPr>
              <a:t>The keys: Private and Public</a:t>
            </a:r>
            <a:endParaRPr lang="en-US" sz="2436" dirty="0"/>
          </a:p>
        </p:txBody>
      </p:sp>
      <p:sp>
        <p:nvSpPr>
          <p:cNvPr id="4" name="Text 1">
            <a:extLst>
              <a:ext uri="{FF2B5EF4-FFF2-40B4-BE49-F238E27FC236}">
                <a16:creationId xmlns:a16="http://schemas.microsoft.com/office/drawing/2014/main" id="{21BDAA87-257E-162C-1D57-D40561C6E9C8}"/>
              </a:ext>
            </a:extLst>
          </p:cNvPr>
          <p:cNvSpPr/>
          <p:nvPr/>
        </p:nvSpPr>
        <p:spPr>
          <a:xfrm>
            <a:off x="571500" y="966192"/>
            <a:ext cx="2925481" cy="165173"/>
          </a:xfrm>
          <a:prstGeom prst="rect">
            <a:avLst/>
          </a:prstGeom>
          <a:noFill/>
          <a:ln/>
        </p:spPr>
        <p:txBody>
          <a:bodyPr wrap="none" lIns="0" tIns="0" rIns="0" bIns="0" rtlCol="0" anchor="t">
            <a:spAutoFit/>
          </a:bodyPr>
          <a:lstStyle/>
          <a:p>
            <a:pPr>
              <a:lnSpc>
                <a:spcPts val="1200"/>
              </a:lnSpc>
            </a:pPr>
            <a:r>
              <a:rPr lang="en-US" sz="1400" dirty="0"/>
              <a:t>What proofs that you own </a:t>
            </a:r>
            <a:r>
              <a:rPr lang="en-US" sz="1400" dirty="0">
                <a:solidFill>
                  <a:srgbClr val="333333"/>
                </a:solidFill>
              </a:rPr>
              <a:t>your assets</a:t>
            </a:r>
            <a:r>
              <a:rPr lang="en-US" sz="1400" dirty="0"/>
              <a:t> </a:t>
            </a:r>
          </a:p>
        </p:txBody>
      </p:sp>
      <p:sp>
        <p:nvSpPr>
          <p:cNvPr id="36" name="Marcador de número de diapositiva 35">
            <a:extLst>
              <a:ext uri="{FF2B5EF4-FFF2-40B4-BE49-F238E27FC236}">
                <a16:creationId xmlns:a16="http://schemas.microsoft.com/office/drawing/2014/main" id="{30C7C2D9-5F9E-571F-CB4C-41E153379BA3}"/>
              </a:ext>
            </a:extLst>
          </p:cNvPr>
          <p:cNvSpPr>
            <a:spLocks noGrp="1"/>
          </p:cNvSpPr>
          <p:nvPr>
            <p:ph type="sldNum" sz="quarter" idx="12"/>
          </p:nvPr>
        </p:nvSpPr>
        <p:spPr/>
        <p:txBody>
          <a:bodyPr/>
          <a:lstStyle/>
          <a:p>
            <a:fld id="{621D377E-C6E5-404B-8AA2-3999D49F21B5}" type="slidenum">
              <a:rPr lang="es-ES" smtClean="0"/>
              <a:t>14</a:t>
            </a:fld>
            <a:endParaRPr lang="es-ES" dirty="0"/>
          </a:p>
        </p:txBody>
      </p:sp>
      <p:pic>
        <p:nvPicPr>
          <p:cNvPr id="30" name="Gráfico 29" descr="Buzón de correo con relleno sólido">
            <a:extLst>
              <a:ext uri="{FF2B5EF4-FFF2-40B4-BE49-F238E27FC236}">
                <a16:creationId xmlns:a16="http://schemas.microsoft.com/office/drawing/2014/main" id="{53247576-4005-DDC9-C0E2-67AE3E33FC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41565" y="914955"/>
            <a:ext cx="914400" cy="914400"/>
          </a:xfrm>
          <a:prstGeom prst="rect">
            <a:avLst/>
          </a:prstGeom>
        </p:spPr>
      </p:pic>
      <p:pic>
        <p:nvPicPr>
          <p:cNvPr id="32" name="Gráfico 31" descr="Clave contorno">
            <a:extLst>
              <a:ext uri="{FF2B5EF4-FFF2-40B4-BE49-F238E27FC236}">
                <a16:creationId xmlns:a16="http://schemas.microsoft.com/office/drawing/2014/main" id="{1444D5B6-2FCE-117A-6B67-56F78813290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67289" y="2383005"/>
            <a:ext cx="914400" cy="914400"/>
          </a:xfrm>
          <a:prstGeom prst="rect">
            <a:avLst/>
          </a:prstGeom>
        </p:spPr>
      </p:pic>
      <p:sp>
        <p:nvSpPr>
          <p:cNvPr id="45" name="Shape 15">
            <a:extLst>
              <a:ext uri="{FF2B5EF4-FFF2-40B4-BE49-F238E27FC236}">
                <a16:creationId xmlns:a16="http://schemas.microsoft.com/office/drawing/2014/main" id="{F29EDA23-0F44-F430-5BAF-E657D5FF2CAE}"/>
              </a:ext>
            </a:extLst>
          </p:cNvPr>
          <p:cNvSpPr/>
          <p:nvPr/>
        </p:nvSpPr>
        <p:spPr>
          <a:xfrm>
            <a:off x="4572000" y="1296790"/>
            <a:ext cx="45719" cy="1923160"/>
          </a:xfrm>
          <a:prstGeom prst="rect">
            <a:avLst/>
          </a:prstGeom>
          <a:solidFill>
            <a:srgbClr val="0055FF"/>
          </a:solidFill>
          <a:ln/>
        </p:spPr>
        <p:txBody>
          <a:bodyPr/>
          <a:lstStyle/>
          <a:p>
            <a:endParaRPr lang="es-ES"/>
          </a:p>
        </p:txBody>
      </p:sp>
      <p:sp>
        <p:nvSpPr>
          <p:cNvPr id="46" name="Text 13">
            <a:extLst>
              <a:ext uri="{FF2B5EF4-FFF2-40B4-BE49-F238E27FC236}">
                <a16:creationId xmlns:a16="http://schemas.microsoft.com/office/drawing/2014/main" id="{EFF3FC44-6D08-F93F-7E60-E56C1A79A4CA}"/>
              </a:ext>
            </a:extLst>
          </p:cNvPr>
          <p:cNvSpPr/>
          <p:nvPr/>
        </p:nvSpPr>
        <p:spPr>
          <a:xfrm>
            <a:off x="360254" y="1413590"/>
            <a:ext cx="1158972" cy="179344"/>
          </a:xfrm>
          <a:prstGeom prst="rect">
            <a:avLst/>
          </a:prstGeom>
          <a:noFill/>
          <a:ln/>
        </p:spPr>
        <p:txBody>
          <a:bodyPr wrap="none" lIns="0" tIns="0" rIns="0" bIns="0" rtlCol="0" anchor="t">
            <a:spAutoFit/>
          </a:bodyPr>
          <a:lstStyle/>
          <a:p>
            <a:pPr marL="0" indent="0" algn="l">
              <a:lnSpc>
                <a:spcPts val="1200"/>
              </a:lnSpc>
              <a:buNone/>
            </a:pPr>
            <a:r>
              <a:rPr lang="en-US" b="1" dirty="0">
                <a:solidFill>
                  <a:srgbClr val="1A1A1A"/>
                </a:solidFill>
              </a:rPr>
              <a:t>Private Key</a:t>
            </a:r>
            <a:endParaRPr lang="en-US" dirty="0"/>
          </a:p>
        </p:txBody>
      </p:sp>
      <p:sp>
        <p:nvSpPr>
          <p:cNvPr id="47" name="Text 13">
            <a:extLst>
              <a:ext uri="{FF2B5EF4-FFF2-40B4-BE49-F238E27FC236}">
                <a16:creationId xmlns:a16="http://schemas.microsoft.com/office/drawing/2014/main" id="{A1700FFF-43FA-49AD-BBE8-C49E600D0355}"/>
              </a:ext>
            </a:extLst>
          </p:cNvPr>
          <p:cNvSpPr/>
          <p:nvPr/>
        </p:nvSpPr>
        <p:spPr>
          <a:xfrm>
            <a:off x="4766963" y="1417156"/>
            <a:ext cx="1088439" cy="179344"/>
          </a:xfrm>
          <a:prstGeom prst="rect">
            <a:avLst/>
          </a:prstGeom>
          <a:noFill/>
          <a:ln/>
        </p:spPr>
        <p:txBody>
          <a:bodyPr wrap="none" lIns="0" tIns="0" rIns="0" bIns="0" rtlCol="0" anchor="t">
            <a:spAutoFit/>
          </a:bodyPr>
          <a:lstStyle/>
          <a:p>
            <a:pPr marL="0" indent="0" algn="l">
              <a:lnSpc>
                <a:spcPts val="1200"/>
              </a:lnSpc>
              <a:buNone/>
            </a:pPr>
            <a:r>
              <a:rPr lang="en-US" b="1" dirty="0">
                <a:solidFill>
                  <a:srgbClr val="1A1A1A"/>
                </a:solidFill>
              </a:rPr>
              <a:t>Public Key</a:t>
            </a:r>
            <a:endParaRPr lang="en-US" dirty="0"/>
          </a:p>
        </p:txBody>
      </p:sp>
      <p:grpSp>
        <p:nvGrpSpPr>
          <p:cNvPr id="49" name="Grupo 48">
            <a:extLst>
              <a:ext uri="{FF2B5EF4-FFF2-40B4-BE49-F238E27FC236}">
                <a16:creationId xmlns:a16="http://schemas.microsoft.com/office/drawing/2014/main" id="{E22D6FE8-36EE-C847-B16C-1CD66A07BFEB}"/>
              </a:ext>
            </a:extLst>
          </p:cNvPr>
          <p:cNvGrpSpPr/>
          <p:nvPr/>
        </p:nvGrpSpPr>
        <p:grpSpPr>
          <a:xfrm>
            <a:off x="244751" y="1732904"/>
            <a:ext cx="4178005" cy="1259829"/>
            <a:chOff x="767784" y="1104332"/>
            <a:chExt cx="7716567" cy="817853"/>
          </a:xfrm>
        </p:grpSpPr>
        <p:sp>
          <p:nvSpPr>
            <p:cNvPr id="50" name="Text 1">
              <a:extLst>
                <a:ext uri="{FF2B5EF4-FFF2-40B4-BE49-F238E27FC236}">
                  <a16:creationId xmlns:a16="http://schemas.microsoft.com/office/drawing/2014/main" id="{62E9CEFF-2647-A45E-C968-105356A14B89}"/>
                </a:ext>
              </a:extLst>
            </p:cNvPr>
            <p:cNvSpPr/>
            <p:nvPr/>
          </p:nvSpPr>
          <p:spPr>
            <a:xfrm>
              <a:off x="767784" y="1104332"/>
              <a:ext cx="7716567" cy="233102"/>
            </a:xfrm>
            <a:prstGeom prst="rect">
              <a:avLst/>
            </a:prstGeom>
            <a:noFill/>
            <a:ln/>
          </p:spPr>
          <p:txBody>
            <a:bodyPr wrap="square" lIns="0" tIns="0" rIns="0" bIns="0" rtlCol="0" anchor="t">
              <a:spAutoFit/>
            </a:bodyPr>
            <a:lstStyle/>
            <a:p>
              <a:pPr>
                <a:lnSpc>
                  <a:spcPts val="1400"/>
                </a:lnSpc>
              </a:pPr>
              <a:r>
                <a:rPr lang="en-US" sz="1200" dirty="0"/>
                <a:t>- A secret string of characters that proves ownership of cryptocurrency.</a:t>
              </a:r>
              <a:endParaRPr lang="en-US" sz="1200" dirty="0">
                <a:solidFill>
                  <a:srgbClr val="1A1A1A"/>
                </a:solidFill>
              </a:endParaRPr>
            </a:p>
          </p:txBody>
        </p:sp>
        <p:sp>
          <p:nvSpPr>
            <p:cNvPr id="51" name="Text 2">
              <a:extLst>
                <a:ext uri="{FF2B5EF4-FFF2-40B4-BE49-F238E27FC236}">
                  <a16:creationId xmlns:a16="http://schemas.microsoft.com/office/drawing/2014/main" id="{6F4A7289-705D-7178-0547-781AF4DAE3FA}"/>
                </a:ext>
              </a:extLst>
            </p:cNvPr>
            <p:cNvSpPr/>
            <p:nvPr/>
          </p:nvSpPr>
          <p:spPr>
            <a:xfrm>
              <a:off x="767786" y="1366753"/>
              <a:ext cx="7716565" cy="233102"/>
            </a:xfrm>
            <a:prstGeom prst="rect">
              <a:avLst/>
            </a:prstGeom>
            <a:noFill/>
            <a:ln/>
          </p:spPr>
          <p:txBody>
            <a:bodyPr wrap="square" lIns="0" tIns="0" rIns="0" bIns="0" rtlCol="0" anchor="t">
              <a:spAutoFit/>
            </a:bodyPr>
            <a:lstStyle/>
            <a:p>
              <a:pPr>
                <a:lnSpc>
                  <a:spcPts val="1400"/>
                </a:lnSpc>
              </a:pPr>
              <a:r>
                <a:rPr lang="en-US" sz="1200" dirty="0"/>
                <a:t>- Must be kept secure because anyone with it can access your funds.</a:t>
              </a:r>
              <a:endParaRPr lang="en-US" sz="1200" dirty="0">
                <a:solidFill>
                  <a:srgbClr val="1A1A1A"/>
                </a:solidFill>
              </a:endParaRPr>
            </a:p>
          </p:txBody>
        </p:sp>
        <p:sp>
          <p:nvSpPr>
            <p:cNvPr id="52" name="Text 3">
              <a:extLst>
                <a:ext uri="{FF2B5EF4-FFF2-40B4-BE49-F238E27FC236}">
                  <a16:creationId xmlns:a16="http://schemas.microsoft.com/office/drawing/2014/main" id="{DC5D5C3F-CC0C-8C6A-B1CD-061664E0E0BD}"/>
                </a:ext>
              </a:extLst>
            </p:cNvPr>
            <p:cNvSpPr/>
            <p:nvPr/>
          </p:nvSpPr>
          <p:spPr>
            <a:xfrm>
              <a:off x="767786" y="1644469"/>
              <a:ext cx="7716565" cy="116551"/>
            </a:xfrm>
            <a:prstGeom prst="rect">
              <a:avLst/>
            </a:prstGeom>
            <a:noFill/>
            <a:ln/>
          </p:spPr>
          <p:txBody>
            <a:bodyPr wrap="square" lIns="0" tIns="0" rIns="0" bIns="0" rtlCol="0" anchor="t">
              <a:spAutoFit/>
            </a:bodyPr>
            <a:lstStyle/>
            <a:p>
              <a:pPr>
                <a:lnSpc>
                  <a:spcPts val="1400"/>
                </a:lnSpc>
              </a:pPr>
              <a:r>
                <a:rPr lang="en-US" sz="1200" dirty="0"/>
                <a:t>- Used to sign transactions and unlock your assets.</a:t>
              </a:r>
              <a:endParaRPr lang="en-US" sz="1200" dirty="0">
                <a:solidFill>
                  <a:srgbClr val="1A1A1A"/>
                </a:solidFill>
              </a:endParaRPr>
            </a:p>
          </p:txBody>
        </p:sp>
        <p:sp>
          <p:nvSpPr>
            <p:cNvPr id="53" name="Text 4">
              <a:extLst>
                <a:ext uri="{FF2B5EF4-FFF2-40B4-BE49-F238E27FC236}">
                  <a16:creationId xmlns:a16="http://schemas.microsoft.com/office/drawing/2014/main" id="{8977E3A3-5A2E-F047-005D-5040AC40F165}"/>
                </a:ext>
              </a:extLst>
            </p:cNvPr>
            <p:cNvSpPr/>
            <p:nvPr/>
          </p:nvSpPr>
          <p:spPr>
            <a:xfrm>
              <a:off x="767784" y="1805634"/>
              <a:ext cx="7716565" cy="116551"/>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1A1A1A"/>
                  </a:solidFill>
                </a:rPr>
                <a:t>If stolen or lost -&gt; </a:t>
              </a:r>
              <a:r>
                <a:rPr lang="en-US" sz="1200" b="1" dirty="0">
                  <a:solidFill>
                    <a:srgbClr val="1A1A1A"/>
                  </a:solidFill>
                </a:rPr>
                <a:t>Assets will be lost forever!!!</a:t>
              </a:r>
            </a:p>
          </p:txBody>
        </p:sp>
      </p:grpSp>
      <p:grpSp>
        <p:nvGrpSpPr>
          <p:cNvPr id="59" name="Grupo 58">
            <a:extLst>
              <a:ext uri="{FF2B5EF4-FFF2-40B4-BE49-F238E27FC236}">
                <a16:creationId xmlns:a16="http://schemas.microsoft.com/office/drawing/2014/main" id="{E59FD365-3939-09D4-E9F8-0248C0B30206}"/>
              </a:ext>
            </a:extLst>
          </p:cNvPr>
          <p:cNvGrpSpPr/>
          <p:nvPr/>
        </p:nvGrpSpPr>
        <p:grpSpPr>
          <a:xfrm>
            <a:off x="4766963" y="1732904"/>
            <a:ext cx="4178006" cy="1107301"/>
            <a:chOff x="767784" y="1203350"/>
            <a:chExt cx="7716569" cy="718835"/>
          </a:xfrm>
        </p:grpSpPr>
        <p:sp>
          <p:nvSpPr>
            <p:cNvPr id="60" name="Text 1">
              <a:extLst>
                <a:ext uri="{FF2B5EF4-FFF2-40B4-BE49-F238E27FC236}">
                  <a16:creationId xmlns:a16="http://schemas.microsoft.com/office/drawing/2014/main" id="{7B61DED6-17C7-FD12-D7B5-02DBC399E56F}"/>
                </a:ext>
              </a:extLst>
            </p:cNvPr>
            <p:cNvSpPr/>
            <p:nvPr/>
          </p:nvSpPr>
          <p:spPr>
            <a:xfrm>
              <a:off x="767786" y="1203350"/>
              <a:ext cx="7716567" cy="116551"/>
            </a:xfrm>
            <a:prstGeom prst="rect">
              <a:avLst/>
            </a:prstGeom>
            <a:noFill/>
            <a:ln/>
          </p:spPr>
          <p:txBody>
            <a:bodyPr wrap="square" lIns="0" tIns="0" rIns="0" bIns="0" rtlCol="0" anchor="t">
              <a:spAutoFit/>
            </a:bodyPr>
            <a:lstStyle/>
            <a:p>
              <a:pPr>
                <a:lnSpc>
                  <a:spcPts val="1400"/>
                </a:lnSpc>
              </a:pPr>
              <a:r>
                <a:rPr lang="en-US" sz="1200" dirty="0"/>
                <a:t>- A derived string from the private key that can be shared openly.</a:t>
              </a:r>
              <a:endParaRPr lang="en-US" sz="1200" dirty="0">
                <a:solidFill>
                  <a:srgbClr val="1A1A1A"/>
                </a:solidFill>
              </a:endParaRPr>
            </a:p>
          </p:txBody>
        </p:sp>
        <p:sp>
          <p:nvSpPr>
            <p:cNvPr id="61" name="Text 2">
              <a:extLst>
                <a:ext uri="{FF2B5EF4-FFF2-40B4-BE49-F238E27FC236}">
                  <a16:creationId xmlns:a16="http://schemas.microsoft.com/office/drawing/2014/main" id="{8DD992ED-0F48-04F6-720B-385FD8038DEC}"/>
                </a:ext>
              </a:extLst>
            </p:cNvPr>
            <p:cNvSpPr/>
            <p:nvPr/>
          </p:nvSpPr>
          <p:spPr>
            <a:xfrm>
              <a:off x="767786" y="1366753"/>
              <a:ext cx="7716565" cy="233102"/>
            </a:xfrm>
            <a:prstGeom prst="rect">
              <a:avLst/>
            </a:prstGeom>
            <a:noFill/>
            <a:ln/>
          </p:spPr>
          <p:txBody>
            <a:bodyPr wrap="square" lIns="0" tIns="0" rIns="0" bIns="0" rtlCol="0" anchor="t">
              <a:spAutoFit/>
            </a:bodyPr>
            <a:lstStyle/>
            <a:p>
              <a:pPr>
                <a:lnSpc>
                  <a:spcPts val="1400"/>
                </a:lnSpc>
              </a:pPr>
              <a:r>
                <a:rPr lang="en-US" sz="1200" dirty="0"/>
                <a:t>- Acts as your blockchain address, allowing transactions to be verified without revealing your private key.</a:t>
              </a:r>
              <a:endParaRPr lang="en-US" sz="1200" dirty="0">
                <a:solidFill>
                  <a:srgbClr val="1A1A1A"/>
                </a:solidFill>
              </a:endParaRPr>
            </a:p>
          </p:txBody>
        </p:sp>
        <p:sp>
          <p:nvSpPr>
            <p:cNvPr id="62" name="Text 3">
              <a:extLst>
                <a:ext uri="{FF2B5EF4-FFF2-40B4-BE49-F238E27FC236}">
                  <a16:creationId xmlns:a16="http://schemas.microsoft.com/office/drawing/2014/main" id="{63644F29-7C96-B3B8-053F-253282881E2A}"/>
                </a:ext>
              </a:extLst>
            </p:cNvPr>
            <p:cNvSpPr/>
            <p:nvPr/>
          </p:nvSpPr>
          <p:spPr>
            <a:xfrm>
              <a:off x="767786" y="1644469"/>
              <a:ext cx="7716565" cy="116551"/>
            </a:xfrm>
            <a:prstGeom prst="rect">
              <a:avLst/>
            </a:prstGeom>
            <a:noFill/>
            <a:ln/>
          </p:spPr>
          <p:txBody>
            <a:bodyPr wrap="square" lIns="0" tIns="0" rIns="0" bIns="0" rtlCol="0" anchor="t">
              <a:spAutoFit/>
            </a:bodyPr>
            <a:lstStyle/>
            <a:p>
              <a:pPr>
                <a:lnSpc>
                  <a:spcPts val="1400"/>
                </a:lnSpc>
              </a:pPr>
              <a:r>
                <a:rPr lang="en-US" sz="1200" dirty="0"/>
                <a:t>- Used by others to send you cryptocurrency.</a:t>
              </a:r>
              <a:endParaRPr lang="en-US" sz="1200" dirty="0">
                <a:solidFill>
                  <a:srgbClr val="1A1A1A"/>
                </a:solidFill>
              </a:endParaRPr>
            </a:p>
          </p:txBody>
        </p:sp>
        <p:sp>
          <p:nvSpPr>
            <p:cNvPr id="63" name="Text 4">
              <a:extLst>
                <a:ext uri="{FF2B5EF4-FFF2-40B4-BE49-F238E27FC236}">
                  <a16:creationId xmlns:a16="http://schemas.microsoft.com/office/drawing/2014/main" id="{59430470-C194-EF26-E3C2-B88B8550981B}"/>
                </a:ext>
              </a:extLst>
            </p:cNvPr>
            <p:cNvSpPr/>
            <p:nvPr/>
          </p:nvSpPr>
          <p:spPr>
            <a:xfrm>
              <a:off x="767784" y="1805634"/>
              <a:ext cx="7716565" cy="116551"/>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A1A1A"/>
                  </a:solidFill>
                </a:rPr>
                <a:t>This is like your mailbox, anyone can send you a letter </a:t>
              </a:r>
            </a:p>
          </p:txBody>
        </p:sp>
      </p:grpSp>
      <p:grpSp>
        <p:nvGrpSpPr>
          <p:cNvPr id="73" name="Grupo 72">
            <a:extLst>
              <a:ext uri="{FF2B5EF4-FFF2-40B4-BE49-F238E27FC236}">
                <a16:creationId xmlns:a16="http://schemas.microsoft.com/office/drawing/2014/main" id="{C8AEECDD-9B54-4164-BF14-03392D6341C9}"/>
              </a:ext>
            </a:extLst>
          </p:cNvPr>
          <p:cNvGrpSpPr/>
          <p:nvPr/>
        </p:nvGrpSpPr>
        <p:grpSpPr>
          <a:xfrm>
            <a:off x="227582" y="3523631"/>
            <a:ext cx="7866064" cy="1436291"/>
            <a:chOff x="227582" y="3523631"/>
            <a:chExt cx="7866064" cy="1436291"/>
          </a:xfrm>
        </p:grpSpPr>
        <p:pic>
          <p:nvPicPr>
            <p:cNvPr id="38" name="Gráfico 37" descr="Caja fuerte con relleno sólido">
              <a:extLst>
                <a:ext uri="{FF2B5EF4-FFF2-40B4-BE49-F238E27FC236}">
                  <a16:creationId xmlns:a16="http://schemas.microsoft.com/office/drawing/2014/main" id="{1D0D594E-B732-A806-1033-8D3435536E8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41002" y="3883994"/>
              <a:ext cx="914400" cy="914400"/>
            </a:xfrm>
            <a:prstGeom prst="rect">
              <a:avLst/>
            </a:prstGeom>
          </p:spPr>
        </p:pic>
        <mc:AlternateContent xmlns:mc="http://schemas.openxmlformats.org/markup-compatibility/2006" xmlns:a14="http://schemas.microsoft.com/office/drawing/2010/main">
          <mc:Choice Requires="a14">
            <p:sp>
              <p:nvSpPr>
                <p:cNvPr id="65" name="Text 4">
                  <a:extLst>
                    <a:ext uri="{FF2B5EF4-FFF2-40B4-BE49-F238E27FC236}">
                      <a16:creationId xmlns:a16="http://schemas.microsoft.com/office/drawing/2014/main" id="{D1A3F65B-A143-4564-2441-5673DEEAD161}"/>
                    </a:ext>
                  </a:extLst>
                </p:cNvPr>
                <p:cNvSpPr/>
                <p:nvPr/>
              </p:nvSpPr>
              <p:spPr>
                <a:xfrm>
                  <a:off x="227582" y="3523631"/>
                  <a:ext cx="4344417" cy="1436291"/>
                </a:xfrm>
                <a:prstGeom prst="rect">
                  <a:avLst/>
                </a:prstGeom>
                <a:noFill/>
                <a:ln/>
              </p:spPr>
              <p:txBody>
                <a:bodyPr wrap="square" lIns="0" tIns="0" rIns="0" bIns="0" rtlCol="0" anchor="t">
                  <a:spAutoFit/>
                </a:bodyPr>
                <a:lstStyle/>
                <a:p>
                  <a:pPr>
                    <a:lnSpc>
                      <a:spcPts val="1400"/>
                    </a:lnSpc>
                  </a:pPr>
                  <a:r>
                    <a:rPr lang="en-US" sz="1200" dirty="0">
                      <a:solidFill>
                        <a:srgbClr val="1A1A1A"/>
                      </a:solidFill>
                    </a:rPr>
                    <a:t>Bitcoin Example:</a:t>
                  </a:r>
                </a:p>
                <a:p>
                  <a:pPr>
                    <a:lnSpc>
                      <a:spcPts val="1400"/>
                    </a:lnSpc>
                  </a:pPr>
                  <a:r>
                    <a:rPr lang="en-US" sz="1200" dirty="0">
                      <a:solidFill>
                        <a:srgbClr val="1A1A1A"/>
                      </a:solidFill>
                    </a:rPr>
                    <a:t>Curve (</a:t>
                  </a:r>
                  <a:r>
                    <a:rPr lang="es-ES" altLang="es-ES" sz="1200" dirty="0">
                      <a:latin typeface="Arial" panose="020B0604020202020204" pitchFamily="34" charset="0"/>
                    </a:rPr>
                    <a:t>secp256k1 → </a:t>
                  </a:r>
                  <a14:m>
                    <m:oMath xmlns:m="http://schemas.openxmlformats.org/officeDocument/2006/math">
                      <m:sSup>
                        <m:sSupPr>
                          <m:ctrlPr>
                            <a:rPr lang="es-ES" sz="1200" i="1">
                              <a:latin typeface="Cambria Math" panose="02040503050406030204" pitchFamily="18" charset="0"/>
                            </a:rPr>
                          </m:ctrlPr>
                        </m:sSupPr>
                        <m:e>
                          <m:r>
                            <a:rPr lang="es-ES" sz="1200" i="1">
                              <a:latin typeface="Cambria Math" panose="02040503050406030204" pitchFamily="18" charset="0"/>
                            </a:rPr>
                            <m:t>𝑦</m:t>
                          </m:r>
                        </m:e>
                        <m:sup>
                          <m:r>
                            <a:rPr lang="es-ES" sz="1200">
                              <a:latin typeface="Cambria Math" panose="02040503050406030204" pitchFamily="18" charset="0"/>
                            </a:rPr>
                            <m:t>2</m:t>
                          </m:r>
                        </m:sup>
                      </m:sSup>
                      <m:r>
                        <a:rPr lang="es-ES" sz="1200">
                          <a:latin typeface="Cambria Math" panose="02040503050406030204" pitchFamily="18" charset="0"/>
                        </a:rPr>
                        <m:t>=</m:t>
                      </m:r>
                      <m:sSup>
                        <m:sSupPr>
                          <m:ctrlPr>
                            <a:rPr lang="es-ES" sz="1200" i="1">
                              <a:latin typeface="Cambria Math" panose="02040503050406030204" pitchFamily="18" charset="0"/>
                            </a:rPr>
                          </m:ctrlPr>
                        </m:sSupPr>
                        <m:e>
                          <m:r>
                            <a:rPr lang="es-ES" sz="1200" i="1">
                              <a:latin typeface="Cambria Math" panose="02040503050406030204" pitchFamily="18" charset="0"/>
                            </a:rPr>
                            <m:t>𝑥</m:t>
                          </m:r>
                        </m:e>
                        <m:sup>
                          <m:r>
                            <a:rPr lang="es-ES" sz="1200">
                              <a:latin typeface="Cambria Math" panose="02040503050406030204" pitchFamily="18" charset="0"/>
                            </a:rPr>
                            <m:t>3</m:t>
                          </m:r>
                        </m:sup>
                      </m:sSup>
                      <m:r>
                        <a:rPr lang="es-ES" sz="1200">
                          <a:latin typeface="Cambria Math" panose="02040503050406030204" pitchFamily="18" charset="0"/>
                        </a:rPr>
                        <m:t>+7 </m:t>
                      </m:r>
                      <m:d>
                        <m:dPr>
                          <m:ctrlPr>
                            <a:rPr lang="es-ES" sz="1200" i="1">
                              <a:latin typeface="Cambria Math" panose="02040503050406030204" pitchFamily="18" charset="0"/>
                            </a:rPr>
                          </m:ctrlPr>
                        </m:dPr>
                        <m:e>
                          <m:r>
                            <a:rPr lang="es-ES" sz="1200" i="1">
                              <a:latin typeface="Cambria Math" panose="02040503050406030204" pitchFamily="18" charset="0"/>
                            </a:rPr>
                            <m:t>𝑚𝑜𝑑</m:t>
                          </m:r>
                          <m:r>
                            <a:rPr lang="es-ES" sz="1200">
                              <a:latin typeface="Cambria Math" panose="02040503050406030204" pitchFamily="18" charset="0"/>
                            </a:rPr>
                            <m:t> </m:t>
                          </m:r>
                          <m:r>
                            <a:rPr lang="es-ES" sz="1200" i="1">
                              <a:latin typeface="Cambria Math" panose="02040503050406030204" pitchFamily="18" charset="0"/>
                            </a:rPr>
                            <m:t>𝑝</m:t>
                          </m:r>
                        </m:e>
                      </m:d>
                    </m:oMath>
                  </a14:m>
                  <a:r>
                    <a:rPr lang="en-US" sz="1200" dirty="0">
                      <a:solidFill>
                        <a:srgbClr val="1A1A1A"/>
                      </a:solidFill>
                    </a:rPr>
                    <a:t>)</a:t>
                  </a:r>
                </a:p>
                <a:p>
                  <a:pPr>
                    <a:lnSpc>
                      <a:spcPts val="1400"/>
                    </a:lnSpc>
                  </a:pPr>
                  <a:r>
                    <a:rPr lang="en-US" sz="1200" dirty="0">
                      <a:solidFill>
                        <a:srgbClr val="1A1A1A"/>
                      </a:solidFill>
                    </a:rPr>
                    <a:t>Where </a:t>
                  </a:r>
                  <a14:m>
                    <m:oMath xmlns:m="http://schemas.openxmlformats.org/officeDocument/2006/math">
                      <m:r>
                        <a:rPr lang="en-US" sz="1200" i="1">
                          <a:latin typeface="Cambria Math" panose="02040503050406030204" pitchFamily="18" charset="0"/>
                        </a:rPr>
                        <m:t>𝑝</m:t>
                      </m:r>
                      <m:r>
                        <a:rPr lang="en-US" sz="1200" i="1">
                          <a:latin typeface="Cambria Math" panose="02040503050406030204" pitchFamily="18" charset="0"/>
                        </a:rPr>
                        <m:t>=</m:t>
                      </m:r>
                      <m:sSup>
                        <m:sSupPr>
                          <m:ctrlPr>
                            <a:rPr lang="es-E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256</m:t>
                          </m:r>
                        </m:sup>
                      </m:sSup>
                      <m:r>
                        <a:rPr lang="en-US" sz="1200" i="1">
                          <a:latin typeface="Cambria Math" panose="02040503050406030204" pitchFamily="18" charset="0"/>
                        </a:rPr>
                        <m:t>−</m:t>
                      </m:r>
                      <m:sSup>
                        <m:sSupPr>
                          <m:ctrlPr>
                            <a:rPr lang="es-E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32</m:t>
                          </m:r>
                        </m:sup>
                      </m:sSup>
                      <m:r>
                        <a:rPr lang="en-US" sz="1200" i="1">
                          <a:latin typeface="Cambria Math" panose="02040503050406030204" pitchFamily="18" charset="0"/>
                        </a:rPr>
                        <m:t>−</m:t>
                      </m:r>
                      <m:sSup>
                        <m:sSupPr>
                          <m:ctrlPr>
                            <a:rPr lang="es-E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9</m:t>
                          </m:r>
                        </m:sup>
                      </m:sSup>
                      <m:r>
                        <a:rPr lang="en-US" sz="1200" i="1">
                          <a:latin typeface="Cambria Math" panose="02040503050406030204" pitchFamily="18" charset="0"/>
                        </a:rPr>
                        <m:t>−</m:t>
                      </m:r>
                      <m:sSup>
                        <m:sSupPr>
                          <m:ctrlPr>
                            <a:rPr lang="es-E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8</m:t>
                          </m:r>
                        </m:sup>
                      </m:sSup>
                      <m:r>
                        <a:rPr lang="en-US" sz="1200" i="1">
                          <a:latin typeface="Cambria Math" panose="02040503050406030204" pitchFamily="18" charset="0"/>
                        </a:rPr>
                        <m:t>−</m:t>
                      </m:r>
                      <m:sSup>
                        <m:sSupPr>
                          <m:ctrlPr>
                            <a:rPr lang="es-E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7</m:t>
                          </m:r>
                        </m:sup>
                      </m:sSup>
                      <m:r>
                        <a:rPr lang="en-US" sz="1200" i="1">
                          <a:latin typeface="Cambria Math" panose="02040503050406030204" pitchFamily="18" charset="0"/>
                        </a:rPr>
                        <m:t>−</m:t>
                      </m:r>
                      <m:sSup>
                        <m:sSupPr>
                          <m:ctrlPr>
                            <a:rPr lang="es-E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6</m:t>
                          </m:r>
                        </m:sup>
                      </m:sSup>
                      <m:r>
                        <a:rPr lang="en-US" sz="1200" i="1">
                          <a:latin typeface="Cambria Math" panose="02040503050406030204" pitchFamily="18" charset="0"/>
                        </a:rPr>
                        <m:t>−</m:t>
                      </m:r>
                      <m:sSup>
                        <m:sSupPr>
                          <m:ctrlPr>
                            <a:rPr lang="es-E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4</m:t>
                          </m:r>
                        </m:sup>
                      </m:sSup>
                      <m:r>
                        <a:rPr lang="en-US" sz="1200" i="1">
                          <a:latin typeface="Cambria Math" panose="02040503050406030204" pitchFamily="18" charset="0"/>
                        </a:rPr>
                        <m:t>−1</m:t>
                      </m:r>
                    </m:oMath>
                  </a14:m>
                  <a:endParaRPr lang="en-US" sz="800" dirty="0">
                    <a:solidFill>
                      <a:srgbClr val="1A1A1A"/>
                    </a:solidFill>
                  </a:endParaRPr>
                </a:p>
                <a:p>
                  <a:pPr>
                    <a:lnSpc>
                      <a:spcPts val="1400"/>
                    </a:lnSpc>
                  </a:pPr>
                  <a:r>
                    <a:rPr lang="en-US" sz="1200" dirty="0">
                      <a:solidFill>
                        <a:srgbClr val="1A1A1A"/>
                      </a:solidFill>
                      <a:latin typeface="Aptos" panose="02110004020202020204"/>
                    </a:rPr>
                    <a:t>Then given the standard G</a:t>
                  </a:r>
                  <a:r>
                    <a:rPr lang="es-ES" sz="1200" dirty="0"/>
                    <a:t>(x,y)=(79BE667E..., 483ADA77...)and its order </a:t>
                  </a:r>
                  <a14:m>
                    <m:oMath xmlns:m="http://schemas.openxmlformats.org/officeDocument/2006/math">
                      <m:sSup>
                        <m:sSupPr>
                          <m:ctrlPr>
                            <a:rPr lang="es-ES" sz="1200" i="1">
                              <a:latin typeface="Cambria Math" panose="02040503050406030204" pitchFamily="18" charset="0"/>
                            </a:rPr>
                          </m:ctrlPr>
                        </m:sSupPr>
                        <m:e>
                          <m:r>
                            <a:rPr lang="es-ES" sz="1200" b="0" i="1" smtClean="0">
                              <a:latin typeface="Cambria Math" panose="02040503050406030204" pitchFamily="18" charset="0"/>
                            </a:rPr>
                            <m:t>𝑛</m:t>
                          </m:r>
                          <m:r>
                            <a:rPr lang="es-ES" sz="1200" b="0" i="1" smtClean="0">
                              <a:latin typeface="Cambria Math" panose="02040503050406030204" pitchFamily="18" charset="0"/>
                              <a:ea typeface="Cambria Math" panose="02040503050406030204" pitchFamily="18" charset="0"/>
                            </a:rPr>
                            <m:t>≈</m:t>
                          </m:r>
                          <m:r>
                            <a:rPr lang="es-ES" sz="1200" b="0" i="1" smtClean="0">
                              <a:latin typeface="Cambria Math" panose="02040503050406030204" pitchFamily="18" charset="0"/>
                            </a:rPr>
                            <m:t>1.158∗10</m:t>
                          </m:r>
                        </m:e>
                        <m:sup>
                          <m:r>
                            <a:rPr lang="es-ES" sz="1200" b="0" i="1" smtClean="0">
                              <a:latin typeface="Cambria Math" panose="02040503050406030204" pitchFamily="18" charset="0"/>
                            </a:rPr>
                            <m:t>77</m:t>
                          </m:r>
                        </m:sup>
                      </m:sSup>
                      <m:r>
                        <a:rPr lang="es-ES" sz="1200" i="1" smtClean="0">
                          <a:latin typeface="Cambria Math" panose="02040503050406030204" pitchFamily="18" charset="0"/>
                          <a:ea typeface="Cambria Math" panose="02040503050406030204" pitchFamily="18" charset="0"/>
                        </a:rPr>
                        <m:t>⟹</m:t>
                      </m:r>
                      <m:r>
                        <a:rPr lang="es-ES" sz="1200" b="0" i="1" smtClean="0">
                          <a:latin typeface="Cambria Math" panose="02040503050406030204" pitchFamily="18" charset="0"/>
                          <a:ea typeface="Cambria Math" panose="02040503050406030204" pitchFamily="18" charset="0"/>
                        </a:rPr>
                        <m:t>𝑛</m:t>
                      </m:r>
                      <m:r>
                        <a:rPr lang="es-ES" sz="1200" b="0" i="1" smtClean="0">
                          <a:latin typeface="Cambria Math" panose="02040503050406030204" pitchFamily="18" charset="0"/>
                          <a:ea typeface="Cambria Math" panose="02040503050406030204" pitchFamily="18" charset="0"/>
                        </a:rPr>
                        <m:t>∗</m:t>
                      </m:r>
                      <m:r>
                        <a:rPr lang="es-ES" sz="1200" b="0" i="1" smtClean="0">
                          <a:latin typeface="Cambria Math" panose="02040503050406030204" pitchFamily="18" charset="0"/>
                          <a:ea typeface="Cambria Math" panose="02040503050406030204" pitchFamily="18" charset="0"/>
                        </a:rPr>
                        <m:t>𝐺</m:t>
                      </m:r>
                      <m:r>
                        <a:rPr lang="es-ES" sz="1200" b="0" i="1" smtClean="0">
                          <a:latin typeface="Cambria Math" panose="02040503050406030204" pitchFamily="18" charset="0"/>
                          <a:ea typeface="Cambria Math" panose="02040503050406030204" pitchFamily="18" charset="0"/>
                        </a:rPr>
                        <m:t>=</m:t>
                      </m:r>
                      <m:r>
                        <a:rPr lang="es-ES" sz="1200" b="0" i="1" smtClean="0">
                          <a:latin typeface="Cambria Math" panose="02040503050406030204" pitchFamily="18" charset="0"/>
                          <a:ea typeface="Cambria Math" panose="02040503050406030204" pitchFamily="18" charset="0"/>
                        </a:rPr>
                        <m:t>𝑂</m:t>
                      </m:r>
                    </m:oMath>
                  </a14:m>
                  <a:r>
                    <a:rPr lang="es-ES" sz="1200" dirty="0"/>
                    <a:t> (“zero” of elliptic-curve)</a:t>
                  </a:r>
                </a:p>
                <a:p>
                  <a:pPr>
                    <a:lnSpc>
                      <a:spcPts val="1400"/>
                    </a:lnSpc>
                  </a:pPr>
                  <a:endParaRPr lang="en-US" sz="1200" b="1" dirty="0">
                    <a:solidFill>
                      <a:srgbClr val="1A1A1A"/>
                    </a:solidFill>
                  </a:endParaRPr>
                </a:p>
                <a:p>
                  <a:pPr>
                    <a:lnSpc>
                      <a:spcPts val="1400"/>
                    </a:lnSpc>
                  </a:pPr>
                  <a:r>
                    <a:rPr lang="en-US" sz="1200" b="1" dirty="0">
                      <a:solidFill>
                        <a:srgbClr val="1A1A1A"/>
                      </a:solidFill>
                    </a:rPr>
                    <a:t>Your private key will be a random number that you choose in the range: </a:t>
                  </a:r>
                  <a14:m>
                    <m:oMath xmlns:m="http://schemas.openxmlformats.org/officeDocument/2006/math">
                      <m:r>
                        <a:rPr lang="es-ES" sz="1200" b="0" i="1" smtClean="0">
                          <a:latin typeface="Cambria Math" panose="02040503050406030204" pitchFamily="18" charset="0"/>
                        </a:rPr>
                        <m:t>1</m:t>
                      </m:r>
                      <m:r>
                        <a:rPr lang="es-ES" sz="1200" b="0" i="1" smtClean="0">
                          <a:latin typeface="Cambria Math" panose="02040503050406030204" pitchFamily="18" charset="0"/>
                          <a:ea typeface="Cambria Math" panose="02040503050406030204" pitchFamily="18" charset="0"/>
                        </a:rPr>
                        <m:t>≤</m:t>
                      </m:r>
                      <m:r>
                        <a:rPr lang="es-ES" sz="1200" b="0" i="1" smtClean="0">
                          <a:latin typeface="Cambria Math" panose="02040503050406030204" pitchFamily="18" charset="0"/>
                          <a:ea typeface="Cambria Math" panose="02040503050406030204" pitchFamily="18" charset="0"/>
                        </a:rPr>
                        <m:t>𝑃𝑟𝑖𝑣𝑎𝑡𝑒𝐾𝑒𝑦</m:t>
                      </m:r>
                      <m:r>
                        <a:rPr lang="es-ES" sz="1200" b="0" i="1" smtClean="0">
                          <a:latin typeface="Cambria Math" panose="02040503050406030204" pitchFamily="18" charset="0"/>
                          <a:ea typeface="Cambria Math" panose="02040503050406030204" pitchFamily="18" charset="0"/>
                        </a:rPr>
                        <m:t>&lt;</m:t>
                      </m:r>
                      <m:r>
                        <a:rPr lang="es-ES" sz="1200" b="0" i="1" smtClean="0">
                          <a:latin typeface="Cambria Math" panose="02040503050406030204" pitchFamily="18" charset="0"/>
                          <a:ea typeface="Cambria Math" panose="02040503050406030204" pitchFamily="18" charset="0"/>
                        </a:rPr>
                        <m:t>𝑛</m:t>
                      </m:r>
                    </m:oMath>
                  </a14:m>
                  <a:endParaRPr lang="en-US" sz="1200" b="1" dirty="0">
                    <a:solidFill>
                      <a:srgbClr val="1A1A1A"/>
                    </a:solidFill>
                  </a:endParaRPr>
                </a:p>
              </p:txBody>
            </p:sp>
          </mc:Choice>
          <mc:Fallback xmlns="">
            <p:sp>
              <p:nvSpPr>
                <p:cNvPr id="65" name="Text 4">
                  <a:extLst>
                    <a:ext uri="{FF2B5EF4-FFF2-40B4-BE49-F238E27FC236}">
                      <a16:creationId xmlns:a16="http://schemas.microsoft.com/office/drawing/2014/main" id="{D1A3F65B-A143-4564-2441-5673DEEAD161}"/>
                    </a:ext>
                  </a:extLst>
                </p:cNvPr>
                <p:cNvSpPr>
                  <a:spLocks noRot="1" noChangeAspect="1" noMove="1" noResize="1" noEditPoints="1" noAdjustHandles="1" noChangeArrowheads="1" noChangeShapeType="1" noTextEdit="1"/>
                </p:cNvSpPr>
                <p:nvPr/>
              </p:nvSpPr>
              <p:spPr>
                <a:xfrm>
                  <a:off x="227582" y="3523631"/>
                  <a:ext cx="4344417" cy="1436291"/>
                </a:xfrm>
                <a:prstGeom prst="rect">
                  <a:avLst/>
                </a:prstGeom>
                <a:blipFill>
                  <a:blip r:embed="rId9"/>
                  <a:stretch>
                    <a:fillRect l="-2104" t="-3814" r="-842" b="-5932"/>
                  </a:stretch>
                </a:blip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0" name="Text 4">
                  <a:extLst>
                    <a:ext uri="{FF2B5EF4-FFF2-40B4-BE49-F238E27FC236}">
                      <a16:creationId xmlns:a16="http://schemas.microsoft.com/office/drawing/2014/main" id="{8A0AE8EC-1439-E7AA-30DB-3189BBB441DD}"/>
                    </a:ext>
                  </a:extLst>
                </p:cNvPr>
                <p:cNvSpPr/>
                <p:nvPr/>
              </p:nvSpPr>
              <p:spPr>
                <a:xfrm>
                  <a:off x="4766963" y="3524921"/>
                  <a:ext cx="3326683" cy="359073"/>
                </a:xfrm>
                <a:prstGeom prst="rect">
                  <a:avLst/>
                </a:prstGeom>
                <a:noFill/>
                <a:ln/>
              </p:spPr>
              <p:txBody>
                <a:bodyPr wrap="square" lIns="0" tIns="0" rIns="0" bIns="0" rtlCol="0" anchor="t">
                  <a:spAutoFit/>
                </a:bodyPr>
                <a:lstStyle/>
                <a:p>
                  <a:pPr>
                    <a:lnSpc>
                      <a:spcPts val="1400"/>
                    </a:lnSpc>
                  </a:pPr>
                  <a:r>
                    <a:rPr lang="es-ES" sz="1200" dirty="0">
                      <a:solidFill>
                        <a:srgbClr val="1A1A1A"/>
                      </a:solidFill>
                    </a:rPr>
                    <a:t>To calculate your public you just need to calculate:</a:t>
                  </a:r>
                </a:p>
                <a:p>
                  <a:pPr>
                    <a:lnSpc>
                      <a:spcPts val="1400"/>
                    </a:lnSpc>
                  </a:pPr>
                  <a:r>
                    <a:rPr lang="es-ES" sz="1200" dirty="0">
                      <a:solidFill>
                        <a:srgbClr val="1A1A1A"/>
                      </a:solidFill>
                    </a:rPr>
                    <a:t> </a:t>
                  </a:r>
                  <a14:m>
                    <m:oMath xmlns:m="http://schemas.openxmlformats.org/officeDocument/2006/math">
                      <m:r>
                        <a:rPr lang="es-ES" sz="1200" b="0" i="1" smtClean="0">
                          <a:latin typeface="Cambria Math" panose="02040503050406030204" pitchFamily="18" charset="0"/>
                          <a:ea typeface="Cambria Math" panose="02040503050406030204" pitchFamily="18" charset="0"/>
                        </a:rPr>
                        <m:t>𝑃𝑢𝑏𝑙𝑖𝑐𝐾𝑒𝑦</m:t>
                      </m:r>
                      <m:r>
                        <a:rPr lang="es-ES" sz="1200" b="0" i="1" smtClean="0">
                          <a:latin typeface="Cambria Math" panose="02040503050406030204" pitchFamily="18" charset="0"/>
                          <a:ea typeface="Cambria Math" panose="02040503050406030204" pitchFamily="18" charset="0"/>
                        </a:rPr>
                        <m:t>=</m:t>
                      </m:r>
                      <m:r>
                        <a:rPr lang="es-ES" sz="1200" b="0" i="1" smtClean="0">
                          <a:latin typeface="Cambria Math" panose="02040503050406030204" pitchFamily="18" charset="0"/>
                          <a:ea typeface="Cambria Math" panose="02040503050406030204" pitchFamily="18" charset="0"/>
                        </a:rPr>
                        <m:t>𝑃𝑟𝑖𝑣𝑎𝑡𝐾𝑒𝑦</m:t>
                      </m:r>
                      <m:r>
                        <a:rPr lang="es-ES" sz="1200" i="1">
                          <a:latin typeface="Cambria Math" panose="02040503050406030204" pitchFamily="18" charset="0"/>
                          <a:ea typeface="Cambria Math" panose="02040503050406030204" pitchFamily="18" charset="0"/>
                        </a:rPr>
                        <m:t>∗</m:t>
                      </m:r>
                      <m:r>
                        <a:rPr lang="es-ES" sz="1200" i="1">
                          <a:latin typeface="Cambria Math" panose="02040503050406030204" pitchFamily="18" charset="0"/>
                          <a:ea typeface="Cambria Math" panose="02040503050406030204" pitchFamily="18" charset="0"/>
                        </a:rPr>
                        <m:t>𝐺</m:t>
                      </m:r>
                    </m:oMath>
                  </a14:m>
                  <a:endParaRPr lang="en-US" sz="1200" b="1" dirty="0">
                    <a:solidFill>
                      <a:srgbClr val="1A1A1A"/>
                    </a:solidFill>
                  </a:endParaRPr>
                </a:p>
              </p:txBody>
            </p:sp>
          </mc:Choice>
          <mc:Fallback xmlns="">
            <p:sp>
              <p:nvSpPr>
                <p:cNvPr id="70" name="Text 4">
                  <a:extLst>
                    <a:ext uri="{FF2B5EF4-FFF2-40B4-BE49-F238E27FC236}">
                      <a16:creationId xmlns:a16="http://schemas.microsoft.com/office/drawing/2014/main" id="{8A0AE8EC-1439-E7AA-30DB-3189BBB441DD}"/>
                    </a:ext>
                  </a:extLst>
                </p:cNvPr>
                <p:cNvSpPr>
                  <a:spLocks noRot="1" noChangeAspect="1" noMove="1" noResize="1" noEditPoints="1" noAdjustHandles="1" noChangeArrowheads="1" noChangeShapeType="1" noTextEdit="1"/>
                </p:cNvSpPr>
                <p:nvPr/>
              </p:nvSpPr>
              <p:spPr>
                <a:xfrm>
                  <a:off x="4766963" y="3524921"/>
                  <a:ext cx="3326683" cy="359073"/>
                </a:xfrm>
                <a:prstGeom prst="rect">
                  <a:avLst/>
                </a:prstGeom>
                <a:blipFill>
                  <a:blip r:embed="rId10"/>
                  <a:stretch>
                    <a:fillRect l="-2930" t="-15254" r="-2198" b="-27119"/>
                  </a:stretch>
                </a:blipFill>
                <a:ln/>
              </p:spPr>
              <p:txBody>
                <a:bodyPr/>
                <a:lstStyle/>
                <a:p>
                  <a:r>
                    <a:rPr lang="es-ES">
                      <a:noFill/>
                    </a:rPr>
                    <a:t> </a:t>
                  </a:r>
                </a:p>
              </p:txBody>
            </p:sp>
          </mc:Fallback>
        </mc:AlternateContent>
      </p:grpSp>
    </p:spTree>
    <p:extLst>
      <p:ext uri="{BB962C8B-B14F-4D97-AF65-F5344CB8AC3E}">
        <p14:creationId xmlns:p14="http://schemas.microsoft.com/office/powerpoint/2010/main" val="1220298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64E0C-0074-88EF-9D8D-21A39E2057D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0">
                <a:extLst>
                  <a:ext uri="{FF2B5EF4-FFF2-40B4-BE49-F238E27FC236}">
                    <a16:creationId xmlns:a16="http://schemas.microsoft.com/office/drawing/2014/main" id="{EC2FE79C-0651-41F5-EA4F-31EB39F1F16B}"/>
                  </a:ext>
                </a:extLst>
              </p:cNvPr>
              <p:cNvSpPr/>
              <p:nvPr/>
            </p:nvSpPr>
            <p:spPr>
              <a:xfrm>
                <a:off x="571500" y="428625"/>
                <a:ext cx="4239943" cy="410369"/>
              </a:xfrm>
              <a:prstGeom prst="rect">
                <a:avLst/>
              </a:prstGeom>
              <a:noFill/>
              <a:ln/>
            </p:spPr>
            <p:txBody>
              <a:bodyPr wrap="none" lIns="0" tIns="0" rIns="0" bIns="0" rtlCol="0" anchor="t">
                <a:spAutoFit/>
              </a:bodyPr>
              <a:lstStyle/>
              <a:p>
                <a:pPr>
                  <a:lnSpc>
                    <a:spcPts val="3200"/>
                  </a:lnSpc>
                </a:pPr>
                <a14:m>
                  <m:oMath xmlns:m="http://schemas.openxmlformats.org/officeDocument/2006/math">
                    <m:r>
                      <m:rPr>
                        <m:sty m:val="p"/>
                      </m:rPr>
                      <a:rPr lang="es-ES" sz="2800" i="0">
                        <a:latin typeface="Cambria Math" panose="02040503050406030204" pitchFamily="18" charset="0"/>
                        <a:ea typeface="Cambria Math" panose="02040503050406030204" pitchFamily="18" charset="0"/>
                      </a:rPr>
                      <m:t>PublicKey</m:t>
                    </m:r>
                    <m:r>
                      <a:rPr lang="es-ES" sz="2800" i="0">
                        <a:latin typeface="Cambria Math" panose="02040503050406030204" pitchFamily="18" charset="0"/>
                        <a:ea typeface="Cambria Math" panose="02040503050406030204" pitchFamily="18" charset="0"/>
                      </a:rPr>
                      <m:t>=</m:t>
                    </m:r>
                    <m:r>
                      <m:rPr>
                        <m:sty m:val="p"/>
                      </m:rPr>
                      <a:rPr lang="es-ES" sz="2800" i="0">
                        <a:latin typeface="Cambria Math" panose="02040503050406030204" pitchFamily="18" charset="0"/>
                        <a:ea typeface="Cambria Math" panose="02040503050406030204" pitchFamily="18" charset="0"/>
                      </a:rPr>
                      <m:t>PrivatKey</m:t>
                    </m:r>
                    <m:r>
                      <a:rPr lang="es-ES" sz="2800" i="0">
                        <a:latin typeface="Cambria Math" panose="02040503050406030204" pitchFamily="18" charset="0"/>
                        <a:ea typeface="Cambria Math" panose="02040503050406030204" pitchFamily="18" charset="0"/>
                      </a:rPr>
                      <m:t>∗</m:t>
                    </m:r>
                    <m:r>
                      <m:rPr>
                        <m:sty m:val="p"/>
                      </m:rPr>
                      <a:rPr lang="es-ES" sz="2800" i="0">
                        <a:latin typeface="Cambria Math" panose="02040503050406030204" pitchFamily="18" charset="0"/>
                        <a:ea typeface="Cambria Math" panose="02040503050406030204" pitchFamily="18" charset="0"/>
                      </a:rPr>
                      <m:t>G</m:t>
                    </m:r>
                    <m:r>
                      <a:rPr lang="es-ES" sz="2800" i="0">
                        <a:latin typeface="Cambria Math" panose="02040503050406030204" pitchFamily="18" charset="0"/>
                        <a:ea typeface="Cambria Math" panose="02040503050406030204" pitchFamily="18" charset="0"/>
                      </a:rPr>
                      <m:t> </m:t>
                    </m:r>
                  </m:oMath>
                </a14:m>
                <a:r>
                  <a:rPr lang="en-US" sz="2436" b="1" dirty="0">
                    <a:solidFill>
                      <a:srgbClr val="1A1A1A"/>
                    </a:solidFill>
                    <a:latin typeface="Aptos (Cuerpo)"/>
                  </a:rPr>
                  <a:t>:</a:t>
                </a:r>
                <a:endParaRPr lang="en-US" sz="2436" dirty="0">
                  <a:latin typeface="Aptos (Cuerpo)"/>
                </a:endParaRPr>
              </a:p>
            </p:txBody>
          </p:sp>
        </mc:Choice>
        <mc:Fallback xmlns="">
          <p:sp>
            <p:nvSpPr>
              <p:cNvPr id="3" name="Text 0">
                <a:extLst>
                  <a:ext uri="{FF2B5EF4-FFF2-40B4-BE49-F238E27FC236}">
                    <a16:creationId xmlns:a16="http://schemas.microsoft.com/office/drawing/2014/main" id="{EC2FE79C-0651-41F5-EA4F-31EB39F1F16B}"/>
                  </a:ext>
                </a:extLst>
              </p:cNvPr>
              <p:cNvSpPr>
                <a:spLocks noRot="1" noChangeAspect="1" noMove="1" noResize="1" noEditPoints="1" noAdjustHandles="1" noChangeArrowheads="1" noChangeShapeType="1" noTextEdit="1"/>
              </p:cNvSpPr>
              <p:nvPr/>
            </p:nvSpPr>
            <p:spPr>
              <a:xfrm>
                <a:off x="571500" y="428625"/>
                <a:ext cx="4239943" cy="410369"/>
              </a:xfrm>
              <a:prstGeom prst="rect">
                <a:avLst/>
              </a:prstGeom>
              <a:blipFill>
                <a:blip r:embed="rId3"/>
                <a:stretch>
                  <a:fillRect t="-13235" r="-3597" b="-44118"/>
                </a:stretch>
              </a:blipFill>
              <a:ln/>
            </p:spPr>
            <p:txBody>
              <a:bodyPr/>
              <a:lstStyle/>
              <a:p>
                <a:r>
                  <a:rPr lang="es-ES">
                    <a:noFill/>
                  </a:rPr>
                  <a:t> </a:t>
                </a:r>
              </a:p>
            </p:txBody>
          </p:sp>
        </mc:Fallback>
      </mc:AlternateContent>
      <p:sp>
        <p:nvSpPr>
          <p:cNvPr id="32" name="Marcador de número de diapositiva 31">
            <a:extLst>
              <a:ext uri="{FF2B5EF4-FFF2-40B4-BE49-F238E27FC236}">
                <a16:creationId xmlns:a16="http://schemas.microsoft.com/office/drawing/2014/main" id="{45E74011-A2F2-3A38-A1AC-52F92ACD84F4}"/>
              </a:ext>
            </a:extLst>
          </p:cNvPr>
          <p:cNvSpPr>
            <a:spLocks noGrp="1"/>
          </p:cNvSpPr>
          <p:nvPr>
            <p:ph type="sldNum" sz="quarter" idx="12"/>
          </p:nvPr>
        </p:nvSpPr>
        <p:spPr/>
        <p:txBody>
          <a:bodyPr/>
          <a:lstStyle/>
          <a:p>
            <a:fld id="{621D377E-C6E5-404B-8AA2-3999D49F21B5}" type="slidenum">
              <a:rPr lang="es-ES" smtClean="0"/>
              <a:t>15</a:t>
            </a:fld>
            <a:endParaRPr lang="es-ES"/>
          </a:p>
        </p:txBody>
      </p:sp>
      <p:pic>
        <p:nvPicPr>
          <p:cNvPr id="72" name="Imagen 71">
            <a:extLst>
              <a:ext uri="{FF2B5EF4-FFF2-40B4-BE49-F238E27FC236}">
                <a16:creationId xmlns:a16="http://schemas.microsoft.com/office/drawing/2014/main" id="{86DB9D91-F306-A6AA-3F00-4C65110E5776}"/>
              </a:ext>
            </a:extLst>
          </p:cNvPr>
          <p:cNvPicPr>
            <a:picLocks noChangeAspect="1"/>
          </p:cNvPicPr>
          <p:nvPr/>
        </p:nvPicPr>
        <p:blipFill>
          <a:blip r:embed="rId4"/>
          <a:srcRect b="561"/>
          <a:stretch>
            <a:fillRect/>
          </a:stretch>
        </p:blipFill>
        <p:spPr>
          <a:xfrm>
            <a:off x="5115244" y="101600"/>
            <a:ext cx="3102339" cy="4952287"/>
          </a:xfrm>
          <a:prstGeom prst="rect">
            <a:avLst/>
          </a:prstGeom>
        </p:spPr>
      </p:pic>
      <mc:AlternateContent xmlns:mc="http://schemas.openxmlformats.org/markup-compatibility/2006">
        <mc:Choice xmlns:a14="http://schemas.microsoft.com/office/drawing/2010/main" Requires="a14">
          <p:sp>
            <p:nvSpPr>
              <p:cNvPr id="2" name="Text 4">
                <a:extLst>
                  <a:ext uri="{FF2B5EF4-FFF2-40B4-BE49-F238E27FC236}">
                    <a16:creationId xmlns:a16="http://schemas.microsoft.com/office/drawing/2014/main" id="{C6661426-1909-1B65-FB61-BAE9FF444B4F}"/>
                  </a:ext>
                </a:extLst>
              </p:cNvPr>
              <p:cNvSpPr/>
              <p:nvPr/>
            </p:nvSpPr>
            <p:spPr>
              <a:xfrm>
                <a:off x="307596" y="1093939"/>
                <a:ext cx="5118514" cy="2215991"/>
              </a:xfrm>
              <a:prstGeom prst="rect">
                <a:avLst/>
              </a:prstGeom>
              <a:noFill/>
              <a:ln/>
            </p:spPr>
            <p:txBody>
              <a:bodyPr wrap="square" lIns="0" tIns="0" rIns="0" bIns="0" rtlCol="0" anchor="t">
                <a:spAutoFit/>
              </a:bodyPr>
              <a:lstStyle/>
              <a:p>
                <a:r>
                  <a:rPr lang="en-US" dirty="0">
                    <a:solidFill>
                      <a:srgbClr val="1A1A1A"/>
                    </a:solidFill>
                  </a:rPr>
                  <a:t>Given some example parameters:</a:t>
                </a:r>
              </a:p>
              <a:p>
                <a:r>
                  <a:rPr lang="en-US" dirty="0">
                    <a:solidFill>
                      <a:srgbClr val="1A1A1A"/>
                    </a:solidFill>
                  </a:rPr>
                  <a:t>- Curve </a:t>
                </a:r>
                <a14:m>
                  <m:oMath xmlns:m="http://schemas.openxmlformats.org/officeDocument/2006/math">
                    <m:sSup>
                      <m:sSupPr>
                        <m:ctrlPr>
                          <a:rPr lang="es-ES" i="1">
                            <a:latin typeface="Cambria Math" panose="02040503050406030204" pitchFamily="18" charset="0"/>
                          </a:rPr>
                        </m:ctrlPr>
                      </m:sSupPr>
                      <m:e>
                        <m:r>
                          <a:rPr lang="es-ES" i="1">
                            <a:latin typeface="Cambria Math" panose="02040503050406030204" pitchFamily="18" charset="0"/>
                          </a:rPr>
                          <m:t>𝑦</m:t>
                        </m:r>
                      </m:e>
                      <m:sup>
                        <m:r>
                          <a:rPr lang="es-ES">
                            <a:latin typeface="Cambria Math" panose="02040503050406030204" pitchFamily="18" charset="0"/>
                          </a:rPr>
                          <m:t>2</m:t>
                        </m:r>
                      </m:sup>
                    </m:sSup>
                    <m:r>
                      <a:rPr lang="es-ES">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𝑥</m:t>
                        </m:r>
                      </m:e>
                      <m:sup>
                        <m:r>
                          <a:rPr lang="es-ES">
                            <a:latin typeface="Cambria Math" panose="02040503050406030204" pitchFamily="18" charset="0"/>
                          </a:rPr>
                          <m:t>3</m:t>
                        </m:r>
                      </m:sup>
                    </m:sSup>
                    <m:r>
                      <a:rPr lang="es-ES">
                        <a:latin typeface="Cambria Math" panose="02040503050406030204" pitchFamily="18" charset="0"/>
                      </a:rPr>
                      <m:t>+</m:t>
                    </m:r>
                    <m:r>
                      <a:rPr lang="es-ES">
                        <a:latin typeface="Cambria Math" panose="02040503050406030204" pitchFamily="18" charset="0"/>
                      </a:rPr>
                      <m:t>7</m:t>
                    </m:r>
                  </m:oMath>
                </a14:m>
                <a:endParaRPr lang="en-US" dirty="0">
                  <a:solidFill>
                    <a:srgbClr val="1A1A1A"/>
                  </a:solidFill>
                </a:endParaRPr>
              </a:p>
              <a:p>
                <a:pPr marL="171450" indent="-171450">
                  <a:buFontTx/>
                  <a:buChar char="-"/>
                </a:pPr>
                <a:r>
                  <a:rPr lang="en-US" dirty="0">
                    <a:solidFill>
                      <a:srgbClr val="1A1A1A"/>
                    </a:solidFill>
                  </a:rPr>
                  <a:t>A(privateKey) = (10,31.5119025132)</a:t>
                </a:r>
              </a:p>
              <a:p>
                <a:pPr marL="171450" indent="-171450">
                  <a:buFontTx/>
                  <a:buChar char="-"/>
                </a:pPr>
                <a:r>
                  <a:rPr lang="en-US" dirty="0">
                    <a:solidFill>
                      <a:srgbClr val="1A1A1A"/>
                    </a:solidFill>
                  </a:rPr>
                  <a:t>B(G)=(7,18.3303027798)</a:t>
                </a:r>
              </a:p>
              <a:p>
                <a:endParaRPr lang="en-US" dirty="0">
                  <a:solidFill>
                    <a:srgbClr val="1A1A1A"/>
                  </a:solidFill>
                </a:endParaRPr>
              </a:p>
              <a:p>
                <a:r>
                  <a:rPr lang="en-US" dirty="0">
                    <a:solidFill>
                      <a:srgbClr val="1A1A1A"/>
                    </a:solidFill>
                  </a:rPr>
                  <a:t>You need to calculate: C = A+B</a:t>
                </a:r>
              </a:p>
              <a:p>
                <a:pPr marL="171450" indent="-171450">
                  <a:buFontTx/>
                  <a:buChar char="-"/>
                </a:pPr>
                <a:r>
                  <a:rPr lang="en-US" dirty="0">
                    <a:solidFill>
                      <a:srgbClr val="1A1A1A"/>
                    </a:solidFill>
                  </a:rPr>
                  <a:t>I=(2.3060635033855,-2.29422791099)</a:t>
                </a:r>
              </a:p>
              <a:p>
                <a:pPr marL="171450" indent="-171450">
                  <a:buFontTx/>
                  <a:buChar char="-"/>
                </a:pPr>
                <a:r>
                  <a:rPr lang="en-US" dirty="0">
                    <a:solidFill>
                      <a:srgbClr val="1A1A1A"/>
                    </a:solidFill>
                  </a:rPr>
                  <a:t>C(</a:t>
                </a:r>
                <a:r>
                  <a:rPr lang="en-US" dirty="0" err="1">
                    <a:solidFill>
                      <a:srgbClr val="1A1A1A"/>
                    </a:solidFill>
                  </a:rPr>
                  <a:t>publicKey</a:t>
                </a:r>
                <a:r>
                  <a:rPr lang="en-US" dirty="0">
                    <a:solidFill>
                      <a:srgbClr val="1A1A1A"/>
                    </a:solidFill>
                  </a:rPr>
                  <a:t>)=(2.3060635033855,2.29422791099)</a:t>
                </a:r>
              </a:p>
            </p:txBody>
          </p:sp>
        </mc:Choice>
        <mc:Fallback>
          <p:sp>
            <p:nvSpPr>
              <p:cNvPr id="2" name="Text 4">
                <a:extLst>
                  <a:ext uri="{FF2B5EF4-FFF2-40B4-BE49-F238E27FC236}">
                    <a16:creationId xmlns:a16="http://schemas.microsoft.com/office/drawing/2014/main" id="{C6661426-1909-1B65-FB61-BAE9FF444B4F}"/>
                  </a:ext>
                </a:extLst>
              </p:cNvPr>
              <p:cNvSpPr>
                <a:spLocks noRot="1" noChangeAspect="1" noMove="1" noResize="1" noEditPoints="1" noAdjustHandles="1" noChangeArrowheads="1" noChangeShapeType="1" noTextEdit="1"/>
              </p:cNvSpPr>
              <p:nvPr/>
            </p:nvSpPr>
            <p:spPr>
              <a:xfrm>
                <a:off x="307596" y="1093939"/>
                <a:ext cx="5118514" cy="2215991"/>
              </a:xfrm>
              <a:prstGeom prst="rect">
                <a:avLst/>
              </a:prstGeom>
              <a:blipFill>
                <a:blip r:embed="rId5"/>
                <a:stretch>
                  <a:fillRect l="-2857" t="-3297" r="-1786" b="-5769"/>
                </a:stretch>
              </a:blipFill>
              <a:ln/>
            </p:spPr>
            <p:txBody>
              <a:bodyPr/>
              <a:lstStyle/>
              <a:p>
                <a:r>
                  <a:rPr lang="es-ES">
                    <a:noFill/>
                  </a:rPr>
                  <a:t> </a:t>
                </a:r>
              </a:p>
            </p:txBody>
          </p:sp>
        </mc:Fallback>
      </mc:AlternateContent>
    </p:spTree>
    <p:extLst>
      <p:ext uri="{BB962C8B-B14F-4D97-AF65-F5344CB8AC3E}">
        <p14:creationId xmlns:p14="http://schemas.microsoft.com/office/powerpoint/2010/main" val="263307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rPr>
              <a:t>Blockchain in the Real World</a:t>
            </a:r>
            <a:endParaRPr lang="en-US" sz="2436" dirty="0"/>
          </a:p>
        </p:txBody>
      </p:sp>
      <p:sp>
        <p:nvSpPr>
          <p:cNvPr id="4" name="Text 1"/>
          <p:cNvSpPr/>
          <p:nvPr/>
        </p:nvSpPr>
        <p:spPr>
          <a:xfrm>
            <a:off x="571500" y="966192"/>
            <a:ext cx="3515386" cy="165173"/>
          </a:xfrm>
          <a:prstGeom prst="rect">
            <a:avLst/>
          </a:prstGeom>
          <a:noFill/>
          <a:ln/>
        </p:spPr>
        <p:txBody>
          <a:bodyPr wrap="none" lIns="0" tIns="0" rIns="0" bIns="0" rtlCol="0" anchor="t">
            <a:spAutoFit/>
          </a:bodyPr>
          <a:lstStyle/>
          <a:p>
            <a:pPr marL="0" indent="0" algn="l">
              <a:lnSpc>
                <a:spcPts val="1200"/>
              </a:lnSpc>
              <a:buNone/>
            </a:pPr>
            <a:r>
              <a:rPr lang="en-US" sz="1400" dirty="0">
                <a:solidFill>
                  <a:srgbClr val="333333"/>
                </a:solidFill>
              </a:rPr>
              <a:t>Practical applications transforming industries</a:t>
            </a:r>
            <a:endParaRPr lang="en-US" sz="1400" dirty="0"/>
          </a:p>
        </p:txBody>
      </p:sp>
      <p:sp>
        <p:nvSpPr>
          <p:cNvPr id="6" name="Shape 3"/>
          <p:cNvSpPr/>
          <p:nvPr/>
        </p:nvSpPr>
        <p:spPr>
          <a:xfrm>
            <a:off x="579718" y="1280419"/>
            <a:ext cx="28575" cy="1774106"/>
          </a:xfrm>
          <a:prstGeom prst="rect">
            <a:avLst/>
          </a:prstGeom>
          <a:solidFill>
            <a:srgbClr val="0055FF"/>
          </a:solidFill>
          <a:ln/>
        </p:spPr>
        <p:txBody>
          <a:bodyPr/>
          <a:lstStyle/>
          <a:p>
            <a:endParaRPr lang="es-ES" sz="1200"/>
          </a:p>
        </p:txBody>
      </p:sp>
      <p:sp>
        <p:nvSpPr>
          <p:cNvPr id="7" name="Shape 4"/>
          <p:cNvSpPr/>
          <p:nvPr/>
        </p:nvSpPr>
        <p:spPr>
          <a:xfrm>
            <a:off x="700088" y="1341180"/>
            <a:ext cx="357188" cy="357188"/>
          </a:xfrm>
          <a:prstGeom prst="ellipse">
            <a:avLst/>
          </a:prstGeom>
          <a:solidFill>
            <a:srgbClr val="0055FF"/>
          </a:solidFill>
          <a:ln/>
        </p:spPr>
        <p:txBody>
          <a:bodyPr/>
          <a:lstStyle/>
          <a:p>
            <a:endParaRPr lang="es-ES" sz="1200"/>
          </a:p>
        </p:txBody>
      </p:sp>
      <p:sp>
        <p:nvSpPr>
          <p:cNvPr id="8" name="Text 5"/>
          <p:cNvSpPr/>
          <p:nvPr/>
        </p:nvSpPr>
        <p:spPr>
          <a:xfrm>
            <a:off x="700088" y="1427440"/>
            <a:ext cx="357188" cy="184666"/>
          </a:xfrm>
          <a:prstGeom prst="rect">
            <a:avLst/>
          </a:prstGeom>
          <a:noFill/>
          <a:ln/>
        </p:spPr>
        <p:txBody>
          <a:bodyPr wrap="square" lIns="0" tIns="0" rIns="0" bIns="0" rtlCol="0" anchor="ctr">
            <a:spAutoFit/>
          </a:bodyPr>
          <a:lstStyle/>
          <a:p>
            <a:pPr marL="0" indent="0" algn="ctr">
              <a:buNone/>
            </a:pPr>
            <a:r>
              <a:rPr lang="en-US" sz="1200" b="1" dirty="0">
                <a:solidFill>
                  <a:srgbClr val="FFFFFF"/>
                </a:solidFill>
              </a:rPr>
              <a:t>📦</a:t>
            </a:r>
            <a:endParaRPr lang="en-US" sz="1200" dirty="0"/>
          </a:p>
        </p:txBody>
      </p:sp>
      <p:sp>
        <p:nvSpPr>
          <p:cNvPr id="9" name="Text 6"/>
          <p:cNvSpPr/>
          <p:nvPr/>
        </p:nvSpPr>
        <p:spPr>
          <a:xfrm>
            <a:off x="700088" y="1805523"/>
            <a:ext cx="1901354" cy="184666"/>
          </a:xfrm>
          <a:prstGeom prst="rect">
            <a:avLst/>
          </a:prstGeom>
          <a:noFill/>
          <a:ln/>
        </p:spPr>
        <p:txBody>
          <a:bodyPr wrap="none" lIns="0" tIns="0" rIns="0" bIns="0" rtlCol="0" anchor="t">
            <a:spAutoFit/>
          </a:bodyPr>
          <a:lstStyle/>
          <a:p>
            <a:pPr marL="0" indent="0" algn="l">
              <a:buNone/>
            </a:pPr>
            <a:r>
              <a:rPr lang="en-US" sz="1200" b="1" dirty="0">
                <a:solidFill>
                  <a:srgbClr val="1A1A1A"/>
                </a:solidFill>
              </a:rPr>
              <a:t>Supply Chain Transparency</a:t>
            </a:r>
            <a:endParaRPr lang="en-US" sz="1200" dirty="0"/>
          </a:p>
        </p:txBody>
      </p:sp>
      <p:sp>
        <p:nvSpPr>
          <p:cNvPr id="10" name="Text 7"/>
          <p:cNvSpPr/>
          <p:nvPr/>
        </p:nvSpPr>
        <p:spPr>
          <a:xfrm>
            <a:off x="700088" y="2068056"/>
            <a:ext cx="2552690" cy="369332"/>
          </a:xfrm>
          <a:prstGeom prst="rect">
            <a:avLst/>
          </a:prstGeom>
          <a:noFill/>
          <a:ln/>
        </p:spPr>
        <p:txBody>
          <a:bodyPr wrap="square" lIns="0" tIns="0" rIns="0" bIns="0" rtlCol="0" anchor="t">
            <a:spAutoFit/>
          </a:bodyPr>
          <a:lstStyle/>
          <a:p>
            <a:pPr marL="0" indent="0" algn="l">
              <a:buNone/>
            </a:pPr>
            <a:r>
              <a:rPr lang="en-US" sz="1200" dirty="0">
                <a:solidFill>
                  <a:srgbClr val="333333"/>
                </a:solidFill>
              </a:rPr>
              <a:t>Track products from origin to consumer with immutable records.</a:t>
            </a:r>
            <a:endParaRPr lang="en-US" sz="1200" dirty="0"/>
          </a:p>
        </p:txBody>
      </p:sp>
      <p:sp>
        <p:nvSpPr>
          <p:cNvPr id="11" name="Text 8"/>
          <p:cNvSpPr/>
          <p:nvPr/>
        </p:nvSpPr>
        <p:spPr>
          <a:xfrm>
            <a:off x="695926" y="2507144"/>
            <a:ext cx="2552689" cy="553998"/>
          </a:xfrm>
          <a:prstGeom prst="rect">
            <a:avLst/>
          </a:prstGeom>
          <a:noFill/>
          <a:ln/>
        </p:spPr>
        <p:txBody>
          <a:bodyPr wrap="square" lIns="0" tIns="0" rIns="0" bIns="0" rtlCol="0" anchor="t">
            <a:spAutoFit/>
          </a:bodyPr>
          <a:lstStyle/>
          <a:p>
            <a:pPr marL="0" indent="0" algn="l">
              <a:buNone/>
            </a:pPr>
            <a:r>
              <a:rPr lang="en-US" sz="1200" dirty="0">
                <a:solidFill>
                  <a:srgbClr val="333333"/>
                </a:solidFill>
              </a:rPr>
              <a:t>Verify authenticity and prevent counterfeits</a:t>
            </a:r>
          </a:p>
          <a:p>
            <a:r>
              <a:rPr lang="en-US" sz="1200" dirty="0">
                <a:solidFill>
                  <a:srgbClr val="333333"/>
                </a:solidFill>
              </a:rPr>
              <a:t>Reduce fraud and improve efficiency</a:t>
            </a:r>
            <a:endParaRPr lang="en-US" sz="1200" dirty="0"/>
          </a:p>
        </p:txBody>
      </p:sp>
      <p:sp>
        <p:nvSpPr>
          <p:cNvPr id="12" name="Text 9"/>
          <p:cNvSpPr/>
          <p:nvPr/>
        </p:nvSpPr>
        <p:spPr>
          <a:xfrm>
            <a:off x="785813" y="2729523"/>
            <a:ext cx="65" cy="184666"/>
          </a:xfrm>
          <a:prstGeom prst="rect">
            <a:avLst/>
          </a:prstGeom>
          <a:noFill/>
          <a:ln/>
        </p:spPr>
        <p:txBody>
          <a:bodyPr wrap="none" lIns="0" tIns="0" rIns="0" bIns="0" rtlCol="0" anchor="t">
            <a:spAutoFit/>
          </a:bodyPr>
          <a:lstStyle/>
          <a:p>
            <a:pPr marL="0" indent="0" algn="l">
              <a:buNone/>
            </a:pPr>
            <a:endParaRPr lang="en-US" sz="1200" dirty="0"/>
          </a:p>
        </p:txBody>
      </p:sp>
      <p:sp>
        <p:nvSpPr>
          <p:cNvPr id="14" name="Shape 11"/>
          <p:cNvSpPr/>
          <p:nvPr/>
        </p:nvSpPr>
        <p:spPr>
          <a:xfrm>
            <a:off x="3318146" y="1280419"/>
            <a:ext cx="28575" cy="1774106"/>
          </a:xfrm>
          <a:prstGeom prst="rect">
            <a:avLst/>
          </a:prstGeom>
          <a:solidFill>
            <a:srgbClr val="0055FF"/>
          </a:solidFill>
          <a:ln/>
        </p:spPr>
        <p:txBody>
          <a:bodyPr/>
          <a:lstStyle/>
          <a:p>
            <a:endParaRPr lang="es-ES" sz="1200"/>
          </a:p>
        </p:txBody>
      </p:sp>
      <p:sp>
        <p:nvSpPr>
          <p:cNvPr id="15" name="Shape 12"/>
          <p:cNvSpPr/>
          <p:nvPr/>
        </p:nvSpPr>
        <p:spPr>
          <a:xfrm>
            <a:off x="3438516" y="1341180"/>
            <a:ext cx="357188" cy="357188"/>
          </a:xfrm>
          <a:prstGeom prst="ellipse">
            <a:avLst/>
          </a:prstGeom>
          <a:solidFill>
            <a:srgbClr val="0055FF"/>
          </a:solidFill>
          <a:ln/>
        </p:spPr>
        <p:txBody>
          <a:bodyPr/>
          <a:lstStyle/>
          <a:p>
            <a:endParaRPr lang="es-ES" sz="1200"/>
          </a:p>
        </p:txBody>
      </p:sp>
      <p:sp>
        <p:nvSpPr>
          <p:cNvPr id="16" name="Text 13"/>
          <p:cNvSpPr/>
          <p:nvPr/>
        </p:nvSpPr>
        <p:spPr>
          <a:xfrm>
            <a:off x="3438516" y="1427440"/>
            <a:ext cx="357188" cy="184666"/>
          </a:xfrm>
          <a:prstGeom prst="rect">
            <a:avLst/>
          </a:prstGeom>
          <a:noFill/>
          <a:ln/>
        </p:spPr>
        <p:txBody>
          <a:bodyPr wrap="square" lIns="0" tIns="0" rIns="0" bIns="0" rtlCol="0" anchor="ctr">
            <a:spAutoFit/>
          </a:bodyPr>
          <a:lstStyle/>
          <a:p>
            <a:pPr marL="0" indent="0" algn="ctr">
              <a:buNone/>
            </a:pPr>
            <a:r>
              <a:rPr lang="en-US" sz="1200" b="1" dirty="0">
                <a:solidFill>
                  <a:srgbClr val="FFFFFF"/>
                </a:solidFill>
              </a:rPr>
              <a:t>💰</a:t>
            </a:r>
            <a:endParaRPr lang="en-US" sz="1200" dirty="0"/>
          </a:p>
        </p:txBody>
      </p:sp>
      <p:sp>
        <p:nvSpPr>
          <p:cNvPr id="17" name="Text 14"/>
          <p:cNvSpPr/>
          <p:nvPr/>
        </p:nvSpPr>
        <p:spPr>
          <a:xfrm>
            <a:off x="3438516" y="1805523"/>
            <a:ext cx="1279068" cy="184666"/>
          </a:xfrm>
          <a:prstGeom prst="rect">
            <a:avLst/>
          </a:prstGeom>
          <a:noFill/>
          <a:ln/>
        </p:spPr>
        <p:txBody>
          <a:bodyPr wrap="none" lIns="0" tIns="0" rIns="0" bIns="0" rtlCol="0" anchor="t">
            <a:spAutoFit/>
          </a:bodyPr>
          <a:lstStyle/>
          <a:p>
            <a:pPr marL="0" indent="0" algn="l">
              <a:buNone/>
            </a:pPr>
            <a:r>
              <a:rPr lang="en-US" sz="1200" b="1" dirty="0">
                <a:solidFill>
                  <a:srgbClr val="1A1A1A"/>
                </a:solidFill>
              </a:rPr>
              <a:t>Financial Services</a:t>
            </a:r>
            <a:endParaRPr lang="en-US" sz="1200" dirty="0"/>
          </a:p>
        </p:txBody>
      </p:sp>
      <p:sp>
        <p:nvSpPr>
          <p:cNvPr id="18" name="Text 15"/>
          <p:cNvSpPr/>
          <p:nvPr/>
        </p:nvSpPr>
        <p:spPr>
          <a:xfrm>
            <a:off x="3438515" y="2068056"/>
            <a:ext cx="2699793" cy="369332"/>
          </a:xfrm>
          <a:prstGeom prst="rect">
            <a:avLst/>
          </a:prstGeom>
          <a:noFill/>
          <a:ln/>
        </p:spPr>
        <p:txBody>
          <a:bodyPr wrap="square" lIns="0" tIns="0" rIns="0" bIns="0" rtlCol="0" anchor="t">
            <a:spAutoFit/>
          </a:bodyPr>
          <a:lstStyle/>
          <a:p>
            <a:pPr marL="0" indent="0" algn="l">
              <a:buNone/>
            </a:pPr>
            <a:r>
              <a:rPr lang="en-US" sz="1200" dirty="0">
                <a:solidFill>
                  <a:srgbClr val="333333"/>
                </a:solidFill>
              </a:rPr>
              <a:t>Enable instant settlements and cross-border payments without intermediaries.</a:t>
            </a:r>
            <a:endParaRPr lang="en-US" sz="1200" dirty="0"/>
          </a:p>
        </p:txBody>
      </p:sp>
      <p:sp>
        <p:nvSpPr>
          <p:cNvPr id="19" name="Text 16"/>
          <p:cNvSpPr/>
          <p:nvPr/>
        </p:nvSpPr>
        <p:spPr>
          <a:xfrm>
            <a:off x="3434353" y="2507144"/>
            <a:ext cx="2693632" cy="553998"/>
          </a:xfrm>
          <a:prstGeom prst="rect">
            <a:avLst/>
          </a:prstGeom>
          <a:noFill/>
          <a:ln/>
        </p:spPr>
        <p:txBody>
          <a:bodyPr wrap="square" lIns="0" tIns="0" rIns="0" bIns="0" rtlCol="0" anchor="t">
            <a:spAutoFit/>
          </a:bodyPr>
          <a:lstStyle/>
          <a:p>
            <a:pPr marL="0" indent="0" algn="l">
              <a:buNone/>
            </a:pPr>
            <a:r>
              <a:rPr lang="en-US" sz="1200" dirty="0">
                <a:solidFill>
                  <a:srgbClr val="333333"/>
                </a:solidFill>
              </a:rPr>
              <a:t>Lower transaction costs</a:t>
            </a:r>
          </a:p>
          <a:p>
            <a:pPr marL="0" indent="0" algn="l">
              <a:buNone/>
            </a:pPr>
            <a:r>
              <a:rPr lang="en-US" sz="1200" dirty="0">
                <a:solidFill>
                  <a:srgbClr val="333333"/>
                </a:solidFill>
              </a:rPr>
              <a:t>Financial inclusion for unbanked populations</a:t>
            </a:r>
            <a:endParaRPr lang="en-US" sz="1200" dirty="0"/>
          </a:p>
        </p:txBody>
      </p:sp>
      <p:sp>
        <p:nvSpPr>
          <p:cNvPr id="20" name="Text 17"/>
          <p:cNvSpPr/>
          <p:nvPr/>
        </p:nvSpPr>
        <p:spPr>
          <a:xfrm>
            <a:off x="3524241" y="2729523"/>
            <a:ext cx="65" cy="184666"/>
          </a:xfrm>
          <a:prstGeom prst="rect">
            <a:avLst/>
          </a:prstGeom>
          <a:noFill/>
          <a:ln/>
        </p:spPr>
        <p:txBody>
          <a:bodyPr wrap="none" lIns="0" tIns="0" rIns="0" bIns="0" rtlCol="0" anchor="t">
            <a:spAutoFit/>
          </a:bodyPr>
          <a:lstStyle/>
          <a:p>
            <a:pPr marL="0" indent="0" algn="l">
              <a:buNone/>
            </a:pPr>
            <a:endParaRPr lang="en-US" sz="1200" dirty="0"/>
          </a:p>
        </p:txBody>
      </p:sp>
      <p:sp>
        <p:nvSpPr>
          <p:cNvPr id="22" name="Shape 19"/>
          <p:cNvSpPr/>
          <p:nvPr/>
        </p:nvSpPr>
        <p:spPr>
          <a:xfrm>
            <a:off x="6203876" y="1304684"/>
            <a:ext cx="28575" cy="1774106"/>
          </a:xfrm>
          <a:prstGeom prst="rect">
            <a:avLst/>
          </a:prstGeom>
          <a:solidFill>
            <a:srgbClr val="0055FF"/>
          </a:solidFill>
          <a:ln/>
        </p:spPr>
        <p:txBody>
          <a:bodyPr/>
          <a:lstStyle/>
          <a:p>
            <a:endParaRPr lang="es-ES" sz="1200"/>
          </a:p>
        </p:txBody>
      </p:sp>
      <p:sp>
        <p:nvSpPr>
          <p:cNvPr id="23" name="Shape 20"/>
          <p:cNvSpPr/>
          <p:nvPr/>
        </p:nvSpPr>
        <p:spPr>
          <a:xfrm>
            <a:off x="6324246" y="1365445"/>
            <a:ext cx="357188" cy="357188"/>
          </a:xfrm>
          <a:prstGeom prst="ellipse">
            <a:avLst/>
          </a:prstGeom>
          <a:solidFill>
            <a:srgbClr val="0055FF"/>
          </a:solidFill>
          <a:ln/>
        </p:spPr>
        <p:txBody>
          <a:bodyPr/>
          <a:lstStyle/>
          <a:p>
            <a:endParaRPr lang="es-ES" sz="1200"/>
          </a:p>
        </p:txBody>
      </p:sp>
      <p:sp>
        <p:nvSpPr>
          <p:cNvPr id="24" name="Text 21"/>
          <p:cNvSpPr/>
          <p:nvPr/>
        </p:nvSpPr>
        <p:spPr>
          <a:xfrm>
            <a:off x="6324246" y="1451705"/>
            <a:ext cx="357188" cy="184666"/>
          </a:xfrm>
          <a:prstGeom prst="rect">
            <a:avLst/>
          </a:prstGeom>
          <a:noFill/>
          <a:ln/>
        </p:spPr>
        <p:txBody>
          <a:bodyPr wrap="square" lIns="0" tIns="0" rIns="0" bIns="0" rtlCol="0" anchor="ctr">
            <a:spAutoFit/>
          </a:bodyPr>
          <a:lstStyle/>
          <a:p>
            <a:pPr marL="0" indent="0" algn="ctr">
              <a:buNone/>
            </a:pPr>
            <a:r>
              <a:rPr lang="en-US" sz="1200" b="1" dirty="0">
                <a:solidFill>
                  <a:srgbClr val="FFFFFF"/>
                </a:solidFill>
              </a:rPr>
              <a:t>🆔</a:t>
            </a:r>
            <a:endParaRPr lang="en-US" sz="1200" dirty="0"/>
          </a:p>
        </p:txBody>
      </p:sp>
      <p:sp>
        <p:nvSpPr>
          <p:cNvPr id="25" name="Text 22"/>
          <p:cNvSpPr/>
          <p:nvPr/>
        </p:nvSpPr>
        <p:spPr>
          <a:xfrm>
            <a:off x="6324246" y="1829788"/>
            <a:ext cx="1022716" cy="184666"/>
          </a:xfrm>
          <a:prstGeom prst="rect">
            <a:avLst/>
          </a:prstGeom>
          <a:noFill/>
          <a:ln/>
        </p:spPr>
        <p:txBody>
          <a:bodyPr wrap="none" lIns="0" tIns="0" rIns="0" bIns="0" rtlCol="0" anchor="t">
            <a:spAutoFit/>
          </a:bodyPr>
          <a:lstStyle/>
          <a:p>
            <a:pPr marL="0" indent="0" algn="l">
              <a:buNone/>
            </a:pPr>
            <a:r>
              <a:rPr lang="en-US" sz="1200" b="1" dirty="0">
                <a:solidFill>
                  <a:srgbClr val="1A1A1A"/>
                </a:solidFill>
              </a:rPr>
              <a:t>Digital Identity</a:t>
            </a:r>
            <a:endParaRPr lang="en-US" sz="1200" dirty="0"/>
          </a:p>
        </p:txBody>
      </p:sp>
      <p:sp>
        <p:nvSpPr>
          <p:cNvPr id="26" name="Text 23"/>
          <p:cNvSpPr/>
          <p:nvPr/>
        </p:nvSpPr>
        <p:spPr>
          <a:xfrm>
            <a:off x="6324246" y="2092321"/>
            <a:ext cx="2266969" cy="369332"/>
          </a:xfrm>
          <a:prstGeom prst="rect">
            <a:avLst/>
          </a:prstGeom>
          <a:noFill/>
          <a:ln/>
        </p:spPr>
        <p:txBody>
          <a:bodyPr wrap="square" lIns="0" tIns="0" rIns="0" bIns="0" rtlCol="0" anchor="t">
            <a:spAutoFit/>
          </a:bodyPr>
          <a:lstStyle/>
          <a:p>
            <a:pPr marL="0" indent="0" algn="l">
              <a:buNone/>
            </a:pPr>
            <a:r>
              <a:rPr lang="en-US" sz="1200" dirty="0">
                <a:solidFill>
                  <a:srgbClr val="333333"/>
                </a:solidFill>
              </a:rPr>
              <a:t>Self-sovereign identity controlled by individuals, not institutions.</a:t>
            </a:r>
            <a:endParaRPr lang="en-US" sz="1200" dirty="0"/>
          </a:p>
        </p:txBody>
      </p:sp>
      <p:sp>
        <p:nvSpPr>
          <p:cNvPr id="27" name="Text 24"/>
          <p:cNvSpPr/>
          <p:nvPr/>
        </p:nvSpPr>
        <p:spPr>
          <a:xfrm>
            <a:off x="6309959" y="2507533"/>
            <a:ext cx="2528321" cy="369332"/>
          </a:xfrm>
          <a:prstGeom prst="rect">
            <a:avLst/>
          </a:prstGeom>
          <a:noFill/>
          <a:ln/>
        </p:spPr>
        <p:txBody>
          <a:bodyPr wrap="none" lIns="0" tIns="0" rIns="0" bIns="0" rtlCol="0" anchor="t">
            <a:spAutoFit/>
          </a:bodyPr>
          <a:lstStyle/>
          <a:p>
            <a:pPr marL="0" indent="0" algn="l">
              <a:buNone/>
            </a:pPr>
            <a:r>
              <a:rPr lang="en-US" sz="1200" dirty="0">
                <a:solidFill>
                  <a:srgbClr val="333333"/>
                </a:solidFill>
              </a:rPr>
              <a:t>Secure, portable identity credentials</a:t>
            </a:r>
          </a:p>
          <a:p>
            <a:r>
              <a:rPr lang="en-US" sz="1200" dirty="0">
                <a:solidFill>
                  <a:srgbClr val="333333"/>
                </a:solidFill>
              </a:rPr>
              <a:t>Privacy and control over personal data</a:t>
            </a:r>
            <a:endParaRPr lang="en-US" sz="1200" dirty="0"/>
          </a:p>
        </p:txBody>
      </p:sp>
      <p:sp>
        <p:nvSpPr>
          <p:cNvPr id="28" name="Text 25"/>
          <p:cNvSpPr/>
          <p:nvPr/>
        </p:nvSpPr>
        <p:spPr>
          <a:xfrm>
            <a:off x="6409971" y="2753788"/>
            <a:ext cx="65" cy="184666"/>
          </a:xfrm>
          <a:prstGeom prst="rect">
            <a:avLst/>
          </a:prstGeom>
          <a:noFill/>
          <a:ln/>
        </p:spPr>
        <p:txBody>
          <a:bodyPr wrap="none" lIns="0" tIns="0" rIns="0" bIns="0" rtlCol="0" anchor="t">
            <a:spAutoFit/>
          </a:bodyPr>
          <a:lstStyle/>
          <a:p>
            <a:pPr marL="0" indent="0" algn="l">
              <a:buNone/>
            </a:pPr>
            <a:endParaRPr lang="en-US" sz="1200" dirty="0"/>
          </a:p>
        </p:txBody>
      </p:sp>
      <p:sp>
        <p:nvSpPr>
          <p:cNvPr id="30" name="Shape 27"/>
          <p:cNvSpPr/>
          <p:nvPr/>
        </p:nvSpPr>
        <p:spPr>
          <a:xfrm>
            <a:off x="571500" y="3216813"/>
            <a:ext cx="28575" cy="1774106"/>
          </a:xfrm>
          <a:prstGeom prst="rect">
            <a:avLst/>
          </a:prstGeom>
          <a:solidFill>
            <a:srgbClr val="0055FF"/>
          </a:solidFill>
          <a:ln/>
        </p:spPr>
        <p:txBody>
          <a:bodyPr/>
          <a:lstStyle/>
          <a:p>
            <a:endParaRPr lang="es-ES" sz="1200"/>
          </a:p>
        </p:txBody>
      </p:sp>
      <p:sp>
        <p:nvSpPr>
          <p:cNvPr id="31" name="Shape 28"/>
          <p:cNvSpPr/>
          <p:nvPr/>
        </p:nvSpPr>
        <p:spPr>
          <a:xfrm>
            <a:off x="6324246" y="3267813"/>
            <a:ext cx="357188" cy="357188"/>
          </a:xfrm>
          <a:prstGeom prst="ellipse">
            <a:avLst/>
          </a:prstGeom>
          <a:solidFill>
            <a:srgbClr val="0055FF"/>
          </a:solidFill>
          <a:ln/>
        </p:spPr>
        <p:txBody>
          <a:bodyPr/>
          <a:lstStyle/>
          <a:p>
            <a:endParaRPr lang="es-ES" sz="1200"/>
          </a:p>
        </p:txBody>
      </p:sp>
      <p:sp>
        <p:nvSpPr>
          <p:cNvPr id="32" name="Text 29"/>
          <p:cNvSpPr/>
          <p:nvPr/>
        </p:nvSpPr>
        <p:spPr>
          <a:xfrm>
            <a:off x="6324246" y="3354073"/>
            <a:ext cx="357188" cy="184666"/>
          </a:xfrm>
          <a:prstGeom prst="rect">
            <a:avLst/>
          </a:prstGeom>
          <a:noFill/>
          <a:ln/>
        </p:spPr>
        <p:txBody>
          <a:bodyPr wrap="square" lIns="0" tIns="0" rIns="0" bIns="0" rtlCol="0" anchor="ctr">
            <a:spAutoFit/>
          </a:bodyPr>
          <a:lstStyle/>
          <a:p>
            <a:pPr marL="0" indent="0" algn="ctr">
              <a:buNone/>
            </a:pPr>
            <a:r>
              <a:rPr lang="en-US" sz="1200" b="1" dirty="0">
                <a:solidFill>
                  <a:srgbClr val="FFFFFF"/>
                </a:solidFill>
              </a:rPr>
              <a:t>🏥</a:t>
            </a:r>
            <a:endParaRPr lang="en-US" sz="1200" dirty="0"/>
          </a:p>
        </p:txBody>
      </p:sp>
      <p:sp>
        <p:nvSpPr>
          <p:cNvPr id="33" name="Text 30"/>
          <p:cNvSpPr/>
          <p:nvPr/>
        </p:nvSpPr>
        <p:spPr>
          <a:xfrm>
            <a:off x="6324246" y="3732156"/>
            <a:ext cx="1391407" cy="184666"/>
          </a:xfrm>
          <a:prstGeom prst="rect">
            <a:avLst/>
          </a:prstGeom>
          <a:noFill/>
          <a:ln/>
        </p:spPr>
        <p:txBody>
          <a:bodyPr wrap="none" lIns="0" tIns="0" rIns="0" bIns="0" rtlCol="0" anchor="t">
            <a:spAutoFit/>
          </a:bodyPr>
          <a:lstStyle/>
          <a:p>
            <a:pPr marL="0" indent="0" algn="l">
              <a:buNone/>
            </a:pPr>
            <a:r>
              <a:rPr lang="en-US" sz="1200" b="1" dirty="0">
                <a:solidFill>
                  <a:srgbClr val="1A1A1A"/>
                </a:solidFill>
              </a:rPr>
              <a:t>Healthcare Records</a:t>
            </a:r>
            <a:endParaRPr lang="en-US" sz="1200" dirty="0"/>
          </a:p>
        </p:txBody>
      </p:sp>
      <p:sp>
        <p:nvSpPr>
          <p:cNvPr id="34" name="Text 31"/>
          <p:cNvSpPr/>
          <p:nvPr/>
        </p:nvSpPr>
        <p:spPr>
          <a:xfrm>
            <a:off x="6324246" y="3994689"/>
            <a:ext cx="2590436" cy="369332"/>
          </a:xfrm>
          <a:prstGeom prst="rect">
            <a:avLst/>
          </a:prstGeom>
          <a:noFill/>
          <a:ln/>
        </p:spPr>
        <p:txBody>
          <a:bodyPr wrap="square" lIns="0" tIns="0" rIns="0" bIns="0" rtlCol="0" anchor="t">
            <a:spAutoFit/>
          </a:bodyPr>
          <a:lstStyle/>
          <a:p>
            <a:pPr marL="0" indent="0" algn="l">
              <a:buNone/>
            </a:pPr>
            <a:r>
              <a:rPr lang="en-US" sz="1200" dirty="0">
                <a:solidFill>
                  <a:srgbClr val="333333"/>
                </a:solidFill>
              </a:rPr>
              <a:t>Secure, interoperable medical records accessible to authorized providers.</a:t>
            </a:r>
            <a:endParaRPr lang="en-US" sz="1200" dirty="0"/>
          </a:p>
        </p:txBody>
      </p:sp>
      <p:sp>
        <p:nvSpPr>
          <p:cNvPr id="35" name="Text 32"/>
          <p:cNvSpPr/>
          <p:nvPr/>
        </p:nvSpPr>
        <p:spPr>
          <a:xfrm>
            <a:off x="6329944" y="4436921"/>
            <a:ext cx="2510099" cy="553998"/>
          </a:xfrm>
          <a:prstGeom prst="rect">
            <a:avLst/>
          </a:prstGeom>
          <a:noFill/>
          <a:ln/>
        </p:spPr>
        <p:txBody>
          <a:bodyPr wrap="square" lIns="0" tIns="0" rIns="0" bIns="0" rtlCol="0" anchor="t">
            <a:spAutoFit/>
          </a:bodyPr>
          <a:lstStyle/>
          <a:p>
            <a:pPr marL="0" indent="0" algn="l">
              <a:buNone/>
            </a:pPr>
            <a:r>
              <a:rPr lang="en-US" sz="1200" dirty="0">
                <a:solidFill>
                  <a:srgbClr val="333333"/>
                </a:solidFill>
              </a:rPr>
              <a:t>Patient control over health data</a:t>
            </a:r>
          </a:p>
          <a:p>
            <a:r>
              <a:rPr lang="en-US" sz="1200" dirty="0">
                <a:solidFill>
                  <a:srgbClr val="333333"/>
                </a:solidFill>
              </a:rPr>
              <a:t>Improved care coordination and research</a:t>
            </a:r>
            <a:endParaRPr lang="en-US" sz="1200" dirty="0"/>
          </a:p>
        </p:txBody>
      </p:sp>
      <p:sp>
        <p:nvSpPr>
          <p:cNvPr id="36" name="Text 33"/>
          <p:cNvSpPr/>
          <p:nvPr/>
        </p:nvSpPr>
        <p:spPr>
          <a:xfrm>
            <a:off x="6409971" y="4656156"/>
            <a:ext cx="65" cy="184666"/>
          </a:xfrm>
          <a:prstGeom prst="rect">
            <a:avLst/>
          </a:prstGeom>
          <a:noFill/>
          <a:ln/>
        </p:spPr>
        <p:txBody>
          <a:bodyPr wrap="none" lIns="0" tIns="0" rIns="0" bIns="0" rtlCol="0" anchor="t">
            <a:spAutoFit/>
          </a:bodyPr>
          <a:lstStyle/>
          <a:p>
            <a:pPr marL="0" indent="0" algn="l">
              <a:buNone/>
            </a:pPr>
            <a:endParaRPr lang="en-US" sz="1200" dirty="0"/>
          </a:p>
        </p:txBody>
      </p:sp>
      <p:sp>
        <p:nvSpPr>
          <p:cNvPr id="38" name="Shape 35"/>
          <p:cNvSpPr/>
          <p:nvPr/>
        </p:nvSpPr>
        <p:spPr>
          <a:xfrm>
            <a:off x="3309928" y="3216813"/>
            <a:ext cx="28575" cy="1774106"/>
          </a:xfrm>
          <a:prstGeom prst="rect">
            <a:avLst/>
          </a:prstGeom>
          <a:solidFill>
            <a:srgbClr val="0055FF"/>
          </a:solidFill>
          <a:ln/>
        </p:spPr>
        <p:txBody>
          <a:bodyPr/>
          <a:lstStyle/>
          <a:p>
            <a:endParaRPr lang="es-ES" sz="1200"/>
          </a:p>
        </p:txBody>
      </p:sp>
      <p:sp>
        <p:nvSpPr>
          <p:cNvPr id="39" name="Shape 36"/>
          <p:cNvSpPr/>
          <p:nvPr/>
        </p:nvSpPr>
        <p:spPr>
          <a:xfrm>
            <a:off x="3438516" y="3267813"/>
            <a:ext cx="357188" cy="357188"/>
          </a:xfrm>
          <a:prstGeom prst="ellipse">
            <a:avLst/>
          </a:prstGeom>
          <a:solidFill>
            <a:srgbClr val="0055FF"/>
          </a:solidFill>
          <a:ln/>
        </p:spPr>
        <p:txBody>
          <a:bodyPr/>
          <a:lstStyle/>
          <a:p>
            <a:endParaRPr lang="es-ES" sz="1200"/>
          </a:p>
        </p:txBody>
      </p:sp>
      <p:sp>
        <p:nvSpPr>
          <p:cNvPr id="40" name="Text 37"/>
          <p:cNvSpPr/>
          <p:nvPr/>
        </p:nvSpPr>
        <p:spPr>
          <a:xfrm>
            <a:off x="3438516" y="3354073"/>
            <a:ext cx="357188" cy="184666"/>
          </a:xfrm>
          <a:prstGeom prst="rect">
            <a:avLst/>
          </a:prstGeom>
          <a:noFill/>
          <a:ln/>
        </p:spPr>
        <p:txBody>
          <a:bodyPr wrap="square" lIns="0" tIns="0" rIns="0" bIns="0" rtlCol="0" anchor="ctr">
            <a:spAutoFit/>
          </a:bodyPr>
          <a:lstStyle/>
          <a:p>
            <a:pPr marL="0" indent="0" algn="ctr">
              <a:buNone/>
            </a:pPr>
            <a:r>
              <a:rPr lang="en-US" sz="1200" b="1" dirty="0">
                <a:solidFill>
                  <a:srgbClr val="FFFFFF"/>
                </a:solidFill>
              </a:rPr>
              <a:t>🗳️</a:t>
            </a:r>
            <a:endParaRPr lang="en-US" sz="1200" dirty="0"/>
          </a:p>
        </p:txBody>
      </p:sp>
      <p:sp>
        <p:nvSpPr>
          <p:cNvPr id="41" name="Text 38"/>
          <p:cNvSpPr/>
          <p:nvPr/>
        </p:nvSpPr>
        <p:spPr>
          <a:xfrm>
            <a:off x="3438516" y="3732156"/>
            <a:ext cx="1074012" cy="184666"/>
          </a:xfrm>
          <a:prstGeom prst="rect">
            <a:avLst/>
          </a:prstGeom>
          <a:noFill/>
          <a:ln/>
        </p:spPr>
        <p:txBody>
          <a:bodyPr wrap="none" lIns="0" tIns="0" rIns="0" bIns="0" rtlCol="0" anchor="t">
            <a:spAutoFit/>
          </a:bodyPr>
          <a:lstStyle/>
          <a:p>
            <a:pPr marL="0" indent="0" algn="l">
              <a:buNone/>
            </a:pPr>
            <a:r>
              <a:rPr lang="en-US" sz="1200" b="1" dirty="0">
                <a:solidFill>
                  <a:srgbClr val="1A1A1A"/>
                </a:solidFill>
              </a:rPr>
              <a:t>Voting Systems</a:t>
            </a:r>
            <a:endParaRPr lang="en-US" sz="1200" dirty="0"/>
          </a:p>
        </p:txBody>
      </p:sp>
      <p:sp>
        <p:nvSpPr>
          <p:cNvPr id="42" name="Text 39"/>
          <p:cNvSpPr/>
          <p:nvPr/>
        </p:nvSpPr>
        <p:spPr>
          <a:xfrm>
            <a:off x="3438516" y="3994689"/>
            <a:ext cx="2609840" cy="369332"/>
          </a:xfrm>
          <a:prstGeom prst="rect">
            <a:avLst/>
          </a:prstGeom>
          <a:noFill/>
          <a:ln/>
        </p:spPr>
        <p:txBody>
          <a:bodyPr wrap="square" lIns="0" tIns="0" rIns="0" bIns="0" rtlCol="0" anchor="t">
            <a:spAutoFit/>
          </a:bodyPr>
          <a:lstStyle/>
          <a:p>
            <a:pPr marL="0" indent="0" algn="l">
              <a:buNone/>
            </a:pPr>
            <a:r>
              <a:rPr lang="en-US" sz="1200" dirty="0">
                <a:solidFill>
                  <a:srgbClr val="333333"/>
                </a:solidFill>
              </a:rPr>
              <a:t>Transparent, tamper-proof voting that's auditable and verifiable.</a:t>
            </a:r>
            <a:endParaRPr lang="en-US" sz="1200" dirty="0"/>
          </a:p>
        </p:txBody>
      </p:sp>
      <p:sp>
        <p:nvSpPr>
          <p:cNvPr id="43" name="Text 40"/>
          <p:cNvSpPr/>
          <p:nvPr/>
        </p:nvSpPr>
        <p:spPr>
          <a:xfrm>
            <a:off x="3438516" y="4436921"/>
            <a:ext cx="2642942" cy="553998"/>
          </a:xfrm>
          <a:prstGeom prst="rect">
            <a:avLst/>
          </a:prstGeom>
          <a:noFill/>
          <a:ln/>
        </p:spPr>
        <p:txBody>
          <a:bodyPr wrap="square" lIns="0" tIns="0" rIns="0" bIns="0" rtlCol="0" anchor="t">
            <a:spAutoFit/>
          </a:bodyPr>
          <a:lstStyle/>
          <a:p>
            <a:pPr marL="0" indent="0" algn="l">
              <a:buNone/>
            </a:pPr>
            <a:r>
              <a:rPr lang="en-US" sz="1200" dirty="0">
                <a:solidFill>
                  <a:srgbClr val="333333"/>
                </a:solidFill>
              </a:rPr>
              <a:t>Prevent fraud and ensure election integrity</a:t>
            </a:r>
          </a:p>
          <a:p>
            <a:r>
              <a:rPr lang="en-US" sz="1200" dirty="0">
                <a:solidFill>
                  <a:srgbClr val="333333"/>
                </a:solidFill>
              </a:rPr>
              <a:t>Increase voter participation and trust</a:t>
            </a:r>
            <a:endParaRPr lang="en-US" sz="1200" dirty="0"/>
          </a:p>
        </p:txBody>
      </p:sp>
      <p:sp>
        <p:nvSpPr>
          <p:cNvPr id="44" name="Text 41"/>
          <p:cNvSpPr/>
          <p:nvPr/>
        </p:nvSpPr>
        <p:spPr>
          <a:xfrm>
            <a:off x="3524241" y="4656156"/>
            <a:ext cx="65" cy="184666"/>
          </a:xfrm>
          <a:prstGeom prst="rect">
            <a:avLst/>
          </a:prstGeom>
          <a:noFill/>
          <a:ln/>
        </p:spPr>
        <p:txBody>
          <a:bodyPr wrap="none" lIns="0" tIns="0" rIns="0" bIns="0" rtlCol="0" anchor="t">
            <a:spAutoFit/>
          </a:bodyPr>
          <a:lstStyle/>
          <a:p>
            <a:pPr marL="0" indent="0" algn="l">
              <a:buNone/>
            </a:pPr>
            <a:endParaRPr lang="en-US" sz="1200" dirty="0"/>
          </a:p>
        </p:txBody>
      </p:sp>
      <p:sp>
        <p:nvSpPr>
          <p:cNvPr id="46" name="Shape 43"/>
          <p:cNvSpPr/>
          <p:nvPr/>
        </p:nvSpPr>
        <p:spPr>
          <a:xfrm>
            <a:off x="6195658" y="3241078"/>
            <a:ext cx="28575" cy="1774106"/>
          </a:xfrm>
          <a:prstGeom prst="rect">
            <a:avLst/>
          </a:prstGeom>
          <a:solidFill>
            <a:srgbClr val="0055FF"/>
          </a:solidFill>
          <a:ln/>
        </p:spPr>
        <p:txBody>
          <a:bodyPr/>
          <a:lstStyle/>
          <a:p>
            <a:endParaRPr lang="es-ES" sz="1200"/>
          </a:p>
        </p:txBody>
      </p:sp>
      <p:sp>
        <p:nvSpPr>
          <p:cNvPr id="57" name="Marcador de número de diapositiva 35">
            <a:extLst>
              <a:ext uri="{FF2B5EF4-FFF2-40B4-BE49-F238E27FC236}">
                <a16:creationId xmlns:a16="http://schemas.microsoft.com/office/drawing/2014/main" id="{5E7E8805-ADAC-8EA8-17D4-F36283EC0B6F}"/>
              </a:ext>
            </a:extLst>
          </p:cNvPr>
          <p:cNvSpPr txBox="1">
            <a:spLocks/>
          </p:cNvSpPr>
          <p:nvPr/>
        </p:nvSpPr>
        <p:spPr>
          <a:xfrm>
            <a:off x="6457950" y="4767263"/>
            <a:ext cx="2057400" cy="274637"/>
          </a:xfrm>
          <a:prstGeom prst="rect">
            <a:avLst/>
          </a:prstGeom>
        </p:spPr>
        <p:txBody>
          <a:bodyPr vert="horz" lIns="91440" tIns="45720" rIns="91440" bIns="45720" rtlCol="0" anchor="ctr"/>
          <a:lstStyle>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21D377E-C6E5-404B-8AA2-3999D49F21B5}" type="slidenum">
              <a:rPr lang="es-ES" smtClean="0"/>
              <a:pPr/>
              <a:t>16</a:t>
            </a:fld>
            <a:endParaRPr lang="es-ES" dirty="0"/>
          </a:p>
        </p:txBody>
      </p:sp>
      <p:sp>
        <p:nvSpPr>
          <p:cNvPr id="58" name="Shape 44"/>
          <p:cNvSpPr/>
          <p:nvPr/>
        </p:nvSpPr>
        <p:spPr>
          <a:xfrm>
            <a:off x="695926" y="3267330"/>
            <a:ext cx="357188" cy="357188"/>
          </a:xfrm>
          <a:prstGeom prst="ellipse">
            <a:avLst/>
          </a:prstGeom>
          <a:solidFill>
            <a:srgbClr val="0055FF"/>
          </a:solidFill>
          <a:ln/>
        </p:spPr>
        <p:txBody>
          <a:bodyPr/>
          <a:lstStyle/>
          <a:p>
            <a:endParaRPr lang="es-ES" sz="1200"/>
          </a:p>
        </p:txBody>
      </p:sp>
      <p:sp>
        <p:nvSpPr>
          <p:cNvPr id="59" name="Text 45"/>
          <p:cNvSpPr/>
          <p:nvPr/>
        </p:nvSpPr>
        <p:spPr>
          <a:xfrm>
            <a:off x="695926" y="3353590"/>
            <a:ext cx="357188" cy="184666"/>
          </a:xfrm>
          <a:prstGeom prst="rect">
            <a:avLst/>
          </a:prstGeom>
          <a:noFill/>
          <a:ln/>
        </p:spPr>
        <p:txBody>
          <a:bodyPr wrap="square" lIns="0" tIns="0" rIns="0" bIns="0" rtlCol="0" anchor="ctr">
            <a:spAutoFit/>
          </a:bodyPr>
          <a:lstStyle/>
          <a:p>
            <a:pPr marL="0" indent="0" algn="ctr">
              <a:buNone/>
            </a:pPr>
            <a:r>
              <a:rPr lang="en-US" sz="1200" b="1" dirty="0">
                <a:solidFill>
                  <a:srgbClr val="FFFFFF"/>
                </a:solidFill>
              </a:rPr>
              <a:t>🚚</a:t>
            </a:r>
            <a:endParaRPr lang="en-US" sz="1200" dirty="0"/>
          </a:p>
        </p:txBody>
      </p:sp>
      <p:sp>
        <p:nvSpPr>
          <p:cNvPr id="60" name="Text 46"/>
          <p:cNvSpPr/>
          <p:nvPr/>
        </p:nvSpPr>
        <p:spPr>
          <a:xfrm>
            <a:off x="695926" y="3731673"/>
            <a:ext cx="1380186" cy="184666"/>
          </a:xfrm>
          <a:prstGeom prst="rect">
            <a:avLst/>
          </a:prstGeom>
          <a:noFill/>
          <a:ln/>
        </p:spPr>
        <p:txBody>
          <a:bodyPr wrap="none" lIns="0" tIns="0" rIns="0" bIns="0" rtlCol="0" anchor="t">
            <a:spAutoFit/>
          </a:bodyPr>
          <a:lstStyle/>
          <a:p>
            <a:pPr marL="0" indent="0" algn="l">
              <a:buNone/>
            </a:pPr>
            <a:r>
              <a:rPr lang="en-US" sz="1200" b="1" dirty="0">
                <a:solidFill>
                  <a:srgbClr val="1A1A1A"/>
                </a:solidFill>
              </a:rPr>
              <a:t>Logistics &amp; Tracking</a:t>
            </a:r>
            <a:endParaRPr lang="en-US" sz="1200" dirty="0"/>
          </a:p>
        </p:txBody>
      </p:sp>
      <p:sp>
        <p:nvSpPr>
          <p:cNvPr id="61" name="Text 47"/>
          <p:cNvSpPr/>
          <p:nvPr/>
        </p:nvSpPr>
        <p:spPr>
          <a:xfrm>
            <a:off x="695926" y="3994206"/>
            <a:ext cx="2733121" cy="369332"/>
          </a:xfrm>
          <a:prstGeom prst="rect">
            <a:avLst/>
          </a:prstGeom>
          <a:noFill/>
          <a:ln/>
        </p:spPr>
        <p:txBody>
          <a:bodyPr wrap="square" lIns="0" tIns="0" rIns="0" bIns="0" rtlCol="0" anchor="t">
            <a:spAutoFit/>
          </a:bodyPr>
          <a:lstStyle/>
          <a:p>
            <a:pPr marL="0" indent="0" algn="l">
              <a:buNone/>
            </a:pPr>
            <a:r>
              <a:rPr lang="en-US" sz="1200" dirty="0">
                <a:solidFill>
                  <a:srgbClr val="333333"/>
                </a:solidFill>
              </a:rPr>
              <a:t>Real-time tracking of shipments with transparent, verifiable records.</a:t>
            </a:r>
            <a:endParaRPr lang="en-US" sz="1200" dirty="0"/>
          </a:p>
        </p:txBody>
      </p:sp>
      <p:sp>
        <p:nvSpPr>
          <p:cNvPr id="62" name="Text 48"/>
          <p:cNvSpPr/>
          <p:nvPr/>
        </p:nvSpPr>
        <p:spPr>
          <a:xfrm>
            <a:off x="695926" y="4412173"/>
            <a:ext cx="2518151" cy="553998"/>
          </a:xfrm>
          <a:prstGeom prst="rect">
            <a:avLst/>
          </a:prstGeom>
          <a:noFill/>
          <a:ln/>
        </p:spPr>
        <p:txBody>
          <a:bodyPr wrap="square" lIns="0" tIns="0" rIns="0" bIns="0" rtlCol="0" anchor="t">
            <a:spAutoFit/>
          </a:bodyPr>
          <a:lstStyle/>
          <a:p>
            <a:pPr marL="0" indent="0" algn="l">
              <a:buNone/>
            </a:pPr>
            <a:r>
              <a:rPr lang="en-US" sz="1200" dirty="0">
                <a:solidFill>
                  <a:srgbClr val="333333"/>
                </a:solidFill>
              </a:rPr>
              <a:t>Reduce delays and improve transparency</a:t>
            </a:r>
          </a:p>
          <a:p>
            <a:r>
              <a:rPr lang="en-US" sz="1200" dirty="0">
                <a:solidFill>
                  <a:srgbClr val="333333"/>
                </a:solidFill>
              </a:rPr>
              <a:t>Enable automated payment</a:t>
            </a:r>
            <a:endParaRPr lang="en-US" sz="1200" dirty="0"/>
          </a:p>
        </p:txBody>
      </p:sp>
      <p:sp>
        <p:nvSpPr>
          <p:cNvPr id="63" name="Text 49"/>
          <p:cNvSpPr/>
          <p:nvPr/>
        </p:nvSpPr>
        <p:spPr>
          <a:xfrm>
            <a:off x="781651" y="4655673"/>
            <a:ext cx="65" cy="184666"/>
          </a:xfrm>
          <a:prstGeom prst="rect">
            <a:avLst/>
          </a:prstGeom>
          <a:noFill/>
          <a:ln/>
        </p:spPr>
        <p:txBody>
          <a:bodyPr wrap="none" lIns="0" tIns="0" rIns="0" bIns="0" rtlCol="0" anchor="t">
            <a:spAutoFit/>
          </a:bodyPr>
          <a:lstStyle/>
          <a:p>
            <a:pPr marL="0" indent="0" algn="l">
              <a:buNone/>
            </a:pP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18A2F-57B0-8F46-090A-50E1DA95C9A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3EB82FD-895F-4DE9-9B18-9CA2270010B6}"/>
              </a:ext>
            </a:extLst>
          </p:cNvPr>
          <p:cNvSpPr/>
          <p:nvPr/>
        </p:nvSpPr>
        <p:spPr>
          <a:xfrm>
            <a:off x="571500" y="428625"/>
            <a:ext cx="8572500" cy="932259"/>
          </a:xfrm>
          <a:prstGeom prst="rect">
            <a:avLst/>
          </a:prstGeom>
          <a:noFill/>
          <a:ln/>
        </p:spPr>
        <p:txBody>
          <a:bodyPr wrap="square" lIns="0" tIns="0" rIns="0" bIns="0" rtlCol="0" anchor="t">
            <a:spAutoFit/>
          </a:bodyPr>
          <a:lstStyle/>
          <a:p>
            <a:pPr marL="0" indent="0" algn="l">
              <a:lnSpc>
                <a:spcPts val="3200"/>
              </a:lnSpc>
              <a:buNone/>
            </a:pPr>
            <a:r>
              <a:rPr lang="en-US" sz="2436" b="1" dirty="0">
                <a:solidFill>
                  <a:srgbClr val="1A1A1A"/>
                </a:solidFill>
              </a:rPr>
              <a:t>The Challenges: Energy, Regulation, and Scalability</a:t>
            </a:r>
            <a:endParaRPr lang="en-US" sz="2436" dirty="0"/>
          </a:p>
        </p:txBody>
      </p:sp>
      <p:sp>
        <p:nvSpPr>
          <p:cNvPr id="55" name="Marcador de número de diapositiva 54">
            <a:extLst>
              <a:ext uri="{FF2B5EF4-FFF2-40B4-BE49-F238E27FC236}">
                <a16:creationId xmlns:a16="http://schemas.microsoft.com/office/drawing/2014/main" id="{13FB0045-38CC-83EC-A67B-B1DB3EBB7B89}"/>
              </a:ext>
            </a:extLst>
          </p:cNvPr>
          <p:cNvSpPr>
            <a:spLocks noGrp="1"/>
          </p:cNvSpPr>
          <p:nvPr>
            <p:ph type="sldNum" sz="quarter" idx="12"/>
          </p:nvPr>
        </p:nvSpPr>
        <p:spPr/>
        <p:txBody>
          <a:bodyPr/>
          <a:lstStyle/>
          <a:p>
            <a:fld id="{621D377E-C6E5-404B-8AA2-3999D49F21B5}" type="slidenum">
              <a:rPr lang="es-ES" smtClean="0"/>
              <a:t>17</a:t>
            </a:fld>
            <a:endParaRPr lang="es-ES"/>
          </a:p>
        </p:txBody>
      </p:sp>
      <p:grpSp>
        <p:nvGrpSpPr>
          <p:cNvPr id="65" name="Grupo 64">
            <a:extLst>
              <a:ext uri="{FF2B5EF4-FFF2-40B4-BE49-F238E27FC236}">
                <a16:creationId xmlns:a16="http://schemas.microsoft.com/office/drawing/2014/main" id="{675588A5-F059-37B9-7C50-31FE376D3040}"/>
              </a:ext>
            </a:extLst>
          </p:cNvPr>
          <p:cNvGrpSpPr/>
          <p:nvPr/>
        </p:nvGrpSpPr>
        <p:grpSpPr>
          <a:xfrm>
            <a:off x="342812" y="898591"/>
            <a:ext cx="3367039" cy="1347627"/>
            <a:chOff x="421189" y="1043241"/>
            <a:chExt cx="3367039" cy="1347627"/>
          </a:xfrm>
        </p:grpSpPr>
        <p:sp>
          <p:nvSpPr>
            <p:cNvPr id="46" name="Shape 5">
              <a:extLst>
                <a:ext uri="{FF2B5EF4-FFF2-40B4-BE49-F238E27FC236}">
                  <a16:creationId xmlns:a16="http://schemas.microsoft.com/office/drawing/2014/main" id="{0BABBED9-CADA-D499-D812-19B9B9E9E796}"/>
                </a:ext>
              </a:extLst>
            </p:cNvPr>
            <p:cNvSpPr/>
            <p:nvPr/>
          </p:nvSpPr>
          <p:spPr>
            <a:xfrm>
              <a:off x="421189" y="1043241"/>
              <a:ext cx="3367039" cy="1347627"/>
            </a:xfrm>
            <a:prstGeom prst="rect">
              <a:avLst/>
            </a:prstGeom>
            <a:solidFill>
              <a:srgbClr val="FFE5E5"/>
            </a:solidFill>
            <a:ln w="18288">
              <a:solidFill>
                <a:srgbClr val="C00000"/>
              </a:solidFill>
              <a:prstDash val="solid"/>
            </a:ln>
          </p:spPr>
          <p:txBody>
            <a:bodyPr/>
            <a:lstStyle/>
            <a:p>
              <a:endParaRPr lang="es-ES" sz="1200" dirty="0">
                <a:solidFill>
                  <a:srgbClr val="FF0000"/>
                </a:solidFill>
              </a:endParaRPr>
            </a:p>
          </p:txBody>
        </p:sp>
        <p:sp>
          <p:nvSpPr>
            <p:cNvPr id="56" name="Text 6">
              <a:extLst>
                <a:ext uri="{FF2B5EF4-FFF2-40B4-BE49-F238E27FC236}">
                  <a16:creationId xmlns:a16="http://schemas.microsoft.com/office/drawing/2014/main" id="{1AA9C133-8964-BE09-17FA-DCBE2E247E29}"/>
                </a:ext>
              </a:extLst>
            </p:cNvPr>
            <p:cNvSpPr/>
            <p:nvPr/>
          </p:nvSpPr>
          <p:spPr>
            <a:xfrm>
              <a:off x="515732" y="1171454"/>
              <a:ext cx="1460336" cy="119520"/>
            </a:xfrm>
            <a:prstGeom prst="rect">
              <a:avLst/>
            </a:prstGeom>
            <a:noFill/>
            <a:ln/>
          </p:spPr>
          <p:txBody>
            <a:bodyPr wrap="none" lIns="0" tIns="0" rIns="0" bIns="0" rtlCol="0" anchor="t">
              <a:spAutoFit/>
            </a:bodyPr>
            <a:lstStyle/>
            <a:p>
              <a:pPr marL="0" indent="0" algn="ctr">
                <a:lnSpc>
                  <a:spcPts val="800"/>
                </a:lnSpc>
                <a:buNone/>
              </a:pPr>
              <a:r>
                <a:rPr lang="en-US" sz="1200" b="1" dirty="0">
                  <a:solidFill>
                    <a:srgbClr val="FF0000"/>
                  </a:solidFill>
                </a:rPr>
                <a:t>Energy Consumption</a:t>
              </a:r>
              <a:endParaRPr lang="en-US" sz="1200" dirty="0">
                <a:solidFill>
                  <a:srgbClr val="FF0000"/>
                </a:solidFill>
              </a:endParaRPr>
            </a:p>
          </p:txBody>
        </p:sp>
        <p:sp>
          <p:nvSpPr>
            <p:cNvPr id="57" name="Text 7">
              <a:extLst>
                <a:ext uri="{FF2B5EF4-FFF2-40B4-BE49-F238E27FC236}">
                  <a16:creationId xmlns:a16="http://schemas.microsoft.com/office/drawing/2014/main" id="{995016AB-19A0-7DDB-6C37-1BA0817C7B9B}"/>
                </a:ext>
              </a:extLst>
            </p:cNvPr>
            <p:cNvSpPr/>
            <p:nvPr/>
          </p:nvSpPr>
          <p:spPr>
            <a:xfrm>
              <a:off x="515733" y="1333057"/>
              <a:ext cx="3194118" cy="369332"/>
            </a:xfrm>
            <a:prstGeom prst="rect">
              <a:avLst/>
            </a:prstGeom>
            <a:noFill/>
            <a:ln/>
          </p:spPr>
          <p:txBody>
            <a:bodyPr wrap="square" lIns="0" tIns="0" rIns="0" bIns="0" rtlCol="0" anchor="t">
              <a:spAutoFit/>
            </a:bodyPr>
            <a:lstStyle/>
            <a:p>
              <a:r>
                <a:rPr lang="en-US" sz="1200" dirty="0"/>
                <a:t>Proof of Work requires </a:t>
              </a:r>
              <a:r>
                <a:rPr lang="en-US" sz="1200" dirty="0">
                  <a:solidFill>
                    <a:srgbClr val="333333"/>
                  </a:solidFill>
                </a:rPr>
                <a:t>significant computational power, consuming substantial electricity</a:t>
              </a:r>
            </a:p>
          </p:txBody>
        </p:sp>
        <p:sp>
          <p:nvSpPr>
            <p:cNvPr id="63" name="Text 7">
              <a:extLst>
                <a:ext uri="{FF2B5EF4-FFF2-40B4-BE49-F238E27FC236}">
                  <a16:creationId xmlns:a16="http://schemas.microsoft.com/office/drawing/2014/main" id="{C171883D-97E8-4C2E-5762-B0E44BA39149}"/>
                </a:ext>
              </a:extLst>
            </p:cNvPr>
            <p:cNvSpPr/>
            <p:nvPr/>
          </p:nvSpPr>
          <p:spPr>
            <a:xfrm>
              <a:off x="515733" y="1740873"/>
              <a:ext cx="3194118" cy="369332"/>
            </a:xfrm>
            <a:prstGeom prst="rect">
              <a:avLst/>
            </a:prstGeom>
            <a:noFill/>
            <a:ln/>
          </p:spPr>
          <p:txBody>
            <a:bodyPr wrap="square" lIns="0" tIns="0" rIns="0" bIns="0" rtlCol="0" anchor="t">
              <a:spAutoFit/>
            </a:bodyPr>
            <a:lstStyle/>
            <a:p>
              <a:r>
                <a:rPr lang="en-US" sz="1200" dirty="0"/>
                <a:t>Bitcoin alone uses ~150 TWh/year</a:t>
              </a:r>
            </a:p>
            <a:p>
              <a:r>
                <a:rPr lang="en-US" sz="1200" dirty="0"/>
                <a:t>(comparable to </a:t>
              </a:r>
              <a:r>
                <a:rPr lang="en-US" sz="1200" b="1" dirty="0"/>
                <a:t>Argentina</a:t>
              </a:r>
              <a:r>
                <a:rPr lang="en-US" sz="1200" dirty="0"/>
                <a:t>)</a:t>
              </a:r>
            </a:p>
          </p:txBody>
        </p:sp>
        <p:sp>
          <p:nvSpPr>
            <p:cNvPr id="64" name="Text 7">
              <a:extLst>
                <a:ext uri="{FF2B5EF4-FFF2-40B4-BE49-F238E27FC236}">
                  <a16:creationId xmlns:a16="http://schemas.microsoft.com/office/drawing/2014/main" id="{45781AB4-D5F2-116C-A8AF-5E515501C448}"/>
                </a:ext>
              </a:extLst>
            </p:cNvPr>
            <p:cNvSpPr/>
            <p:nvPr/>
          </p:nvSpPr>
          <p:spPr>
            <a:xfrm>
              <a:off x="515733" y="2167024"/>
              <a:ext cx="3194118" cy="184666"/>
            </a:xfrm>
            <a:prstGeom prst="rect">
              <a:avLst/>
            </a:prstGeom>
            <a:noFill/>
            <a:ln/>
          </p:spPr>
          <p:txBody>
            <a:bodyPr wrap="square" lIns="0" tIns="0" rIns="0" bIns="0" rtlCol="0" anchor="t">
              <a:spAutoFit/>
            </a:bodyPr>
            <a:lstStyle/>
            <a:p>
              <a:r>
                <a:rPr lang="en-US" sz="1200" b="1" dirty="0"/>
                <a:t>Environmental impact </a:t>
              </a:r>
              <a:r>
                <a:rPr lang="en-US" sz="1200" dirty="0"/>
                <a:t>concerns</a:t>
              </a:r>
            </a:p>
          </p:txBody>
        </p:sp>
      </p:grpSp>
      <p:grpSp>
        <p:nvGrpSpPr>
          <p:cNvPr id="86" name="Grupo 85">
            <a:extLst>
              <a:ext uri="{FF2B5EF4-FFF2-40B4-BE49-F238E27FC236}">
                <a16:creationId xmlns:a16="http://schemas.microsoft.com/office/drawing/2014/main" id="{D7D4A80A-654F-D5F7-8E6F-6FFF5560BEAA}"/>
              </a:ext>
            </a:extLst>
          </p:cNvPr>
          <p:cNvGrpSpPr/>
          <p:nvPr/>
        </p:nvGrpSpPr>
        <p:grpSpPr>
          <a:xfrm>
            <a:off x="342810" y="2296432"/>
            <a:ext cx="3367039" cy="1347627"/>
            <a:chOff x="342810" y="2296432"/>
            <a:chExt cx="3367039" cy="1347627"/>
          </a:xfrm>
        </p:grpSpPr>
        <p:sp>
          <p:nvSpPr>
            <p:cNvPr id="79" name="Shape 5">
              <a:extLst>
                <a:ext uri="{FF2B5EF4-FFF2-40B4-BE49-F238E27FC236}">
                  <a16:creationId xmlns:a16="http://schemas.microsoft.com/office/drawing/2014/main" id="{93890599-1FA1-C328-6088-4B9D9A03E135}"/>
                </a:ext>
              </a:extLst>
            </p:cNvPr>
            <p:cNvSpPr/>
            <p:nvPr/>
          </p:nvSpPr>
          <p:spPr>
            <a:xfrm>
              <a:off x="342810" y="2296432"/>
              <a:ext cx="3367039" cy="1347627"/>
            </a:xfrm>
            <a:prstGeom prst="rect">
              <a:avLst/>
            </a:prstGeom>
            <a:solidFill>
              <a:srgbClr val="FFE5E5"/>
            </a:solidFill>
            <a:ln w="18288">
              <a:solidFill>
                <a:srgbClr val="C00000"/>
              </a:solidFill>
              <a:prstDash val="solid"/>
            </a:ln>
          </p:spPr>
          <p:txBody>
            <a:bodyPr/>
            <a:lstStyle/>
            <a:p>
              <a:endParaRPr lang="es-ES" sz="1200" dirty="0">
                <a:solidFill>
                  <a:srgbClr val="FF0000"/>
                </a:solidFill>
              </a:endParaRPr>
            </a:p>
          </p:txBody>
        </p:sp>
        <p:sp>
          <p:nvSpPr>
            <p:cNvPr id="80" name="Text 6">
              <a:extLst>
                <a:ext uri="{FF2B5EF4-FFF2-40B4-BE49-F238E27FC236}">
                  <a16:creationId xmlns:a16="http://schemas.microsoft.com/office/drawing/2014/main" id="{1C773AF4-0766-16C5-2BED-BEE2AFC86745}"/>
                </a:ext>
              </a:extLst>
            </p:cNvPr>
            <p:cNvSpPr/>
            <p:nvPr/>
          </p:nvSpPr>
          <p:spPr>
            <a:xfrm>
              <a:off x="437356" y="2441621"/>
              <a:ext cx="1611340" cy="119520"/>
            </a:xfrm>
            <a:prstGeom prst="rect">
              <a:avLst/>
            </a:prstGeom>
            <a:noFill/>
            <a:ln/>
          </p:spPr>
          <p:txBody>
            <a:bodyPr wrap="none" lIns="0" tIns="0" rIns="0" bIns="0" rtlCol="0" anchor="t">
              <a:spAutoFit/>
            </a:bodyPr>
            <a:lstStyle/>
            <a:p>
              <a:pPr marL="0" indent="0" algn="ctr">
                <a:lnSpc>
                  <a:spcPts val="800"/>
                </a:lnSpc>
                <a:buNone/>
              </a:pPr>
              <a:r>
                <a:rPr lang="en-US" sz="1200" b="1" dirty="0">
                  <a:solidFill>
                    <a:srgbClr val="FF0000"/>
                  </a:solidFill>
                </a:rPr>
                <a:t>Regulatory Uncertainty</a:t>
              </a:r>
              <a:endParaRPr lang="en-US" sz="1200" dirty="0">
                <a:solidFill>
                  <a:srgbClr val="FF0000"/>
                </a:solidFill>
              </a:endParaRPr>
            </a:p>
          </p:txBody>
        </p:sp>
        <p:sp>
          <p:nvSpPr>
            <p:cNvPr id="81" name="Text 7">
              <a:extLst>
                <a:ext uri="{FF2B5EF4-FFF2-40B4-BE49-F238E27FC236}">
                  <a16:creationId xmlns:a16="http://schemas.microsoft.com/office/drawing/2014/main" id="{BAA6E191-23C8-3E30-F769-128D3E0881D2}"/>
                </a:ext>
              </a:extLst>
            </p:cNvPr>
            <p:cNvSpPr/>
            <p:nvPr/>
          </p:nvSpPr>
          <p:spPr>
            <a:xfrm>
              <a:off x="437354" y="2586248"/>
              <a:ext cx="3194118" cy="369332"/>
            </a:xfrm>
            <a:prstGeom prst="rect">
              <a:avLst/>
            </a:prstGeom>
            <a:noFill/>
            <a:ln/>
          </p:spPr>
          <p:txBody>
            <a:bodyPr wrap="square" lIns="0" tIns="0" rIns="0" bIns="0" rtlCol="0" anchor="t">
              <a:spAutoFit/>
            </a:bodyPr>
            <a:lstStyle/>
            <a:p>
              <a:r>
                <a:rPr lang="en-US" sz="1200" dirty="0"/>
                <a:t>Lack of clear legal frameworks creates uncertainty for businesses and users.</a:t>
              </a:r>
            </a:p>
          </p:txBody>
        </p:sp>
        <p:sp>
          <p:nvSpPr>
            <p:cNvPr id="82" name="Text 7">
              <a:extLst>
                <a:ext uri="{FF2B5EF4-FFF2-40B4-BE49-F238E27FC236}">
                  <a16:creationId xmlns:a16="http://schemas.microsoft.com/office/drawing/2014/main" id="{903F0887-4377-FA34-B204-25CB7A1B033F}"/>
                </a:ext>
              </a:extLst>
            </p:cNvPr>
            <p:cNvSpPr/>
            <p:nvPr/>
          </p:nvSpPr>
          <p:spPr>
            <a:xfrm>
              <a:off x="437354" y="2994064"/>
              <a:ext cx="3194118" cy="184666"/>
            </a:xfrm>
            <a:prstGeom prst="rect">
              <a:avLst/>
            </a:prstGeom>
            <a:noFill/>
            <a:ln/>
          </p:spPr>
          <p:txBody>
            <a:bodyPr wrap="square" lIns="0" tIns="0" rIns="0" bIns="0" rtlCol="0" anchor="t">
              <a:spAutoFit/>
            </a:bodyPr>
            <a:lstStyle/>
            <a:p>
              <a:r>
                <a:rPr lang="en-US" sz="1200" dirty="0"/>
                <a:t>- </a:t>
              </a:r>
              <a:r>
                <a:rPr lang="en-US" sz="1200" b="1" dirty="0"/>
                <a:t>Inconsistent</a:t>
              </a:r>
              <a:r>
                <a:rPr lang="en-US" sz="1200" dirty="0"/>
                <a:t> </a:t>
              </a:r>
              <a:r>
                <a:rPr lang="en-US" sz="1200" b="1" dirty="0"/>
                <a:t>regulations</a:t>
              </a:r>
              <a:r>
                <a:rPr lang="en-US" sz="1200" dirty="0"/>
                <a:t> across jurisdictions</a:t>
              </a:r>
            </a:p>
          </p:txBody>
        </p:sp>
        <p:sp>
          <p:nvSpPr>
            <p:cNvPr id="83" name="Text 7">
              <a:extLst>
                <a:ext uri="{FF2B5EF4-FFF2-40B4-BE49-F238E27FC236}">
                  <a16:creationId xmlns:a16="http://schemas.microsoft.com/office/drawing/2014/main" id="{8CF01D48-855E-23D4-C8DA-ED3525203BD4}"/>
                </a:ext>
              </a:extLst>
            </p:cNvPr>
            <p:cNvSpPr/>
            <p:nvPr/>
          </p:nvSpPr>
          <p:spPr>
            <a:xfrm>
              <a:off x="437354" y="3420215"/>
              <a:ext cx="3194118" cy="184666"/>
            </a:xfrm>
            <a:prstGeom prst="rect">
              <a:avLst/>
            </a:prstGeom>
            <a:noFill/>
            <a:ln/>
          </p:spPr>
          <p:txBody>
            <a:bodyPr wrap="square" lIns="0" tIns="0" rIns="0" bIns="0" rtlCol="0" anchor="t">
              <a:spAutoFit/>
            </a:bodyPr>
            <a:lstStyle/>
            <a:p>
              <a:r>
                <a:rPr lang="en-US" sz="1200" dirty="0"/>
                <a:t>- Risk of restrictive policies</a:t>
              </a:r>
            </a:p>
          </p:txBody>
        </p:sp>
        <p:sp>
          <p:nvSpPr>
            <p:cNvPr id="84" name="Text 7">
              <a:extLst>
                <a:ext uri="{FF2B5EF4-FFF2-40B4-BE49-F238E27FC236}">
                  <a16:creationId xmlns:a16="http://schemas.microsoft.com/office/drawing/2014/main" id="{B2D3213D-A0A2-EE75-3919-0EA372BCA6A2}"/>
                </a:ext>
              </a:extLst>
            </p:cNvPr>
            <p:cNvSpPr/>
            <p:nvPr/>
          </p:nvSpPr>
          <p:spPr>
            <a:xfrm>
              <a:off x="437356" y="3207139"/>
              <a:ext cx="3194118" cy="184666"/>
            </a:xfrm>
            <a:prstGeom prst="rect">
              <a:avLst/>
            </a:prstGeom>
            <a:noFill/>
            <a:ln/>
          </p:spPr>
          <p:txBody>
            <a:bodyPr wrap="square" lIns="0" tIns="0" rIns="0" bIns="0" rtlCol="0" anchor="t">
              <a:spAutoFit/>
            </a:bodyPr>
            <a:lstStyle/>
            <a:p>
              <a:r>
                <a:rPr lang="en-US" sz="1200" dirty="0"/>
                <a:t>- </a:t>
              </a:r>
              <a:r>
                <a:rPr lang="en-US" sz="1200" b="1" dirty="0"/>
                <a:t>Unclear tax </a:t>
              </a:r>
              <a:r>
                <a:rPr lang="en-US" sz="1200" dirty="0"/>
                <a:t>treatment and legal status</a:t>
              </a:r>
            </a:p>
          </p:txBody>
        </p:sp>
      </p:grpSp>
      <p:grpSp>
        <p:nvGrpSpPr>
          <p:cNvPr id="87" name="Grupo 86">
            <a:extLst>
              <a:ext uri="{FF2B5EF4-FFF2-40B4-BE49-F238E27FC236}">
                <a16:creationId xmlns:a16="http://schemas.microsoft.com/office/drawing/2014/main" id="{3740966B-F3C3-12F7-FB8E-BEA980FB611F}"/>
              </a:ext>
            </a:extLst>
          </p:cNvPr>
          <p:cNvGrpSpPr/>
          <p:nvPr/>
        </p:nvGrpSpPr>
        <p:grpSpPr>
          <a:xfrm>
            <a:off x="342809" y="3694273"/>
            <a:ext cx="3367039" cy="1347627"/>
            <a:chOff x="342810" y="2296432"/>
            <a:chExt cx="3367039" cy="1347627"/>
          </a:xfrm>
        </p:grpSpPr>
        <p:sp>
          <p:nvSpPr>
            <p:cNvPr id="88" name="Shape 5">
              <a:extLst>
                <a:ext uri="{FF2B5EF4-FFF2-40B4-BE49-F238E27FC236}">
                  <a16:creationId xmlns:a16="http://schemas.microsoft.com/office/drawing/2014/main" id="{C55A3E7F-90AB-5646-B956-F0FFBB2C42F8}"/>
                </a:ext>
              </a:extLst>
            </p:cNvPr>
            <p:cNvSpPr/>
            <p:nvPr/>
          </p:nvSpPr>
          <p:spPr>
            <a:xfrm>
              <a:off x="342810" y="2296432"/>
              <a:ext cx="3367039" cy="1347627"/>
            </a:xfrm>
            <a:prstGeom prst="rect">
              <a:avLst/>
            </a:prstGeom>
            <a:solidFill>
              <a:srgbClr val="FFE5E5"/>
            </a:solidFill>
            <a:ln w="18288">
              <a:solidFill>
                <a:srgbClr val="C00000"/>
              </a:solidFill>
              <a:prstDash val="solid"/>
            </a:ln>
          </p:spPr>
          <p:txBody>
            <a:bodyPr/>
            <a:lstStyle/>
            <a:p>
              <a:endParaRPr lang="es-ES" sz="1200" dirty="0">
                <a:solidFill>
                  <a:srgbClr val="FF0000"/>
                </a:solidFill>
              </a:endParaRPr>
            </a:p>
          </p:txBody>
        </p:sp>
        <p:sp>
          <p:nvSpPr>
            <p:cNvPr id="89" name="Text 6">
              <a:extLst>
                <a:ext uri="{FF2B5EF4-FFF2-40B4-BE49-F238E27FC236}">
                  <a16:creationId xmlns:a16="http://schemas.microsoft.com/office/drawing/2014/main" id="{9B1E939B-ED4E-ED35-25B0-31FC5302B9A9}"/>
                </a:ext>
              </a:extLst>
            </p:cNvPr>
            <p:cNvSpPr/>
            <p:nvPr/>
          </p:nvSpPr>
          <p:spPr>
            <a:xfrm>
              <a:off x="437357" y="2434314"/>
              <a:ext cx="737701" cy="119520"/>
            </a:xfrm>
            <a:prstGeom prst="rect">
              <a:avLst/>
            </a:prstGeom>
            <a:noFill/>
            <a:ln/>
          </p:spPr>
          <p:txBody>
            <a:bodyPr wrap="none" lIns="0" tIns="0" rIns="0" bIns="0" rtlCol="0" anchor="t">
              <a:spAutoFit/>
            </a:bodyPr>
            <a:lstStyle/>
            <a:p>
              <a:pPr marL="0" indent="0" algn="ctr">
                <a:lnSpc>
                  <a:spcPts val="800"/>
                </a:lnSpc>
                <a:buNone/>
              </a:pPr>
              <a:r>
                <a:rPr lang="en-US" sz="1200" b="1" dirty="0">
                  <a:solidFill>
                    <a:srgbClr val="FF0000"/>
                  </a:solidFill>
                </a:rPr>
                <a:t>Scalability</a:t>
              </a:r>
              <a:endParaRPr lang="en-US" sz="1200" dirty="0">
                <a:solidFill>
                  <a:srgbClr val="FF0000"/>
                </a:solidFill>
              </a:endParaRPr>
            </a:p>
          </p:txBody>
        </p:sp>
        <p:sp>
          <p:nvSpPr>
            <p:cNvPr id="90" name="Text 7">
              <a:extLst>
                <a:ext uri="{FF2B5EF4-FFF2-40B4-BE49-F238E27FC236}">
                  <a16:creationId xmlns:a16="http://schemas.microsoft.com/office/drawing/2014/main" id="{A24FAAB3-D555-35AC-97E6-4F792AC9E05E}"/>
                </a:ext>
              </a:extLst>
            </p:cNvPr>
            <p:cNvSpPr/>
            <p:nvPr/>
          </p:nvSpPr>
          <p:spPr>
            <a:xfrm>
              <a:off x="437354" y="2586248"/>
              <a:ext cx="3194118" cy="369332"/>
            </a:xfrm>
            <a:prstGeom prst="rect">
              <a:avLst/>
            </a:prstGeom>
            <a:noFill/>
            <a:ln/>
          </p:spPr>
          <p:txBody>
            <a:bodyPr wrap="square" lIns="0" tIns="0" rIns="0" bIns="0" rtlCol="0" anchor="t">
              <a:spAutoFit/>
            </a:bodyPr>
            <a:lstStyle/>
            <a:p>
              <a:r>
                <a:rPr lang="en-US" sz="1200" dirty="0"/>
                <a:t>Current blockchains process fewer transactions than traditional systems.</a:t>
              </a:r>
            </a:p>
          </p:txBody>
        </p:sp>
        <p:sp>
          <p:nvSpPr>
            <p:cNvPr id="91" name="Text 7">
              <a:extLst>
                <a:ext uri="{FF2B5EF4-FFF2-40B4-BE49-F238E27FC236}">
                  <a16:creationId xmlns:a16="http://schemas.microsoft.com/office/drawing/2014/main" id="{74D99A66-BB7C-B516-A264-C1C778A01EA8}"/>
                </a:ext>
              </a:extLst>
            </p:cNvPr>
            <p:cNvSpPr/>
            <p:nvPr/>
          </p:nvSpPr>
          <p:spPr>
            <a:xfrm>
              <a:off x="437354" y="2994064"/>
              <a:ext cx="3194118" cy="184666"/>
            </a:xfrm>
            <a:prstGeom prst="rect">
              <a:avLst/>
            </a:prstGeom>
            <a:noFill/>
            <a:ln/>
          </p:spPr>
          <p:txBody>
            <a:bodyPr wrap="square" lIns="0" tIns="0" rIns="0" bIns="0" rtlCol="0" anchor="t">
              <a:spAutoFit/>
            </a:bodyPr>
            <a:lstStyle/>
            <a:p>
              <a:r>
                <a:rPr lang="en-US" sz="1200" dirty="0"/>
                <a:t>- </a:t>
              </a:r>
              <a:r>
                <a:rPr lang="fr-FR" sz="1200" dirty="0"/>
                <a:t>Bitcoin: </a:t>
              </a:r>
              <a:r>
                <a:rPr lang="fr-FR" sz="1200" b="1" dirty="0"/>
                <a:t>~7 transactions/sec </a:t>
              </a:r>
              <a:r>
                <a:rPr lang="fr-FR" sz="1200" dirty="0"/>
                <a:t>(Visa: ~65k/sec)</a:t>
              </a:r>
            </a:p>
          </p:txBody>
        </p:sp>
        <p:sp>
          <p:nvSpPr>
            <p:cNvPr id="92" name="Text 7">
              <a:extLst>
                <a:ext uri="{FF2B5EF4-FFF2-40B4-BE49-F238E27FC236}">
                  <a16:creationId xmlns:a16="http://schemas.microsoft.com/office/drawing/2014/main" id="{674FF48E-F24C-54B2-BAE0-E60AA830D58D}"/>
                </a:ext>
              </a:extLst>
            </p:cNvPr>
            <p:cNvSpPr/>
            <p:nvPr/>
          </p:nvSpPr>
          <p:spPr>
            <a:xfrm>
              <a:off x="437354" y="3420215"/>
              <a:ext cx="3194118" cy="184666"/>
            </a:xfrm>
            <a:prstGeom prst="rect">
              <a:avLst/>
            </a:prstGeom>
            <a:noFill/>
            <a:ln/>
          </p:spPr>
          <p:txBody>
            <a:bodyPr wrap="square" lIns="0" tIns="0" rIns="0" bIns="0" rtlCol="0" anchor="t">
              <a:spAutoFit/>
            </a:bodyPr>
            <a:lstStyle/>
            <a:p>
              <a:r>
                <a:rPr lang="en-US" sz="1200" dirty="0"/>
                <a:t>- Limits mass adoption for everyday payments</a:t>
              </a:r>
            </a:p>
          </p:txBody>
        </p:sp>
        <p:sp>
          <p:nvSpPr>
            <p:cNvPr id="93" name="Text 7">
              <a:extLst>
                <a:ext uri="{FF2B5EF4-FFF2-40B4-BE49-F238E27FC236}">
                  <a16:creationId xmlns:a16="http://schemas.microsoft.com/office/drawing/2014/main" id="{31783D5C-32E1-87C0-73F5-33E49E2D1477}"/>
                </a:ext>
              </a:extLst>
            </p:cNvPr>
            <p:cNvSpPr/>
            <p:nvPr/>
          </p:nvSpPr>
          <p:spPr>
            <a:xfrm>
              <a:off x="437356" y="3207139"/>
              <a:ext cx="3194118" cy="184666"/>
            </a:xfrm>
            <a:prstGeom prst="rect">
              <a:avLst/>
            </a:prstGeom>
            <a:noFill/>
            <a:ln/>
          </p:spPr>
          <p:txBody>
            <a:bodyPr wrap="square" lIns="0" tIns="0" rIns="0" bIns="0" rtlCol="0" anchor="t">
              <a:spAutoFit/>
            </a:bodyPr>
            <a:lstStyle/>
            <a:p>
              <a:r>
                <a:rPr lang="en-US" sz="1200" dirty="0"/>
                <a:t>- High </a:t>
              </a:r>
              <a:r>
                <a:rPr lang="en-US" sz="1200" b="1" dirty="0"/>
                <a:t>fees</a:t>
              </a:r>
              <a:r>
                <a:rPr lang="en-US" sz="1200" dirty="0"/>
                <a:t> during network </a:t>
              </a:r>
              <a:r>
                <a:rPr lang="en-US" sz="1200" b="1" dirty="0"/>
                <a:t>congestion</a:t>
              </a:r>
            </a:p>
          </p:txBody>
        </p:sp>
      </p:grpSp>
      <p:sp>
        <p:nvSpPr>
          <p:cNvPr id="100" name="Text 8">
            <a:extLst>
              <a:ext uri="{FF2B5EF4-FFF2-40B4-BE49-F238E27FC236}">
                <a16:creationId xmlns:a16="http://schemas.microsoft.com/office/drawing/2014/main" id="{144E6B0C-CEE9-84C8-72B3-CEDC924FB911}"/>
              </a:ext>
            </a:extLst>
          </p:cNvPr>
          <p:cNvSpPr/>
          <p:nvPr/>
        </p:nvSpPr>
        <p:spPr>
          <a:xfrm>
            <a:off x="3934174" y="1557739"/>
            <a:ext cx="246863" cy="267574"/>
          </a:xfrm>
          <a:prstGeom prst="rect">
            <a:avLst/>
          </a:prstGeom>
          <a:noFill/>
          <a:ln/>
        </p:spPr>
        <p:txBody>
          <a:bodyPr wrap="none" lIns="0" tIns="0" rIns="0" bIns="0" rtlCol="0" anchor="t">
            <a:spAutoFit/>
          </a:bodyPr>
          <a:lstStyle/>
          <a:p>
            <a:pPr marL="0" indent="0" algn="ctr">
              <a:lnSpc>
                <a:spcPts val="1600"/>
              </a:lnSpc>
              <a:buNone/>
            </a:pPr>
            <a:r>
              <a:rPr lang="en-US" sz="3200" dirty="0">
                <a:solidFill>
                  <a:srgbClr val="0055FF"/>
                </a:solidFill>
              </a:rPr>
              <a:t>→</a:t>
            </a:r>
            <a:endParaRPr lang="en-US" sz="3200" dirty="0"/>
          </a:p>
        </p:txBody>
      </p:sp>
      <p:sp>
        <p:nvSpPr>
          <p:cNvPr id="101" name="Text 8">
            <a:extLst>
              <a:ext uri="{FF2B5EF4-FFF2-40B4-BE49-F238E27FC236}">
                <a16:creationId xmlns:a16="http://schemas.microsoft.com/office/drawing/2014/main" id="{795644DA-7246-0490-568B-C79BC3EDA9F4}"/>
              </a:ext>
            </a:extLst>
          </p:cNvPr>
          <p:cNvSpPr/>
          <p:nvPr/>
        </p:nvSpPr>
        <p:spPr>
          <a:xfrm>
            <a:off x="3934173" y="2970245"/>
            <a:ext cx="246863" cy="267574"/>
          </a:xfrm>
          <a:prstGeom prst="rect">
            <a:avLst/>
          </a:prstGeom>
          <a:noFill/>
          <a:ln/>
        </p:spPr>
        <p:txBody>
          <a:bodyPr wrap="none" lIns="0" tIns="0" rIns="0" bIns="0" rtlCol="0" anchor="t">
            <a:spAutoFit/>
          </a:bodyPr>
          <a:lstStyle/>
          <a:p>
            <a:pPr marL="0" indent="0" algn="ctr">
              <a:lnSpc>
                <a:spcPts val="1600"/>
              </a:lnSpc>
              <a:buNone/>
            </a:pPr>
            <a:r>
              <a:rPr lang="en-US" sz="3200" dirty="0">
                <a:solidFill>
                  <a:srgbClr val="0055FF"/>
                </a:solidFill>
              </a:rPr>
              <a:t>→</a:t>
            </a:r>
            <a:endParaRPr lang="en-US" sz="3200" dirty="0"/>
          </a:p>
        </p:txBody>
      </p:sp>
      <p:sp>
        <p:nvSpPr>
          <p:cNvPr id="102" name="Text 8">
            <a:extLst>
              <a:ext uri="{FF2B5EF4-FFF2-40B4-BE49-F238E27FC236}">
                <a16:creationId xmlns:a16="http://schemas.microsoft.com/office/drawing/2014/main" id="{5F23B9E2-B8C2-3E98-DC20-972981EDC7A4}"/>
              </a:ext>
            </a:extLst>
          </p:cNvPr>
          <p:cNvSpPr/>
          <p:nvPr/>
        </p:nvSpPr>
        <p:spPr>
          <a:xfrm>
            <a:off x="3934172" y="4350451"/>
            <a:ext cx="246863" cy="267574"/>
          </a:xfrm>
          <a:prstGeom prst="rect">
            <a:avLst/>
          </a:prstGeom>
          <a:noFill/>
          <a:ln/>
        </p:spPr>
        <p:txBody>
          <a:bodyPr wrap="none" lIns="0" tIns="0" rIns="0" bIns="0" rtlCol="0" anchor="t">
            <a:spAutoFit/>
          </a:bodyPr>
          <a:lstStyle/>
          <a:p>
            <a:pPr marL="0" indent="0" algn="ctr">
              <a:lnSpc>
                <a:spcPts val="1600"/>
              </a:lnSpc>
              <a:buNone/>
            </a:pPr>
            <a:r>
              <a:rPr lang="en-US" sz="3200" dirty="0">
                <a:solidFill>
                  <a:srgbClr val="0055FF"/>
                </a:solidFill>
              </a:rPr>
              <a:t>→</a:t>
            </a:r>
            <a:endParaRPr lang="en-US" sz="3200" dirty="0"/>
          </a:p>
        </p:txBody>
      </p:sp>
      <p:grpSp>
        <p:nvGrpSpPr>
          <p:cNvPr id="113" name="Grupo 112">
            <a:extLst>
              <a:ext uri="{FF2B5EF4-FFF2-40B4-BE49-F238E27FC236}">
                <a16:creationId xmlns:a16="http://schemas.microsoft.com/office/drawing/2014/main" id="{77D3AA2B-7127-C9D7-3A41-A27476A67B9C}"/>
              </a:ext>
            </a:extLst>
          </p:cNvPr>
          <p:cNvGrpSpPr/>
          <p:nvPr/>
        </p:nvGrpSpPr>
        <p:grpSpPr>
          <a:xfrm>
            <a:off x="4405361" y="898591"/>
            <a:ext cx="4301283" cy="1347627"/>
            <a:chOff x="4405361" y="898591"/>
            <a:chExt cx="4301283" cy="1347627"/>
          </a:xfrm>
        </p:grpSpPr>
        <p:grpSp>
          <p:nvGrpSpPr>
            <p:cNvPr id="109" name="Grupo 108">
              <a:extLst>
                <a:ext uri="{FF2B5EF4-FFF2-40B4-BE49-F238E27FC236}">
                  <a16:creationId xmlns:a16="http://schemas.microsoft.com/office/drawing/2014/main" id="{041DD7EC-DA27-EB2D-6397-01375AB9BDE9}"/>
                </a:ext>
              </a:extLst>
            </p:cNvPr>
            <p:cNvGrpSpPr/>
            <p:nvPr/>
          </p:nvGrpSpPr>
          <p:grpSpPr>
            <a:xfrm>
              <a:off x="4405361" y="898591"/>
              <a:ext cx="4301283" cy="1347627"/>
              <a:chOff x="4405361" y="898591"/>
              <a:chExt cx="3367039" cy="1347627"/>
            </a:xfrm>
          </p:grpSpPr>
          <p:grpSp>
            <p:nvGrpSpPr>
              <p:cNvPr id="94" name="Grupo 93">
                <a:extLst>
                  <a:ext uri="{FF2B5EF4-FFF2-40B4-BE49-F238E27FC236}">
                    <a16:creationId xmlns:a16="http://schemas.microsoft.com/office/drawing/2014/main" id="{C980234D-374C-154E-18ED-932DB4B8D0D1}"/>
                  </a:ext>
                </a:extLst>
              </p:cNvPr>
              <p:cNvGrpSpPr/>
              <p:nvPr/>
            </p:nvGrpSpPr>
            <p:grpSpPr>
              <a:xfrm>
                <a:off x="4405361" y="898591"/>
                <a:ext cx="3367039" cy="1347627"/>
                <a:chOff x="421189" y="1043241"/>
                <a:chExt cx="3367039" cy="1347627"/>
              </a:xfrm>
            </p:grpSpPr>
            <p:sp>
              <p:nvSpPr>
                <p:cNvPr id="95" name="Shape 5">
                  <a:extLst>
                    <a:ext uri="{FF2B5EF4-FFF2-40B4-BE49-F238E27FC236}">
                      <a16:creationId xmlns:a16="http://schemas.microsoft.com/office/drawing/2014/main" id="{89B4D5D1-1AA0-61BE-14FA-404A0801323B}"/>
                    </a:ext>
                  </a:extLst>
                </p:cNvPr>
                <p:cNvSpPr/>
                <p:nvPr/>
              </p:nvSpPr>
              <p:spPr>
                <a:xfrm>
                  <a:off x="421189" y="1043241"/>
                  <a:ext cx="3367039" cy="1347627"/>
                </a:xfrm>
                <a:prstGeom prst="rect">
                  <a:avLst/>
                </a:prstGeom>
                <a:noFill/>
                <a:ln w="18288">
                  <a:solidFill>
                    <a:srgbClr val="0070C0"/>
                  </a:solidFill>
                  <a:prstDash val="solid"/>
                </a:ln>
              </p:spPr>
              <p:txBody>
                <a:bodyPr/>
                <a:lstStyle/>
                <a:p>
                  <a:endParaRPr lang="es-ES" sz="1200" dirty="0"/>
                </a:p>
              </p:txBody>
            </p:sp>
            <p:sp>
              <p:nvSpPr>
                <p:cNvPr id="97" name="Text 7">
                  <a:extLst>
                    <a:ext uri="{FF2B5EF4-FFF2-40B4-BE49-F238E27FC236}">
                      <a16:creationId xmlns:a16="http://schemas.microsoft.com/office/drawing/2014/main" id="{98346DC4-2D32-5D6C-3BDB-2031CB18E917}"/>
                    </a:ext>
                  </a:extLst>
                </p:cNvPr>
                <p:cNvSpPr/>
                <p:nvPr/>
              </p:nvSpPr>
              <p:spPr>
                <a:xfrm>
                  <a:off x="515733" y="1106308"/>
                  <a:ext cx="3194118" cy="369332"/>
                </a:xfrm>
                <a:prstGeom prst="rect">
                  <a:avLst/>
                </a:prstGeom>
                <a:noFill/>
                <a:ln/>
              </p:spPr>
              <p:txBody>
                <a:bodyPr wrap="square" lIns="0" tIns="0" rIns="0" bIns="0" rtlCol="0" anchor="t">
                  <a:spAutoFit/>
                </a:bodyPr>
                <a:lstStyle/>
                <a:p>
                  <a:r>
                    <a:rPr lang="en-US" sz="1200" dirty="0"/>
                    <a:t>Multiple approaches to reduce energy consumption while maintaining security.</a:t>
                  </a:r>
                </a:p>
              </p:txBody>
            </p:sp>
          </p:grpSp>
          <p:sp>
            <p:nvSpPr>
              <p:cNvPr id="106" name="Text 7">
                <a:extLst>
                  <a:ext uri="{FF2B5EF4-FFF2-40B4-BE49-F238E27FC236}">
                    <a16:creationId xmlns:a16="http://schemas.microsoft.com/office/drawing/2014/main" id="{AC71191C-1885-B72D-4F22-8FF4A6F7DBD0}"/>
                  </a:ext>
                </a:extLst>
              </p:cNvPr>
              <p:cNvSpPr/>
              <p:nvPr/>
            </p:nvSpPr>
            <p:spPr>
              <a:xfrm>
                <a:off x="4499905" y="1360884"/>
                <a:ext cx="3194118" cy="184666"/>
              </a:xfrm>
              <a:prstGeom prst="rect">
                <a:avLst/>
              </a:prstGeom>
              <a:noFill/>
              <a:ln/>
            </p:spPr>
            <p:txBody>
              <a:bodyPr wrap="square" lIns="0" tIns="0" rIns="0" bIns="0" rtlCol="0" anchor="t">
                <a:spAutoFit/>
              </a:bodyPr>
              <a:lstStyle/>
              <a:p>
                <a:r>
                  <a:rPr lang="en-US" sz="1200" dirty="0"/>
                  <a:t>- </a:t>
                </a:r>
                <a:r>
                  <a:rPr lang="en-US" sz="1200" b="1" dirty="0"/>
                  <a:t>Proof of Stake: </a:t>
                </a:r>
                <a:r>
                  <a:rPr lang="en-US" sz="1200" dirty="0"/>
                  <a:t>Ethereum PoW -&gt; </a:t>
                </a:r>
                <a:r>
                  <a:rPr lang="en-US" sz="1200" dirty="0" err="1"/>
                  <a:t>PoS</a:t>
                </a:r>
                <a:r>
                  <a:rPr lang="en-US" sz="1200" dirty="0"/>
                  <a:t>, reducing by 99.95%</a:t>
                </a:r>
              </a:p>
            </p:txBody>
          </p:sp>
          <p:sp>
            <p:nvSpPr>
              <p:cNvPr id="107" name="Text 7">
                <a:extLst>
                  <a:ext uri="{FF2B5EF4-FFF2-40B4-BE49-F238E27FC236}">
                    <a16:creationId xmlns:a16="http://schemas.microsoft.com/office/drawing/2014/main" id="{93D7D17F-D22F-C122-B8E6-650F4051FF2D}"/>
                  </a:ext>
                </a:extLst>
              </p:cNvPr>
              <p:cNvSpPr/>
              <p:nvPr/>
            </p:nvSpPr>
            <p:spPr>
              <a:xfrm>
                <a:off x="4499905" y="1787035"/>
                <a:ext cx="3194118" cy="184666"/>
              </a:xfrm>
              <a:prstGeom prst="rect">
                <a:avLst/>
              </a:prstGeom>
              <a:noFill/>
              <a:ln/>
            </p:spPr>
            <p:txBody>
              <a:bodyPr wrap="square" lIns="0" tIns="0" rIns="0" bIns="0" rtlCol="0" anchor="t">
                <a:spAutoFit/>
              </a:bodyPr>
              <a:lstStyle/>
              <a:p>
                <a:r>
                  <a:rPr lang="en-US" sz="1200" dirty="0"/>
                  <a:t>- </a:t>
                </a:r>
                <a:r>
                  <a:rPr lang="en-US" sz="1200" b="1" dirty="0"/>
                  <a:t>Layer 2 Solutions:</a:t>
                </a:r>
                <a:r>
                  <a:rPr lang="en-US" sz="1200" dirty="0"/>
                  <a:t> Reduce on-chain transactions</a:t>
                </a:r>
              </a:p>
            </p:txBody>
          </p:sp>
          <p:sp>
            <p:nvSpPr>
              <p:cNvPr id="108" name="Text 7">
                <a:extLst>
                  <a:ext uri="{FF2B5EF4-FFF2-40B4-BE49-F238E27FC236}">
                    <a16:creationId xmlns:a16="http://schemas.microsoft.com/office/drawing/2014/main" id="{DE92CEED-3266-D282-88DB-316923792546}"/>
                  </a:ext>
                </a:extLst>
              </p:cNvPr>
              <p:cNvSpPr/>
              <p:nvPr/>
            </p:nvSpPr>
            <p:spPr>
              <a:xfrm>
                <a:off x="4499907" y="1573959"/>
                <a:ext cx="3194118" cy="184666"/>
              </a:xfrm>
              <a:prstGeom prst="rect">
                <a:avLst/>
              </a:prstGeom>
              <a:noFill/>
              <a:ln/>
            </p:spPr>
            <p:txBody>
              <a:bodyPr wrap="square" lIns="0" tIns="0" rIns="0" bIns="0" rtlCol="0" anchor="t">
                <a:spAutoFit/>
              </a:bodyPr>
              <a:lstStyle/>
              <a:p>
                <a:r>
                  <a:rPr lang="en-US" sz="1200" dirty="0"/>
                  <a:t>- </a:t>
                </a:r>
                <a:r>
                  <a:rPr lang="en-US" sz="1200" b="1" dirty="0"/>
                  <a:t>Renewable Energy:</a:t>
                </a:r>
                <a:r>
                  <a:rPr lang="en-US" sz="1200" dirty="0"/>
                  <a:t> Mining powered by renewables</a:t>
                </a:r>
              </a:p>
            </p:txBody>
          </p:sp>
        </p:grpSp>
        <p:sp>
          <p:nvSpPr>
            <p:cNvPr id="112" name="Text 7">
              <a:extLst>
                <a:ext uri="{FF2B5EF4-FFF2-40B4-BE49-F238E27FC236}">
                  <a16:creationId xmlns:a16="http://schemas.microsoft.com/office/drawing/2014/main" id="{6582B0BA-F974-C935-8A70-D4026759CF04}"/>
                </a:ext>
              </a:extLst>
            </p:cNvPr>
            <p:cNvSpPr/>
            <p:nvPr/>
          </p:nvSpPr>
          <p:spPr>
            <a:xfrm>
              <a:off x="4515811" y="2006985"/>
              <a:ext cx="4080382" cy="215444"/>
            </a:xfrm>
            <a:prstGeom prst="rect">
              <a:avLst/>
            </a:prstGeom>
            <a:noFill/>
            <a:ln/>
          </p:spPr>
          <p:txBody>
            <a:bodyPr wrap="square" lIns="0" tIns="0" rIns="0" bIns="0" rtlCol="0" anchor="t">
              <a:spAutoFit/>
            </a:bodyPr>
            <a:lstStyle/>
            <a:p>
              <a:r>
                <a:rPr lang="en-US" sz="1400" b="1" dirty="0"/>
                <a:t>In Progress …</a:t>
              </a:r>
              <a:endParaRPr lang="en-US" sz="1200" dirty="0"/>
            </a:p>
          </p:txBody>
        </p:sp>
      </p:grpSp>
      <p:grpSp>
        <p:nvGrpSpPr>
          <p:cNvPr id="114" name="Grupo 113">
            <a:extLst>
              <a:ext uri="{FF2B5EF4-FFF2-40B4-BE49-F238E27FC236}">
                <a16:creationId xmlns:a16="http://schemas.microsoft.com/office/drawing/2014/main" id="{C0EA073E-0DE7-32BC-36F4-79C49F5A2554}"/>
              </a:ext>
            </a:extLst>
          </p:cNvPr>
          <p:cNvGrpSpPr/>
          <p:nvPr/>
        </p:nvGrpSpPr>
        <p:grpSpPr>
          <a:xfrm>
            <a:off x="4405361" y="2294882"/>
            <a:ext cx="4301283" cy="1347627"/>
            <a:chOff x="4405361" y="898591"/>
            <a:chExt cx="4301283" cy="1347627"/>
          </a:xfrm>
        </p:grpSpPr>
        <p:grpSp>
          <p:nvGrpSpPr>
            <p:cNvPr id="115" name="Grupo 114">
              <a:extLst>
                <a:ext uri="{FF2B5EF4-FFF2-40B4-BE49-F238E27FC236}">
                  <a16:creationId xmlns:a16="http://schemas.microsoft.com/office/drawing/2014/main" id="{F6ABB85E-4F60-5D81-8938-5E576C2B98B9}"/>
                </a:ext>
              </a:extLst>
            </p:cNvPr>
            <p:cNvGrpSpPr/>
            <p:nvPr/>
          </p:nvGrpSpPr>
          <p:grpSpPr>
            <a:xfrm>
              <a:off x="4405361" y="898591"/>
              <a:ext cx="4301283" cy="1347627"/>
              <a:chOff x="4405361" y="898591"/>
              <a:chExt cx="3367039" cy="1347627"/>
            </a:xfrm>
          </p:grpSpPr>
          <p:grpSp>
            <p:nvGrpSpPr>
              <p:cNvPr id="117" name="Grupo 116">
                <a:extLst>
                  <a:ext uri="{FF2B5EF4-FFF2-40B4-BE49-F238E27FC236}">
                    <a16:creationId xmlns:a16="http://schemas.microsoft.com/office/drawing/2014/main" id="{62831FEB-1097-4C92-77C2-E89533AE2128}"/>
                  </a:ext>
                </a:extLst>
              </p:cNvPr>
              <p:cNvGrpSpPr/>
              <p:nvPr/>
            </p:nvGrpSpPr>
            <p:grpSpPr>
              <a:xfrm>
                <a:off x="4405361" y="898591"/>
                <a:ext cx="3367039" cy="1347627"/>
                <a:chOff x="421189" y="1043241"/>
                <a:chExt cx="3367039" cy="1347627"/>
              </a:xfrm>
            </p:grpSpPr>
            <p:sp>
              <p:nvSpPr>
                <p:cNvPr id="121" name="Shape 5">
                  <a:extLst>
                    <a:ext uri="{FF2B5EF4-FFF2-40B4-BE49-F238E27FC236}">
                      <a16:creationId xmlns:a16="http://schemas.microsoft.com/office/drawing/2014/main" id="{AE5708C6-6F37-01C2-EA2C-5D1511F74688}"/>
                    </a:ext>
                  </a:extLst>
                </p:cNvPr>
                <p:cNvSpPr/>
                <p:nvPr/>
              </p:nvSpPr>
              <p:spPr>
                <a:xfrm>
                  <a:off x="421189" y="1043241"/>
                  <a:ext cx="3367039" cy="1347627"/>
                </a:xfrm>
                <a:prstGeom prst="rect">
                  <a:avLst/>
                </a:prstGeom>
                <a:noFill/>
                <a:ln w="18288">
                  <a:solidFill>
                    <a:srgbClr val="0070C0"/>
                  </a:solidFill>
                  <a:prstDash val="solid"/>
                </a:ln>
              </p:spPr>
              <p:txBody>
                <a:bodyPr/>
                <a:lstStyle/>
                <a:p>
                  <a:endParaRPr lang="es-ES" sz="1200" dirty="0"/>
                </a:p>
              </p:txBody>
            </p:sp>
            <p:sp>
              <p:nvSpPr>
                <p:cNvPr id="122" name="Text 7">
                  <a:extLst>
                    <a:ext uri="{FF2B5EF4-FFF2-40B4-BE49-F238E27FC236}">
                      <a16:creationId xmlns:a16="http://schemas.microsoft.com/office/drawing/2014/main" id="{E3FECE65-FD55-C5EB-BF0D-46CE40EBA866}"/>
                    </a:ext>
                  </a:extLst>
                </p:cNvPr>
                <p:cNvSpPr/>
                <p:nvPr/>
              </p:nvSpPr>
              <p:spPr>
                <a:xfrm>
                  <a:off x="515733" y="1106308"/>
                  <a:ext cx="3194118" cy="369332"/>
                </a:xfrm>
                <a:prstGeom prst="rect">
                  <a:avLst/>
                </a:prstGeom>
                <a:noFill/>
                <a:ln/>
              </p:spPr>
              <p:txBody>
                <a:bodyPr wrap="square" lIns="0" tIns="0" rIns="0" bIns="0" rtlCol="0" anchor="t">
                  <a:spAutoFit/>
                </a:bodyPr>
                <a:lstStyle/>
                <a:p>
                  <a:r>
                    <a:rPr lang="en-US" sz="1200" dirty="0"/>
                    <a:t>Governments and industry working toward balanced regulatory frameworks.</a:t>
                  </a:r>
                </a:p>
              </p:txBody>
            </p:sp>
          </p:grpSp>
          <p:sp>
            <p:nvSpPr>
              <p:cNvPr id="118" name="Text 7">
                <a:extLst>
                  <a:ext uri="{FF2B5EF4-FFF2-40B4-BE49-F238E27FC236}">
                    <a16:creationId xmlns:a16="http://schemas.microsoft.com/office/drawing/2014/main" id="{0ED3FA82-77B9-D3A8-34B9-79ACBEBC4879}"/>
                  </a:ext>
                </a:extLst>
              </p:cNvPr>
              <p:cNvSpPr/>
              <p:nvPr/>
            </p:nvSpPr>
            <p:spPr>
              <a:xfrm>
                <a:off x="4499905" y="1360884"/>
                <a:ext cx="3194118" cy="184666"/>
              </a:xfrm>
              <a:prstGeom prst="rect">
                <a:avLst/>
              </a:prstGeom>
              <a:noFill/>
              <a:ln/>
            </p:spPr>
            <p:txBody>
              <a:bodyPr wrap="square" lIns="0" tIns="0" rIns="0" bIns="0" rtlCol="0" anchor="t">
                <a:spAutoFit/>
              </a:bodyPr>
              <a:lstStyle/>
              <a:p>
                <a:r>
                  <a:rPr lang="en-US" sz="1200" dirty="0"/>
                  <a:t>- </a:t>
                </a:r>
                <a:r>
                  <a:rPr lang="en-US" sz="1200" b="1" dirty="0"/>
                  <a:t>Regulatory Clarity:</a:t>
                </a:r>
                <a:r>
                  <a:rPr lang="en-US" sz="1200" dirty="0"/>
                  <a:t> EU, US frameworks (MiCA law - 2023)</a:t>
                </a:r>
              </a:p>
            </p:txBody>
          </p:sp>
          <p:sp>
            <p:nvSpPr>
              <p:cNvPr id="119" name="Text 7">
                <a:extLst>
                  <a:ext uri="{FF2B5EF4-FFF2-40B4-BE49-F238E27FC236}">
                    <a16:creationId xmlns:a16="http://schemas.microsoft.com/office/drawing/2014/main" id="{ABC87EA2-EA30-ED66-052E-C1399C13A4EA}"/>
                  </a:ext>
                </a:extLst>
              </p:cNvPr>
              <p:cNvSpPr/>
              <p:nvPr/>
            </p:nvSpPr>
            <p:spPr>
              <a:xfrm>
                <a:off x="4499905" y="1787035"/>
                <a:ext cx="3194118" cy="184666"/>
              </a:xfrm>
              <a:prstGeom prst="rect">
                <a:avLst/>
              </a:prstGeom>
              <a:noFill/>
              <a:ln/>
            </p:spPr>
            <p:txBody>
              <a:bodyPr wrap="square" lIns="0" tIns="0" rIns="0" bIns="0" rtlCol="0" anchor="t">
                <a:spAutoFit/>
              </a:bodyPr>
              <a:lstStyle/>
              <a:p>
                <a:r>
                  <a:rPr lang="en-US" sz="1200" dirty="0"/>
                  <a:t>- </a:t>
                </a:r>
                <a:r>
                  <a:rPr lang="en-US" sz="1200" b="1" dirty="0"/>
                  <a:t>Institutional Adoption: </a:t>
                </a:r>
                <a:r>
                  <a:rPr lang="en-US" sz="1200" dirty="0"/>
                  <a:t>Mainstream acceptance increasing</a:t>
                </a:r>
              </a:p>
            </p:txBody>
          </p:sp>
          <p:sp>
            <p:nvSpPr>
              <p:cNvPr id="120" name="Text 7">
                <a:extLst>
                  <a:ext uri="{FF2B5EF4-FFF2-40B4-BE49-F238E27FC236}">
                    <a16:creationId xmlns:a16="http://schemas.microsoft.com/office/drawing/2014/main" id="{A9F718D7-A653-0643-4B3A-6FFB1FF24104}"/>
                  </a:ext>
                </a:extLst>
              </p:cNvPr>
              <p:cNvSpPr/>
              <p:nvPr/>
            </p:nvSpPr>
            <p:spPr>
              <a:xfrm>
                <a:off x="4499907" y="1573959"/>
                <a:ext cx="3264410" cy="184666"/>
              </a:xfrm>
              <a:prstGeom prst="rect">
                <a:avLst/>
              </a:prstGeom>
              <a:noFill/>
              <a:ln/>
            </p:spPr>
            <p:txBody>
              <a:bodyPr wrap="square" lIns="0" tIns="0" rIns="0" bIns="0" rtlCol="0" anchor="t">
                <a:spAutoFit/>
              </a:bodyPr>
              <a:lstStyle/>
              <a:p>
                <a:r>
                  <a:rPr lang="en-US" sz="1200" dirty="0"/>
                  <a:t>- </a:t>
                </a:r>
                <a:r>
                  <a:rPr lang="en-US" sz="1200" b="1" dirty="0"/>
                  <a:t>Industry Standards:</a:t>
                </a:r>
                <a:r>
                  <a:rPr lang="en-US" sz="1200" dirty="0"/>
                  <a:t> Best practices emerging for compliance</a:t>
                </a:r>
              </a:p>
            </p:txBody>
          </p:sp>
        </p:grpSp>
        <p:sp>
          <p:nvSpPr>
            <p:cNvPr id="116" name="Text 7">
              <a:extLst>
                <a:ext uri="{FF2B5EF4-FFF2-40B4-BE49-F238E27FC236}">
                  <a16:creationId xmlns:a16="http://schemas.microsoft.com/office/drawing/2014/main" id="{155C29AF-D03B-7734-AD4F-867B3D12FB40}"/>
                </a:ext>
              </a:extLst>
            </p:cNvPr>
            <p:cNvSpPr/>
            <p:nvPr/>
          </p:nvSpPr>
          <p:spPr>
            <a:xfrm>
              <a:off x="4515811" y="2006985"/>
              <a:ext cx="4080382" cy="215444"/>
            </a:xfrm>
            <a:prstGeom prst="rect">
              <a:avLst/>
            </a:prstGeom>
            <a:noFill/>
            <a:ln/>
          </p:spPr>
          <p:txBody>
            <a:bodyPr wrap="square" lIns="0" tIns="0" rIns="0" bIns="0" rtlCol="0" anchor="t">
              <a:spAutoFit/>
            </a:bodyPr>
            <a:lstStyle/>
            <a:p>
              <a:r>
                <a:rPr lang="en-US" sz="1400" b="1" dirty="0"/>
                <a:t>Emerging</a:t>
              </a:r>
              <a:endParaRPr lang="en-US" sz="1200" dirty="0"/>
            </a:p>
          </p:txBody>
        </p:sp>
      </p:grpSp>
      <p:grpSp>
        <p:nvGrpSpPr>
          <p:cNvPr id="123" name="Grupo 122">
            <a:extLst>
              <a:ext uri="{FF2B5EF4-FFF2-40B4-BE49-F238E27FC236}">
                <a16:creationId xmlns:a16="http://schemas.microsoft.com/office/drawing/2014/main" id="{490F9D14-F66B-2D32-8211-F0089A425D93}"/>
              </a:ext>
            </a:extLst>
          </p:cNvPr>
          <p:cNvGrpSpPr/>
          <p:nvPr/>
        </p:nvGrpSpPr>
        <p:grpSpPr>
          <a:xfrm>
            <a:off x="4405361" y="3694273"/>
            <a:ext cx="4301283" cy="1347627"/>
            <a:chOff x="4405361" y="898591"/>
            <a:chExt cx="4301283" cy="1347627"/>
          </a:xfrm>
        </p:grpSpPr>
        <p:grpSp>
          <p:nvGrpSpPr>
            <p:cNvPr id="124" name="Grupo 123">
              <a:extLst>
                <a:ext uri="{FF2B5EF4-FFF2-40B4-BE49-F238E27FC236}">
                  <a16:creationId xmlns:a16="http://schemas.microsoft.com/office/drawing/2014/main" id="{5FB533A2-223C-861D-AC21-980545E6BFDC}"/>
                </a:ext>
              </a:extLst>
            </p:cNvPr>
            <p:cNvGrpSpPr/>
            <p:nvPr/>
          </p:nvGrpSpPr>
          <p:grpSpPr>
            <a:xfrm>
              <a:off x="4405361" y="898591"/>
              <a:ext cx="4301283" cy="1347627"/>
              <a:chOff x="4405361" y="898591"/>
              <a:chExt cx="3367039" cy="1347627"/>
            </a:xfrm>
          </p:grpSpPr>
          <p:grpSp>
            <p:nvGrpSpPr>
              <p:cNvPr id="126" name="Grupo 125">
                <a:extLst>
                  <a:ext uri="{FF2B5EF4-FFF2-40B4-BE49-F238E27FC236}">
                    <a16:creationId xmlns:a16="http://schemas.microsoft.com/office/drawing/2014/main" id="{4218C091-219A-D51F-E615-82455EFE6F9C}"/>
                  </a:ext>
                </a:extLst>
              </p:cNvPr>
              <p:cNvGrpSpPr/>
              <p:nvPr/>
            </p:nvGrpSpPr>
            <p:grpSpPr>
              <a:xfrm>
                <a:off x="4405361" y="898591"/>
                <a:ext cx="3367039" cy="1347627"/>
                <a:chOff x="421189" y="1043241"/>
                <a:chExt cx="3367039" cy="1347627"/>
              </a:xfrm>
            </p:grpSpPr>
            <p:sp>
              <p:nvSpPr>
                <p:cNvPr id="130" name="Shape 5">
                  <a:extLst>
                    <a:ext uri="{FF2B5EF4-FFF2-40B4-BE49-F238E27FC236}">
                      <a16:creationId xmlns:a16="http://schemas.microsoft.com/office/drawing/2014/main" id="{DBC64B3D-1ACD-D98B-EB92-C87CD45A8FDE}"/>
                    </a:ext>
                  </a:extLst>
                </p:cNvPr>
                <p:cNvSpPr/>
                <p:nvPr/>
              </p:nvSpPr>
              <p:spPr>
                <a:xfrm>
                  <a:off x="421189" y="1043241"/>
                  <a:ext cx="3367039" cy="1347627"/>
                </a:xfrm>
                <a:prstGeom prst="rect">
                  <a:avLst/>
                </a:prstGeom>
                <a:noFill/>
                <a:ln w="18288">
                  <a:solidFill>
                    <a:srgbClr val="0070C0"/>
                  </a:solidFill>
                  <a:prstDash val="solid"/>
                </a:ln>
              </p:spPr>
              <p:txBody>
                <a:bodyPr/>
                <a:lstStyle/>
                <a:p>
                  <a:endParaRPr lang="es-ES" sz="1200" dirty="0"/>
                </a:p>
              </p:txBody>
            </p:sp>
            <p:sp>
              <p:nvSpPr>
                <p:cNvPr id="131" name="Text 7">
                  <a:extLst>
                    <a:ext uri="{FF2B5EF4-FFF2-40B4-BE49-F238E27FC236}">
                      <a16:creationId xmlns:a16="http://schemas.microsoft.com/office/drawing/2014/main" id="{0FD63114-1356-D3CF-E82B-A8E9B73AC492}"/>
                    </a:ext>
                  </a:extLst>
                </p:cNvPr>
                <p:cNvSpPr/>
                <p:nvPr/>
              </p:nvSpPr>
              <p:spPr>
                <a:xfrm>
                  <a:off x="515733" y="1106308"/>
                  <a:ext cx="3194118" cy="369332"/>
                </a:xfrm>
                <a:prstGeom prst="rect">
                  <a:avLst/>
                </a:prstGeom>
                <a:noFill/>
                <a:ln/>
              </p:spPr>
              <p:txBody>
                <a:bodyPr wrap="square" lIns="0" tIns="0" rIns="0" bIns="0" rtlCol="0" anchor="t">
                  <a:spAutoFit/>
                </a:bodyPr>
                <a:lstStyle/>
                <a:p>
                  <a:r>
                    <a:rPr lang="en-US" sz="1200" dirty="0"/>
                    <a:t>Multiple scaling solutions at various stages of implementation.</a:t>
                  </a:r>
                </a:p>
              </p:txBody>
            </p:sp>
          </p:grpSp>
          <p:sp>
            <p:nvSpPr>
              <p:cNvPr id="127" name="Text 7">
                <a:extLst>
                  <a:ext uri="{FF2B5EF4-FFF2-40B4-BE49-F238E27FC236}">
                    <a16:creationId xmlns:a16="http://schemas.microsoft.com/office/drawing/2014/main" id="{1CE4D82D-B644-F1B3-9054-164585550806}"/>
                  </a:ext>
                </a:extLst>
              </p:cNvPr>
              <p:cNvSpPr/>
              <p:nvPr/>
            </p:nvSpPr>
            <p:spPr>
              <a:xfrm>
                <a:off x="4499905" y="1360884"/>
                <a:ext cx="3194118" cy="184666"/>
              </a:xfrm>
              <a:prstGeom prst="rect">
                <a:avLst/>
              </a:prstGeom>
              <a:noFill/>
              <a:ln/>
            </p:spPr>
            <p:txBody>
              <a:bodyPr wrap="square" lIns="0" tIns="0" rIns="0" bIns="0" rtlCol="0" anchor="t">
                <a:spAutoFit/>
              </a:bodyPr>
              <a:lstStyle/>
              <a:p>
                <a:r>
                  <a:rPr lang="en-US" sz="1200" dirty="0"/>
                  <a:t>- </a:t>
                </a:r>
                <a:r>
                  <a:rPr lang="en-US" sz="1200" b="1" dirty="0"/>
                  <a:t>Layer 2: </a:t>
                </a:r>
                <a:r>
                  <a:rPr lang="en-US" sz="1200" dirty="0"/>
                  <a:t>Lightning Network, Rollups (1000s </a:t>
                </a:r>
                <a:r>
                  <a:rPr lang="en-US" sz="1200" dirty="0" err="1"/>
                  <a:t>tx</a:t>
                </a:r>
                <a:r>
                  <a:rPr lang="en-US" sz="1200" dirty="0"/>
                  <a:t>/sec)</a:t>
                </a:r>
              </a:p>
            </p:txBody>
          </p:sp>
          <p:sp>
            <p:nvSpPr>
              <p:cNvPr id="128" name="Text 7">
                <a:extLst>
                  <a:ext uri="{FF2B5EF4-FFF2-40B4-BE49-F238E27FC236}">
                    <a16:creationId xmlns:a16="http://schemas.microsoft.com/office/drawing/2014/main" id="{17F7A7FB-9364-2996-1872-7E0694FA651A}"/>
                  </a:ext>
                </a:extLst>
              </p:cNvPr>
              <p:cNvSpPr/>
              <p:nvPr/>
            </p:nvSpPr>
            <p:spPr>
              <a:xfrm>
                <a:off x="4499905" y="1787035"/>
                <a:ext cx="3122750" cy="369332"/>
              </a:xfrm>
              <a:prstGeom prst="rect">
                <a:avLst/>
              </a:prstGeom>
              <a:noFill/>
              <a:ln/>
            </p:spPr>
            <p:txBody>
              <a:bodyPr wrap="square" lIns="0" tIns="0" rIns="0" bIns="0" rtlCol="0" anchor="t">
                <a:spAutoFit/>
              </a:bodyPr>
              <a:lstStyle/>
              <a:p>
                <a:r>
                  <a:rPr lang="en-US" sz="1200" dirty="0"/>
                  <a:t>- </a:t>
                </a:r>
                <a:r>
                  <a:rPr lang="en-US" sz="1200" b="1" dirty="0"/>
                  <a:t>New Consensus: </a:t>
                </a:r>
                <a:r>
                  <a:rPr lang="en-US" sz="1200" dirty="0"/>
                  <a:t>New mechanisms improving throughput</a:t>
                </a:r>
              </a:p>
              <a:p>
                <a:endParaRPr lang="en-US" sz="1200" dirty="0"/>
              </a:p>
            </p:txBody>
          </p:sp>
          <p:sp>
            <p:nvSpPr>
              <p:cNvPr id="129" name="Text 7">
                <a:extLst>
                  <a:ext uri="{FF2B5EF4-FFF2-40B4-BE49-F238E27FC236}">
                    <a16:creationId xmlns:a16="http://schemas.microsoft.com/office/drawing/2014/main" id="{F32A9F71-D7F6-5E76-4D23-D399EFD15B8E}"/>
                  </a:ext>
                </a:extLst>
              </p:cNvPr>
              <p:cNvSpPr/>
              <p:nvPr/>
            </p:nvSpPr>
            <p:spPr>
              <a:xfrm>
                <a:off x="4499907" y="1573959"/>
                <a:ext cx="3264410" cy="184666"/>
              </a:xfrm>
              <a:prstGeom prst="rect">
                <a:avLst/>
              </a:prstGeom>
              <a:noFill/>
              <a:ln/>
            </p:spPr>
            <p:txBody>
              <a:bodyPr wrap="square" lIns="0" tIns="0" rIns="0" bIns="0" rtlCol="0" anchor="t">
                <a:spAutoFit/>
              </a:bodyPr>
              <a:lstStyle/>
              <a:p>
                <a:r>
                  <a:rPr lang="en-US" sz="1200" dirty="0"/>
                  <a:t>- </a:t>
                </a:r>
                <a:r>
                  <a:rPr lang="en-US" sz="1200" b="1" dirty="0"/>
                  <a:t>Sharding: </a:t>
                </a:r>
                <a:r>
                  <a:rPr lang="en-US" sz="1200" dirty="0"/>
                  <a:t>Parallel processing (Ethereum 2.0)</a:t>
                </a:r>
              </a:p>
            </p:txBody>
          </p:sp>
        </p:grpSp>
        <p:sp>
          <p:nvSpPr>
            <p:cNvPr id="125" name="Text 7">
              <a:extLst>
                <a:ext uri="{FF2B5EF4-FFF2-40B4-BE49-F238E27FC236}">
                  <a16:creationId xmlns:a16="http://schemas.microsoft.com/office/drawing/2014/main" id="{345FFDFB-C552-E04B-AE0E-BC3D4A87F49C}"/>
                </a:ext>
              </a:extLst>
            </p:cNvPr>
            <p:cNvSpPr/>
            <p:nvPr/>
          </p:nvSpPr>
          <p:spPr>
            <a:xfrm>
              <a:off x="4515811" y="2006985"/>
              <a:ext cx="4080382" cy="215444"/>
            </a:xfrm>
            <a:prstGeom prst="rect">
              <a:avLst/>
            </a:prstGeom>
            <a:noFill/>
            <a:ln/>
          </p:spPr>
          <p:txBody>
            <a:bodyPr wrap="square" lIns="0" tIns="0" rIns="0" bIns="0" rtlCol="0" anchor="t">
              <a:spAutoFit/>
            </a:bodyPr>
            <a:lstStyle/>
            <a:p>
              <a:r>
                <a:rPr lang="en-US" sz="1400" b="1" dirty="0"/>
                <a:t>Active Development</a:t>
              </a:r>
            </a:p>
          </p:txBody>
        </p:sp>
      </p:grpSp>
    </p:spTree>
    <p:extLst>
      <p:ext uri="{BB962C8B-B14F-4D97-AF65-F5344CB8AC3E}">
        <p14:creationId xmlns:p14="http://schemas.microsoft.com/office/powerpoint/2010/main" val="503470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animBg="1"/>
      <p:bldP spid="10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nvSpPr>
        <p:spPr>
          <a:xfrm>
            <a:off x="571500" y="428625"/>
            <a:ext cx="6410409" cy="394275"/>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rPr>
              <a:t>The Programmable Trust: Four Key Takeaways</a:t>
            </a:r>
            <a:endParaRPr lang="en-US" sz="2436" dirty="0"/>
          </a:p>
        </p:txBody>
      </p:sp>
      <p:sp>
        <p:nvSpPr>
          <p:cNvPr id="4" name="Text 1"/>
          <p:cNvSpPr/>
          <p:nvPr/>
        </p:nvSpPr>
        <p:spPr>
          <a:xfrm>
            <a:off x="571500" y="966192"/>
            <a:ext cx="4132542" cy="165173"/>
          </a:xfrm>
          <a:prstGeom prst="rect">
            <a:avLst/>
          </a:prstGeom>
          <a:noFill/>
          <a:ln/>
        </p:spPr>
        <p:txBody>
          <a:bodyPr wrap="none" lIns="0" tIns="0" rIns="0" bIns="0" rtlCol="0" anchor="t">
            <a:spAutoFit/>
          </a:bodyPr>
          <a:lstStyle/>
          <a:p>
            <a:pPr marL="0" indent="0" algn="l">
              <a:lnSpc>
                <a:spcPts val="1200"/>
              </a:lnSpc>
              <a:buNone/>
            </a:pPr>
            <a:r>
              <a:rPr lang="en-US" sz="1400" dirty="0">
                <a:solidFill>
                  <a:srgbClr val="333333"/>
                </a:solidFill>
              </a:rPr>
              <a:t>Essential concepts that define blockchain technology</a:t>
            </a:r>
            <a:endParaRPr lang="en-US" sz="1400" dirty="0"/>
          </a:p>
        </p:txBody>
      </p:sp>
      <p:sp>
        <p:nvSpPr>
          <p:cNvPr id="5" name="Shape 2"/>
          <p:cNvSpPr/>
          <p:nvPr/>
        </p:nvSpPr>
        <p:spPr>
          <a:xfrm>
            <a:off x="571500" y="1426964"/>
            <a:ext cx="357188" cy="357188"/>
          </a:xfrm>
          <a:prstGeom prst="rect">
            <a:avLst/>
          </a:prstGeom>
          <a:solidFill>
            <a:srgbClr val="0055FF"/>
          </a:solidFill>
          <a:ln/>
        </p:spPr>
        <p:txBody>
          <a:bodyPr/>
          <a:lstStyle/>
          <a:p>
            <a:endParaRPr lang="es-ES" sz="2000"/>
          </a:p>
        </p:txBody>
      </p:sp>
      <p:sp>
        <p:nvSpPr>
          <p:cNvPr id="6" name="Text 3"/>
          <p:cNvSpPr/>
          <p:nvPr/>
        </p:nvSpPr>
        <p:spPr>
          <a:xfrm>
            <a:off x="571500" y="1507326"/>
            <a:ext cx="357188" cy="196464"/>
          </a:xfrm>
          <a:prstGeom prst="rect">
            <a:avLst/>
          </a:prstGeom>
          <a:noFill/>
          <a:ln/>
        </p:spPr>
        <p:txBody>
          <a:bodyPr wrap="square" lIns="0" tIns="0" rIns="0" bIns="0" rtlCol="0" anchor="ctr">
            <a:spAutoFit/>
          </a:bodyPr>
          <a:lstStyle/>
          <a:p>
            <a:pPr marL="0" indent="0" algn="ctr">
              <a:lnSpc>
                <a:spcPts val="1600"/>
              </a:lnSpc>
              <a:buNone/>
            </a:pPr>
            <a:r>
              <a:rPr lang="en-US" sz="1200" b="1" dirty="0">
                <a:solidFill>
                  <a:srgbClr val="FFFFFF"/>
                </a:solidFill>
              </a:rPr>
              <a:t>1</a:t>
            </a:r>
            <a:endParaRPr lang="en-US" sz="1200" dirty="0"/>
          </a:p>
        </p:txBody>
      </p:sp>
      <p:sp>
        <p:nvSpPr>
          <p:cNvPr id="7" name="Text 4"/>
          <p:cNvSpPr/>
          <p:nvPr/>
        </p:nvSpPr>
        <p:spPr>
          <a:xfrm>
            <a:off x="1071563" y="1426964"/>
            <a:ext cx="1939056" cy="148374"/>
          </a:xfrm>
          <a:prstGeom prst="rect">
            <a:avLst/>
          </a:prstGeom>
          <a:noFill/>
          <a:ln/>
        </p:spPr>
        <p:txBody>
          <a:bodyPr wrap="square" lIns="0" tIns="0" rIns="0" bIns="0" rtlCol="0" anchor="t">
            <a:spAutoFit/>
          </a:bodyPr>
          <a:lstStyle/>
          <a:p>
            <a:pPr marL="0" indent="0" algn="l">
              <a:lnSpc>
                <a:spcPts val="1100"/>
              </a:lnSpc>
              <a:buNone/>
            </a:pPr>
            <a:r>
              <a:rPr lang="en-US" sz="1200" b="1" dirty="0">
                <a:solidFill>
                  <a:srgbClr val="1A1A1A"/>
                </a:solidFill>
              </a:rPr>
              <a:t>Decentralized Ledger</a:t>
            </a:r>
            <a:endParaRPr lang="en-US" sz="1200" dirty="0"/>
          </a:p>
        </p:txBody>
      </p:sp>
      <p:sp>
        <p:nvSpPr>
          <p:cNvPr id="8" name="Text 5"/>
          <p:cNvSpPr/>
          <p:nvPr/>
        </p:nvSpPr>
        <p:spPr>
          <a:xfrm>
            <a:off x="1071563" y="1639490"/>
            <a:ext cx="7917162" cy="311880"/>
          </a:xfrm>
          <a:prstGeom prst="rect">
            <a:avLst/>
          </a:prstGeom>
          <a:noFill/>
          <a:ln/>
        </p:spPr>
        <p:txBody>
          <a:bodyPr wrap="square" lIns="0" tIns="0" rIns="0" bIns="0" rtlCol="0" anchor="t">
            <a:spAutoFit/>
          </a:bodyPr>
          <a:lstStyle/>
          <a:p>
            <a:pPr marL="0" indent="0" algn="l">
              <a:lnSpc>
                <a:spcPts val="1200"/>
              </a:lnSpc>
              <a:buNone/>
            </a:pPr>
            <a:r>
              <a:rPr lang="en-US" sz="1200" dirty="0">
                <a:solidFill>
                  <a:srgbClr val="333333"/>
                </a:solidFill>
              </a:rPr>
              <a:t>Blockchain is a distributed database replicated across many nodes. No single entity controls it. Everyone has a copy, and everyone can verify the data.</a:t>
            </a:r>
            <a:endParaRPr lang="en-US" sz="1200" dirty="0"/>
          </a:p>
        </p:txBody>
      </p:sp>
      <p:sp>
        <p:nvSpPr>
          <p:cNvPr id="9" name="Shape 6"/>
          <p:cNvSpPr/>
          <p:nvPr/>
        </p:nvSpPr>
        <p:spPr>
          <a:xfrm>
            <a:off x="571500" y="2003281"/>
            <a:ext cx="357188" cy="357188"/>
          </a:xfrm>
          <a:prstGeom prst="rect">
            <a:avLst/>
          </a:prstGeom>
          <a:solidFill>
            <a:srgbClr val="0055FF"/>
          </a:solidFill>
          <a:ln/>
        </p:spPr>
        <p:txBody>
          <a:bodyPr/>
          <a:lstStyle/>
          <a:p>
            <a:endParaRPr lang="es-ES" sz="2000"/>
          </a:p>
        </p:txBody>
      </p:sp>
      <p:sp>
        <p:nvSpPr>
          <p:cNvPr id="10" name="Text 7"/>
          <p:cNvSpPr/>
          <p:nvPr/>
        </p:nvSpPr>
        <p:spPr>
          <a:xfrm>
            <a:off x="571500" y="2083643"/>
            <a:ext cx="357188" cy="196464"/>
          </a:xfrm>
          <a:prstGeom prst="rect">
            <a:avLst/>
          </a:prstGeom>
          <a:noFill/>
          <a:ln/>
        </p:spPr>
        <p:txBody>
          <a:bodyPr wrap="square" lIns="0" tIns="0" rIns="0" bIns="0" rtlCol="0" anchor="ctr">
            <a:spAutoFit/>
          </a:bodyPr>
          <a:lstStyle/>
          <a:p>
            <a:pPr marL="0" indent="0" algn="ctr">
              <a:lnSpc>
                <a:spcPts val="1600"/>
              </a:lnSpc>
              <a:buNone/>
            </a:pPr>
            <a:r>
              <a:rPr lang="en-US" sz="1200" b="1" dirty="0">
                <a:solidFill>
                  <a:srgbClr val="FFFFFF"/>
                </a:solidFill>
              </a:rPr>
              <a:t>2</a:t>
            </a:r>
            <a:endParaRPr lang="en-US" sz="1200" dirty="0"/>
          </a:p>
        </p:txBody>
      </p:sp>
      <p:sp>
        <p:nvSpPr>
          <p:cNvPr id="11" name="Text 8"/>
          <p:cNvSpPr/>
          <p:nvPr/>
        </p:nvSpPr>
        <p:spPr>
          <a:xfrm>
            <a:off x="1071562" y="2003281"/>
            <a:ext cx="1663011" cy="148374"/>
          </a:xfrm>
          <a:prstGeom prst="rect">
            <a:avLst/>
          </a:prstGeom>
          <a:noFill/>
          <a:ln/>
        </p:spPr>
        <p:txBody>
          <a:bodyPr wrap="square" lIns="0" tIns="0" rIns="0" bIns="0" rtlCol="0" anchor="t">
            <a:spAutoFit/>
          </a:bodyPr>
          <a:lstStyle/>
          <a:p>
            <a:pPr marL="0" indent="0" algn="l">
              <a:lnSpc>
                <a:spcPts val="1100"/>
              </a:lnSpc>
              <a:buNone/>
            </a:pPr>
            <a:r>
              <a:rPr lang="en-US" sz="1200" b="1" dirty="0">
                <a:solidFill>
                  <a:srgbClr val="1A1A1A"/>
                </a:solidFill>
              </a:rPr>
              <a:t>Cryptographic Security</a:t>
            </a:r>
            <a:endParaRPr lang="en-US" sz="1200" dirty="0"/>
          </a:p>
        </p:txBody>
      </p:sp>
      <p:sp>
        <p:nvSpPr>
          <p:cNvPr id="12" name="Text 9"/>
          <p:cNvSpPr/>
          <p:nvPr/>
        </p:nvSpPr>
        <p:spPr>
          <a:xfrm>
            <a:off x="1071564" y="2215806"/>
            <a:ext cx="6626158" cy="311880"/>
          </a:xfrm>
          <a:prstGeom prst="rect">
            <a:avLst/>
          </a:prstGeom>
          <a:noFill/>
          <a:ln/>
        </p:spPr>
        <p:txBody>
          <a:bodyPr wrap="square" lIns="0" tIns="0" rIns="0" bIns="0" rtlCol="0" anchor="t">
            <a:spAutoFit/>
          </a:bodyPr>
          <a:lstStyle/>
          <a:p>
            <a:pPr marL="0" indent="0" algn="l">
              <a:lnSpc>
                <a:spcPts val="1200"/>
              </a:lnSpc>
              <a:buNone/>
            </a:pPr>
            <a:r>
              <a:rPr lang="en-US" sz="1200" dirty="0">
                <a:solidFill>
                  <a:srgbClr val="333333"/>
                </a:solidFill>
              </a:rPr>
              <a:t>Blockchain uses cryptography to prove ownership and authenticity. Your private key is mathematical proof that you own your assets. No one can forge this proof.</a:t>
            </a:r>
            <a:endParaRPr lang="en-US" sz="1200" dirty="0"/>
          </a:p>
        </p:txBody>
      </p:sp>
      <p:sp>
        <p:nvSpPr>
          <p:cNvPr id="13" name="Shape 10"/>
          <p:cNvSpPr/>
          <p:nvPr/>
        </p:nvSpPr>
        <p:spPr>
          <a:xfrm>
            <a:off x="571500" y="2587026"/>
            <a:ext cx="357188" cy="357188"/>
          </a:xfrm>
          <a:prstGeom prst="rect">
            <a:avLst/>
          </a:prstGeom>
          <a:solidFill>
            <a:srgbClr val="0055FF"/>
          </a:solidFill>
          <a:ln/>
        </p:spPr>
        <p:txBody>
          <a:bodyPr/>
          <a:lstStyle/>
          <a:p>
            <a:endParaRPr lang="es-ES" sz="2000"/>
          </a:p>
        </p:txBody>
      </p:sp>
      <p:sp>
        <p:nvSpPr>
          <p:cNvPr id="14" name="Text 11"/>
          <p:cNvSpPr/>
          <p:nvPr/>
        </p:nvSpPr>
        <p:spPr>
          <a:xfrm>
            <a:off x="571500" y="2667388"/>
            <a:ext cx="357188" cy="196464"/>
          </a:xfrm>
          <a:prstGeom prst="rect">
            <a:avLst/>
          </a:prstGeom>
          <a:noFill/>
          <a:ln/>
        </p:spPr>
        <p:txBody>
          <a:bodyPr wrap="square" lIns="0" tIns="0" rIns="0" bIns="0" rtlCol="0" anchor="ctr">
            <a:spAutoFit/>
          </a:bodyPr>
          <a:lstStyle/>
          <a:p>
            <a:pPr marL="0" indent="0" algn="ctr">
              <a:lnSpc>
                <a:spcPts val="1600"/>
              </a:lnSpc>
              <a:buNone/>
            </a:pPr>
            <a:r>
              <a:rPr lang="en-US" sz="1200" b="1" dirty="0">
                <a:solidFill>
                  <a:srgbClr val="FFFFFF"/>
                </a:solidFill>
              </a:rPr>
              <a:t>3</a:t>
            </a:r>
            <a:endParaRPr lang="en-US" sz="1200" dirty="0"/>
          </a:p>
        </p:txBody>
      </p:sp>
      <p:sp>
        <p:nvSpPr>
          <p:cNvPr id="15" name="Text 12"/>
          <p:cNvSpPr/>
          <p:nvPr/>
        </p:nvSpPr>
        <p:spPr>
          <a:xfrm>
            <a:off x="1071563" y="2587026"/>
            <a:ext cx="2008067" cy="148374"/>
          </a:xfrm>
          <a:prstGeom prst="rect">
            <a:avLst/>
          </a:prstGeom>
          <a:noFill/>
          <a:ln/>
        </p:spPr>
        <p:txBody>
          <a:bodyPr wrap="square" lIns="0" tIns="0" rIns="0" bIns="0" rtlCol="0" anchor="t">
            <a:spAutoFit/>
          </a:bodyPr>
          <a:lstStyle/>
          <a:p>
            <a:pPr marL="0" indent="0" algn="l">
              <a:lnSpc>
                <a:spcPts val="1100"/>
              </a:lnSpc>
              <a:buNone/>
            </a:pPr>
            <a:r>
              <a:rPr lang="en-US" sz="1200" b="1" dirty="0">
                <a:solidFill>
                  <a:srgbClr val="1A1A1A"/>
                </a:solidFill>
              </a:rPr>
              <a:t>Consensus Mechanisms</a:t>
            </a:r>
            <a:endParaRPr lang="en-US" sz="1200" dirty="0"/>
          </a:p>
        </p:txBody>
      </p:sp>
      <p:sp>
        <p:nvSpPr>
          <p:cNvPr id="16" name="Text 13"/>
          <p:cNvSpPr/>
          <p:nvPr/>
        </p:nvSpPr>
        <p:spPr>
          <a:xfrm>
            <a:off x="1071564" y="2799551"/>
            <a:ext cx="7133380" cy="311880"/>
          </a:xfrm>
          <a:prstGeom prst="rect">
            <a:avLst/>
          </a:prstGeom>
          <a:noFill/>
          <a:ln/>
        </p:spPr>
        <p:txBody>
          <a:bodyPr wrap="square" lIns="0" tIns="0" rIns="0" bIns="0" rtlCol="0" anchor="t">
            <a:spAutoFit/>
          </a:bodyPr>
          <a:lstStyle/>
          <a:p>
            <a:pPr marL="0" indent="0" algn="l">
              <a:lnSpc>
                <a:spcPts val="1200"/>
              </a:lnSpc>
              <a:buNone/>
            </a:pPr>
            <a:r>
              <a:rPr lang="en-US" sz="1200" dirty="0">
                <a:solidFill>
                  <a:srgbClr val="333333"/>
                </a:solidFill>
              </a:rPr>
              <a:t>Blockchain achieves agreement without intermediaries through consensus mechanisms like Proof of Work or Proof of Stake. The network collectively validates transactions.</a:t>
            </a:r>
            <a:endParaRPr lang="en-US" sz="1200" dirty="0"/>
          </a:p>
        </p:txBody>
      </p:sp>
      <p:sp>
        <p:nvSpPr>
          <p:cNvPr id="21" name="Shape 18"/>
          <p:cNvSpPr/>
          <p:nvPr/>
        </p:nvSpPr>
        <p:spPr>
          <a:xfrm>
            <a:off x="571498" y="3211715"/>
            <a:ext cx="357188" cy="357188"/>
          </a:xfrm>
          <a:prstGeom prst="rect">
            <a:avLst/>
          </a:prstGeom>
          <a:solidFill>
            <a:srgbClr val="0055FF"/>
          </a:solidFill>
          <a:ln/>
        </p:spPr>
        <p:txBody>
          <a:bodyPr/>
          <a:lstStyle/>
          <a:p>
            <a:endParaRPr lang="es-ES" sz="2000"/>
          </a:p>
        </p:txBody>
      </p:sp>
      <p:sp>
        <p:nvSpPr>
          <p:cNvPr id="22" name="Text 19"/>
          <p:cNvSpPr/>
          <p:nvPr/>
        </p:nvSpPr>
        <p:spPr>
          <a:xfrm>
            <a:off x="571498" y="3292077"/>
            <a:ext cx="357188" cy="196464"/>
          </a:xfrm>
          <a:prstGeom prst="rect">
            <a:avLst/>
          </a:prstGeom>
          <a:noFill/>
          <a:ln/>
        </p:spPr>
        <p:txBody>
          <a:bodyPr wrap="square" lIns="0" tIns="0" rIns="0" bIns="0" rtlCol="0" anchor="ctr">
            <a:spAutoFit/>
          </a:bodyPr>
          <a:lstStyle/>
          <a:p>
            <a:pPr marL="0" indent="0" algn="ctr">
              <a:lnSpc>
                <a:spcPts val="1600"/>
              </a:lnSpc>
              <a:buNone/>
            </a:pPr>
            <a:r>
              <a:rPr lang="en-US" sz="1200" b="1" dirty="0">
                <a:solidFill>
                  <a:srgbClr val="FFFFFF"/>
                </a:solidFill>
              </a:rPr>
              <a:t>4</a:t>
            </a:r>
            <a:endParaRPr lang="en-US" sz="1200" dirty="0"/>
          </a:p>
        </p:txBody>
      </p:sp>
      <p:sp>
        <p:nvSpPr>
          <p:cNvPr id="23" name="Text 20"/>
          <p:cNvSpPr/>
          <p:nvPr/>
        </p:nvSpPr>
        <p:spPr>
          <a:xfrm>
            <a:off x="1071561" y="3211715"/>
            <a:ext cx="1939056" cy="148374"/>
          </a:xfrm>
          <a:prstGeom prst="rect">
            <a:avLst/>
          </a:prstGeom>
          <a:noFill/>
          <a:ln/>
        </p:spPr>
        <p:txBody>
          <a:bodyPr wrap="square" lIns="0" tIns="0" rIns="0" bIns="0" rtlCol="0" anchor="t">
            <a:spAutoFit/>
          </a:bodyPr>
          <a:lstStyle/>
          <a:p>
            <a:pPr marL="0" indent="0" algn="l">
              <a:lnSpc>
                <a:spcPts val="1100"/>
              </a:lnSpc>
              <a:buNone/>
            </a:pPr>
            <a:r>
              <a:rPr lang="en-US" sz="1200" b="1" dirty="0">
                <a:solidFill>
                  <a:srgbClr val="1A1A1A"/>
                </a:solidFill>
              </a:rPr>
              <a:t>Transformative Potential</a:t>
            </a:r>
            <a:endParaRPr lang="en-US" sz="1200" dirty="0"/>
          </a:p>
        </p:txBody>
      </p:sp>
      <p:sp>
        <p:nvSpPr>
          <p:cNvPr id="24" name="Text 21"/>
          <p:cNvSpPr/>
          <p:nvPr/>
        </p:nvSpPr>
        <p:spPr>
          <a:xfrm>
            <a:off x="1071562" y="3424241"/>
            <a:ext cx="7082960" cy="311880"/>
          </a:xfrm>
          <a:prstGeom prst="rect">
            <a:avLst/>
          </a:prstGeom>
          <a:noFill/>
          <a:ln/>
        </p:spPr>
        <p:txBody>
          <a:bodyPr wrap="square" lIns="0" tIns="0" rIns="0" bIns="0" rtlCol="0" anchor="t">
            <a:spAutoFit/>
          </a:bodyPr>
          <a:lstStyle/>
          <a:p>
            <a:pPr marL="0" indent="0" algn="l">
              <a:lnSpc>
                <a:spcPts val="1200"/>
              </a:lnSpc>
              <a:buNone/>
            </a:pPr>
            <a:r>
              <a:rPr lang="en-US" sz="1200" dirty="0">
                <a:solidFill>
                  <a:srgbClr val="333333"/>
                </a:solidFill>
              </a:rPr>
              <a:t>Blockchain can transform industries by enabling trust without intermediaries. From supply chains to finance to identity, the applications are vast and still being discovered.</a:t>
            </a:r>
            <a:endParaRPr lang="en-US" sz="1200" dirty="0"/>
          </a:p>
        </p:txBody>
      </p:sp>
      <p:sp>
        <p:nvSpPr>
          <p:cNvPr id="26" name="Shape 23"/>
          <p:cNvSpPr/>
          <p:nvPr/>
        </p:nvSpPr>
        <p:spPr>
          <a:xfrm>
            <a:off x="571500" y="3952968"/>
            <a:ext cx="28575" cy="847204"/>
          </a:xfrm>
          <a:prstGeom prst="rect">
            <a:avLst/>
          </a:prstGeom>
          <a:solidFill>
            <a:srgbClr val="0055FF"/>
          </a:solidFill>
          <a:ln/>
        </p:spPr>
        <p:txBody>
          <a:bodyPr/>
          <a:lstStyle/>
          <a:p>
            <a:endParaRPr lang="es-ES"/>
          </a:p>
        </p:txBody>
      </p:sp>
      <p:sp>
        <p:nvSpPr>
          <p:cNvPr id="28" name="Text 25"/>
          <p:cNvSpPr/>
          <p:nvPr/>
        </p:nvSpPr>
        <p:spPr>
          <a:xfrm>
            <a:off x="750094" y="4124197"/>
            <a:ext cx="7715250" cy="500137"/>
          </a:xfrm>
          <a:prstGeom prst="rect">
            <a:avLst/>
          </a:prstGeom>
          <a:noFill/>
          <a:ln/>
        </p:spPr>
        <p:txBody>
          <a:bodyPr wrap="square" lIns="0" tIns="0" rIns="0" bIns="0" rtlCol="0" anchor="t">
            <a:spAutoFit/>
          </a:bodyPr>
          <a:lstStyle/>
          <a:p>
            <a:pPr marL="0" indent="0" algn="l">
              <a:lnSpc>
                <a:spcPts val="1300"/>
              </a:lnSpc>
              <a:buNone/>
            </a:pPr>
            <a:r>
              <a:rPr lang="en-US" sz="1200" i="1" dirty="0">
                <a:solidFill>
                  <a:srgbClr val="1A1A1A"/>
                </a:solidFill>
              </a:rPr>
              <a:t>"Blockchain is not a technology that will replace everything. It's a technology that solves specific problems: creating trust without intermediaries, ensuring transparency, and enabling programmable systems. When applied correctly, it has the power to transform how we organize society."</a:t>
            </a:r>
            <a:endParaRPr lang="en-US" sz="1200" dirty="0"/>
          </a:p>
        </p:txBody>
      </p:sp>
      <p:sp>
        <p:nvSpPr>
          <p:cNvPr id="31" name="Text 28"/>
          <p:cNvSpPr/>
          <p:nvPr/>
        </p:nvSpPr>
        <p:spPr>
          <a:xfrm>
            <a:off x="571500" y="3253978"/>
            <a:ext cx="5715000" cy="362150"/>
          </a:xfrm>
          <a:prstGeom prst="rect">
            <a:avLst/>
          </a:prstGeom>
          <a:noFill/>
          <a:ln/>
        </p:spPr>
        <p:txBody>
          <a:bodyPr wrap="square" lIns="127508" tIns="127508" rIns="127508" bIns="127508" rtlCol="0" anchor="t">
            <a:spAutoFit/>
          </a:bodyPr>
          <a:lstStyle/>
          <a:p>
            <a:pPr marL="0" indent="0" algn="l">
              <a:lnSpc>
                <a:spcPts val="900"/>
              </a:lnSpc>
              <a:buNone/>
            </a:pPr>
            <a:endParaRPr lang="en-US" sz="600" dirty="0"/>
          </a:p>
        </p:txBody>
      </p:sp>
      <p:sp>
        <p:nvSpPr>
          <p:cNvPr id="32" name="Marcador de número de diapositiva 31">
            <a:extLst>
              <a:ext uri="{FF2B5EF4-FFF2-40B4-BE49-F238E27FC236}">
                <a16:creationId xmlns:a16="http://schemas.microsoft.com/office/drawing/2014/main" id="{6B893E5E-74F6-B0D7-77A4-C1ED6C9A397A}"/>
              </a:ext>
            </a:extLst>
          </p:cNvPr>
          <p:cNvSpPr>
            <a:spLocks noGrp="1"/>
          </p:cNvSpPr>
          <p:nvPr>
            <p:ph type="sldNum" sz="quarter" idx="12"/>
          </p:nvPr>
        </p:nvSpPr>
        <p:spPr/>
        <p:txBody>
          <a:bodyPr/>
          <a:lstStyle/>
          <a:p>
            <a:fld id="{621D377E-C6E5-404B-8AA2-3999D49F21B5}" type="slidenum">
              <a:rPr lang="es-ES" smtClean="0"/>
              <a:t>18</a:t>
            </a:fld>
            <a:endParaRPr lang="es-E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35C6E-66E1-C2C6-0ECD-6F5664FD566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564C210-EBD8-86BB-E8E4-F39B3357CC59}"/>
              </a:ext>
            </a:extLst>
          </p:cNvPr>
          <p:cNvSpPr/>
          <p:nvPr/>
        </p:nvSpPr>
        <p:spPr>
          <a:xfrm>
            <a:off x="571500" y="428625"/>
            <a:ext cx="1710853" cy="394275"/>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rPr>
              <a:t>References:</a:t>
            </a:r>
            <a:endParaRPr lang="en-US" sz="2436" dirty="0"/>
          </a:p>
        </p:txBody>
      </p:sp>
      <p:sp>
        <p:nvSpPr>
          <p:cNvPr id="4" name="Text 1">
            <a:extLst>
              <a:ext uri="{FF2B5EF4-FFF2-40B4-BE49-F238E27FC236}">
                <a16:creationId xmlns:a16="http://schemas.microsoft.com/office/drawing/2014/main" id="{33C50FD8-5876-96F1-B50C-9F8AAE3924CE}"/>
              </a:ext>
            </a:extLst>
          </p:cNvPr>
          <p:cNvSpPr/>
          <p:nvPr/>
        </p:nvSpPr>
        <p:spPr>
          <a:xfrm>
            <a:off x="571499" y="966192"/>
            <a:ext cx="8646391" cy="3699539"/>
          </a:xfrm>
          <a:prstGeom prst="rect">
            <a:avLst/>
          </a:prstGeom>
          <a:noFill/>
          <a:ln/>
        </p:spPr>
        <p:txBody>
          <a:bodyPr wrap="square" lIns="0" tIns="0" rIns="0" bIns="0" rtlCol="0" anchor="t">
            <a:spAutoFit/>
          </a:bodyPr>
          <a:lstStyle/>
          <a:p>
            <a:pPr>
              <a:lnSpc>
                <a:spcPct val="150000"/>
              </a:lnSpc>
            </a:pPr>
            <a:r>
              <a:rPr lang="es-ES" altLang="es-ES" b="1" dirty="0" err="1">
                <a:latin typeface="Aptos (Cuerpo)"/>
              </a:rPr>
              <a:t>Presentation</a:t>
            </a:r>
            <a:r>
              <a:rPr lang="es-ES" altLang="es-ES" b="1" dirty="0">
                <a:latin typeface="Aptos (Cuerpo)"/>
              </a:rPr>
              <a:t>: </a:t>
            </a:r>
            <a:r>
              <a:rPr lang="es-ES" altLang="es-ES" dirty="0">
                <a:latin typeface="Aptos (Cuerpo)"/>
              </a:rPr>
              <a:t>Puebla Ruisánchez, Á. (2025, Oct 15). </a:t>
            </a:r>
            <a:r>
              <a:rPr lang="es-ES" altLang="es-ES" i="1" dirty="0" err="1">
                <a:latin typeface="Aptos (Cuerpo)"/>
              </a:rPr>
              <a:t>The</a:t>
            </a:r>
            <a:r>
              <a:rPr lang="es-ES" altLang="es-ES" i="1" dirty="0">
                <a:latin typeface="Aptos (Cuerpo)"/>
              </a:rPr>
              <a:t> </a:t>
            </a:r>
            <a:r>
              <a:rPr lang="es-ES" altLang="es-ES" i="1" dirty="0" err="1">
                <a:latin typeface="Aptos (Cuerpo)"/>
              </a:rPr>
              <a:t>Programmable</a:t>
            </a:r>
            <a:r>
              <a:rPr lang="es-ES" altLang="es-ES" i="1" dirty="0">
                <a:latin typeface="Aptos (Cuerpo)"/>
              </a:rPr>
              <a:t> Trust: </a:t>
            </a:r>
            <a:r>
              <a:rPr lang="es-ES" altLang="es-ES" i="1" dirty="0" err="1">
                <a:latin typeface="Aptos (Cuerpo)"/>
              </a:rPr>
              <a:t>Understanding</a:t>
            </a:r>
            <a:r>
              <a:rPr lang="es-ES" altLang="es-ES" i="1" dirty="0">
                <a:latin typeface="Aptos (Cuerpo)"/>
              </a:rPr>
              <a:t> </a:t>
            </a:r>
            <a:r>
              <a:rPr lang="es-ES" altLang="es-ES" i="1" dirty="0" err="1">
                <a:latin typeface="Aptos (Cuerpo)"/>
              </a:rPr>
              <a:t>Blockchain</a:t>
            </a:r>
            <a:r>
              <a:rPr lang="es-ES" altLang="es-ES" i="1" dirty="0">
                <a:latin typeface="Aptos (Cuerpo)"/>
              </a:rPr>
              <a:t>. </a:t>
            </a:r>
            <a:r>
              <a:rPr lang="es-ES" altLang="es-ES" dirty="0">
                <a:latin typeface="Aptos (Cuerpo)"/>
              </a:rPr>
              <a:t>Wrocław </a:t>
            </a:r>
            <a:r>
              <a:rPr lang="es-ES" altLang="es-ES" dirty="0" err="1">
                <a:latin typeface="Aptos (Cuerpo)"/>
              </a:rPr>
              <a:t>University</a:t>
            </a:r>
            <a:r>
              <a:rPr lang="es-ES" altLang="es-ES" dirty="0">
                <a:latin typeface="Aptos (Cuerpo)"/>
              </a:rPr>
              <a:t> of </a:t>
            </a:r>
            <a:r>
              <a:rPr lang="es-ES" altLang="es-ES" dirty="0" err="1">
                <a:latin typeface="Aptos (Cuerpo)"/>
              </a:rPr>
              <a:t>Science</a:t>
            </a:r>
            <a:r>
              <a:rPr lang="es-ES" altLang="es-ES" dirty="0">
                <a:latin typeface="Aptos (Cuerpo)"/>
              </a:rPr>
              <a:t> and </a:t>
            </a:r>
            <a:r>
              <a:rPr lang="es-ES" altLang="es-ES" dirty="0" err="1">
                <a:latin typeface="Aptos (Cuerpo)"/>
              </a:rPr>
              <a:t>Technology</a:t>
            </a:r>
            <a:r>
              <a:rPr lang="es-ES" altLang="es-ES" dirty="0">
                <a:latin typeface="Aptos (Cuerpo)"/>
              </a:rPr>
              <a:t>.</a:t>
            </a:r>
            <a:endParaRPr lang="en-US" b="1" dirty="0">
              <a:solidFill>
                <a:srgbClr val="333333"/>
              </a:solidFill>
              <a:latin typeface="Aptos (Cuerpo)"/>
            </a:endParaRPr>
          </a:p>
          <a:p>
            <a:pPr lvl="0" eaLnBrk="0" fontAlgn="base" hangingPunct="0">
              <a:lnSpc>
                <a:spcPct val="150000"/>
              </a:lnSpc>
              <a:spcBef>
                <a:spcPct val="0"/>
              </a:spcBef>
              <a:spcAft>
                <a:spcPct val="0"/>
              </a:spcAft>
            </a:pPr>
            <a:r>
              <a:rPr lang="en-US" b="1" dirty="0">
                <a:solidFill>
                  <a:srgbClr val="333333"/>
                </a:solidFill>
                <a:latin typeface="Aptos (Cuerpo)"/>
              </a:rPr>
              <a:t>Slide 1:</a:t>
            </a:r>
            <a:r>
              <a:rPr lang="en-US" dirty="0">
                <a:solidFill>
                  <a:srgbClr val="333333"/>
                </a:solidFill>
                <a:latin typeface="Aptos (Cuerpo)"/>
              </a:rPr>
              <a:t> </a:t>
            </a:r>
            <a:r>
              <a:rPr lang="es-ES" altLang="es-ES" dirty="0" err="1">
                <a:latin typeface="Aptos (Cuerpo)"/>
              </a:rPr>
              <a:t>OpenAI</a:t>
            </a:r>
            <a:r>
              <a:rPr lang="es-ES" altLang="es-ES" dirty="0">
                <a:latin typeface="Aptos (Cuerpo)"/>
              </a:rPr>
              <a:t>. (2025, </a:t>
            </a:r>
            <a:r>
              <a:rPr lang="es-ES" altLang="es-ES" dirty="0" err="1">
                <a:latin typeface="Aptos (Cuerpo)"/>
              </a:rPr>
              <a:t>November</a:t>
            </a:r>
            <a:r>
              <a:rPr lang="es-ES" altLang="es-ES" dirty="0">
                <a:latin typeface="Aptos (Cuerpo)"/>
              </a:rPr>
              <a:t> 30). </a:t>
            </a:r>
            <a:r>
              <a:rPr lang="es-ES" altLang="es-ES" i="1" dirty="0" err="1">
                <a:latin typeface="Aptos (Cuerpo)"/>
              </a:rPr>
              <a:t>Photo</a:t>
            </a:r>
            <a:r>
              <a:rPr lang="es-ES" altLang="es-ES" i="1" dirty="0">
                <a:latin typeface="Aptos (Cuerpo)"/>
              </a:rPr>
              <a:t> of 2 </a:t>
            </a:r>
            <a:r>
              <a:rPr lang="es-ES" altLang="es-ES" i="1" dirty="0" err="1">
                <a:latin typeface="Aptos (Cuerpo)"/>
              </a:rPr>
              <a:t>people</a:t>
            </a:r>
            <a:r>
              <a:rPr lang="es-ES" altLang="es-ES" i="1" dirty="0">
                <a:latin typeface="Aptos (Cuerpo)"/>
              </a:rPr>
              <a:t> in a </a:t>
            </a:r>
            <a:r>
              <a:rPr lang="es-ES" altLang="es-ES" i="1" dirty="0" err="1">
                <a:latin typeface="Aptos (Cuerpo)"/>
              </a:rPr>
              <a:t>blockchain</a:t>
            </a:r>
            <a:r>
              <a:rPr lang="es-ES" altLang="es-ES" dirty="0">
                <a:latin typeface="Aptos (Cuerpo)"/>
              </a:rPr>
              <a:t> [</a:t>
            </a:r>
            <a:r>
              <a:rPr lang="es-ES" altLang="es-ES" dirty="0" err="1">
                <a:latin typeface="Aptos (Cuerpo)"/>
              </a:rPr>
              <a:t>Image</a:t>
            </a:r>
            <a:r>
              <a:rPr lang="es-ES" altLang="es-ES" dirty="0">
                <a:latin typeface="Aptos (Cuerpo)"/>
              </a:rPr>
              <a:t> </a:t>
            </a:r>
            <a:r>
              <a:rPr lang="es-ES" altLang="es-ES" dirty="0" err="1">
                <a:latin typeface="Aptos (Cuerpo)"/>
              </a:rPr>
              <a:t>generated</a:t>
            </a:r>
            <a:r>
              <a:rPr lang="es-ES" altLang="es-ES" dirty="0">
                <a:latin typeface="Aptos (Cuerpo)"/>
              </a:rPr>
              <a:t> </a:t>
            </a:r>
            <a:r>
              <a:rPr lang="es-ES" altLang="es-ES" dirty="0" err="1">
                <a:latin typeface="Aptos (Cuerpo)"/>
              </a:rPr>
              <a:t>by</a:t>
            </a:r>
            <a:r>
              <a:rPr lang="es-ES" altLang="es-ES" dirty="0">
                <a:latin typeface="Aptos (Cuerpo)"/>
              </a:rPr>
              <a:t> </a:t>
            </a:r>
            <a:r>
              <a:rPr lang="es-ES" altLang="es-ES" dirty="0" err="1">
                <a:latin typeface="Aptos (Cuerpo)"/>
              </a:rPr>
              <a:t>ChatGPT</a:t>
            </a:r>
            <a:r>
              <a:rPr lang="es-ES" altLang="es-ES" dirty="0">
                <a:latin typeface="Aptos (Cuerpo)"/>
              </a:rPr>
              <a:t>]. </a:t>
            </a:r>
            <a:r>
              <a:rPr lang="es-ES" altLang="es-ES" dirty="0" err="1">
                <a:latin typeface="Aptos (Cuerpo)"/>
              </a:rPr>
              <a:t>OpenAI</a:t>
            </a:r>
            <a:r>
              <a:rPr lang="es-ES" altLang="es-ES" dirty="0">
                <a:latin typeface="Aptos (Cuerpo)"/>
              </a:rPr>
              <a:t>.</a:t>
            </a:r>
          </a:p>
          <a:p>
            <a:pPr lvl="0" eaLnBrk="0" fontAlgn="base" hangingPunct="0">
              <a:lnSpc>
                <a:spcPct val="150000"/>
              </a:lnSpc>
              <a:spcBef>
                <a:spcPct val="0"/>
              </a:spcBef>
              <a:spcAft>
                <a:spcPct val="0"/>
              </a:spcAft>
            </a:pPr>
            <a:r>
              <a:rPr lang="en-US" b="1" dirty="0">
                <a:solidFill>
                  <a:srgbClr val="333333"/>
                </a:solidFill>
                <a:latin typeface="Aptos (Cuerpo)"/>
              </a:rPr>
              <a:t>Slide 3:</a:t>
            </a:r>
            <a:r>
              <a:rPr lang="en-US" dirty="0">
                <a:solidFill>
                  <a:srgbClr val="333333"/>
                </a:solidFill>
                <a:latin typeface="Aptos (Cuerpo)"/>
              </a:rPr>
              <a:t> </a:t>
            </a:r>
            <a:r>
              <a:rPr lang="es-ES" altLang="es-ES" dirty="0" err="1">
                <a:latin typeface="Aptos (Cuerpo)"/>
              </a:rPr>
              <a:t>Freepik</a:t>
            </a:r>
            <a:r>
              <a:rPr lang="es-ES" altLang="es-ES" dirty="0">
                <a:latin typeface="Aptos (Cuerpo)"/>
              </a:rPr>
              <a:t>. (</a:t>
            </a:r>
            <a:r>
              <a:rPr lang="es-ES" altLang="es-ES" dirty="0" err="1">
                <a:latin typeface="Aptos (Cuerpo)"/>
              </a:rPr>
              <a:t>n.d</a:t>
            </a:r>
            <a:r>
              <a:rPr lang="es-ES" altLang="es-ES" dirty="0">
                <a:latin typeface="Aptos (Cuerpo)"/>
              </a:rPr>
              <a:t>.). </a:t>
            </a:r>
            <a:r>
              <a:rPr lang="es-ES" altLang="es-ES" i="1" dirty="0">
                <a:latin typeface="Aptos (Cuerpo)"/>
              </a:rPr>
              <a:t>X-logo </a:t>
            </a:r>
            <a:r>
              <a:rPr lang="es-ES" altLang="es-ES" i="1" dirty="0" err="1">
                <a:latin typeface="Aptos (Cuerpo)"/>
              </a:rPr>
              <a:t>vectors</a:t>
            </a:r>
            <a:r>
              <a:rPr lang="es-ES" altLang="es-ES" dirty="0">
                <a:latin typeface="Aptos (Cuerpo)"/>
              </a:rPr>
              <a:t> [Vector </a:t>
            </a:r>
            <a:r>
              <a:rPr lang="es-ES" altLang="es-ES" dirty="0" err="1">
                <a:latin typeface="Aptos (Cuerpo)"/>
              </a:rPr>
              <a:t>images</a:t>
            </a:r>
            <a:r>
              <a:rPr lang="es-ES" altLang="es-ES" dirty="0">
                <a:latin typeface="Aptos (Cuerpo)"/>
              </a:rPr>
              <a:t>]. </a:t>
            </a:r>
            <a:r>
              <a:rPr lang="es-ES" altLang="es-ES" dirty="0" err="1">
                <a:latin typeface="Aptos (Cuerpo)"/>
              </a:rPr>
              <a:t>Freepik</a:t>
            </a:r>
            <a:r>
              <a:rPr lang="es-ES" altLang="es-ES" dirty="0">
                <a:latin typeface="Aptos (Cuerpo)"/>
              </a:rPr>
              <a:t>. </a:t>
            </a:r>
            <a:r>
              <a:rPr lang="es-ES" altLang="es-ES" dirty="0">
                <a:latin typeface="Aptos (Cuerpo)"/>
                <a:hlinkClick r:id="rId3"/>
              </a:rPr>
              <a:t>https://www.freepik.com/free-photos-vectors/x-logo</a:t>
            </a:r>
            <a:endParaRPr lang="es-ES" altLang="es-ES" dirty="0">
              <a:latin typeface="Aptos (Cuerpo)"/>
            </a:endParaRPr>
          </a:p>
          <a:p>
            <a:pPr lvl="0" eaLnBrk="0" fontAlgn="base" hangingPunct="0">
              <a:lnSpc>
                <a:spcPct val="150000"/>
              </a:lnSpc>
              <a:spcBef>
                <a:spcPct val="0"/>
              </a:spcBef>
              <a:spcAft>
                <a:spcPct val="0"/>
              </a:spcAft>
            </a:pPr>
            <a:r>
              <a:rPr lang="en-US" b="1" dirty="0">
                <a:solidFill>
                  <a:srgbClr val="333333"/>
                </a:solidFill>
                <a:latin typeface="Aptos (Cuerpo)"/>
              </a:rPr>
              <a:t>Slide 5:</a:t>
            </a:r>
            <a:r>
              <a:rPr lang="en-US" dirty="0">
                <a:solidFill>
                  <a:srgbClr val="333333"/>
                </a:solidFill>
                <a:latin typeface="Aptos (Cuerpo)"/>
              </a:rPr>
              <a:t> Bitcoin.org. (n.d.). Bitcoin Core. </a:t>
            </a:r>
            <a:r>
              <a:rPr lang="en-US" dirty="0">
                <a:solidFill>
                  <a:srgbClr val="333333"/>
                </a:solidFill>
                <a:latin typeface="Aptos (Cuerpo)"/>
                <a:hlinkClick r:id="rId4"/>
              </a:rPr>
              <a:t>https://bitcoin.org/en/bitcoin-core</a:t>
            </a:r>
            <a:endParaRPr lang="en-US" dirty="0">
              <a:solidFill>
                <a:srgbClr val="333333"/>
              </a:solidFill>
              <a:latin typeface="Aptos (Cuerpo)"/>
            </a:endParaRPr>
          </a:p>
          <a:p>
            <a:pPr>
              <a:lnSpc>
                <a:spcPct val="150000"/>
              </a:lnSpc>
            </a:pPr>
            <a:r>
              <a:rPr lang="en-US" b="1" dirty="0">
                <a:solidFill>
                  <a:srgbClr val="333333"/>
                </a:solidFill>
                <a:latin typeface="Aptos (Cuerpo)"/>
              </a:rPr>
              <a:t>Slide 5:</a:t>
            </a:r>
            <a:r>
              <a:rPr lang="en-US" dirty="0">
                <a:solidFill>
                  <a:srgbClr val="333333"/>
                </a:solidFill>
                <a:latin typeface="Aptos (Cuerpo)"/>
              </a:rPr>
              <a:t> </a:t>
            </a:r>
            <a:r>
              <a:rPr lang="en-US" dirty="0" err="1">
                <a:solidFill>
                  <a:srgbClr val="333333"/>
                </a:solidFill>
                <a:latin typeface="Aptos (Cuerpo)"/>
              </a:rPr>
              <a:t>GeeksforGeeks</a:t>
            </a:r>
            <a:r>
              <a:rPr lang="en-US" dirty="0">
                <a:solidFill>
                  <a:srgbClr val="333333"/>
                </a:solidFill>
                <a:latin typeface="Aptos (Cuerpo)"/>
              </a:rPr>
              <a:t>. (n.d.). Linked list in C. </a:t>
            </a:r>
            <a:r>
              <a:rPr lang="en-US" dirty="0" err="1">
                <a:solidFill>
                  <a:srgbClr val="333333"/>
                </a:solidFill>
                <a:latin typeface="Aptos (Cuerpo)"/>
              </a:rPr>
              <a:t>GeeksforGeeks</a:t>
            </a:r>
            <a:r>
              <a:rPr lang="en-US" dirty="0">
                <a:solidFill>
                  <a:srgbClr val="333333"/>
                </a:solidFill>
                <a:latin typeface="Aptos (Cuerpo)"/>
              </a:rPr>
              <a:t>. </a:t>
            </a:r>
            <a:r>
              <a:rPr lang="en-US" dirty="0">
                <a:solidFill>
                  <a:srgbClr val="333333"/>
                </a:solidFill>
                <a:latin typeface="Aptos (Cuerpo)"/>
                <a:hlinkClick r:id="rId5"/>
              </a:rPr>
              <a:t>https://www.geeksforgeeks.org/c/linked-list-in-c/</a:t>
            </a:r>
            <a:endParaRPr lang="en-US" dirty="0">
              <a:solidFill>
                <a:srgbClr val="333333"/>
              </a:solidFill>
              <a:latin typeface="Aptos (Cuerpo)"/>
            </a:endParaRPr>
          </a:p>
        </p:txBody>
      </p:sp>
      <p:sp>
        <p:nvSpPr>
          <p:cNvPr id="32" name="Marcador de número de diapositiva 31">
            <a:extLst>
              <a:ext uri="{FF2B5EF4-FFF2-40B4-BE49-F238E27FC236}">
                <a16:creationId xmlns:a16="http://schemas.microsoft.com/office/drawing/2014/main" id="{B476B7D9-A7FA-D34C-A975-E8936604D4AD}"/>
              </a:ext>
            </a:extLst>
          </p:cNvPr>
          <p:cNvSpPr>
            <a:spLocks noGrp="1"/>
          </p:cNvSpPr>
          <p:nvPr>
            <p:ph type="sldNum" sz="quarter" idx="12"/>
          </p:nvPr>
        </p:nvSpPr>
        <p:spPr/>
        <p:txBody>
          <a:bodyPr/>
          <a:lstStyle/>
          <a:p>
            <a:fld id="{621D377E-C6E5-404B-8AA2-3999D49F21B5}" type="slidenum">
              <a:rPr lang="es-ES" smtClean="0"/>
              <a:t>19</a:t>
            </a:fld>
            <a:endParaRPr lang="es-ES"/>
          </a:p>
        </p:txBody>
      </p:sp>
    </p:spTree>
    <p:extLst>
      <p:ext uri="{BB962C8B-B14F-4D97-AF65-F5344CB8AC3E}">
        <p14:creationId xmlns:p14="http://schemas.microsoft.com/office/powerpoint/2010/main" val="1497744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CB26B-1CCB-6B22-F41C-08DCF3C1709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8CB1058-BC4D-093A-64C6-918A7EA17C0A}"/>
              </a:ext>
            </a:extLst>
          </p:cNvPr>
          <p:cNvSpPr/>
          <p:nvPr/>
        </p:nvSpPr>
        <p:spPr>
          <a:xfrm>
            <a:off x="571500" y="428625"/>
            <a:ext cx="1866217" cy="394275"/>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1A1A"/>
                </a:solidFill>
              </a:rPr>
              <a:t>Bibliography:</a:t>
            </a:r>
            <a:endParaRPr lang="en-US" sz="2436" dirty="0"/>
          </a:p>
        </p:txBody>
      </p:sp>
      <p:sp>
        <p:nvSpPr>
          <p:cNvPr id="4" name="Text 1">
            <a:extLst>
              <a:ext uri="{FF2B5EF4-FFF2-40B4-BE49-F238E27FC236}">
                <a16:creationId xmlns:a16="http://schemas.microsoft.com/office/drawing/2014/main" id="{FF967AE0-4944-1EFC-EB15-7F70AC984E4F}"/>
              </a:ext>
            </a:extLst>
          </p:cNvPr>
          <p:cNvSpPr/>
          <p:nvPr/>
        </p:nvSpPr>
        <p:spPr>
          <a:xfrm>
            <a:off x="571499" y="966192"/>
            <a:ext cx="8046028" cy="3846951"/>
          </a:xfrm>
          <a:prstGeom prst="rect">
            <a:avLst/>
          </a:prstGeom>
          <a:noFill/>
          <a:ln/>
        </p:spPr>
        <p:txBody>
          <a:bodyPr wrap="square" lIns="0" tIns="0" rIns="0" bIns="0" rtlCol="0" anchor="t">
            <a:spAutoFit/>
          </a:bodyPr>
          <a:lstStyle/>
          <a:p>
            <a:pPr marL="285750" indent="-285750">
              <a:lnSpc>
                <a:spcPct val="150000"/>
              </a:lnSpc>
              <a:buFont typeface="Arial" panose="020B0604020202020204" pitchFamily="34" charset="0"/>
              <a:buChar char="•"/>
            </a:pPr>
            <a:r>
              <a:rPr lang="es-ES" altLang="es-ES" sz="1400" dirty="0" err="1">
                <a:latin typeface="Aptos (Cuerpo)"/>
              </a:rPr>
              <a:t>Dot</a:t>
            </a:r>
            <a:r>
              <a:rPr lang="es-ES" altLang="es-ES" sz="1400" dirty="0">
                <a:latin typeface="Aptos (Cuerpo)"/>
              </a:rPr>
              <a:t> CSV: </a:t>
            </a:r>
            <a:r>
              <a:rPr lang="en-US" sz="1400" dirty="0">
                <a:solidFill>
                  <a:srgbClr val="333333"/>
                </a:solidFill>
                <a:latin typeface="Aptos (Cuerpo)"/>
                <a:hlinkClick r:id="rId3"/>
              </a:rPr>
              <a:t>https://youtu.be/V9Kr2SujqHw?si=TjAIiOdzJ0Vcv7RT</a:t>
            </a:r>
            <a:endParaRPr lang="en-US" sz="1400" dirty="0">
              <a:solidFill>
                <a:srgbClr val="333333"/>
              </a:solidFill>
              <a:latin typeface="Aptos (Cuerpo)"/>
            </a:endParaRPr>
          </a:p>
          <a:p>
            <a:pPr marL="285750" indent="-285750">
              <a:lnSpc>
                <a:spcPct val="150000"/>
              </a:lnSpc>
              <a:buFont typeface="Arial" panose="020B0604020202020204" pitchFamily="34" charset="0"/>
              <a:buChar char="•"/>
            </a:pPr>
            <a:r>
              <a:rPr lang="es-ES" altLang="es-ES" sz="1400" dirty="0">
                <a:latin typeface="Aptos (Cuerpo)"/>
              </a:rPr>
              <a:t>Nakamoto, S. (2008). </a:t>
            </a:r>
            <a:r>
              <a:rPr lang="es-ES" altLang="es-ES" sz="1400" b="1" i="1" dirty="0">
                <a:latin typeface="Aptos (Cuerpo)"/>
              </a:rPr>
              <a:t>Bitcoin: A Peer-</a:t>
            </a:r>
            <a:r>
              <a:rPr lang="es-ES" altLang="es-ES" sz="1400" b="1" i="1" dirty="0" err="1">
                <a:latin typeface="Aptos (Cuerpo)"/>
              </a:rPr>
              <a:t>to</a:t>
            </a:r>
            <a:r>
              <a:rPr lang="es-ES" altLang="es-ES" sz="1400" b="1" i="1" dirty="0">
                <a:latin typeface="Aptos (Cuerpo)"/>
              </a:rPr>
              <a:t>-Peer Electronic Cash </a:t>
            </a:r>
            <a:r>
              <a:rPr lang="es-ES" altLang="es-ES" sz="1400" b="1" i="1" dirty="0" err="1">
                <a:latin typeface="Aptos (Cuerpo)"/>
              </a:rPr>
              <a:t>System</a:t>
            </a:r>
            <a:r>
              <a:rPr lang="es-ES" altLang="es-ES" sz="1400" dirty="0">
                <a:latin typeface="Aptos (Cuerpo)"/>
              </a:rPr>
              <a:t>. </a:t>
            </a:r>
            <a:r>
              <a:rPr lang="es-ES" altLang="es-ES" sz="1400" dirty="0">
                <a:latin typeface="Aptos (Cuerpo)"/>
                <a:hlinkClick r:id="rId4"/>
              </a:rPr>
              <a:t>https://bitcoin.org/bitcoin.pdf</a:t>
            </a:r>
            <a:endParaRPr lang="es-ES" altLang="es-ES" sz="1400" dirty="0">
              <a:latin typeface="Aptos (Cuerpo)"/>
            </a:endParaRPr>
          </a:p>
          <a:p>
            <a:pPr marL="285750" indent="-285750">
              <a:lnSpc>
                <a:spcPct val="150000"/>
              </a:lnSpc>
              <a:buFont typeface="Arial" panose="020B0604020202020204" pitchFamily="34" charset="0"/>
              <a:buChar char="•"/>
            </a:pPr>
            <a:r>
              <a:rPr lang="es-ES" sz="1400" dirty="0" err="1"/>
              <a:t>Certicom</a:t>
            </a:r>
            <a:r>
              <a:rPr lang="es-ES" sz="1400" dirty="0"/>
              <a:t> Corp. </a:t>
            </a:r>
            <a:r>
              <a:rPr lang="es-ES" altLang="es-ES" sz="1400" dirty="0">
                <a:latin typeface="Aptos (Cuerpo)"/>
              </a:rPr>
              <a:t>(2010). </a:t>
            </a:r>
            <a:r>
              <a:rPr lang="es-ES" sz="1400" b="1" dirty="0"/>
              <a:t>SEC 2: </a:t>
            </a:r>
            <a:r>
              <a:rPr lang="es-ES" sz="1400" b="1" dirty="0" err="1"/>
              <a:t>Recommended</a:t>
            </a:r>
            <a:r>
              <a:rPr lang="es-ES" sz="1400" b="1" dirty="0"/>
              <a:t> Elliptic Curve </a:t>
            </a:r>
            <a:r>
              <a:rPr lang="es-ES" sz="1400" b="1" dirty="0" err="1"/>
              <a:t>Domain</a:t>
            </a:r>
            <a:r>
              <a:rPr lang="es-ES" sz="1400" b="1" dirty="0"/>
              <a:t> </a:t>
            </a:r>
            <a:r>
              <a:rPr lang="es-ES" sz="1400" b="1" dirty="0" err="1"/>
              <a:t>Parameters</a:t>
            </a:r>
            <a:r>
              <a:rPr lang="es-ES" sz="1400" b="1" dirty="0"/>
              <a:t>. </a:t>
            </a:r>
            <a:r>
              <a:rPr lang="es-ES" altLang="es-ES" sz="1400" dirty="0">
                <a:latin typeface="Aptos (Cuerpo)"/>
                <a:hlinkClick r:id="rId5"/>
              </a:rPr>
              <a:t>https://www.secg.org/sec2-v2.pdf</a:t>
            </a:r>
            <a:endParaRPr lang="es-ES" altLang="es-ES" sz="1400" dirty="0">
              <a:latin typeface="Aptos (Cuerpo)"/>
            </a:endParaRPr>
          </a:p>
          <a:p>
            <a:pPr marL="285750" indent="-285750">
              <a:lnSpc>
                <a:spcPct val="150000"/>
              </a:lnSpc>
              <a:buFont typeface="Arial" panose="020B0604020202020204" pitchFamily="34" charset="0"/>
              <a:buChar char="•"/>
            </a:pPr>
            <a:r>
              <a:rPr lang="es-ES" altLang="es-ES" sz="1400" dirty="0" err="1">
                <a:latin typeface="Aptos (Cuerpo)"/>
              </a:rPr>
              <a:t>Narayanan</a:t>
            </a:r>
            <a:r>
              <a:rPr lang="es-ES" altLang="es-ES" sz="1400" dirty="0">
                <a:latin typeface="Aptos (Cuerpo)"/>
              </a:rPr>
              <a:t>, A., </a:t>
            </a:r>
            <a:r>
              <a:rPr lang="es-ES" altLang="es-ES" sz="1400" dirty="0" err="1">
                <a:latin typeface="Aptos (Cuerpo)"/>
              </a:rPr>
              <a:t>Bonneau</a:t>
            </a:r>
            <a:r>
              <a:rPr lang="es-ES" altLang="es-ES" sz="1400" dirty="0">
                <a:latin typeface="Aptos (Cuerpo)"/>
              </a:rPr>
              <a:t>, J., </a:t>
            </a:r>
            <a:r>
              <a:rPr lang="es-ES" altLang="es-ES" sz="1400" dirty="0" err="1">
                <a:latin typeface="Aptos (Cuerpo)"/>
              </a:rPr>
              <a:t>Felten</a:t>
            </a:r>
            <a:r>
              <a:rPr lang="es-ES" altLang="es-ES" sz="1400" dirty="0">
                <a:latin typeface="Aptos (Cuerpo)"/>
              </a:rPr>
              <a:t>, E., Miller, A., &amp; </a:t>
            </a:r>
            <a:r>
              <a:rPr lang="es-ES" altLang="es-ES" sz="1400" dirty="0" err="1">
                <a:latin typeface="Aptos (Cuerpo)"/>
              </a:rPr>
              <a:t>Goldfeder</a:t>
            </a:r>
            <a:r>
              <a:rPr lang="es-ES" altLang="es-ES" sz="1400" dirty="0">
                <a:latin typeface="Aptos (Cuerpo)"/>
              </a:rPr>
              <a:t>, S. (2016). </a:t>
            </a:r>
            <a:r>
              <a:rPr lang="es-ES" altLang="es-ES" sz="1400" b="1" i="1" dirty="0">
                <a:latin typeface="Aptos (Cuerpo)"/>
              </a:rPr>
              <a:t>Bitcoin and </a:t>
            </a:r>
            <a:r>
              <a:rPr lang="es-ES" altLang="es-ES" sz="1400" b="1" i="1" dirty="0" err="1">
                <a:latin typeface="Aptos (Cuerpo)"/>
              </a:rPr>
              <a:t>Cryptocurrency</a:t>
            </a:r>
            <a:r>
              <a:rPr lang="es-ES" altLang="es-ES" sz="1400" b="1" i="1" dirty="0">
                <a:latin typeface="Aptos (Cuerpo)"/>
              </a:rPr>
              <a:t> Technologies: A Comprehensive </a:t>
            </a:r>
            <a:r>
              <a:rPr lang="es-ES" altLang="es-ES" sz="1400" b="1" i="1" dirty="0" err="1">
                <a:latin typeface="Aptos (Cuerpo)"/>
              </a:rPr>
              <a:t>Introduction</a:t>
            </a:r>
            <a:r>
              <a:rPr lang="es-ES" altLang="es-ES" sz="1400" dirty="0">
                <a:latin typeface="Aptos (Cuerpo)"/>
              </a:rPr>
              <a:t>. Princeton </a:t>
            </a:r>
            <a:r>
              <a:rPr lang="es-ES" altLang="es-ES" sz="1400" dirty="0" err="1">
                <a:latin typeface="Aptos (Cuerpo)"/>
              </a:rPr>
              <a:t>University</a:t>
            </a:r>
            <a:r>
              <a:rPr lang="es-ES" altLang="es-ES" sz="1400" dirty="0">
                <a:latin typeface="Aptos (Cuerpo)"/>
              </a:rPr>
              <a:t> </a:t>
            </a:r>
            <a:r>
              <a:rPr lang="es-ES" altLang="es-ES" sz="1400" dirty="0" err="1">
                <a:latin typeface="Aptos (Cuerpo)"/>
              </a:rPr>
              <a:t>Press</a:t>
            </a:r>
            <a:r>
              <a:rPr lang="es-ES" altLang="es-ES" sz="1400" dirty="0">
                <a:latin typeface="Aptos (Cuerpo)"/>
              </a:rPr>
              <a:t>.</a:t>
            </a:r>
          </a:p>
          <a:p>
            <a:pPr marL="285750" indent="-285750">
              <a:lnSpc>
                <a:spcPct val="150000"/>
              </a:lnSpc>
              <a:buFont typeface="Arial" panose="020B0604020202020204" pitchFamily="34" charset="0"/>
              <a:buChar char="•"/>
            </a:pPr>
            <a:r>
              <a:rPr lang="es-ES" altLang="es-ES" sz="1400" dirty="0" err="1">
                <a:latin typeface="Aptos (Cuerpo)"/>
              </a:rPr>
              <a:t>Dwork</a:t>
            </a:r>
            <a:r>
              <a:rPr lang="es-ES" altLang="es-ES" sz="1400" dirty="0">
                <a:latin typeface="Aptos (Cuerpo)"/>
              </a:rPr>
              <a:t>, C., &amp; </a:t>
            </a:r>
            <a:r>
              <a:rPr lang="es-ES" altLang="es-ES" sz="1400" dirty="0" err="1">
                <a:latin typeface="Aptos (Cuerpo)"/>
              </a:rPr>
              <a:t>Naor</a:t>
            </a:r>
            <a:r>
              <a:rPr lang="es-ES" altLang="es-ES" sz="1400" dirty="0">
                <a:latin typeface="Aptos (Cuerpo)"/>
              </a:rPr>
              <a:t>, M. (1992). </a:t>
            </a:r>
            <a:r>
              <a:rPr lang="es-ES" altLang="es-ES" sz="1400" b="1" i="1" dirty="0" err="1">
                <a:latin typeface="Aptos (Cuerpo)"/>
              </a:rPr>
              <a:t>Pricing</a:t>
            </a:r>
            <a:r>
              <a:rPr lang="es-ES" altLang="es-ES" sz="1400" b="1" i="1" dirty="0">
                <a:latin typeface="Aptos (Cuerpo)"/>
              </a:rPr>
              <a:t> </a:t>
            </a:r>
            <a:r>
              <a:rPr lang="es-ES" altLang="es-ES" sz="1400" b="1" i="1" dirty="0" err="1">
                <a:latin typeface="Aptos (Cuerpo)"/>
              </a:rPr>
              <a:t>via</a:t>
            </a:r>
            <a:r>
              <a:rPr lang="es-ES" altLang="es-ES" sz="1400" b="1" i="1" dirty="0">
                <a:latin typeface="Aptos (Cuerpo)"/>
              </a:rPr>
              <a:t> Processing</a:t>
            </a:r>
            <a:r>
              <a:rPr lang="es-ES" altLang="es-ES" sz="1400" i="1" dirty="0">
                <a:latin typeface="Aptos (Cuerpo)"/>
              </a:rPr>
              <a:t> </a:t>
            </a:r>
            <a:r>
              <a:rPr lang="es-ES" altLang="es-ES" sz="1400" i="1" dirty="0" err="1">
                <a:latin typeface="Aptos (Cuerpo)"/>
              </a:rPr>
              <a:t>or</a:t>
            </a:r>
            <a:r>
              <a:rPr lang="es-ES" altLang="es-ES" sz="1400" i="1" dirty="0">
                <a:latin typeface="Aptos (Cuerpo)"/>
              </a:rPr>
              <a:t> </a:t>
            </a:r>
            <a:r>
              <a:rPr lang="es-ES" altLang="es-ES" sz="1400" i="1" dirty="0" err="1">
                <a:latin typeface="Aptos (Cuerpo)"/>
              </a:rPr>
              <a:t>Combatting</a:t>
            </a:r>
            <a:r>
              <a:rPr lang="es-ES" altLang="es-ES" sz="1400" i="1" dirty="0">
                <a:latin typeface="Aptos (Cuerpo)"/>
              </a:rPr>
              <a:t> </a:t>
            </a:r>
            <a:r>
              <a:rPr lang="es-ES" altLang="es-ES" sz="1400" i="1" dirty="0" err="1">
                <a:latin typeface="Aptos (Cuerpo)"/>
              </a:rPr>
              <a:t>Junk</a:t>
            </a:r>
            <a:r>
              <a:rPr lang="es-ES" altLang="es-ES" sz="1400" i="1" dirty="0">
                <a:latin typeface="Aptos (Cuerpo)"/>
              </a:rPr>
              <a:t> Mail</a:t>
            </a:r>
            <a:r>
              <a:rPr lang="es-ES" altLang="es-ES" sz="1400" dirty="0">
                <a:latin typeface="Aptos (Cuerpo)"/>
              </a:rPr>
              <a:t> (</a:t>
            </a:r>
            <a:r>
              <a:rPr lang="es-ES" altLang="es-ES" sz="1400" dirty="0" err="1">
                <a:latin typeface="Aptos (Cuerpo)"/>
              </a:rPr>
              <a:t>proof-of-work</a:t>
            </a:r>
            <a:r>
              <a:rPr lang="es-ES" altLang="es-ES" sz="1400" dirty="0">
                <a:latin typeface="Aptos (Cuerpo)"/>
              </a:rPr>
              <a:t> </a:t>
            </a:r>
            <a:r>
              <a:rPr lang="es-ES" altLang="es-ES" sz="1400" dirty="0" err="1">
                <a:latin typeface="Aptos (Cuerpo)"/>
              </a:rPr>
              <a:t>origins</a:t>
            </a:r>
            <a:r>
              <a:rPr lang="es-ES" altLang="es-ES" sz="1400" dirty="0">
                <a:latin typeface="Aptos (Cuerpo)"/>
              </a:rPr>
              <a:t>). </a:t>
            </a:r>
            <a:r>
              <a:rPr lang="es-ES" altLang="es-ES" sz="1400" dirty="0" err="1">
                <a:latin typeface="Aptos (Cuerpo)"/>
              </a:rPr>
              <a:t>Proceedings</a:t>
            </a:r>
            <a:r>
              <a:rPr lang="es-ES" altLang="es-ES" sz="1400" dirty="0">
                <a:latin typeface="Aptos (Cuerpo)"/>
              </a:rPr>
              <a:t> of CRYPTO ’92.</a:t>
            </a:r>
          </a:p>
          <a:p>
            <a:pPr marL="285750" indent="-285750">
              <a:lnSpc>
                <a:spcPct val="150000"/>
              </a:lnSpc>
              <a:buFont typeface="Arial" panose="020B0604020202020204" pitchFamily="34" charset="0"/>
              <a:buChar char="•"/>
            </a:pPr>
            <a:r>
              <a:rPr lang="es-ES" altLang="es-ES" sz="1400" dirty="0" err="1">
                <a:latin typeface="Aptos (Cuerpo)"/>
              </a:rPr>
              <a:t>Bonneau</a:t>
            </a:r>
            <a:r>
              <a:rPr lang="es-ES" altLang="es-ES" sz="1400" dirty="0">
                <a:latin typeface="Aptos (Cuerpo)"/>
              </a:rPr>
              <a:t>, J., Miller, A., Clark, J., </a:t>
            </a:r>
            <a:r>
              <a:rPr lang="es-ES" altLang="es-ES" sz="1400" dirty="0" err="1">
                <a:latin typeface="Aptos (Cuerpo)"/>
              </a:rPr>
              <a:t>Narayanan</a:t>
            </a:r>
            <a:r>
              <a:rPr lang="es-ES" altLang="es-ES" sz="1400" dirty="0">
                <a:latin typeface="Aptos (Cuerpo)"/>
              </a:rPr>
              <a:t>, A., Kroll, J. A., &amp; </a:t>
            </a:r>
            <a:r>
              <a:rPr lang="es-ES" altLang="es-ES" sz="1400" dirty="0" err="1">
                <a:latin typeface="Aptos (Cuerpo)"/>
              </a:rPr>
              <a:t>Felten</a:t>
            </a:r>
            <a:r>
              <a:rPr lang="es-ES" altLang="es-ES" sz="1400" dirty="0">
                <a:latin typeface="Aptos (Cuerpo)"/>
              </a:rPr>
              <a:t>, E. (2015). </a:t>
            </a:r>
            <a:r>
              <a:rPr lang="es-ES" altLang="es-ES" sz="1400" i="1" dirty="0" err="1">
                <a:latin typeface="Aptos (Cuerpo)"/>
              </a:rPr>
              <a:t>SoK</a:t>
            </a:r>
            <a:r>
              <a:rPr lang="es-ES" altLang="es-ES" sz="1400" i="1" dirty="0">
                <a:latin typeface="Aptos (Cuerpo)"/>
              </a:rPr>
              <a:t>: </a:t>
            </a:r>
            <a:r>
              <a:rPr lang="es-ES" altLang="es-ES" sz="1400" b="1" i="1" dirty="0" err="1">
                <a:latin typeface="Aptos (Cuerpo)"/>
              </a:rPr>
              <a:t>Research</a:t>
            </a:r>
            <a:r>
              <a:rPr lang="es-ES" altLang="es-ES" sz="1400" b="1" i="1" dirty="0">
                <a:latin typeface="Aptos (Cuerpo)"/>
              </a:rPr>
              <a:t> </a:t>
            </a:r>
            <a:r>
              <a:rPr lang="es-ES" altLang="es-ES" sz="1400" b="1" i="1" dirty="0" err="1">
                <a:latin typeface="Aptos (Cuerpo)"/>
              </a:rPr>
              <a:t>Perspectives</a:t>
            </a:r>
            <a:r>
              <a:rPr lang="es-ES" altLang="es-ES" sz="1400" b="1" i="1" dirty="0">
                <a:latin typeface="Aptos (Cuerpo)"/>
              </a:rPr>
              <a:t> and </a:t>
            </a:r>
            <a:r>
              <a:rPr lang="es-ES" altLang="es-ES" sz="1400" b="1" i="1" dirty="0" err="1">
                <a:latin typeface="Aptos (Cuerpo)"/>
              </a:rPr>
              <a:t>Challenges</a:t>
            </a:r>
            <a:r>
              <a:rPr lang="es-ES" altLang="es-ES" sz="1400" b="1" i="1" dirty="0">
                <a:latin typeface="Aptos (Cuerpo)"/>
              </a:rPr>
              <a:t> </a:t>
            </a:r>
            <a:r>
              <a:rPr lang="es-ES" altLang="es-ES" sz="1400" b="1" i="1" dirty="0" err="1">
                <a:latin typeface="Aptos (Cuerpo)"/>
              </a:rPr>
              <a:t>for</a:t>
            </a:r>
            <a:r>
              <a:rPr lang="es-ES" altLang="es-ES" sz="1400" b="1" i="1" dirty="0">
                <a:latin typeface="Aptos (Cuerpo)"/>
              </a:rPr>
              <a:t> Bitcoin and </a:t>
            </a:r>
            <a:r>
              <a:rPr lang="es-ES" altLang="es-ES" sz="1400" b="1" i="1" dirty="0" err="1">
                <a:latin typeface="Aptos (Cuerpo)"/>
              </a:rPr>
              <a:t>Cryptocurrencies</a:t>
            </a:r>
            <a:r>
              <a:rPr lang="es-ES" altLang="es-ES" sz="1400" dirty="0">
                <a:latin typeface="Aptos (Cuerpo)"/>
              </a:rPr>
              <a:t>. IEEE </a:t>
            </a:r>
            <a:r>
              <a:rPr lang="es-ES" altLang="es-ES" sz="1400" dirty="0" err="1">
                <a:latin typeface="Aptos (Cuerpo)"/>
              </a:rPr>
              <a:t>Symposium</a:t>
            </a:r>
            <a:r>
              <a:rPr lang="es-ES" altLang="es-ES" sz="1400" dirty="0">
                <a:latin typeface="Aptos (Cuerpo)"/>
              </a:rPr>
              <a:t> </a:t>
            </a:r>
            <a:r>
              <a:rPr lang="es-ES" altLang="es-ES" sz="1400" dirty="0" err="1">
                <a:latin typeface="Aptos (Cuerpo)"/>
              </a:rPr>
              <a:t>on</a:t>
            </a:r>
            <a:r>
              <a:rPr lang="es-ES" altLang="es-ES" sz="1400" dirty="0">
                <a:latin typeface="Aptos (Cuerpo)"/>
              </a:rPr>
              <a:t> Security and </a:t>
            </a:r>
            <a:r>
              <a:rPr lang="es-ES" altLang="es-ES" sz="1400" dirty="0" err="1">
                <a:latin typeface="Aptos (Cuerpo)"/>
              </a:rPr>
              <a:t>Privacy</a:t>
            </a:r>
            <a:endParaRPr lang="en-US" sz="1400" dirty="0">
              <a:solidFill>
                <a:srgbClr val="333333"/>
              </a:solidFill>
              <a:latin typeface="Aptos (Cuerpo)"/>
            </a:endParaRPr>
          </a:p>
        </p:txBody>
      </p:sp>
      <p:sp>
        <p:nvSpPr>
          <p:cNvPr id="32" name="Marcador de número de diapositiva 31">
            <a:extLst>
              <a:ext uri="{FF2B5EF4-FFF2-40B4-BE49-F238E27FC236}">
                <a16:creationId xmlns:a16="http://schemas.microsoft.com/office/drawing/2014/main" id="{52DA93C8-BC2E-C076-335B-0DCF7E4E88B5}"/>
              </a:ext>
            </a:extLst>
          </p:cNvPr>
          <p:cNvSpPr>
            <a:spLocks noGrp="1"/>
          </p:cNvSpPr>
          <p:nvPr>
            <p:ph type="sldNum" sz="quarter" idx="12"/>
          </p:nvPr>
        </p:nvSpPr>
        <p:spPr/>
        <p:txBody>
          <a:bodyPr/>
          <a:lstStyle/>
          <a:p>
            <a:fld id="{621D377E-C6E5-404B-8AA2-3999D49F21B5}" type="slidenum">
              <a:rPr lang="es-ES" smtClean="0"/>
              <a:t>20</a:t>
            </a:fld>
            <a:endParaRPr lang="es-ES"/>
          </a:p>
        </p:txBody>
      </p:sp>
    </p:spTree>
    <p:extLst>
      <p:ext uri="{BB962C8B-B14F-4D97-AF65-F5344CB8AC3E}">
        <p14:creationId xmlns:p14="http://schemas.microsoft.com/office/powerpoint/2010/main" val="2788959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98569A-E85F-2905-3F46-3107F5525287}"/>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Freeform: Shape 3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51435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1" name="Freeform: Shape 4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51435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0">
            <a:extLst>
              <a:ext uri="{FF2B5EF4-FFF2-40B4-BE49-F238E27FC236}">
                <a16:creationId xmlns:a16="http://schemas.microsoft.com/office/drawing/2014/main" id="{51168EEB-3887-7C02-B12B-A76593ECADB6}"/>
              </a:ext>
            </a:extLst>
          </p:cNvPr>
          <p:cNvSpPr/>
          <p:nvPr/>
        </p:nvSpPr>
        <p:spPr>
          <a:xfrm>
            <a:off x="1143002" y="1499711"/>
            <a:ext cx="6858000" cy="2073021"/>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5400" b="1" kern="1200">
                <a:solidFill>
                  <a:schemeClr val="tx1"/>
                </a:solidFill>
                <a:latin typeface="+mj-lt"/>
                <a:ea typeface="+mj-ea"/>
                <a:cs typeface="+mj-cs"/>
              </a:rPr>
              <a:t>Thanks for your time</a:t>
            </a:r>
          </a:p>
          <a:p>
            <a:pPr marL="0" indent="0" algn="ctr">
              <a:lnSpc>
                <a:spcPct val="90000"/>
              </a:lnSpc>
              <a:spcBef>
                <a:spcPct val="0"/>
              </a:spcBef>
              <a:spcAft>
                <a:spcPts val="600"/>
              </a:spcAft>
            </a:pPr>
            <a:r>
              <a:rPr lang="en-US" sz="5400" b="1" kern="1200">
                <a:solidFill>
                  <a:schemeClr val="tx1"/>
                </a:solidFill>
                <a:effectLst>
                  <a:outerShdw blurRad="38100" dist="38100" dir="2700000" algn="tl">
                    <a:srgbClr val="000000">
                      <a:alpha val="43137"/>
                    </a:srgbClr>
                  </a:outerShdw>
                </a:effectLst>
                <a:latin typeface="+mj-lt"/>
                <a:ea typeface="+mj-ea"/>
                <a:cs typeface="+mj-cs"/>
              </a:rPr>
              <a:t>Questions?</a:t>
            </a:r>
            <a:endParaRPr lang="en-US" sz="5400" kern="1200">
              <a:solidFill>
                <a:schemeClr val="tx1"/>
              </a:solidFill>
              <a:effectLst>
                <a:outerShdw blurRad="38100" dist="38100" dir="2700000" algn="tl">
                  <a:srgbClr val="000000">
                    <a:alpha val="43137"/>
                  </a:srgbClr>
                </a:outerShdw>
              </a:effectLst>
              <a:latin typeface="+mj-lt"/>
              <a:ea typeface="+mj-ea"/>
              <a:cs typeface="+mj-cs"/>
            </a:endParaRPr>
          </a:p>
        </p:txBody>
      </p:sp>
      <p:sp>
        <p:nvSpPr>
          <p:cNvPr id="43" name="Rectangle 4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4143589"/>
            <a:ext cx="3566160" cy="205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8975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Diseño personalizad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2932</TotalTime>
  <Words>5035</Words>
  <Application>Microsoft Office PowerPoint</Application>
  <PresentationFormat>Presentación en pantalla (16:9)</PresentationFormat>
  <Paragraphs>563</Paragraphs>
  <Slides>21</Slides>
  <Notes>21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21</vt:i4>
      </vt:variant>
    </vt:vector>
  </HeadingPairs>
  <TitlesOfParts>
    <vt:vector size="30" baseType="lpstr">
      <vt:lpstr>Aptos</vt:lpstr>
      <vt:lpstr>Aptos (Cuerpo)</vt:lpstr>
      <vt:lpstr>Aptos Display</vt:lpstr>
      <vt:lpstr>Arial</vt:lpstr>
      <vt:lpstr>Bahnschrift</vt:lpstr>
      <vt:lpstr>Calibri</vt:lpstr>
      <vt:lpstr>Cambria Math</vt:lpstr>
      <vt:lpstr>Inter Variable</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Álvaro Puebla Ruisánchez</cp:lastModifiedBy>
  <cp:revision>33</cp:revision>
  <dcterms:created xsi:type="dcterms:W3CDTF">2025-11-29T16:53:04Z</dcterms:created>
  <dcterms:modified xsi:type="dcterms:W3CDTF">2025-12-01T21:16:30Z</dcterms:modified>
</cp:coreProperties>
</file>